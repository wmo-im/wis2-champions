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79" r:id="rId3"/>
    <p:sldId id="4487" r:id="rId4"/>
    <p:sldId id="4488" r:id="rId5"/>
    <p:sldId id="4491" r:id="rId6"/>
    <p:sldId id="4492" r:id="rId7"/>
    <p:sldId id="4476" r:id="rId8"/>
    <p:sldId id="4489" r:id="rId9"/>
    <p:sldId id="4494" r:id="rId10"/>
    <p:sldId id="4495" r:id="rId11"/>
    <p:sldId id="4496" r:id="rId12"/>
    <p:sldId id="4497" r:id="rId13"/>
    <p:sldId id="4498" r:id="rId14"/>
    <p:sldId id="4499"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AB452B-CDF8-26C1-2494-4F232D9C82E7}" name="Jeremy Tandy" initials="JMT" userId="Jeremy Tandy"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6E3F75-98AD-44BA-9405-4B8DEE207E5B}" v="43" dt="2025-12-19T16:07:39.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84" autoAdjust="0"/>
  </p:normalViewPr>
  <p:slideViewPr>
    <p:cSldViewPr snapToGrid="0">
      <p:cViewPr varScale="1">
        <p:scale>
          <a:sx n="109" d="100"/>
          <a:sy n="109" d="100"/>
        </p:scale>
        <p:origin x="2188"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Tandy" userId="e8cdb70d-e181-4050-b1e5-a14248e7b7aa" providerId="ADAL" clId="{37EEB5F8-7E00-4DC3-9F20-6CE651D680CF}"/>
    <pc:docChg chg="undo custSel delSld modSld delMainMaster">
      <pc:chgData name="Jeremy Tandy" userId="e8cdb70d-e181-4050-b1e5-a14248e7b7aa" providerId="ADAL" clId="{37EEB5F8-7E00-4DC3-9F20-6CE651D680CF}" dt="2025-12-19T16:08:28.277" v="70" actId="2696"/>
      <pc:docMkLst>
        <pc:docMk/>
      </pc:docMkLst>
      <pc:sldChg chg="addSp delSp modSp mod">
        <pc:chgData name="Jeremy Tandy" userId="e8cdb70d-e181-4050-b1e5-a14248e7b7aa" providerId="ADAL" clId="{37EEB5F8-7E00-4DC3-9F20-6CE651D680CF}" dt="2025-12-19T16:02:14.450" v="5" actId="20577"/>
        <pc:sldMkLst>
          <pc:docMk/>
          <pc:sldMk cId="2130986987" sldId="279"/>
        </pc:sldMkLst>
        <pc:spChg chg="add mod">
          <ac:chgData name="Jeremy Tandy" userId="e8cdb70d-e181-4050-b1e5-a14248e7b7aa" providerId="ADAL" clId="{37EEB5F8-7E00-4DC3-9F20-6CE651D680CF}" dt="2025-12-19T16:01:58.299" v="1"/>
          <ac:spMkLst>
            <pc:docMk/>
            <pc:sldMk cId="2130986987" sldId="279"/>
            <ac:spMk id="2" creationId="{9FB19B15-B10C-C464-2518-BFA6C1B5C5FD}"/>
          </ac:spMkLst>
        </pc:spChg>
        <pc:spChg chg="del">
          <ac:chgData name="Jeremy Tandy" userId="e8cdb70d-e181-4050-b1e5-a14248e7b7aa" providerId="ADAL" clId="{37EEB5F8-7E00-4DC3-9F20-6CE651D680CF}" dt="2025-12-19T16:02:01.024" v="2" actId="478"/>
          <ac:spMkLst>
            <pc:docMk/>
            <pc:sldMk cId="2130986987" sldId="279"/>
            <ac:spMk id="4" creationId="{0FF2C605-931F-3999-20D6-104BEC318E70}"/>
          </ac:spMkLst>
        </pc:spChg>
        <pc:spChg chg="mod">
          <ac:chgData name="Jeremy Tandy" userId="e8cdb70d-e181-4050-b1e5-a14248e7b7aa" providerId="ADAL" clId="{37EEB5F8-7E00-4DC3-9F20-6CE651D680CF}" dt="2025-12-19T16:02:14.450" v="5" actId="20577"/>
          <ac:spMkLst>
            <pc:docMk/>
            <pc:sldMk cId="2130986987" sldId="279"/>
            <ac:spMk id="9" creationId="{0A8AE94E-AA74-2A73-F793-D4A1A010087D}"/>
          </ac:spMkLst>
        </pc:spChg>
        <pc:spChg chg="add del mod">
          <ac:chgData name="Jeremy Tandy" userId="e8cdb70d-e181-4050-b1e5-a14248e7b7aa" providerId="ADAL" clId="{37EEB5F8-7E00-4DC3-9F20-6CE651D680CF}" dt="2025-12-19T16:02:06.279" v="3" actId="478"/>
          <ac:spMkLst>
            <pc:docMk/>
            <pc:sldMk cId="2130986987" sldId="279"/>
            <ac:spMk id="12" creationId="{1A14D189-9940-F1DD-99F5-B3384DF8BC7F}"/>
          </ac:spMkLst>
        </pc:spChg>
        <pc:spChg chg="add mod">
          <ac:chgData name="Jeremy Tandy" userId="e8cdb70d-e181-4050-b1e5-a14248e7b7aa" providerId="ADAL" clId="{37EEB5F8-7E00-4DC3-9F20-6CE651D680CF}" dt="2025-12-19T16:02:07.267" v="4"/>
          <ac:spMkLst>
            <pc:docMk/>
            <pc:sldMk cId="2130986987" sldId="279"/>
            <ac:spMk id="13" creationId="{849758B6-C52F-8D7F-6F50-E302544FCDF8}"/>
          </ac:spMkLst>
        </pc:spChg>
        <pc:grpChg chg="del">
          <ac:chgData name="Jeremy Tandy" userId="e8cdb70d-e181-4050-b1e5-a14248e7b7aa" providerId="ADAL" clId="{37EEB5F8-7E00-4DC3-9F20-6CE651D680CF}" dt="2025-12-19T16:02:01.024" v="2" actId="478"/>
          <ac:grpSpMkLst>
            <pc:docMk/>
            <pc:sldMk cId="2130986987" sldId="279"/>
            <ac:grpSpMk id="5" creationId="{18D29BCE-06D3-7792-2D09-001C9D026258}"/>
          </ac:grpSpMkLst>
        </pc:grpChg>
        <pc:picChg chg="add mod">
          <ac:chgData name="Jeremy Tandy" userId="e8cdb70d-e181-4050-b1e5-a14248e7b7aa" providerId="ADAL" clId="{37EEB5F8-7E00-4DC3-9F20-6CE651D680CF}" dt="2025-12-19T16:01:55.320" v="0"/>
          <ac:picMkLst>
            <pc:docMk/>
            <pc:sldMk cId="2130986987" sldId="279"/>
            <ac:picMk id="10" creationId="{92104A8C-578B-359A-1F96-8291E1EA93B2}"/>
          </ac:picMkLst>
        </pc:picChg>
        <pc:picChg chg="add mod">
          <ac:chgData name="Jeremy Tandy" userId="e8cdb70d-e181-4050-b1e5-a14248e7b7aa" providerId="ADAL" clId="{37EEB5F8-7E00-4DC3-9F20-6CE651D680CF}" dt="2025-12-19T16:02:07.267" v="4"/>
          <ac:picMkLst>
            <pc:docMk/>
            <pc:sldMk cId="2130986987" sldId="279"/>
            <ac:picMk id="14" creationId="{F0CF3FDF-A968-8106-3078-2D76F21EA5F6}"/>
          </ac:picMkLst>
        </pc:picChg>
      </pc:sldChg>
      <pc:sldChg chg="addSp delSp modSp mod">
        <pc:chgData name="Jeremy Tandy" userId="e8cdb70d-e181-4050-b1e5-a14248e7b7aa" providerId="ADAL" clId="{37EEB5F8-7E00-4DC3-9F20-6CE651D680CF}" dt="2025-12-19T16:04:48.009" v="42" actId="20577"/>
        <pc:sldMkLst>
          <pc:docMk/>
          <pc:sldMk cId="1660135646" sldId="281"/>
        </pc:sldMkLst>
        <pc:spChg chg="mod">
          <ac:chgData name="Jeremy Tandy" userId="e8cdb70d-e181-4050-b1e5-a14248e7b7aa" providerId="ADAL" clId="{37EEB5F8-7E00-4DC3-9F20-6CE651D680CF}" dt="2025-12-19T16:04:48.009" v="42" actId="20577"/>
          <ac:spMkLst>
            <pc:docMk/>
            <pc:sldMk cId="1660135646" sldId="281"/>
            <ac:spMk id="8" creationId="{9F85A2C2-72BA-C7E3-5C87-F24E5735532D}"/>
          </ac:spMkLst>
        </pc:spChg>
        <pc:picChg chg="add mod">
          <ac:chgData name="Jeremy Tandy" userId="e8cdb70d-e181-4050-b1e5-a14248e7b7aa" providerId="ADAL" clId="{37EEB5F8-7E00-4DC3-9F20-6CE651D680CF}" dt="2025-12-19T16:04:42.833" v="41"/>
          <ac:picMkLst>
            <pc:docMk/>
            <pc:sldMk cId="1660135646" sldId="281"/>
            <ac:picMk id="3" creationId="{B781C45F-6BBF-6E13-23F7-4BDAAB88DFBB}"/>
          </ac:picMkLst>
        </pc:picChg>
        <pc:picChg chg="del">
          <ac:chgData name="Jeremy Tandy" userId="e8cdb70d-e181-4050-b1e5-a14248e7b7aa" providerId="ADAL" clId="{37EEB5F8-7E00-4DC3-9F20-6CE651D680CF}" dt="2025-12-19T16:04:42.203" v="40" actId="478"/>
          <ac:picMkLst>
            <pc:docMk/>
            <pc:sldMk cId="1660135646" sldId="281"/>
            <ac:picMk id="7" creationId="{09E954E8-F8D2-A736-3057-525C73D28CF8}"/>
          </ac:picMkLst>
        </pc:picChg>
      </pc:sldChg>
      <pc:sldChg chg="del">
        <pc:chgData name="Jeremy Tandy" userId="e8cdb70d-e181-4050-b1e5-a14248e7b7aa" providerId="ADAL" clId="{37EEB5F8-7E00-4DC3-9F20-6CE651D680CF}" dt="2025-12-19T16:02:19.424" v="6" actId="47"/>
        <pc:sldMkLst>
          <pc:docMk/>
          <pc:sldMk cId="1442088273" sldId="4465"/>
        </pc:sldMkLst>
      </pc:sldChg>
      <pc:sldChg chg="del">
        <pc:chgData name="Jeremy Tandy" userId="e8cdb70d-e181-4050-b1e5-a14248e7b7aa" providerId="ADAL" clId="{37EEB5F8-7E00-4DC3-9F20-6CE651D680CF}" dt="2025-12-19T16:02:19.424" v="6" actId="47"/>
        <pc:sldMkLst>
          <pc:docMk/>
          <pc:sldMk cId="3242331844" sldId="4466"/>
        </pc:sldMkLst>
      </pc:sldChg>
      <pc:sldChg chg="addSp delSp modSp mod">
        <pc:chgData name="Jeremy Tandy" userId="e8cdb70d-e181-4050-b1e5-a14248e7b7aa" providerId="ADAL" clId="{37EEB5F8-7E00-4DC3-9F20-6CE651D680CF}" dt="2025-12-19T16:07:28.045" v="65"/>
        <pc:sldMkLst>
          <pc:docMk/>
          <pc:sldMk cId="2593460109" sldId="4476"/>
        </pc:sldMkLst>
        <pc:spChg chg="add mod">
          <ac:chgData name="Jeremy Tandy" userId="e8cdb70d-e181-4050-b1e5-a14248e7b7aa" providerId="ADAL" clId="{37EEB5F8-7E00-4DC3-9F20-6CE651D680CF}" dt="2025-12-19T16:07:28.045" v="65"/>
          <ac:spMkLst>
            <pc:docMk/>
            <pc:sldMk cId="2593460109" sldId="4476"/>
            <ac:spMk id="3" creationId="{CE57C9FC-1F04-BE8C-5111-D56A5C636713}"/>
          </ac:spMkLst>
        </pc:spChg>
        <pc:spChg chg="del">
          <ac:chgData name="Jeremy Tandy" userId="e8cdb70d-e181-4050-b1e5-a14248e7b7aa" providerId="ADAL" clId="{37EEB5F8-7E00-4DC3-9F20-6CE651D680CF}" dt="2025-12-19T16:07:27.463" v="64" actId="478"/>
          <ac:spMkLst>
            <pc:docMk/>
            <pc:sldMk cId="2593460109" sldId="4476"/>
            <ac:spMk id="16" creationId="{75EAF7BF-F5E6-6E72-7134-D3F03BCB3652}"/>
          </ac:spMkLst>
        </pc:spChg>
        <pc:spChg chg="mod">
          <ac:chgData name="Jeremy Tandy" userId="e8cdb70d-e181-4050-b1e5-a14248e7b7aa" providerId="ADAL" clId="{37EEB5F8-7E00-4DC3-9F20-6CE651D680CF}" dt="2025-12-19T16:05:46.525" v="51" actId="20577"/>
          <ac:spMkLst>
            <pc:docMk/>
            <pc:sldMk cId="2593460109" sldId="4476"/>
            <ac:spMk id="169" creationId="{D690B0FD-EB18-CDF7-164F-2435BDF8E6DF}"/>
          </ac:spMkLst>
        </pc:spChg>
        <pc:picChg chg="add mod">
          <ac:chgData name="Jeremy Tandy" userId="e8cdb70d-e181-4050-b1e5-a14248e7b7aa" providerId="ADAL" clId="{37EEB5F8-7E00-4DC3-9F20-6CE651D680CF}" dt="2025-12-19T16:02:49.824" v="18"/>
          <ac:picMkLst>
            <pc:docMk/>
            <pc:sldMk cId="2593460109" sldId="4476"/>
            <ac:picMk id="2" creationId="{B05CEDE3-80EB-7358-48CA-84528E1BE24A}"/>
          </ac:picMkLst>
        </pc:picChg>
        <pc:picChg chg="del">
          <ac:chgData name="Jeremy Tandy" userId="e8cdb70d-e181-4050-b1e5-a14248e7b7aa" providerId="ADAL" clId="{37EEB5F8-7E00-4DC3-9F20-6CE651D680CF}" dt="2025-12-19T16:02:49.177" v="17" actId="478"/>
          <ac:picMkLst>
            <pc:docMk/>
            <pc:sldMk cId="2593460109" sldId="4476"/>
            <ac:picMk id="3" creationId="{4C06DBDB-679A-E41B-D956-6CF82743AAAC}"/>
          </ac:picMkLst>
        </pc:picChg>
      </pc:sldChg>
      <pc:sldChg chg="addSp delSp modSp mod">
        <pc:chgData name="Jeremy Tandy" userId="e8cdb70d-e181-4050-b1e5-a14248e7b7aa" providerId="ADAL" clId="{37EEB5F8-7E00-4DC3-9F20-6CE651D680CF}" dt="2025-12-19T16:07:06.564" v="57"/>
        <pc:sldMkLst>
          <pc:docMk/>
          <pc:sldMk cId="1564588760" sldId="4487"/>
        </pc:sldMkLst>
        <pc:spChg chg="add mod">
          <ac:chgData name="Jeremy Tandy" userId="e8cdb70d-e181-4050-b1e5-a14248e7b7aa" providerId="ADAL" clId="{37EEB5F8-7E00-4DC3-9F20-6CE651D680CF}" dt="2025-12-19T16:07:06.564" v="57"/>
          <ac:spMkLst>
            <pc:docMk/>
            <pc:sldMk cId="1564588760" sldId="4487"/>
            <ac:spMk id="3" creationId="{78FDC723-B868-3BF4-C73F-86545CE6C9C1}"/>
          </ac:spMkLst>
        </pc:spChg>
        <pc:spChg chg="del">
          <ac:chgData name="Jeremy Tandy" userId="e8cdb70d-e181-4050-b1e5-a14248e7b7aa" providerId="ADAL" clId="{37EEB5F8-7E00-4DC3-9F20-6CE651D680CF}" dt="2025-12-19T16:07:05.997" v="56" actId="478"/>
          <ac:spMkLst>
            <pc:docMk/>
            <pc:sldMk cId="1564588760" sldId="4487"/>
            <ac:spMk id="16" creationId="{D23D0861-712A-8377-23EE-D6D30F489ABD}"/>
          </ac:spMkLst>
        </pc:spChg>
        <pc:spChg chg="mod">
          <ac:chgData name="Jeremy Tandy" userId="e8cdb70d-e181-4050-b1e5-a14248e7b7aa" providerId="ADAL" clId="{37EEB5F8-7E00-4DC3-9F20-6CE651D680CF}" dt="2025-12-19T16:06:14.577" v="55" actId="20577"/>
          <ac:spMkLst>
            <pc:docMk/>
            <pc:sldMk cId="1564588760" sldId="4487"/>
            <ac:spMk id="169" creationId="{8FFC21A8-5D3D-064B-8ABC-A29AB3F03DB9}"/>
          </ac:spMkLst>
        </pc:spChg>
        <pc:picChg chg="del">
          <ac:chgData name="Jeremy Tandy" userId="e8cdb70d-e181-4050-b1e5-a14248e7b7aa" providerId="ADAL" clId="{37EEB5F8-7E00-4DC3-9F20-6CE651D680CF}" dt="2025-12-19T16:02:29.822" v="7" actId="478"/>
          <ac:picMkLst>
            <pc:docMk/>
            <pc:sldMk cId="1564588760" sldId="4487"/>
            <ac:picMk id="3" creationId="{5EE13C26-6D55-D483-01E9-C5C7EDC2303A}"/>
          </ac:picMkLst>
        </pc:picChg>
        <pc:picChg chg="add mod">
          <ac:chgData name="Jeremy Tandy" userId="e8cdb70d-e181-4050-b1e5-a14248e7b7aa" providerId="ADAL" clId="{37EEB5F8-7E00-4DC3-9F20-6CE651D680CF}" dt="2025-12-19T16:02:31.041" v="10" actId="962"/>
          <ac:picMkLst>
            <pc:docMk/>
            <pc:sldMk cId="1564588760" sldId="4487"/>
            <ac:picMk id="12" creationId="{C898E8A5-EA29-D650-C143-7C7FEED09A3B}"/>
          </ac:picMkLst>
        </pc:picChg>
      </pc:sldChg>
      <pc:sldChg chg="addSp delSp modSp mod">
        <pc:chgData name="Jeremy Tandy" userId="e8cdb70d-e181-4050-b1e5-a14248e7b7aa" providerId="ADAL" clId="{37EEB5F8-7E00-4DC3-9F20-6CE651D680CF}" dt="2025-12-19T16:07:11.920" v="59"/>
        <pc:sldMkLst>
          <pc:docMk/>
          <pc:sldMk cId="4258832315" sldId="4488"/>
        </pc:sldMkLst>
        <pc:spChg chg="add mod">
          <ac:chgData name="Jeremy Tandy" userId="e8cdb70d-e181-4050-b1e5-a14248e7b7aa" providerId="ADAL" clId="{37EEB5F8-7E00-4DC3-9F20-6CE651D680CF}" dt="2025-12-19T16:07:11.920" v="59"/>
          <ac:spMkLst>
            <pc:docMk/>
            <pc:sldMk cId="4258832315" sldId="4488"/>
            <ac:spMk id="3" creationId="{A38819AD-76E8-F9CD-6300-DB4B256343C4}"/>
          </ac:spMkLst>
        </pc:spChg>
        <pc:spChg chg="del">
          <ac:chgData name="Jeremy Tandy" userId="e8cdb70d-e181-4050-b1e5-a14248e7b7aa" providerId="ADAL" clId="{37EEB5F8-7E00-4DC3-9F20-6CE651D680CF}" dt="2025-12-19T16:07:10.764" v="58" actId="478"/>
          <ac:spMkLst>
            <pc:docMk/>
            <pc:sldMk cId="4258832315" sldId="4488"/>
            <ac:spMk id="16" creationId="{66F43F4D-DC40-16EF-3E9D-BAEE7817C5C0}"/>
          </ac:spMkLst>
        </pc:spChg>
        <pc:spChg chg="mod">
          <ac:chgData name="Jeremy Tandy" userId="e8cdb70d-e181-4050-b1e5-a14248e7b7aa" providerId="ADAL" clId="{37EEB5F8-7E00-4DC3-9F20-6CE651D680CF}" dt="2025-12-19T16:06:07.777" v="54" actId="20577"/>
          <ac:spMkLst>
            <pc:docMk/>
            <pc:sldMk cId="4258832315" sldId="4488"/>
            <ac:spMk id="169" creationId="{7E21CA3E-14A7-0BBC-ECB9-EA6CB6FDF35D}"/>
          </ac:spMkLst>
        </pc:spChg>
        <pc:picChg chg="del">
          <ac:chgData name="Jeremy Tandy" userId="e8cdb70d-e181-4050-b1e5-a14248e7b7aa" providerId="ADAL" clId="{37EEB5F8-7E00-4DC3-9F20-6CE651D680CF}" dt="2025-12-19T16:02:36.434" v="11" actId="478"/>
          <ac:picMkLst>
            <pc:docMk/>
            <pc:sldMk cId="4258832315" sldId="4488"/>
            <ac:picMk id="3" creationId="{9A3B73E3-6E80-FA6C-0B8F-0166BAC37882}"/>
          </ac:picMkLst>
        </pc:picChg>
        <pc:picChg chg="add mod">
          <ac:chgData name="Jeremy Tandy" userId="e8cdb70d-e181-4050-b1e5-a14248e7b7aa" providerId="ADAL" clId="{37EEB5F8-7E00-4DC3-9F20-6CE651D680CF}" dt="2025-12-19T16:02:37.111" v="12"/>
          <ac:picMkLst>
            <pc:docMk/>
            <pc:sldMk cId="4258832315" sldId="4488"/>
            <ac:picMk id="4" creationId="{BD063C59-C698-5EBA-9E4A-A5B8A1162C22}"/>
          </ac:picMkLst>
        </pc:picChg>
      </pc:sldChg>
      <pc:sldChg chg="addSp delSp modSp mod">
        <pc:chgData name="Jeremy Tandy" userId="e8cdb70d-e181-4050-b1e5-a14248e7b7aa" providerId="ADAL" clId="{37EEB5F8-7E00-4DC3-9F20-6CE651D680CF}" dt="2025-12-19T16:07:32.202" v="67"/>
        <pc:sldMkLst>
          <pc:docMk/>
          <pc:sldMk cId="1946428226" sldId="4489"/>
        </pc:sldMkLst>
        <pc:spChg chg="add mod">
          <ac:chgData name="Jeremy Tandy" userId="e8cdb70d-e181-4050-b1e5-a14248e7b7aa" providerId="ADAL" clId="{37EEB5F8-7E00-4DC3-9F20-6CE651D680CF}" dt="2025-12-19T16:07:32.202" v="67"/>
          <ac:spMkLst>
            <pc:docMk/>
            <pc:sldMk cId="1946428226" sldId="4489"/>
            <ac:spMk id="3" creationId="{5793BE34-E56A-783F-577C-0D487457A09E}"/>
          </ac:spMkLst>
        </pc:spChg>
        <pc:spChg chg="del">
          <ac:chgData name="Jeremy Tandy" userId="e8cdb70d-e181-4050-b1e5-a14248e7b7aa" providerId="ADAL" clId="{37EEB5F8-7E00-4DC3-9F20-6CE651D680CF}" dt="2025-12-19T16:07:31.766" v="66" actId="478"/>
          <ac:spMkLst>
            <pc:docMk/>
            <pc:sldMk cId="1946428226" sldId="4489"/>
            <ac:spMk id="16" creationId="{3B50F034-176B-DCB0-2393-5BE56ECE0A4F}"/>
          </ac:spMkLst>
        </pc:spChg>
        <pc:spChg chg="mod">
          <ac:chgData name="Jeremy Tandy" userId="e8cdb70d-e181-4050-b1e5-a14248e7b7aa" providerId="ADAL" clId="{37EEB5F8-7E00-4DC3-9F20-6CE651D680CF}" dt="2025-12-19T16:05:39.552" v="50" actId="20577"/>
          <ac:spMkLst>
            <pc:docMk/>
            <pc:sldMk cId="1946428226" sldId="4489"/>
            <ac:spMk id="169" creationId="{9C0B15AF-AB6D-C0EA-DF39-2C1B770AB540}"/>
          </ac:spMkLst>
        </pc:spChg>
        <pc:picChg chg="del">
          <ac:chgData name="Jeremy Tandy" userId="e8cdb70d-e181-4050-b1e5-a14248e7b7aa" providerId="ADAL" clId="{37EEB5F8-7E00-4DC3-9F20-6CE651D680CF}" dt="2025-12-19T16:02:57.199" v="19" actId="478"/>
          <ac:picMkLst>
            <pc:docMk/>
            <pc:sldMk cId="1946428226" sldId="4489"/>
            <ac:picMk id="3" creationId="{FE99B951-5463-1103-A089-C70BAB33049A}"/>
          </ac:picMkLst>
        </pc:picChg>
        <pc:picChg chg="add mod">
          <ac:chgData name="Jeremy Tandy" userId="e8cdb70d-e181-4050-b1e5-a14248e7b7aa" providerId="ADAL" clId="{37EEB5F8-7E00-4DC3-9F20-6CE651D680CF}" dt="2025-12-19T16:02:57.972" v="20"/>
          <ac:picMkLst>
            <pc:docMk/>
            <pc:sldMk cId="1946428226" sldId="4489"/>
            <ac:picMk id="4" creationId="{A0B8BB57-405F-1D18-D3C6-B2452B6524FE}"/>
          </ac:picMkLst>
        </pc:picChg>
      </pc:sldChg>
      <pc:sldChg chg="addSp delSp modSp mod">
        <pc:chgData name="Jeremy Tandy" userId="e8cdb70d-e181-4050-b1e5-a14248e7b7aa" providerId="ADAL" clId="{37EEB5F8-7E00-4DC3-9F20-6CE651D680CF}" dt="2025-12-19T16:07:16.809" v="61"/>
        <pc:sldMkLst>
          <pc:docMk/>
          <pc:sldMk cId="330104345" sldId="4491"/>
        </pc:sldMkLst>
        <pc:spChg chg="add mod">
          <ac:chgData name="Jeremy Tandy" userId="e8cdb70d-e181-4050-b1e5-a14248e7b7aa" providerId="ADAL" clId="{37EEB5F8-7E00-4DC3-9F20-6CE651D680CF}" dt="2025-12-19T16:07:16.809" v="61"/>
          <ac:spMkLst>
            <pc:docMk/>
            <pc:sldMk cId="330104345" sldId="4491"/>
            <ac:spMk id="3" creationId="{669F2B26-1423-914C-682F-3ECD922764C1}"/>
          </ac:spMkLst>
        </pc:spChg>
        <pc:spChg chg="del">
          <ac:chgData name="Jeremy Tandy" userId="e8cdb70d-e181-4050-b1e5-a14248e7b7aa" providerId="ADAL" clId="{37EEB5F8-7E00-4DC3-9F20-6CE651D680CF}" dt="2025-12-19T16:07:16.384" v="60" actId="478"/>
          <ac:spMkLst>
            <pc:docMk/>
            <pc:sldMk cId="330104345" sldId="4491"/>
            <ac:spMk id="16" creationId="{99165656-BA79-2D7C-E037-A455CC5C28FC}"/>
          </ac:spMkLst>
        </pc:spChg>
        <pc:spChg chg="mod">
          <ac:chgData name="Jeremy Tandy" userId="e8cdb70d-e181-4050-b1e5-a14248e7b7aa" providerId="ADAL" clId="{37EEB5F8-7E00-4DC3-9F20-6CE651D680CF}" dt="2025-12-19T16:06:02.300" v="53" actId="20577"/>
          <ac:spMkLst>
            <pc:docMk/>
            <pc:sldMk cId="330104345" sldId="4491"/>
            <ac:spMk id="169" creationId="{D692F1ED-2F5A-413E-6141-B263FDB7F0F1}"/>
          </ac:spMkLst>
        </pc:spChg>
        <pc:picChg chg="del">
          <ac:chgData name="Jeremy Tandy" userId="e8cdb70d-e181-4050-b1e5-a14248e7b7aa" providerId="ADAL" clId="{37EEB5F8-7E00-4DC3-9F20-6CE651D680CF}" dt="2025-12-19T16:02:40.481" v="13" actId="478"/>
          <ac:picMkLst>
            <pc:docMk/>
            <pc:sldMk cId="330104345" sldId="4491"/>
            <ac:picMk id="3" creationId="{E985483F-B065-DD0A-6DA0-35593C7AB0A3}"/>
          </ac:picMkLst>
        </pc:picChg>
        <pc:picChg chg="add mod">
          <ac:chgData name="Jeremy Tandy" userId="e8cdb70d-e181-4050-b1e5-a14248e7b7aa" providerId="ADAL" clId="{37EEB5F8-7E00-4DC3-9F20-6CE651D680CF}" dt="2025-12-19T16:02:41.220" v="14"/>
          <ac:picMkLst>
            <pc:docMk/>
            <pc:sldMk cId="330104345" sldId="4491"/>
            <ac:picMk id="13" creationId="{7C679ED3-B02F-094A-E2F1-83B874DBE6F4}"/>
          </ac:picMkLst>
        </pc:picChg>
      </pc:sldChg>
      <pc:sldChg chg="addSp delSp modSp mod">
        <pc:chgData name="Jeremy Tandy" userId="e8cdb70d-e181-4050-b1e5-a14248e7b7aa" providerId="ADAL" clId="{37EEB5F8-7E00-4DC3-9F20-6CE651D680CF}" dt="2025-12-19T16:07:23.621" v="63"/>
        <pc:sldMkLst>
          <pc:docMk/>
          <pc:sldMk cId="525291353" sldId="4492"/>
        </pc:sldMkLst>
        <pc:spChg chg="add mod">
          <ac:chgData name="Jeremy Tandy" userId="e8cdb70d-e181-4050-b1e5-a14248e7b7aa" providerId="ADAL" clId="{37EEB5F8-7E00-4DC3-9F20-6CE651D680CF}" dt="2025-12-19T16:07:23.621" v="63"/>
          <ac:spMkLst>
            <pc:docMk/>
            <pc:sldMk cId="525291353" sldId="4492"/>
            <ac:spMk id="3" creationId="{E6C5A559-4AFA-603E-D0FA-2B04832EC4DB}"/>
          </ac:spMkLst>
        </pc:spChg>
        <pc:spChg chg="del">
          <ac:chgData name="Jeremy Tandy" userId="e8cdb70d-e181-4050-b1e5-a14248e7b7aa" providerId="ADAL" clId="{37EEB5F8-7E00-4DC3-9F20-6CE651D680CF}" dt="2025-12-19T16:07:22.523" v="62" actId="478"/>
          <ac:spMkLst>
            <pc:docMk/>
            <pc:sldMk cId="525291353" sldId="4492"/>
            <ac:spMk id="16" creationId="{ADB6C080-9CCE-0B19-7E6A-AD107D786FAC}"/>
          </ac:spMkLst>
        </pc:spChg>
        <pc:spChg chg="mod">
          <ac:chgData name="Jeremy Tandy" userId="e8cdb70d-e181-4050-b1e5-a14248e7b7aa" providerId="ADAL" clId="{37EEB5F8-7E00-4DC3-9F20-6CE651D680CF}" dt="2025-12-19T16:05:55.262" v="52" actId="20577"/>
          <ac:spMkLst>
            <pc:docMk/>
            <pc:sldMk cId="525291353" sldId="4492"/>
            <ac:spMk id="169" creationId="{E5FF8A20-E54B-C249-3982-ADBDE846D3E0}"/>
          </ac:spMkLst>
        </pc:spChg>
        <pc:picChg chg="del">
          <ac:chgData name="Jeremy Tandy" userId="e8cdb70d-e181-4050-b1e5-a14248e7b7aa" providerId="ADAL" clId="{37EEB5F8-7E00-4DC3-9F20-6CE651D680CF}" dt="2025-12-19T16:02:44.759" v="15" actId="478"/>
          <ac:picMkLst>
            <pc:docMk/>
            <pc:sldMk cId="525291353" sldId="4492"/>
            <ac:picMk id="3" creationId="{143C82B1-5106-BE57-C860-180DC15F4821}"/>
          </ac:picMkLst>
        </pc:picChg>
        <pc:picChg chg="add mod">
          <ac:chgData name="Jeremy Tandy" userId="e8cdb70d-e181-4050-b1e5-a14248e7b7aa" providerId="ADAL" clId="{37EEB5F8-7E00-4DC3-9F20-6CE651D680CF}" dt="2025-12-19T16:02:45.443" v="16"/>
          <ac:picMkLst>
            <pc:docMk/>
            <pc:sldMk cId="525291353" sldId="4492"/>
            <ac:picMk id="13" creationId="{9CEE06C7-287B-6318-409F-343A110E4A23}"/>
          </ac:picMkLst>
        </pc:picChg>
      </pc:sldChg>
      <pc:sldChg chg="addSp delSp modSp del mod">
        <pc:chgData name="Jeremy Tandy" userId="e8cdb70d-e181-4050-b1e5-a14248e7b7aa" providerId="ADAL" clId="{37EEB5F8-7E00-4DC3-9F20-6CE651D680CF}" dt="2025-12-19T16:08:28.277" v="70" actId="2696"/>
        <pc:sldMkLst>
          <pc:docMk/>
          <pc:sldMk cId="4066137221" sldId="4493"/>
        </pc:sldMkLst>
        <pc:spChg chg="add mod">
          <ac:chgData name="Jeremy Tandy" userId="e8cdb70d-e181-4050-b1e5-a14248e7b7aa" providerId="ADAL" clId="{37EEB5F8-7E00-4DC3-9F20-6CE651D680CF}" dt="2025-12-19T16:07:39.187" v="69"/>
          <ac:spMkLst>
            <pc:docMk/>
            <pc:sldMk cId="4066137221" sldId="4493"/>
            <ac:spMk id="3" creationId="{8C5DC5D1-94E5-E08B-46A4-74ED6EF12108}"/>
          </ac:spMkLst>
        </pc:spChg>
        <pc:spChg chg="del">
          <ac:chgData name="Jeremy Tandy" userId="e8cdb70d-e181-4050-b1e5-a14248e7b7aa" providerId="ADAL" clId="{37EEB5F8-7E00-4DC3-9F20-6CE651D680CF}" dt="2025-12-19T16:07:38.553" v="68" actId="478"/>
          <ac:spMkLst>
            <pc:docMk/>
            <pc:sldMk cId="4066137221" sldId="4493"/>
            <ac:spMk id="16" creationId="{DF5A58DB-76D4-12E3-6891-FF4D1A1EA295}"/>
          </ac:spMkLst>
        </pc:spChg>
        <pc:spChg chg="mod">
          <ac:chgData name="Jeremy Tandy" userId="e8cdb70d-e181-4050-b1e5-a14248e7b7aa" providerId="ADAL" clId="{37EEB5F8-7E00-4DC3-9F20-6CE651D680CF}" dt="2025-12-19T16:05:33.583" v="49" actId="20577"/>
          <ac:spMkLst>
            <pc:docMk/>
            <pc:sldMk cId="4066137221" sldId="4493"/>
            <ac:spMk id="169" creationId="{29F6CB44-2A63-45E8-21D4-316CCA30F3D6}"/>
          </ac:spMkLst>
        </pc:spChg>
        <pc:picChg chg="add mod">
          <ac:chgData name="Jeremy Tandy" userId="e8cdb70d-e181-4050-b1e5-a14248e7b7aa" providerId="ADAL" clId="{37EEB5F8-7E00-4DC3-9F20-6CE651D680CF}" dt="2025-12-19T16:03:02.488" v="22"/>
          <ac:picMkLst>
            <pc:docMk/>
            <pc:sldMk cId="4066137221" sldId="4493"/>
            <ac:picMk id="2" creationId="{B42509C5-9BE8-8B98-156F-6017E94E7968}"/>
          </ac:picMkLst>
        </pc:picChg>
        <pc:picChg chg="del">
          <ac:chgData name="Jeremy Tandy" userId="e8cdb70d-e181-4050-b1e5-a14248e7b7aa" providerId="ADAL" clId="{37EEB5F8-7E00-4DC3-9F20-6CE651D680CF}" dt="2025-12-19T16:03:01.795" v="21" actId="478"/>
          <ac:picMkLst>
            <pc:docMk/>
            <pc:sldMk cId="4066137221" sldId="4493"/>
            <ac:picMk id="3" creationId="{5C3D402D-6ED0-5B6C-7E17-55B886E3E3D3}"/>
          </ac:picMkLst>
        </pc:picChg>
      </pc:sldChg>
      <pc:sldChg chg="addSp delSp modSp mod">
        <pc:chgData name="Jeremy Tandy" userId="e8cdb70d-e181-4050-b1e5-a14248e7b7aa" providerId="ADAL" clId="{37EEB5F8-7E00-4DC3-9F20-6CE651D680CF}" dt="2025-12-19T16:05:27.707" v="48" actId="20577"/>
        <pc:sldMkLst>
          <pc:docMk/>
          <pc:sldMk cId="208677187" sldId="4494"/>
        </pc:sldMkLst>
        <pc:spChg chg="mod">
          <ac:chgData name="Jeremy Tandy" userId="e8cdb70d-e181-4050-b1e5-a14248e7b7aa" providerId="ADAL" clId="{37EEB5F8-7E00-4DC3-9F20-6CE651D680CF}" dt="2025-12-19T16:05:27.707" v="48" actId="20577"/>
          <ac:spMkLst>
            <pc:docMk/>
            <pc:sldMk cId="208677187" sldId="4494"/>
            <ac:spMk id="169" creationId="{87389D94-BFC8-DF52-47D8-386146BA9904}"/>
          </ac:spMkLst>
        </pc:spChg>
        <pc:picChg chg="add mod">
          <ac:chgData name="Jeremy Tandy" userId="e8cdb70d-e181-4050-b1e5-a14248e7b7aa" providerId="ADAL" clId="{37EEB5F8-7E00-4DC3-9F20-6CE651D680CF}" dt="2025-12-19T16:03:06.935" v="24"/>
          <ac:picMkLst>
            <pc:docMk/>
            <pc:sldMk cId="208677187" sldId="4494"/>
            <ac:picMk id="2" creationId="{5E0E9508-80D8-22A0-74CE-671C546293A3}"/>
          </ac:picMkLst>
        </pc:picChg>
        <pc:picChg chg="del">
          <ac:chgData name="Jeremy Tandy" userId="e8cdb70d-e181-4050-b1e5-a14248e7b7aa" providerId="ADAL" clId="{37EEB5F8-7E00-4DC3-9F20-6CE651D680CF}" dt="2025-12-19T16:03:06.233" v="23" actId="478"/>
          <ac:picMkLst>
            <pc:docMk/>
            <pc:sldMk cId="208677187" sldId="4494"/>
            <ac:picMk id="3" creationId="{9DF4440D-4D65-F476-DA7B-AF6FE6943DB5}"/>
          </ac:picMkLst>
        </pc:picChg>
      </pc:sldChg>
      <pc:sldChg chg="addSp delSp modSp mod">
        <pc:chgData name="Jeremy Tandy" userId="e8cdb70d-e181-4050-b1e5-a14248e7b7aa" providerId="ADAL" clId="{37EEB5F8-7E00-4DC3-9F20-6CE651D680CF}" dt="2025-12-19T16:05:19.779" v="47" actId="20577"/>
        <pc:sldMkLst>
          <pc:docMk/>
          <pc:sldMk cId="1668134161" sldId="4495"/>
        </pc:sldMkLst>
        <pc:spChg chg="mod">
          <ac:chgData name="Jeremy Tandy" userId="e8cdb70d-e181-4050-b1e5-a14248e7b7aa" providerId="ADAL" clId="{37EEB5F8-7E00-4DC3-9F20-6CE651D680CF}" dt="2025-12-19T16:05:19.779" v="47" actId="20577"/>
          <ac:spMkLst>
            <pc:docMk/>
            <pc:sldMk cId="1668134161" sldId="4495"/>
            <ac:spMk id="169" creationId="{0262320B-1BCB-67A8-27FD-F03AE09C6D5C}"/>
          </ac:spMkLst>
        </pc:spChg>
        <pc:picChg chg="add mod">
          <ac:chgData name="Jeremy Tandy" userId="e8cdb70d-e181-4050-b1e5-a14248e7b7aa" providerId="ADAL" clId="{37EEB5F8-7E00-4DC3-9F20-6CE651D680CF}" dt="2025-12-19T16:03:12.081" v="26"/>
          <ac:picMkLst>
            <pc:docMk/>
            <pc:sldMk cId="1668134161" sldId="4495"/>
            <ac:picMk id="2" creationId="{78BE0E66-F9CC-0F7F-C3DD-248ABAB66FE0}"/>
          </ac:picMkLst>
        </pc:picChg>
        <pc:picChg chg="del">
          <ac:chgData name="Jeremy Tandy" userId="e8cdb70d-e181-4050-b1e5-a14248e7b7aa" providerId="ADAL" clId="{37EEB5F8-7E00-4DC3-9F20-6CE651D680CF}" dt="2025-12-19T16:03:10.604" v="25" actId="478"/>
          <ac:picMkLst>
            <pc:docMk/>
            <pc:sldMk cId="1668134161" sldId="4495"/>
            <ac:picMk id="3" creationId="{46D335C6-91AF-9FAF-C33B-C717404A0375}"/>
          </ac:picMkLst>
        </pc:picChg>
      </pc:sldChg>
      <pc:sldChg chg="addSp delSp modSp mod">
        <pc:chgData name="Jeremy Tandy" userId="e8cdb70d-e181-4050-b1e5-a14248e7b7aa" providerId="ADAL" clId="{37EEB5F8-7E00-4DC3-9F20-6CE651D680CF}" dt="2025-12-19T16:05:13.027" v="46" actId="20577"/>
        <pc:sldMkLst>
          <pc:docMk/>
          <pc:sldMk cId="488112580" sldId="4496"/>
        </pc:sldMkLst>
        <pc:spChg chg="ord">
          <ac:chgData name="Jeremy Tandy" userId="e8cdb70d-e181-4050-b1e5-a14248e7b7aa" providerId="ADAL" clId="{37EEB5F8-7E00-4DC3-9F20-6CE651D680CF}" dt="2025-12-19T16:03:58.439" v="32" actId="166"/>
          <ac:spMkLst>
            <pc:docMk/>
            <pc:sldMk cId="488112580" sldId="4496"/>
            <ac:spMk id="14" creationId="{145083B9-79A1-F77A-0671-992A3E1259BE}"/>
          </ac:spMkLst>
        </pc:spChg>
        <pc:spChg chg="mod">
          <ac:chgData name="Jeremy Tandy" userId="e8cdb70d-e181-4050-b1e5-a14248e7b7aa" providerId="ADAL" clId="{37EEB5F8-7E00-4DC3-9F20-6CE651D680CF}" dt="2025-12-19T16:05:13.027" v="46" actId="20577"/>
          <ac:spMkLst>
            <pc:docMk/>
            <pc:sldMk cId="488112580" sldId="4496"/>
            <ac:spMk id="169" creationId="{1F258DD9-113D-C91F-824A-3833AD2506BD}"/>
          </ac:spMkLst>
        </pc:spChg>
        <pc:grpChg chg="ord">
          <ac:chgData name="Jeremy Tandy" userId="e8cdb70d-e181-4050-b1e5-a14248e7b7aa" providerId="ADAL" clId="{37EEB5F8-7E00-4DC3-9F20-6CE651D680CF}" dt="2025-12-19T16:03:36.536" v="30" actId="167"/>
          <ac:grpSpMkLst>
            <pc:docMk/>
            <pc:sldMk cId="488112580" sldId="4496"/>
            <ac:grpSpMk id="7" creationId="{F044B274-A7A0-D059-EDB0-F49381681A18}"/>
          </ac:grpSpMkLst>
        </pc:grpChg>
        <pc:picChg chg="del">
          <ac:chgData name="Jeremy Tandy" userId="e8cdb70d-e181-4050-b1e5-a14248e7b7aa" providerId="ADAL" clId="{37EEB5F8-7E00-4DC3-9F20-6CE651D680CF}" dt="2025-12-19T16:03:17.296" v="27" actId="478"/>
          <ac:picMkLst>
            <pc:docMk/>
            <pc:sldMk cId="488112580" sldId="4496"/>
            <ac:picMk id="3" creationId="{375E079A-A71F-A71F-B7DE-F9A0F54CCCAC}"/>
          </ac:picMkLst>
        </pc:picChg>
        <pc:picChg chg="add mod">
          <ac:chgData name="Jeremy Tandy" userId="e8cdb70d-e181-4050-b1e5-a14248e7b7aa" providerId="ADAL" clId="{37EEB5F8-7E00-4DC3-9F20-6CE651D680CF}" dt="2025-12-19T16:04:28.404" v="35" actId="166"/>
          <ac:picMkLst>
            <pc:docMk/>
            <pc:sldMk cId="488112580" sldId="4496"/>
            <ac:picMk id="4" creationId="{C9DA6CA5-225E-56CA-D884-7B1293C3485E}"/>
          </ac:picMkLst>
        </pc:picChg>
      </pc:sldChg>
      <pc:sldChg chg="addSp delSp modSp mod">
        <pc:chgData name="Jeremy Tandy" userId="e8cdb70d-e181-4050-b1e5-a14248e7b7aa" providerId="ADAL" clId="{37EEB5F8-7E00-4DC3-9F20-6CE651D680CF}" dt="2025-12-19T16:05:07.202" v="45" actId="20577"/>
        <pc:sldMkLst>
          <pc:docMk/>
          <pc:sldMk cId="2605788246" sldId="4497"/>
        </pc:sldMkLst>
        <pc:spChg chg="mod">
          <ac:chgData name="Jeremy Tandy" userId="e8cdb70d-e181-4050-b1e5-a14248e7b7aa" providerId="ADAL" clId="{37EEB5F8-7E00-4DC3-9F20-6CE651D680CF}" dt="2025-12-19T16:05:07.202" v="45" actId="20577"/>
          <ac:spMkLst>
            <pc:docMk/>
            <pc:sldMk cId="2605788246" sldId="4497"/>
            <ac:spMk id="169" creationId="{358CC4DA-F0E3-809B-9469-2A9009AEED4F}"/>
          </ac:spMkLst>
        </pc:spChg>
        <pc:picChg chg="add mod">
          <ac:chgData name="Jeremy Tandy" userId="e8cdb70d-e181-4050-b1e5-a14248e7b7aa" providerId="ADAL" clId="{37EEB5F8-7E00-4DC3-9F20-6CE651D680CF}" dt="2025-12-19T16:04:16.459" v="34"/>
          <ac:picMkLst>
            <pc:docMk/>
            <pc:sldMk cId="2605788246" sldId="4497"/>
            <ac:picMk id="2" creationId="{8950FEDB-5A91-8788-BED1-BCCD09EB8BA3}"/>
          </ac:picMkLst>
        </pc:picChg>
        <pc:picChg chg="del">
          <ac:chgData name="Jeremy Tandy" userId="e8cdb70d-e181-4050-b1e5-a14248e7b7aa" providerId="ADAL" clId="{37EEB5F8-7E00-4DC3-9F20-6CE651D680CF}" dt="2025-12-19T16:04:15.862" v="33" actId="478"/>
          <ac:picMkLst>
            <pc:docMk/>
            <pc:sldMk cId="2605788246" sldId="4497"/>
            <ac:picMk id="3" creationId="{E54B8B28-92EF-6F02-EC5B-6FA168CACAF0}"/>
          </ac:picMkLst>
        </pc:picChg>
      </pc:sldChg>
      <pc:sldChg chg="addSp delSp modSp mod">
        <pc:chgData name="Jeremy Tandy" userId="e8cdb70d-e181-4050-b1e5-a14248e7b7aa" providerId="ADAL" clId="{37EEB5F8-7E00-4DC3-9F20-6CE651D680CF}" dt="2025-12-19T16:05:00.901" v="44" actId="20577"/>
        <pc:sldMkLst>
          <pc:docMk/>
          <pc:sldMk cId="23240873" sldId="4498"/>
        </pc:sldMkLst>
        <pc:spChg chg="mod">
          <ac:chgData name="Jeremy Tandy" userId="e8cdb70d-e181-4050-b1e5-a14248e7b7aa" providerId="ADAL" clId="{37EEB5F8-7E00-4DC3-9F20-6CE651D680CF}" dt="2025-12-19T16:05:00.901" v="44" actId="20577"/>
          <ac:spMkLst>
            <pc:docMk/>
            <pc:sldMk cId="23240873" sldId="4498"/>
            <ac:spMk id="169" creationId="{BCCB8D88-DB8A-52C4-2F2A-756A435FC1A2}"/>
          </ac:spMkLst>
        </pc:spChg>
        <pc:picChg chg="add mod">
          <ac:chgData name="Jeremy Tandy" userId="e8cdb70d-e181-4050-b1e5-a14248e7b7aa" providerId="ADAL" clId="{37EEB5F8-7E00-4DC3-9F20-6CE651D680CF}" dt="2025-12-19T16:04:33.704" v="37"/>
          <ac:picMkLst>
            <pc:docMk/>
            <pc:sldMk cId="23240873" sldId="4498"/>
            <ac:picMk id="2" creationId="{A60E66B1-7017-3CC2-9EE5-CD08DD1CEA90}"/>
          </ac:picMkLst>
        </pc:picChg>
        <pc:picChg chg="del">
          <ac:chgData name="Jeremy Tandy" userId="e8cdb70d-e181-4050-b1e5-a14248e7b7aa" providerId="ADAL" clId="{37EEB5F8-7E00-4DC3-9F20-6CE651D680CF}" dt="2025-12-19T16:04:33.104" v="36" actId="478"/>
          <ac:picMkLst>
            <pc:docMk/>
            <pc:sldMk cId="23240873" sldId="4498"/>
            <ac:picMk id="3" creationId="{E00564DA-B7B3-FB50-4354-24FAB7661A53}"/>
          </ac:picMkLst>
        </pc:picChg>
      </pc:sldChg>
      <pc:sldChg chg="addSp delSp modSp mod">
        <pc:chgData name="Jeremy Tandy" userId="e8cdb70d-e181-4050-b1e5-a14248e7b7aa" providerId="ADAL" clId="{37EEB5F8-7E00-4DC3-9F20-6CE651D680CF}" dt="2025-12-19T16:04:55.535" v="43" actId="20577"/>
        <pc:sldMkLst>
          <pc:docMk/>
          <pc:sldMk cId="935099911" sldId="4499"/>
        </pc:sldMkLst>
        <pc:spChg chg="mod">
          <ac:chgData name="Jeremy Tandy" userId="e8cdb70d-e181-4050-b1e5-a14248e7b7aa" providerId="ADAL" clId="{37EEB5F8-7E00-4DC3-9F20-6CE651D680CF}" dt="2025-12-19T16:04:55.535" v="43" actId="20577"/>
          <ac:spMkLst>
            <pc:docMk/>
            <pc:sldMk cId="935099911" sldId="4499"/>
            <ac:spMk id="169" creationId="{C6CF7922-2411-B3FC-1055-9BC2B521E9E3}"/>
          </ac:spMkLst>
        </pc:spChg>
        <pc:picChg chg="add mod">
          <ac:chgData name="Jeremy Tandy" userId="e8cdb70d-e181-4050-b1e5-a14248e7b7aa" providerId="ADAL" clId="{37EEB5F8-7E00-4DC3-9F20-6CE651D680CF}" dt="2025-12-19T16:04:38.615" v="39"/>
          <ac:picMkLst>
            <pc:docMk/>
            <pc:sldMk cId="935099911" sldId="4499"/>
            <ac:picMk id="2" creationId="{B7F0DAB3-DB94-BBC7-A9E1-92A30C47FDA0}"/>
          </ac:picMkLst>
        </pc:picChg>
        <pc:picChg chg="del">
          <ac:chgData name="Jeremy Tandy" userId="e8cdb70d-e181-4050-b1e5-a14248e7b7aa" providerId="ADAL" clId="{37EEB5F8-7E00-4DC3-9F20-6CE651D680CF}" dt="2025-12-19T16:04:37.858" v="38" actId="478"/>
          <ac:picMkLst>
            <pc:docMk/>
            <pc:sldMk cId="935099911" sldId="4499"/>
            <ac:picMk id="3" creationId="{BC552E5C-672C-0B7A-326E-739B829379F6}"/>
          </ac:picMkLst>
        </pc:picChg>
      </pc:sldChg>
      <pc:sldMasterChg chg="del delSldLayout">
        <pc:chgData name="Jeremy Tandy" userId="e8cdb70d-e181-4050-b1e5-a14248e7b7aa" providerId="ADAL" clId="{37EEB5F8-7E00-4DC3-9F20-6CE651D680CF}" dt="2025-12-19T16:02:19.424" v="6" actId="47"/>
        <pc:sldMasterMkLst>
          <pc:docMk/>
          <pc:sldMasterMk cId="1911323058" sldId="2147483672"/>
        </pc:sldMasterMkLst>
        <pc:sldLayoutChg chg="del">
          <pc:chgData name="Jeremy Tandy" userId="e8cdb70d-e181-4050-b1e5-a14248e7b7aa" providerId="ADAL" clId="{37EEB5F8-7E00-4DC3-9F20-6CE651D680CF}" dt="2025-12-19T16:02:19.424" v="6" actId="47"/>
          <pc:sldLayoutMkLst>
            <pc:docMk/>
            <pc:sldMasterMk cId="1911323058" sldId="2147483672"/>
            <pc:sldLayoutMk cId="2706557740" sldId="2147483673"/>
          </pc:sldLayoutMkLst>
        </pc:sldLayoutChg>
        <pc:sldLayoutChg chg="del">
          <pc:chgData name="Jeremy Tandy" userId="e8cdb70d-e181-4050-b1e5-a14248e7b7aa" providerId="ADAL" clId="{37EEB5F8-7E00-4DC3-9F20-6CE651D680CF}" dt="2025-12-19T16:02:19.424" v="6" actId="47"/>
          <pc:sldLayoutMkLst>
            <pc:docMk/>
            <pc:sldMasterMk cId="1911323058" sldId="2147483672"/>
            <pc:sldLayoutMk cId="681481125" sldId="2147483674"/>
          </pc:sldLayoutMkLst>
        </pc:sldLayoutChg>
        <pc:sldLayoutChg chg="del">
          <pc:chgData name="Jeremy Tandy" userId="e8cdb70d-e181-4050-b1e5-a14248e7b7aa" providerId="ADAL" clId="{37EEB5F8-7E00-4DC3-9F20-6CE651D680CF}" dt="2025-12-19T16:02:19.424" v="6" actId="47"/>
          <pc:sldLayoutMkLst>
            <pc:docMk/>
            <pc:sldMasterMk cId="1911323058" sldId="2147483672"/>
            <pc:sldLayoutMk cId="3322915844" sldId="2147483675"/>
          </pc:sldLayoutMkLst>
        </pc:sldLayoutChg>
        <pc:sldLayoutChg chg="del">
          <pc:chgData name="Jeremy Tandy" userId="e8cdb70d-e181-4050-b1e5-a14248e7b7aa" providerId="ADAL" clId="{37EEB5F8-7E00-4DC3-9F20-6CE651D680CF}" dt="2025-12-19T16:02:19.424" v="6" actId="47"/>
          <pc:sldLayoutMkLst>
            <pc:docMk/>
            <pc:sldMasterMk cId="1911323058" sldId="2147483672"/>
            <pc:sldLayoutMk cId="2382768381" sldId="214748367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6B72EF-6B7A-4BFE-B752-B27646965A39}" type="datetimeFigureOut">
              <a:rPr lang="en-GB" smtClean="0"/>
              <a:t>19/12/2025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D70383-79B8-4C7D-A3F0-79791F16194F}" type="slidenum">
              <a:rPr lang="en-GB" smtClean="0"/>
              <a:t>‹#›</a:t>
            </a:fld>
            <a:endParaRPr lang="en-GB"/>
          </a:p>
        </p:txBody>
      </p:sp>
    </p:spTree>
    <p:extLst>
      <p:ext uri="{BB962C8B-B14F-4D97-AF65-F5344CB8AC3E}">
        <p14:creationId xmlns:p14="http://schemas.microsoft.com/office/powerpoint/2010/main" val="80999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community.wmo.int/en/wis-national-focal-points" TargetMode="External"/><Relationship Id="rId3" Type="http://schemas.openxmlformats.org/officeDocument/2006/relationships/hyperlink" Target="https://library.wmo.int/idurl/4/58009" TargetMode="External"/><Relationship Id="rId7" Type="http://schemas.openxmlformats.org/officeDocument/2006/relationships/hyperlink" Target="https://wmo-im.github.io/wis2-guide/guide/wis2-guide-APPROVED.html#_2_6_1_2_guidance_on_assigning_a_centre_identifier_for_a_wis2_node"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mo-im.github.io/wis2-topic-hierarchy/standard/wis2-topic-hierarchy-STABLE.html#_1_6_centre_identification" TargetMode="External"/><Relationship Id="rId5" Type="http://schemas.openxmlformats.org/officeDocument/2006/relationships/hyperlink" Target="https://wmo-im.github.io/wis2-guide/guide/wis2-guide-APPROVED.html#_2_6_1_1_registration_and_decommissioning_of_a_wis2_node" TargetMode="External"/><Relationship Id="rId4" Type="http://schemas.openxmlformats.org/officeDocument/2006/relationships/hyperlink" Target="http://codes.wmo.int/wis/topic-hierarchy/centre-id" TargetMode="External"/><Relationship Id="rId9" Type="http://schemas.openxmlformats.org/officeDocument/2006/relationships/hyperlink" Target="https://wmoomm.sharepoint.com/:x:/s/wmocpdb/EdzGYikWZspJi_0t-gqh4XMBdPOmDtERdGXCTdNU7nnQDw?rtime=eFHfk76k3Ug"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brary.wmo.int/idurl/4/58009"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4B28A-FE96-677E-F5D1-36A7B1B32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797E4-2AF9-0B3A-0BE1-84A1C2313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78683-C8AD-3E58-A1D7-6E23FBB0889D}"/>
              </a:ext>
            </a:extLst>
          </p:cNvPr>
          <p:cNvSpPr>
            <a:spLocks noGrp="1"/>
          </p:cNvSpPr>
          <p:nvPr>
            <p:ph type="body" idx="1"/>
          </p:nvPr>
        </p:nvSpPr>
        <p:spPr/>
        <p:txBody>
          <a:bodyPr/>
          <a:lstStyle/>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171450" indent="-171450">
              <a:buFont typeface="Arial" panose="020B0604020202020204" pitchFamily="34" charset="0"/>
              <a:buChar char="•"/>
            </a:pPr>
            <a:endParaRPr lang="en-GB" b="0" i="0">
              <a:solidFill>
                <a:srgbClr val="0F172A"/>
              </a:solidFill>
              <a:effectLst/>
              <a:latin typeface="Montserrat"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Guide to WIS (WMO No. 1061), Volume II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a:solidFill>
                  <a:srgbClr val="0F172A"/>
                </a:solidFill>
                <a:effectLst/>
                <a:latin typeface="Montserrat" panose="00000500000000000000" pitchFamily="2" charset="0"/>
              </a:rPr>
              <a:t>https://library.wmo.int/idurl/4/69130</a:t>
            </a:r>
            <a:r>
              <a:rPr lang="en-GB"/>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endParaRPr lang="en-GB"/>
          </a:p>
        </p:txBody>
      </p:sp>
      <p:sp>
        <p:nvSpPr>
          <p:cNvPr id="4" name="Slide Number Placeholder 3">
            <a:extLst>
              <a:ext uri="{FF2B5EF4-FFF2-40B4-BE49-F238E27FC236}">
                <a16:creationId xmlns:a16="http://schemas.microsoft.com/office/drawing/2014/main" id="{1AFF9341-AA0D-7794-15E5-9FA3FB5D7ABC}"/>
              </a:ext>
            </a:extLst>
          </p:cNvPr>
          <p:cNvSpPr>
            <a:spLocks noGrp="1"/>
          </p:cNvSpPr>
          <p:nvPr>
            <p:ph type="sldNum" sz="quarter" idx="5"/>
          </p:nvPr>
        </p:nvSpPr>
        <p:spPr/>
        <p:txBody>
          <a:bodyPr/>
          <a:lstStyle/>
          <a:p>
            <a:fld id="{69D70383-79B8-4C7D-A3F0-79791F16194F}" type="slidenum">
              <a:rPr lang="en-GB" smtClean="0"/>
              <a:t>2</a:t>
            </a:fld>
            <a:endParaRPr lang="en-GB"/>
          </a:p>
        </p:txBody>
      </p:sp>
    </p:spTree>
    <p:extLst>
      <p:ext uri="{BB962C8B-B14F-4D97-AF65-F5344CB8AC3E}">
        <p14:creationId xmlns:p14="http://schemas.microsoft.com/office/powerpoint/2010/main" val="3551630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8B682-EA05-52C0-AD5B-0AC057558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DF23D-2645-86BA-BAA7-B7CC496FB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D4164-28FA-4A6B-3ADA-9FB480782E50}"/>
              </a:ext>
            </a:extLst>
          </p:cNvPr>
          <p:cNvSpPr>
            <a:spLocks noGrp="1"/>
          </p:cNvSpPr>
          <p:nvPr>
            <p:ph type="body" idx="1"/>
          </p:nvPr>
        </p:nvSpPr>
        <p:spPr/>
        <p:txBody>
          <a:bodyPr/>
          <a:lstStyle/>
          <a:p>
            <a:pPr marL="228600" indent="-228600">
              <a:buFont typeface="Arial" panose="020B0604020202020204" pitchFamily="34" charset="0"/>
              <a:buAutoNum type="arabicPeriod"/>
            </a:pPr>
            <a:r>
              <a:rPr lang="en-GB"/>
              <a:t>Publish a notification message to the Local Broker advertising availability of new data</a:t>
            </a:r>
          </a:p>
          <a:p>
            <a:pPr marL="228600" indent="-228600">
              <a:buFont typeface="Arial" panose="020B0604020202020204" pitchFamily="34" charset="0"/>
              <a:buAutoNum type="arabicPeriod"/>
            </a:pPr>
            <a:r>
              <a:rPr lang="en-GB"/>
              <a:t>Global Broker subscribes to the Local Broker; it validates received messages and republishes them</a:t>
            </a:r>
          </a:p>
          <a:p>
            <a:pPr marL="228600" indent="-228600">
              <a:buFont typeface="Arial" panose="020B0604020202020204" pitchFamily="34" charset="0"/>
              <a:buAutoNum type="arabicPeriod"/>
            </a:pPr>
            <a:r>
              <a:rPr lang="en-GB" sz="1200"/>
              <a:t>Data Consumer subscribes to the Global Broker and receives notifications about the availability of new data</a:t>
            </a:r>
            <a:endParaRPr lang="en-GB"/>
          </a:p>
          <a:p>
            <a:pPr marL="228600" indent="-228600">
              <a:buFont typeface="Arial" panose="020B0604020202020204" pitchFamily="34" charset="0"/>
              <a:buAutoNum type="arabicPeriod"/>
            </a:pPr>
            <a:r>
              <a:rPr lang="en-GB" sz="1200"/>
              <a:t>Data Consumer downloads data from the Data Supply Capability (aka. WIS2 Node) using the link in the notification message </a:t>
            </a:r>
          </a:p>
          <a:p>
            <a:pPr marL="228600" indent="-228600">
              <a:buFont typeface="Arial" panose="020B0604020202020204" pitchFamily="34" charset="0"/>
              <a:buAutoNum type="arabicPeriod"/>
            </a:pPr>
            <a:endParaRPr lang="en-GB" sz="1200"/>
          </a:p>
          <a:p>
            <a:pPr marL="0" indent="0">
              <a:buFont typeface="Arial" panose="020B0604020202020204" pitchFamily="34" charset="0"/>
              <a:buNone/>
            </a:pPr>
            <a:r>
              <a:rPr lang="en-GB" sz="1200"/>
              <a:t>Note that WIS2 recommends that Data Consumers subscribe to at least 2 Global Brokers for resilience. Data Consumers need to be able to hand de-duplication of messages (based on the unique message `id`) coming from each Global Broker instance.</a:t>
            </a:r>
          </a:p>
        </p:txBody>
      </p:sp>
      <p:sp>
        <p:nvSpPr>
          <p:cNvPr id="4" name="Slide Number Placeholder 3">
            <a:extLst>
              <a:ext uri="{FF2B5EF4-FFF2-40B4-BE49-F238E27FC236}">
                <a16:creationId xmlns:a16="http://schemas.microsoft.com/office/drawing/2014/main" id="{75443D63-ABFF-0F2D-5FBE-528AAB7ED837}"/>
              </a:ext>
            </a:extLst>
          </p:cNvPr>
          <p:cNvSpPr>
            <a:spLocks noGrp="1"/>
          </p:cNvSpPr>
          <p:nvPr>
            <p:ph type="sldNum" sz="quarter" idx="5"/>
          </p:nvPr>
        </p:nvSpPr>
        <p:spPr/>
        <p:txBody>
          <a:bodyPr/>
          <a:lstStyle/>
          <a:p>
            <a:fld id="{69D70383-79B8-4C7D-A3F0-79791F16194F}" type="slidenum">
              <a:rPr lang="en-GB" smtClean="0"/>
              <a:t>3</a:t>
            </a:fld>
            <a:endParaRPr lang="en-GB"/>
          </a:p>
        </p:txBody>
      </p:sp>
    </p:spTree>
    <p:extLst>
      <p:ext uri="{BB962C8B-B14F-4D97-AF65-F5344CB8AC3E}">
        <p14:creationId xmlns:p14="http://schemas.microsoft.com/office/powerpoint/2010/main" val="1504958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D59FA-F92A-DDB1-C4DA-71616B404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D52B1-88DB-EED1-F271-08D8B9E19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CD0B0-4864-61AC-C540-73BF87B79F9D}"/>
              </a:ext>
            </a:extLst>
          </p:cNvPr>
          <p:cNvSpPr>
            <a:spLocks noGrp="1"/>
          </p:cNvSpPr>
          <p:nvPr>
            <p:ph type="body" idx="1"/>
          </p:nvPr>
        </p:nvSpPr>
        <p:spPr/>
        <p:txBody>
          <a:bodyPr/>
          <a:lstStyle/>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a:t>Appendix D WIS2 Topic Hierarchy</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https://wmo-im.github.io/wis2-topic-hierarchy/standard/wis2-topic-hierarchy-STABLE.html</a:t>
            </a:r>
          </a:p>
          <a:p>
            <a:pPr marL="171450" indent="-171450">
              <a:buFont typeface="Arial" panose="020B0604020202020204" pitchFamily="34" charset="0"/>
              <a:buChar char="•"/>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WMO Unified Data Policy, </a:t>
            </a:r>
            <a:r>
              <a:rPr lang="en-GB"/>
              <a:t>Resolution 1 (Cg-Ext(2021)) </a:t>
            </a:r>
          </a:p>
          <a:p>
            <a:pPr marL="0" indent="0">
              <a:buFont typeface="Arial" panose="020B0604020202020204" pitchFamily="34" charset="0"/>
              <a:buNone/>
            </a:pPr>
            <a:r>
              <a:rPr lang="en-GB" b="0" i="0">
                <a:effectLst/>
                <a:latin typeface="Aptos" panose="020B0004020202020204" pitchFamily="34" charset="0"/>
                <a:hlinkClick r:id="rId3" tooltip="https://library.wmo.int/idurl/4/58009"/>
              </a:rPr>
              <a:t>https://library.wmo.int/idurl/4/58009</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1:channel</a:t>
            </a:r>
          </a:p>
          <a:p>
            <a:pPr marL="0" indent="0">
              <a:buFont typeface="Arial" panose="020B0604020202020204" pitchFamily="34" charset="0"/>
              <a:buNone/>
            </a:pPr>
            <a:r>
              <a:rPr lang="en-GB" b="0" i="0">
                <a:solidFill>
                  <a:srgbClr val="0F172A"/>
                </a:solidFill>
                <a:effectLst/>
                <a:latin typeface="Montserrat" panose="00000500000000000000" pitchFamily="2" charset="0"/>
              </a:rPr>
              <a:t>… `origin` for messages coming from WIS2 Nodes, or `cache` for messages coming from Global Caches</a:t>
            </a:r>
          </a:p>
          <a:p>
            <a:pPr marL="0" indent="0">
              <a:buFont typeface="Arial" panose="020B0604020202020204" pitchFamily="34" charset="0"/>
              <a:buNone/>
            </a:pPr>
            <a:r>
              <a:rPr lang="en-GB" b="0" i="0">
                <a:solidFill>
                  <a:srgbClr val="0F172A"/>
                </a:solidFill>
                <a:effectLst/>
                <a:latin typeface="Montserrat" panose="00000500000000000000" pitchFamily="2" charset="0"/>
              </a:rPr>
              <a:t>… I’ll talk about this in a moment – but mainly it’s done so we drive traffic to the highly-available Global Services rather than swamping WIS2 Nodes with requests</a:t>
            </a:r>
          </a:p>
          <a:p>
            <a:pPr marL="0" indent="0">
              <a:buFont typeface="Arial" panose="020B0604020202020204" pitchFamily="34" charset="0"/>
              <a:buNone/>
            </a:pPr>
            <a:r>
              <a:rPr lang="en-GB" b="0" i="0">
                <a:solidFill>
                  <a:srgbClr val="0F172A"/>
                </a:solidFill>
                <a:effectLst/>
                <a:latin typeface="Montserrat" panose="00000500000000000000" pitchFamily="2" charset="0"/>
              </a:rPr>
              <a:t>… only Core data is cached, and this may be overridden by the Data Publisher </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2:version</a:t>
            </a:r>
          </a:p>
          <a:p>
            <a:pPr marL="0" indent="0">
              <a:buFont typeface="Arial" panose="020B0604020202020204" pitchFamily="34" charset="0"/>
              <a:buNone/>
            </a:pPr>
            <a:r>
              <a:rPr lang="en-GB" b="0" i="0">
                <a:solidFill>
                  <a:srgbClr val="0F172A"/>
                </a:solidFill>
                <a:effectLst/>
                <a:latin typeface="Montserrat" panose="00000500000000000000" pitchFamily="2" charset="0"/>
              </a:rPr>
              <a:t>… just `a` for now – but we’re ready for breaking changes in years to come such as modifying the structure of the topic hierarchy</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3:system</a:t>
            </a:r>
          </a:p>
          <a:p>
            <a:pPr marL="0" indent="0">
              <a:buFont typeface="Arial" panose="020B0604020202020204" pitchFamily="34" charset="0"/>
              <a:buNone/>
            </a:pPr>
            <a:r>
              <a:rPr lang="en-GB" b="0" i="0">
                <a:solidFill>
                  <a:srgbClr val="0F172A"/>
                </a:solidFill>
                <a:effectLst/>
                <a:latin typeface="Montserrat" panose="00000500000000000000" pitchFamily="2" charset="0"/>
              </a:rPr>
              <a:t>… just `wis2` for now – but who knows if we’ll want to reuse this mechanism for other WMO initiatives?</a:t>
            </a:r>
          </a:p>
          <a:p>
            <a:pPr marL="0" indent="0">
              <a:buFont typeface="Arial" panose="020B0604020202020204" pitchFamily="34" charset="0"/>
              <a:buNone/>
            </a:pPr>
            <a:r>
              <a:rPr lang="en-GB" b="0" i="0">
                <a:solidFill>
                  <a:srgbClr val="0F172A"/>
                </a:solidFill>
                <a:effectLst/>
                <a:latin typeface="Montserrat" panose="00000500000000000000" pitchFamily="2" charset="0"/>
              </a:rPr>
              <a:t>… you’re free to re-use this messaging pattern, and the infrastructure you’ve deployed, for other purposes; just use a different value for {system} and the WIS2 Global Services will ignore the messages</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4:centre-id</a:t>
            </a:r>
          </a:p>
          <a:p>
            <a:pPr marL="0" indent="0">
              <a:buFont typeface="Arial" panose="020B0604020202020204" pitchFamily="34" charset="0"/>
              <a:buNone/>
            </a:pPr>
            <a:r>
              <a:rPr lang="en-GB" b="0" i="0">
                <a:solidFill>
                  <a:srgbClr val="0F172A"/>
                </a:solidFill>
                <a:effectLst/>
                <a:latin typeface="Montserrat" panose="00000500000000000000" pitchFamily="2" charset="0"/>
              </a:rPr>
              <a:t>… the centre identifier of your WIS2 Node agreed with WMO Secretariat</a:t>
            </a:r>
          </a:p>
          <a:p>
            <a:pPr marL="0" indent="0">
              <a:buFont typeface="Arial" panose="020B0604020202020204" pitchFamily="34" charset="0"/>
              <a:buNone/>
            </a:pPr>
            <a:r>
              <a:rPr lang="en-GB" b="0" i="0">
                <a:solidFill>
                  <a:srgbClr val="0F172A"/>
                </a:solidFill>
                <a:effectLst/>
                <a:latin typeface="Montserrat" panose="00000500000000000000" pitchFamily="2" charset="0"/>
              </a:rPr>
              <a:t>… we talked about centre identifiers previously – their structure, and how you get one</a:t>
            </a:r>
          </a:p>
          <a:p>
            <a:pPr marL="0" indent="0">
              <a:buFont typeface="Arial" panose="020B0604020202020204" pitchFamily="34" charset="0"/>
              <a:buNone/>
            </a:pPr>
            <a:r>
              <a:rPr lang="en-GB" b="0" i="0">
                <a:solidFill>
                  <a:srgbClr val="0F172A"/>
                </a:solidFill>
                <a:effectLst/>
                <a:latin typeface="Montserrat" panose="00000500000000000000" pitchFamily="2" charset="0"/>
              </a:rPr>
              <a:t>… the official list is published on WMO Codes Registry at </a:t>
            </a:r>
            <a:r>
              <a:rPr lang="en-GB" sz="1200">
                <a:hlinkClick r:id="rId4"/>
              </a:rPr>
              <a:t>http://codes.wmo.int/wis/topic-hierarchy/centre-id</a:t>
            </a:r>
            <a:endParaRPr lang="en-GB" b="0" i="0">
              <a:solidFill>
                <a:srgbClr val="0F172A"/>
              </a:solidFill>
              <a:effectLst/>
              <a:latin typeface="Montserrat" panose="00000500000000000000" pitchFamily="2" charset="0"/>
            </a:endParaRP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5:notification-type</a:t>
            </a:r>
          </a:p>
          <a:p>
            <a:pPr marL="0" indent="0">
              <a:buFont typeface="Arial" panose="020B0604020202020204" pitchFamily="34" charset="0"/>
              <a:buNone/>
            </a:pPr>
            <a:r>
              <a:rPr lang="en-GB" b="0" i="0">
                <a:solidFill>
                  <a:srgbClr val="0F172A"/>
                </a:solidFill>
                <a:effectLst/>
                <a:latin typeface="Montserrat" panose="00000500000000000000" pitchFamily="2" charset="0"/>
              </a:rPr>
              <a:t>… data or metadata; we want don’t want to mix these resources because we use them in different ways / at different times</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6:data-policy</a:t>
            </a:r>
          </a:p>
          <a:p>
            <a:pPr marL="0" indent="0">
              <a:buFont typeface="Arial" panose="020B0604020202020204" pitchFamily="34" charset="0"/>
              <a:buNone/>
            </a:pPr>
            <a:r>
              <a:rPr lang="en-GB" b="0" i="0">
                <a:solidFill>
                  <a:srgbClr val="0F172A"/>
                </a:solidFill>
                <a:effectLst/>
                <a:latin typeface="Montserrat" panose="00000500000000000000" pitchFamily="2" charset="0"/>
              </a:rPr>
              <a:t>… based on the terminology described in the WMO Unified Data Policy</a:t>
            </a:r>
          </a:p>
          <a:p>
            <a:pPr marL="0" indent="0">
              <a:buFont typeface="Arial" panose="020B0604020202020204" pitchFamily="34" charset="0"/>
              <a:buNone/>
            </a:pPr>
            <a:r>
              <a:rPr lang="en-GB" b="0" i="0">
                <a:solidFill>
                  <a:srgbClr val="0F172A"/>
                </a:solidFill>
                <a:effectLst/>
                <a:latin typeface="Montserrat" panose="00000500000000000000" pitchFamily="2" charset="0"/>
              </a:rPr>
              <a:t>… it’s the `data-policy` value you put in your discovery metadata record</a:t>
            </a:r>
          </a:p>
          <a:p>
            <a:pPr marL="0" indent="0">
              <a:buFont typeface="Arial" panose="020B0604020202020204" pitchFamily="34" charset="0"/>
              <a:buNone/>
            </a:pPr>
            <a:r>
              <a:rPr lang="en-GB" b="0" i="0">
                <a:solidFill>
                  <a:srgbClr val="0F172A"/>
                </a:solidFill>
                <a:effectLst/>
                <a:latin typeface="Montserrat" panose="00000500000000000000" pitchFamily="2" charset="0"/>
              </a:rPr>
              <a:t>… when choosing the data policy you need consider the expectations of Data Consumers. C</a:t>
            </a:r>
            <a:r>
              <a:rPr lang="en-GB" b="0" i="0">
                <a:solidFill>
                  <a:srgbClr val="000000"/>
                </a:solidFill>
                <a:effectLst/>
                <a:latin typeface="Aptos" panose="020B0004020202020204" pitchFamily="34" charset="0"/>
              </a:rPr>
              <a:t>ore data is </a:t>
            </a:r>
            <a:r>
              <a:rPr lang="en-GB" b="0" i="1">
                <a:solidFill>
                  <a:srgbClr val="000000"/>
                </a:solidFill>
                <a:effectLst/>
                <a:latin typeface="Aptos" panose="020B0004020202020204" pitchFamily="34" charset="0"/>
              </a:rPr>
              <a:t>largely</a:t>
            </a:r>
            <a:r>
              <a:rPr lang="en-GB" b="0" i="0">
                <a:solidFill>
                  <a:srgbClr val="000000"/>
                </a:solidFill>
                <a:effectLst/>
                <a:latin typeface="Aptos" panose="020B0004020202020204" pitchFamily="34" charset="0"/>
              </a:rPr>
              <a:t> analogous to what is shared on the GTS today as Essential data (albeit there's more NWP data coming soon!). Really high-frequency datasets (e.g., once-per-minute observations) or high-resolution (e.g., NWP data with resolution that significantly exceeds the WMO requirements, as specified in the Manual on WIPPS) might overwhelm Data Consumers. They would get much more data than they’re expecting? Basically, we need to consider the end users expectations in choosing Core or Recommended. GISCs can help with this decision.</a:t>
            </a:r>
            <a:endParaRPr lang="en-GB" b="0" i="0">
              <a:solidFill>
                <a:srgbClr val="0F172A"/>
              </a:solidFill>
              <a:effectLst/>
              <a:latin typeface="Montserrat" panose="00000500000000000000" pitchFamily="2" charset="0"/>
            </a:endParaRP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7:earth-system-discipline</a:t>
            </a:r>
          </a:p>
          <a:p>
            <a:pPr marL="0" indent="0">
              <a:buFont typeface="Arial" panose="020B0604020202020204" pitchFamily="34" charset="0"/>
              <a:buNone/>
            </a:pPr>
            <a:r>
              <a:rPr lang="en-GB" b="0" i="0">
                <a:solidFill>
                  <a:srgbClr val="0F172A"/>
                </a:solidFill>
                <a:effectLst/>
                <a:latin typeface="Montserrat" panose="00000500000000000000" pitchFamily="2" charset="0"/>
              </a:rPr>
              <a:t>… based on the set of disciplines described in the WMO Unified Data Policy</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a:t>How do you get a {centre-id} allocated?</a:t>
            </a:r>
          </a:p>
          <a:p>
            <a:pPr marL="171450" indent="-171450">
              <a:buFont typeface="Arial" panose="020B0604020202020204" pitchFamily="34" charset="0"/>
              <a:buChar char="•"/>
            </a:pPr>
            <a:r>
              <a:rPr lang="en-GB"/>
              <a:t>You need to register your Data Supply Capability as a </a:t>
            </a:r>
            <a:r>
              <a:rPr lang="en-GB" b="1"/>
              <a:t>WIS2 Node</a:t>
            </a:r>
          </a:p>
          <a:p>
            <a:pPr marL="171450" indent="-171450">
              <a:buFont typeface="Arial" panose="020B0604020202020204" pitchFamily="34" charset="0"/>
              <a:buChar char="•"/>
            </a:pPr>
            <a:r>
              <a:rPr lang="en-GB"/>
              <a:t>Instructions are in the </a:t>
            </a:r>
            <a:r>
              <a:rPr lang="en-GB">
                <a:hlinkClick r:id="rId5"/>
              </a:rPr>
              <a:t>Guide to WIS (WMO No. 1061), Volume II: §2.6.1.1 Registration and decommissioning of a WIS2 Node</a:t>
            </a:r>
            <a:endParaRPr lang="en-GB"/>
          </a:p>
          <a:p>
            <a:pPr marL="171450" indent="-171450">
              <a:spcAft>
                <a:spcPts val="1200"/>
              </a:spcAft>
              <a:buFont typeface="Arial" panose="020B0604020202020204" pitchFamily="34" charset="0"/>
              <a:buChar char="•"/>
            </a:pPr>
            <a:r>
              <a:rPr lang="en-GB"/>
              <a:t>The </a:t>
            </a:r>
            <a:r>
              <a:rPr lang="en-GB" i="1"/>
              <a:t>TL;DR</a:t>
            </a:r>
            <a:r>
              <a:rPr lang="en-GB"/>
              <a:t> version?</a:t>
            </a:r>
          </a:p>
          <a:p>
            <a:pPr marL="800100" lvl="1" indent="-342900">
              <a:buFont typeface="+mj-lt"/>
              <a:buAutoNum type="arabicPeriod"/>
            </a:pPr>
            <a:r>
              <a:rPr lang="en-GB"/>
              <a:t>You are ready to run a WIS2 Node and your </a:t>
            </a:r>
            <a:r>
              <a:rPr lang="en-GB" b="1"/>
              <a:t>Permanent Representative to WMO</a:t>
            </a:r>
            <a:r>
              <a:rPr lang="en-GB"/>
              <a:t> (PR) has given approval </a:t>
            </a:r>
          </a:p>
          <a:p>
            <a:pPr marL="800100" lvl="1" indent="-342900">
              <a:buFont typeface="+mj-lt"/>
              <a:buAutoNum type="arabicPeriod"/>
            </a:pPr>
            <a:r>
              <a:rPr lang="en-GB"/>
              <a:t>Choose a {centre-id} based on the </a:t>
            </a:r>
            <a:r>
              <a:rPr lang="en-GB">
                <a:hlinkClick r:id="rId6"/>
              </a:rPr>
              <a:t>specification</a:t>
            </a:r>
            <a:r>
              <a:rPr lang="en-GB"/>
              <a:t> and </a:t>
            </a:r>
            <a:r>
              <a:rPr lang="en-GB">
                <a:hlinkClick r:id="rId7"/>
              </a:rPr>
              <a:t>guidance</a:t>
            </a:r>
            <a:r>
              <a:rPr lang="en-GB"/>
              <a:t> (your </a:t>
            </a:r>
            <a:r>
              <a:rPr lang="en-GB" b="1"/>
              <a:t>GISC</a:t>
            </a:r>
            <a:r>
              <a:rPr lang="en-GB"/>
              <a:t> can help with this)</a:t>
            </a:r>
          </a:p>
          <a:p>
            <a:pPr marL="800100" lvl="1" indent="-342900">
              <a:buFont typeface="+mj-lt"/>
              <a:buAutoNum type="arabicPeriod"/>
            </a:pPr>
            <a:r>
              <a:rPr lang="en-GB"/>
              <a:t>Via your </a:t>
            </a:r>
            <a:r>
              <a:rPr lang="en-GB" b="1"/>
              <a:t>WIS National Focal Point</a:t>
            </a:r>
            <a:r>
              <a:rPr lang="en-GB"/>
              <a:t> (NFP, see here: </a:t>
            </a:r>
            <a:r>
              <a:rPr lang="en-GB">
                <a:hlinkClick r:id="rId8"/>
              </a:rPr>
              <a:t>Web</a:t>
            </a:r>
            <a:r>
              <a:rPr lang="en-GB"/>
              <a:t>, </a:t>
            </a:r>
            <a:r>
              <a:rPr lang="en-GB">
                <a:hlinkClick r:id="rId9"/>
              </a:rPr>
              <a:t>Excel</a:t>
            </a:r>
            <a:r>
              <a:rPr lang="en-GB"/>
              <a:t>) propose your {centre-id} to </a:t>
            </a:r>
            <a:r>
              <a:rPr lang="en-GB" b="1"/>
              <a:t>WMO Secretariat</a:t>
            </a:r>
            <a:r>
              <a:rPr lang="en-GB"/>
              <a:t> who will validate against the specification</a:t>
            </a:r>
          </a:p>
          <a:p>
            <a:pPr marL="800100" lvl="1" indent="-342900">
              <a:buFont typeface="+mj-lt"/>
              <a:buAutoNum type="arabicPeriod"/>
            </a:pPr>
            <a:r>
              <a:rPr lang="en-GB"/>
              <a:t>Once {centre-id} is agreed, the </a:t>
            </a:r>
            <a:r>
              <a:rPr lang="en-GB" b="1"/>
              <a:t>NFP</a:t>
            </a:r>
            <a:r>
              <a:rPr lang="en-GB"/>
              <a:t> completes the </a:t>
            </a:r>
            <a:r>
              <a:rPr lang="en-GB" b="1"/>
              <a:t>WIS2 register</a:t>
            </a:r>
            <a:r>
              <a:rPr lang="en-GB"/>
              <a:t> with details of your WIS2 Node, including the address of your Local Broker and the credentials required for Global Services to subscribe</a:t>
            </a:r>
          </a:p>
          <a:p>
            <a:pPr marL="800100" lvl="1" indent="-342900">
              <a:buFont typeface="+mj-lt"/>
              <a:buAutoNum type="arabicPeriod"/>
            </a:pPr>
            <a:r>
              <a:rPr lang="en-GB"/>
              <a:t>Your </a:t>
            </a:r>
            <a:r>
              <a:rPr lang="en-GB" b="1"/>
              <a:t>GISC</a:t>
            </a:r>
            <a:r>
              <a:rPr lang="en-GB"/>
              <a:t> then assesses that your WIS2 Node meets all the WIS2 requirements</a:t>
            </a:r>
          </a:p>
          <a:p>
            <a:pPr marL="800100" lvl="1" indent="-342900">
              <a:buFont typeface="+mj-lt"/>
              <a:buAutoNum type="arabicPeriod"/>
            </a:pPr>
            <a:r>
              <a:rPr lang="en-GB"/>
              <a:t>If all OK, your WIS2 Node is connected to the WIS2 Global Services and (meta)data starts flowing!</a:t>
            </a:r>
          </a:p>
          <a:p>
            <a:pPr marL="171450" indent="-171450">
              <a:buFont typeface="Arial" panose="020B0604020202020204" pitchFamily="34" charset="0"/>
              <a:buChar char="•"/>
            </a:pPr>
            <a:endParaRPr lang="en-GB"/>
          </a:p>
          <a:p>
            <a:pPr>
              <a:spcAft>
                <a:spcPts val="1200"/>
              </a:spcAft>
            </a:pPr>
            <a:r>
              <a:rPr lang="en-GB" b="0" u="none"/>
              <a:t>Who is my GISC?</a:t>
            </a:r>
          </a:p>
          <a:p>
            <a:pPr marL="171450" indent="-171450">
              <a:spcAft>
                <a:spcPts val="1200"/>
              </a:spcAft>
              <a:buFont typeface="Arial" panose="020B0604020202020204" pitchFamily="34" charset="0"/>
              <a:buChar char="•"/>
            </a:pPr>
            <a:r>
              <a:rPr lang="en-GB" b="1"/>
              <a:t>GISC-Offenbach (Germany)</a:t>
            </a:r>
          </a:p>
          <a:p>
            <a:pPr lvl="1">
              <a:spcAft>
                <a:spcPts val="1200"/>
              </a:spcAft>
            </a:pPr>
            <a:r>
              <a:rPr lang="en-GB"/>
              <a:t>Germany + Austria, Bosnia &amp; Herzegovina, Bulgaria, Croatia, Cyprus, Czechia, Denmark, Estonia, EUMETSAT, Finland, Greece, Hungary, Israel, Italy, Jordan, Kenya, Latvia, Lithuania, Montenegro, North Macedonia, Norway, Poland, Romania, Serbia, Slovakia, Sweden, Switzerland, </a:t>
            </a:r>
            <a:r>
              <a:rPr lang="en-GB" err="1"/>
              <a:t>Turkiye</a:t>
            </a:r>
            <a:endParaRPr lang="en-GB"/>
          </a:p>
          <a:p>
            <a:pPr marL="171450" indent="-171450">
              <a:spcAft>
                <a:spcPts val="1200"/>
              </a:spcAft>
              <a:buFont typeface="Arial" panose="020B0604020202020204" pitchFamily="34" charset="0"/>
              <a:buChar char="•"/>
            </a:pPr>
            <a:r>
              <a:rPr lang="en-GB" b="1"/>
              <a:t>GISC-Toulouse (France)</a:t>
            </a:r>
          </a:p>
          <a:p>
            <a:pPr lvl="1">
              <a:spcAft>
                <a:spcPts val="1200"/>
              </a:spcAft>
            </a:pPr>
            <a:r>
              <a:rPr lang="en-GB"/>
              <a:t>France (&amp; Clipperton, French Guyana, Guadeloupe, St Martin, St Barthelemy, Kerguelen Islands, La Reunion, Martinique, St Pierre &amp; Miquelon, Wallis &amp; Futuna) + Algeria, Belgium, </a:t>
            </a:r>
            <a:r>
              <a:rPr lang="en-GB" err="1"/>
              <a:t>Luxemberg</a:t>
            </a:r>
            <a:r>
              <a:rPr lang="en-GB"/>
              <a:t>, Monaco, Portugal, Spain</a:t>
            </a:r>
          </a:p>
          <a:p>
            <a:pPr marL="171450" indent="-171450">
              <a:spcAft>
                <a:spcPts val="1200"/>
              </a:spcAft>
              <a:buFont typeface="Arial" panose="020B0604020202020204" pitchFamily="34" charset="0"/>
              <a:buChar char="•"/>
            </a:pPr>
            <a:r>
              <a:rPr lang="en-GB" b="1"/>
              <a:t>GISC-Exeter (UK)</a:t>
            </a:r>
          </a:p>
          <a:p>
            <a:pPr lvl="1">
              <a:spcAft>
                <a:spcPts val="1200"/>
              </a:spcAft>
            </a:pPr>
            <a:r>
              <a:rPr lang="en-GB"/>
              <a:t>UK (&amp; British Antarctic Survey, Ascension, Bermuda, Gibraltar, Pitcairn Islands, St Helena Island)+ ECMWF, Ireland, Iceland, Netherlands</a:t>
            </a:r>
          </a:p>
          <a:p>
            <a:pPr marL="0" indent="0">
              <a:buFont typeface="Arial" panose="020B0604020202020204" pitchFamily="34" charset="0"/>
              <a:buNone/>
            </a:pPr>
            <a:endParaRPr lang="en-GB" b="0" i="0">
              <a:effectLst/>
              <a:latin typeface="Aptos" panose="020B0004020202020204" pitchFamily="34" charset="0"/>
            </a:endParaRP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p:txBody>
      </p:sp>
      <p:sp>
        <p:nvSpPr>
          <p:cNvPr id="4" name="Slide Number Placeholder 3">
            <a:extLst>
              <a:ext uri="{FF2B5EF4-FFF2-40B4-BE49-F238E27FC236}">
                <a16:creationId xmlns:a16="http://schemas.microsoft.com/office/drawing/2014/main" id="{E5552CED-FB3D-CDD6-1A76-31AE24650D58}"/>
              </a:ext>
            </a:extLst>
          </p:cNvPr>
          <p:cNvSpPr>
            <a:spLocks noGrp="1"/>
          </p:cNvSpPr>
          <p:nvPr>
            <p:ph type="sldNum" sz="quarter" idx="5"/>
          </p:nvPr>
        </p:nvSpPr>
        <p:spPr/>
        <p:txBody>
          <a:bodyPr/>
          <a:lstStyle/>
          <a:p>
            <a:fld id="{69D70383-79B8-4C7D-A3F0-79791F16194F}" type="slidenum">
              <a:rPr lang="en-GB" smtClean="0"/>
              <a:t>4</a:t>
            </a:fld>
            <a:endParaRPr lang="en-GB"/>
          </a:p>
        </p:txBody>
      </p:sp>
    </p:spTree>
    <p:extLst>
      <p:ext uri="{BB962C8B-B14F-4D97-AF65-F5344CB8AC3E}">
        <p14:creationId xmlns:p14="http://schemas.microsoft.com/office/powerpoint/2010/main" val="2011215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9E9FA-032C-403E-9787-639E0D797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88E2B-EEB8-DA85-90A6-593917F5E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3931F-0C18-0613-F8AE-B5CFB3507FE6}"/>
              </a:ext>
            </a:extLst>
          </p:cNvPr>
          <p:cNvSpPr>
            <a:spLocks noGrp="1"/>
          </p:cNvSpPr>
          <p:nvPr>
            <p:ph type="body" idx="1"/>
          </p:nvPr>
        </p:nvSpPr>
        <p:spPr/>
        <p:txBody>
          <a:bodyPr/>
          <a:lstStyle/>
          <a:p>
            <a:pPr marL="0" indent="0">
              <a:buFont typeface="Arial" panose="020B0604020202020204" pitchFamily="34" charset="0"/>
              <a:buNone/>
            </a:pPr>
            <a:r>
              <a:rPr lang="en-GB" b="0" i="0">
                <a:solidFill>
                  <a:srgbClr val="0F172A"/>
                </a:solidFill>
                <a:effectLst/>
                <a:latin typeface="Montserrat" panose="00000500000000000000" pitchFamily="2" charset="0"/>
              </a:rPr>
              <a:t>8:sub-discipline</a:t>
            </a:r>
          </a:p>
          <a:p>
            <a:pPr marL="0" indent="0">
              <a:buFont typeface="Arial" panose="020B0604020202020204" pitchFamily="34" charset="0"/>
              <a:buNone/>
            </a:pPr>
            <a:r>
              <a:rPr lang="en-GB" b="0" i="0">
                <a:solidFill>
                  <a:srgbClr val="0F172A"/>
                </a:solidFill>
                <a:effectLst/>
                <a:latin typeface="Montserrat" panose="00000500000000000000" pitchFamily="2" charset="0"/>
              </a:rPr>
              <a:t>… `space-based-observations` = those taken from orbiting satellite platforms; `surface-based-observations` = everything else</a:t>
            </a:r>
          </a:p>
          <a:p>
            <a:pPr marL="0" indent="0">
              <a:buFont typeface="Arial" panose="020B0604020202020204" pitchFamily="34" charset="0"/>
              <a:buNone/>
            </a:pPr>
            <a:r>
              <a:rPr lang="en-GB" b="0" i="0">
                <a:solidFill>
                  <a:srgbClr val="0F172A"/>
                </a:solidFill>
                <a:effectLst/>
                <a:latin typeface="Montserrat" panose="00000500000000000000" pitchFamily="2" charset="0"/>
              </a:rPr>
              <a:t>… including upper-air observations; the observing platforms are either on the surface (wind-profiler) or launched from the surface (radio-sonde)</a:t>
            </a:r>
          </a:p>
          <a:p>
            <a:pPr marL="0" indent="0">
              <a:buFont typeface="Arial" panose="020B0604020202020204" pitchFamily="34" charset="0"/>
              <a:buNone/>
            </a:pPr>
            <a:r>
              <a:rPr lang="en-GB" b="0" i="0">
                <a:solidFill>
                  <a:srgbClr val="0F172A"/>
                </a:solidFill>
                <a:effectLst/>
                <a:latin typeface="Montserrat" panose="00000500000000000000" pitchFamily="2" charset="0"/>
              </a:rPr>
              <a:t>… sub-topics on `experimental` aren’t validated by the Global Brokers, so you can use what you like</a:t>
            </a:r>
          </a:p>
          <a:p>
            <a:pPr marL="0" indent="0">
              <a:buFont typeface="Arial" panose="020B0604020202020204" pitchFamily="34" charset="0"/>
              <a:buNone/>
            </a:pPr>
            <a:r>
              <a:rPr lang="en-GB" b="0" i="0">
                <a:solidFill>
                  <a:srgbClr val="0F172A"/>
                </a:solidFill>
                <a:effectLst/>
                <a:latin typeface="Montserrat" panose="00000500000000000000" pitchFamily="2" charset="0"/>
              </a:rPr>
              <a:t>… however, as a Data Consumer, you shouldn’t expect these terms to be long-lasting, nor provide quality data at an operational SLA </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i="0">
                <a:solidFill>
                  <a:srgbClr val="0F172A"/>
                </a:solidFill>
                <a:effectLst/>
                <a:latin typeface="Montserrat" panose="00000500000000000000" pitchFamily="2" charset="0"/>
              </a:rPr>
              <a:t>9:sub-sub-discipline</a:t>
            </a:r>
          </a:p>
          <a:p>
            <a:pPr marL="0" indent="0">
              <a:buFont typeface="Arial" panose="020B0604020202020204" pitchFamily="34" charset="0"/>
              <a:buNone/>
            </a:pPr>
            <a:r>
              <a:rPr lang="en-GB" b="0" i="0">
                <a:solidFill>
                  <a:srgbClr val="0F172A"/>
                </a:solidFill>
                <a:effectLst/>
                <a:latin typeface="Montserrat" panose="00000500000000000000" pitchFamily="2" charset="0"/>
              </a:rPr>
              <a:t>… here, the types are a mixture of GTS bulletin types and observing platforms; it’s a bit confusing – to be resolved</a:t>
            </a:r>
          </a:p>
        </p:txBody>
      </p:sp>
      <p:sp>
        <p:nvSpPr>
          <p:cNvPr id="4" name="Slide Number Placeholder 3">
            <a:extLst>
              <a:ext uri="{FF2B5EF4-FFF2-40B4-BE49-F238E27FC236}">
                <a16:creationId xmlns:a16="http://schemas.microsoft.com/office/drawing/2014/main" id="{6BFEDD9C-9907-DF9B-D948-962701A79592}"/>
              </a:ext>
            </a:extLst>
          </p:cNvPr>
          <p:cNvSpPr>
            <a:spLocks noGrp="1"/>
          </p:cNvSpPr>
          <p:nvPr>
            <p:ph type="sldNum" sz="quarter" idx="5"/>
          </p:nvPr>
        </p:nvSpPr>
        <p:spPr/>
        <p:txBody>
          <a:bodyPr/>
          <a:lstStyle/>
          <a:p>
            <a:fld id="{69D70383-79B8-4C7D-A3F0-79791F16194F}" type="slidenum">
              <a:rPr lang="en-GB" smtClean="0"/>
              <a:t>5</a:t>
            </a:fld>
            <a:endParaRPr lang="en-GB"/>
          </a:p>
        </p:txBody>
      </p:sp>
    </p:spTree>
    <p:extLst>
      <p:ext uri="{BB962C8B-B14F-4D97-AF65-F5344CB8AC3E}">
        <p14:creationId xmlns:p14="http://schemas.microsoft.com/office/powerpoint/2010/main" val="1497556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A054-97F0-F30E-14A9-A024BFE7F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66E5C-2D8D-71A0-E8E1-486E00E6B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282E6-2DEE-1B42-6E56-CF1AE89ADCAD}"/>
              </a:ext>
            </a:extLst>
          </p:cNvPr>
          <p:cNvSpPr>
            <a:spLocks noGrp="1"/>
          </p:cNvSpPr>
          <p:nvPr>
            <p:ph type="body" idx="1"/>
          </p:nvPr>
        </p:nvSpPr>
        <p:spPr/>
        <p:txBody>
          <a:bodyPr/>
          <a:lstStyle/>
          <a:p>
            <a:pPr marL="0" indent="0">
              <a:buFont typeface="Arial" panose="020B0604020202020204" pitchFamily="34" charset="0"/>
              <a:buNone/>
            </a:pPr>
            <a:r>
              <a:rPr lang="en-GB"/>
              <a:t>WMO Unified Data Policy, Resolution 1 (Cg-Ext(2021))</a:t>
            </a:r>
          </a:p>
          <a:p>
            <a:pPr marL="0" indent="0">
              <a:buFont typeface="Arial" panose="020B0604020202020204" pitchFamily="34" charset="0"/>
              <a:buNone/>
            </a:pPr>
            <a:r>
              <a:rPr lang="en-GB" b="0" i="0">
                <a:effectLst/>
                <a:latin typeface="Aptos" panose="020B0004020202020204" pitchFamily="34" charset="0"/>
                <a:hlinkClick r:id="rId3" tooltip="https://library.wmo.int/idurl/4/58009"/>
              </a:rPr>
              <a:t>https://library.wmo.int/idurl/4/58009</a:t>
            </a:r>
            <a:endParaRPr lang="en-GB" b="0" i="0">
              <a:effectLst/>
              <a:latin typeface="Aptos" panose="020B0004020202020204" pitchFamily="34" charset="0"/>
            </a:endParaRPr>
          </a:p>
          <a:p>
            <a:pPr marL="0" indent="0">
              <a:buFont typeface="Arial" panose="020B0604020202020204" pitchFamily="34" charset="0"/>
              <a:buNone/>
            </a:pPr>
            <a:endParaRPr lang="en-GB"/>
          </a:p>
          <a:p>
            <a:pPr marL="285750" indent="-285750" rtl="0" fontAlgn="base">
              <a:buFont typeface="Arial" panose="020B0604020202020204" pitchFamily="34" charset="0"/>
              <a:buChar char="•"/>
            </a:pPr>
            <a:r>
              <a:rPr lang="en-GB" sz="1800" b="1">
                <a:solidFill>
                  <a:srgbClr val="000000"/>
                </a:solidFill>
                <a:effectLst/>
                <a:latin typeface="Aptos" panose="020B0004020202020204" pitchFamily="34" charset="0"/>
              </a:rPr>
              <a:t>core </a:t>
            </a:r>
            <a:r>
              <a:rPr lang="en-GB" sz="1800">
                <a:solidFill>
                  <a:srgbClr val="000000"/>
                </a:solidFill>
                <a:effectLst/>
                <a:latin typeface="Aptos" panose="020B0004020202020204" pitchFamily="34" charset="0"/>
              </a:rPr>
              <a:t>data that are necessary for the provision of services in support of the protection of life and property and for the well-being of all nations</a:t>
            </a:r>
            <a:endParaRPr lang="en-GB" sz="1800" b="0" i="0">
              <a:solidFill>
                <a:srgbClr val="000000"/>
              </a:solidFill>
              <a:effectLst/>
              <a:latin typeface="Aptos" panose="020B0004020202020204" pitchFamily="34" charset="0"/>
            </a:endParaRPr>
          </a:p>
          <a:p>
            <a:pPr marL="285750" indent="-285750" rtl="0" fontAlgn="base">
              <a:buFont typeface="Arial" panose="020B0604020202020204" pitchFamily="34" charset="0"/>
              <a:buChar char="•"/>
            </a:pPr>
            <a:r>
              <a:rPr lang="en-GB" sz="1800" b="1">
                <a:solidFill>
                  <a:srgbClr val="000000"/>
                </a:solidFill>
                <a:effectLst/>
                <a:latin typeface="Aptos" panose="020B0004020202020204" pitchFamily="34" charset="0"/>
              </a:rPr>
              <a:t>recommended</a:t>
            </a:r>
            <a:r>
              <a:rPr lang="en-GB" sz="1800">
                <a:solidFill>
                  <a:srgbClr val="000000"/>
                </a:solidFill>
                <a:effectLst/>
                <a:latin typeface="Aptos" panose="020B0004020202020204" pitchFamily="34" charset="0"/>
              </a:rPr>
              <a:t> data that are required to support Earth system monitoring and prediction activities at the global, regional and national levels and to further assist other Members with the provision of weather, climate, water and related environmental services in their States and Territories</a:t>
            </a:r>
          </a:p>
        </p:txBody>
      </p:sp>
      <p:sp>
        <p:nvSpPr>
          <p:cNvPr id="4" name="Slide Number Placeholder 3">
            <a:extLst>
              <a:ext uri="{FF2B5EF4-FFF2-40B4-BE49-F238E27FC236}">
                <a16:creationId xmlns:a16="http://schemas.microsoft.com/office/drawing/2014/main" id="{4A81E832-2C84-14FB-4354-845E348325D7}"/>
              </a:ext>
            </a:extLst>
          </p:cNvPr>
          <p:cNvSpPr>
            <a:spLocks noGrp="1"/>
          </p:cNvSpPr>
          <p:nvPr>
            <p:ph type="sldNum" sz="quarter" idx="5"/>
          </p:nvPr>
        </p:nvSpPr>
        <p:spPr/>
        <p:txBody>
          <a:bodyPr/>
          <a:lstStyle/>
          <a:p>
            <a:fld id="{69D70383-79B8-4C7D-A3F0-79791F16194F}" type="slidenum">
              <a:rPr lang="en-GB" smtClean="0"/>
              <a:t>6</a:t>
            </a:fld>
            <a:endParaRPr lang="en-GB"/>
          </a:p>
        </p:txBody>
      </p:sp>
    </p:spTree>
    <p:extLst>
      <p:ext uri="{BB962C8B-B14F-4D97-AF65-F5344CB8AC3E}">
        <p14:creationId xmlns:p14="http://schemas.microsoft.com/office/powerpoint/2010/main" val="857639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65A52-6014-DFAA-AB9E-78C057128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9781C-844A-4F41-E0D6-0552D207F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2D552-4179-7CF5-3319-AC50D141444F}"/>
              </a:ext>
            </a:extLst>
          </p:cNvPr>
          <p:cNvSpPr>
            <a:spLocks noGrp="1"/>
          </p:cNvSpPr>
          <p:nvPr>
            <p:ph type="body" idx="1"/>
          </p:nvPr>
        </p:nvSpPr>
        <p:spPr/>
        <p:txBody>
          <a:bodyPr/>
          <a:lstStyle/>
          <a:p>
            <a:pPr marL="228600" indent="-228600">
              <a:buFont typeface="Arial" panose="020B0604020202020204" pitchFamily="34" charset="0"/>
              <a:buAutoNum type="arabicPeriod"/>
            </a:pPr>
            <a:r>
              <a:rPr lang="en-GB"/>
              <a:t>Global Cache subscribes to Global Broker</a:t>
            </a:r>
          </a:p>
          <a:p>
            <a:pPr marL="228600" indent="-228600">
              <a:buFont typeface="Arial" panose="020B0604020202020204" pitchFamily="34" charset="0"/>
              <a:buAutoNum type="arabicPeriod"/>
            </a:pPr>
            <a:r>
              <a:rPr lang="en-GB"/>
              <a:t>Global Cache receives notification messages, downloads data objects from WIS2 Node into the cache, and publishes new notification messages on cache/… topic about availability of the data objects from its cache</a:t>
            </a:r>
          </a:p>
          <a:p>
            <a:pPr marL="228600" indent="-228600">
              <a:buFont typeface="Arial" panose="020B0604020202020204" pitchFamily="34" charset="0"/>
              <a:buAutoNum type="arabicPeriod"/>
            </a:pPr>
            <a:r>
              <a:rPr lang="en-GB"/>
              <a:t>Global Broker subscribes to messages from the Global Cache and gets notifications about cached data</a:t>
            </a:r>
          </a:p>
          <a:p>
            <a:pPr marL="228600" indent="-228600">
              <a:buFont typeface="Arial" panose="020B0604020202020204" pitchFamily="34" charset="0"/>
              <a:buAutoNum type="arabicPeriod"/>
            </a:pPr>
            <a:r>
              <a:rPr lang="en-GB"/>
              <a:t>Global Broker republishes notifications on cache/…</a:t>
            </a:r>
          </a:p>
          <a:p>
            <a:pPr marL="228600" indent="-228600">
              <a:buFont typeface="Arial" panose="020B0604020202020204" pitchFamily="34" charset="0"/>
              <a:buAutoNum type="arabicPeriod"/>
            </a:pPr>
            <a:r>
              <a:rPr lang="en-GB"/>
              <a:t>Data Consumer subscribes to the Global Broker on cache/… topic and receives notifications about new Core data available from the Global Cache</a:t>
            </a:r>
          </a:p>
          <a:p>
            <a:pPr marL="228600" indent="-228600">
              <a:buFont typeface="Arial" panose="020B0604020202020204" pitchFamily="34" charset="0"/>
              <a:buAutoNum type="arabicPeriod"/>
            </a:pPr>
            <a:r>
              <a:rPr lang="en-GB"/>
              <a:t>Data Consumer downloads data from the Global Cache using the link in the notification message</a:t>
            </a:r>
          </a:p>
          <a:p>
            <a:pPr marL="228600" indent="-228600">
              <a:buFont typeface="Arial" panose="020B0604020202020204" pitchFamily="34" charset="0"/>
              <a:buAutoNum type="arabicPeriod"/>
            </a:pPr>
            <a:endParaRPr lang="en-GB"/>
          </a:p>
          <a:p>
            <a:pPr marL="0" indent="0">
              <a:buFont typeface="Arial" panose="020B0604020202020204" pitchFamily="34" charset="0"/>
              <a:buNone/>
            </a:pPr>
            <a:endParaRPr lang="en-GB"/>
          </a:p>
          <a:p>
            <a:pPr marL="0" indent="0">
              <a:buFont typeface="Arial" panose="020B0604020202020204" pitchFamily="34" charset="0"/>
              <a:buNone/>
            </a:pPr>
            <a:r>
              <a:rPr lang="en-GB"/>
              <a:t>Note that </a:t>
            </a:r>
          </a:p>
          <a:p>
            <a:pPr marL="171450" indent="-171450">
              <a:buFont typeface="Arial" panose="020B0604020202020204" pitchFamily="34" charset="0"/>
              <a:buChar char="•"/>
            </a:pPr>
            <a:r>
              <a:rPr lang="en-GB"/>
              <a:t>When the Global Cache publishes notifications the topic is identical to that used by the WIS2 Node – albeit with `origin` replaced by `cache` </a:t>
            </a:r>
          </a:p>
          <a:p>
            <a:pPr marL="171450" indent="-171450">
              <a:buFont typeface="Arial" panose="020B0604020202020204" pitchFamily="34" charset="0"/>
              <a:buChar char="•"/>
            </a:pPr>
            <a:r>
              <a:rPr lang="en-GB"/>
              <a:t>If the Data Publisher overrides the cache behaviour by setting </a:t>
            </a:r>
            <a:r>
              <a:rPr lang="en-GB" err="1"/>
              <a:t>property.cache</a:t>
            </a:r>
            <a:r>
              <a:rPr lang="en-GB"/>
              <a:t> = False in the notification message, the Global Cache will _not_ download the data, but _will_ publish a new notification message on cache/…; the URL in this notification message will point to the origin WIS2 Node (i.e., it’s the same URL used in the notification message on origin/…; this behaviour means that Data Consumers can expect notifications about all Core data on the cache/… topics</a:t>
            </a:r>
          </a:p>
          <a:p>
            <a:pPr marL="171450" indent="-171450">
              <a:buFont typeface="Arial" panose="020B0604020202020204" pitchFamily="34" charset="0"/>
              <a:buChar char="•"/>
            </a:pPr>
            <a:r>
              <a:rPr lang="en-GB"/>
              <a:t>Global Caches will cache metadata resources too – for simplicity, the +/a/wis2/+/metadata topics aren’t shown</a:t>
            </a:r>
          </a:p>
        </p:txBody>
      </p:sp>
      <p:sp>
        <p:nvSpPr>
          <p:cNvPr id="4" name="Slide Number Placeholder 3">
            <a:extLst>
              <a:ext uri="{FF2B5EF4-FFF2-40B4-BE49-F238E27FC236}">
                <a16:creationId xmlns:a16="http://schemas.microsoft.com/office/drawing/2014/main" id="{B6BD9FC7-CFC2-4007-E2C7-EF4FFF280C0A}"/>
              </a:ext>
            </a:extLst>
          </p:cNvPr>
          <p:cNvSpPr>
            <a:spLocks noGrp="1"/>
          </p:cNvSpPr>
          <p:nvPr>
            <p:ph type="sldNum" sz="quarter" idx="5"/>
          </p:nvPr>
        </p:nvSpPr>
        <p:spPr/>
        <p:txBody>
          <a:bodyPr/>
          <a:lstStyle/>
          <a:p>
            <a:fld id="{69D70383-79B8-4C7D-A3F0-79791F16194F}" type="slidenum">
              <a:rPr lang="en-GB" smtClean="0"/>
              <a:t>7</a:t>
            </a:fld>
            <a:endParaRPr lang="en-GB"/>
          </a:p>
        </p:txBody>
      </p:sp>
    </p:spTree>
    <p:extLst>
      <p:ext uri="{BB962C8B-B14F-4D97-AF65-F5344CB8AC3E}">
        <p14:creationId xmlns:p14="http://schemas.microsoft.com/office/powerpoint/2010/main" val="2620228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E3B65-B032-F5BE-EC96-DE9966710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91D34-0BDD-95BF-E6D7-AD960DB83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47B50-3C49-AFAE-55FB-87002C0360C1}"/>
              </a:ext>
            </a:extLst>
          </p:cNvPr>
          <p:cNvSpPr>
            <a:spLocks noGrp="1"/>
          </p:cNvSpPr>
          <p:nvPr>
            <p:ph type="body" idx="1"/>
          </p:nvPr>
        </p:nvSpPr>
        <p:spPr/>
        <p:txBody>
          <a:bodyPr/>
          <a:lstStyle/>
          <a:p>
            <a:pPr marL="0" indent="0">
              <a:buFont typeface="Arial" panose="020B0604020202020204" pitchFamily="34" charset="0"/>
              <a:buNone/>
            </a:pPr>
            <a:r>
              <a:rPr lang="en-GB"/>
              <a:t>Note that the {centre-id} `</a:t>
            </a:r>
            <a:r>
              <a:rPr lang="en-GB" err="1"/>
              <a:t>nl-knmi-nmc</a:t>
            </a:r>
            <a:r>
              <a:rPr lang="en-GB"/>
              <a:t>` is not registered with WIS2</a:t>
            </a:r>
          </a:p>
          <a:p>
            <a:pPr marL="0" indent="0">
              <a:buFont typeface="Arial" panose="020B0604020202020204" pitchFamily="34" charset="0"/>
              <a:buNone/>
            </a:pPr>
            <a:endParaRPr lang="en-GB"/>
          </a:p>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indent="0">
              <a:buFont typeface="Arial" panose="020B0604020202020204" pitchFamily="34" charset="0"/>
              <a:buNone/>
            </a:pPr>
            <a:r>
              <a:rPr lang="en-GB"/>
              <a:t>Appendix E WIS2 Notification Message </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https://wmo-im.github.io/wis2-notification-message/standard/wis2-notification-message-STABLE.html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endParaRPr lang="en-GB" sz="1200"/>
          </a:p>
        </p:txBody>
      </p:sp>
      <p:sp>
        <p:nvSpPr>
          <p:cNvPr id="4" name="Slide Number Placeholder 3">
            <a:extLst>
              <a:ext uri="{FF2B5EF4-FFF2-40B4-BE49-F238E27FC236}">
                <a16:creationId xmlns:a16="http://schemas.microsoft.com/office/drawing/2014/main" id="{F45C6038-43AA-BEBC-EF55-BBA5E5D3F0CA}"/>
              </a:ext>
            </a:extLst>
          </p:cNvPr>
          <p:cNvSpPr>
            <a:spLocks noGrp="1"/>
          </p:cNvSpPr>
          <p:nvPr>
            <p:ph type="sldNum" sz="quarter" idx="5"/>
          </p:nvPr>
        </p:nvSpPr>
        <p:spPr/>
        <p:txBody>
          <a:bodyPr/>
          <a:lstStyle/>
          <a:p>
            <a:fld id="{69D70383-79B8-4C7D-A3F0-79791F16194F}" type="slidenum">
              <a:rPr lang="en-GB" smtClean="0"/>
              <a:t>8</a:t>
            </a:fld>
            <a:endParaRPr lang="en-GB"/>
          </a:p>
        </p:txBody>
      </p:sp>
    </p:spTree>
    <p:extLst>
      <p:ext uri="{BB962C8B-B14F-4D97-AF65-F5344CB8AC3E}">
        <p14:creationId xmlns:p14="http://schemas.microsoft.com/office/powerpoint/2010/main" val="1514269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27DBC-38FF-64CC-AE6B-FCAEFAE7A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2ED8E-4A11-56BC-2E14-6DAC83BE5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7C85F-A04A-3F03-95B7-DFA9023E4AA1}"/>
              </a:ext>
            </a:extLst>
          </p:cNvPr>
          <p:cNvSpPr>
            <a:spLocks noGrp="1"/>
          </p:cNvSpPr>
          <p:nvPr>
            <p:ph type="body" idx="1"/>
          </p:nvPr>
        </p:nvSpPr>
        <p:spPr/>
        <p:txBody>
          <a:bodyPr/>
          <a:lstStyle/>
          <a:p>
            <a:pPr marL="0" indent="0">
              <a:buFont typeface="Arial" panose="020B0604020202020204" pitchFamily="34" charset="0"/>
              <a:buNone/>
            </a:pPr>
            <a:r>
              <a:rPr lang="en-GB" sz="1200"/>
              <a:t>`</a:t>
            </a:r>
            <a:r>
              <a:rPr lang="en-GB" sz="1200" err="1"/>
              <a:t>metadata_id</a:t>
            </a:r>
            <a:r>
              <a:rPr lang="en-GB" sz="1200"/>
              <a:t>` is not (yet) mandatory in the notification message – but the specifications will change in the next 12-months to make it so. For now, the Global Broker determines if there’s associated metadata by comparing the topic that a notification message is publish on against a list of _all_ topics from _all_ discovery metadata records published in the Global Discovery Catalogue. Not perfect, but it works (albeit with a few edge cases).</a:t>
            </a:r>
          </a:p>
          <a:p>
            <a:pPr marL="0" indent="0">
              <a:buFont typeface="Arial" panose="020B0604020202020204" pitchFamily="34" charset="0"/>
              <a:buNone/>
            </a:pPr>
            <a:endParaRPr lang="en-GB" sz="1200"/>
          </a:p>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indent="0">
              <a:buFont typeface="Arial" panose="020B0604020202020204" pitchFamily="34" charset="0"/>
              <a:buNone/>
            </a:pPr>
            <a:r>
              <a:rPr lang="en-GB"/>
              <a:t>Appendix E WIS2 Notification Message </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https://wmo-im.github.io/wis2-notification-message/standard/wis2-notification-message-STABLE.html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p:txBody>
      </p:sp>
      <p:sp>
        <p:nvSpPr>
          <p:cNvPr id="4" name="Slide Number Placeholder 3">
            <a:extLst>
              <a:ext uri="{FF2B5EF4-FFF2-40B4-BE49-F238E27FC236}">
                <a16:creationId xmlns:a16="http://schemas.microsoft.com/office/drawing/2014/main" id="{187B3174-C8D3-3BDF-B251-360B95B373EE}"/>
              </a:ext>
            </a:extLst>
          </p:cNvPr>
          <p:cNvSpPr>
            <a:spLocks noGrp="1"/>
          </p:cNvSpPr>
          <p:nvPr>
            <p:ph type="sldNum" sz="quarter" idx="5"/>
          </p:nvPr>
        </p:nvSpPr>
        <p:spPr/>
        <p:txBody>
          <a:bodyPr/>
          <a:lstStyle/>
          <a:p>
            <a:fld id="{69D70383-79B8-4C7D-A3F0-79791F16194F}" type="slidenum">
              <a:rPr lang="en-GB" smtClean="0"/>
              <a:t>9</a:t>
            </a:fld>
            <a:endParaRPr lang="en-GB"/>
          </a:p>
        </p:txBody>
      </p:sp>
    </p:spTree>
    <p:extLst>
      <p:ext uri="{BB962C8B-B14F-4D97-AF65-F5344CB8AC3E}">
        <p14:creationId xmlns:p14="http://schemas.microsoft.com/office/powerpoint/2010/main" val="1211765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10529-C436-A789-303A-BF7CEE0C6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C4670-CCF0-23B3-5A48-B717B375F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7141A-D4A2-BF4A-1706-4E7A8006AD93}"/>
              </a:ext>
            </a:extLst>
          </p:cNvPr>
          <p:cNvSpPr>
            <a:spLocks noGrp="1"/>
          </p:cNvSpPr>
          <p:nvPr>
            <p:ph type="body" idx="1"/>
          </p:nvPr>
        </p:nvSpPr>
        <p:spPr/>
        <p:txBody>
          <a:bodyPr/>
          <a:lstStyle/>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indent="0">
              <a:buFont typeface="Arial" panose="020B0604020202020204" pitchFamily="34" charset="0"/>
              <a:buNone/>
            </a:pPr>
            <a:r>
              <a:rPr lang="en-GB"/>
              <a:t>Appendix E WIS2 Notification Message </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https://wmo-im.github.io/wis2-notification-message/standard/wis2-notification-message-STABLE.html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p:txBody>
      </p:sp>
      <p:sp>
        <p:nvSpPr>
          <p:cNvPr id="4" name="Slide Number Placeholder 3">
            <a:extLst>
              <a:ext uri="{FF2B5EF4-FFF2-40B4-BE49-F238E27FC236}">
                <a16:creationId xmlns:a16="http://schemas.microsoft.com/office/drawing/2014/main" id="{C077E0B3-FAD6-F03D-7898-D98AA50CCE3D}"/>
              </a:ext>
            </a:extLst>
          </p:cNvPr>
          <p:cNvSpPr>
            <a:spLocks noGrp="1"/>
          </p:cNvSpPr>
          <p:nvPr>
            <p:ph type="sldNum" sz="quarter" idx="5"/>
          </p:nvPr>
        </p:nvSpPr>
        <p:spPr/>
        <p:txBody>
          <a:bodyPr/>
          <a:lstStyle/>
          <a:p>
            <a:fld id="{69D70383-79B8-4C7D-A3F0-79791F16194F}" type="slidenum">
              <a:rPr lang="en-GB" smtClean="0"/>
              <a:t>10</a:t>
            </a:fld>
            <a:endParaRPr lang="en-GB"/>
          </a:p>
        </p:txBody>
      </p:sp>
    </p:spTree>
    <p:extLst>
      <p:ext uri="{BB962C8B-B14F-4D97-AF65-F5344CB8AC3E}">
        <p14:creationId xmlns:p14="http://schemas.microsoft.com/office/powerpoint/2010/main" val="2975474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3D0F2-55E8-8EE8-3F8D-0E63448E2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6B291-1A08-A3B0-81EB-F865F4F50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793CD7-C6D2-BAC6-58B1-E04C32FEF474}"/>
              </a:ext>
            </a:extLst>
          </p:cNvPr>
          <p:cNvSpPr>
            <a:spLocks noGrp="1"/>
          </p:cNvSpPr>
          <p:nvPr>
            <p:ph type="body" idx="1"/>
          </p:nvPr>
        </p:nvSpPr>
        <p:spPr/>
        <p:txBody>
          <a:bodyPr/>
          <a:lstStyle/>
          <a:p>
            <a:pPr marL="0" indent="0">
              <a:buFont typeface="Arial" panose="020B0604020202020204" pitchFamily="34" charset="0"/>
              <a:buNone/>
            </a:pPr>
            <a:r>
              <a:rPr lang="en-GB"/>
              <a:t>&gt; `</a:t>
            </a:r>
            <a:r>
              <a:rPr lang="en-GB">
                <a:latin typeface="Consolas" panose="020B0609020204030204" pitchFamily="49" charset="0"/>
              </a:rPr>
              <a:t>length`</a:t>
            </a:r>
            <a:r>
              <a:rPr lang="en-GB"/>
              <a:t> enables a simple integrity check</a:t>
            </a:r>
          </a:p>
          <a:p>
            <a:pPr marL="0" indent="0">
              <a:buFont typeface="Arial" panose="020B0604020202020204" pitchFamily="34" charset="0"/>
              <a:buNone/>
            </a:pPr>
            <a:r>
              <a:rPr lang="en-GB"/>
              <a:t>WIS2 Notification Messages have a more extensive mechanism to check integrity of the data. See the WIS2 Notification Message specification more information</a:t>
            </a:r>
          </a:p>
          <a:p>
            <a:pPr marL="0" indent="0">
              <a:buFont typeface="Arial" panose="020B0604020202020204" pitchFamily="34" charset="0"/>
              <a:buNone/>
            </a:pPr>
            <a:r>
              <a:rPr lang="en-GB"/>
              <a:t>Section 7. WIS2 Notification Message &gt; #1 Requirements Class Core &gt; #1.14 Integrity</a:t>
            </a:r>
          </a:p>
          <a:p>
            <a:pPr marL="171450" indent="-171450">
              <a:buFont typeface="Arial" panose="020B0604020202020204" pitchFamily="34" charset="0"/>
              <a:buChar char="•"/>
            </a:pPr>
            <a:r>
              <a:rPr lang="en-GB"/>
              <a:t>https://wmo-im.github.io/wis2-notification-message/standard/wis2-notification-message-STABLE.html#_1_14_properties_integrity</a:t>
            </a:r>
          </a:p>
          <a:p>
            <a:pPr marL="0" indent="0">
              <a:buFont typeface="Arial" panose="020B0604020202020204" pitchFamily="34" charset="0"/>
              <a:buNone/>
            </a:pPr>
            <a:endParaRPr lang="en-GB"/>
          </a:p>
          <a:p>
            <a:pPr marL="0" indent="0">
              <a:buFont typeface="Arial" panose="020B0604020202020204" pitchFamily="34" charset="0"/>
              <a:buNone/>
            </a:pPr>
            <a:r>
              <a:rPr lang="en-GB"/>
              <a:t>Note that a WIS2 Node may restrict access to Core data using IP address filtering – WIS2 Global Services must be added to the IP whitelist so they can access and download. This is allowed because we encourage Data Consumers to download Core data from the Global Caches rather than the WIS2 Nodes themselves. </a:t>
            </a:r>
          </a:p>
          <a:p>
            <a:pPr marL="0" indent="0">
              <a:buFont typeface="Arial" panose="020B0604020202020204" pitchFamily="34" charset="0"/>
              <a:buNone/>
            </a:pPr>
            <a:endParaRPr lang="en-GB"/>
          </a:p>
          <a:p>
            <a:pPr marL="0" indent="0">
              <a:buFont typeface="Arial" panose="020B0604020202020204" pitchFamily="34" charset="0"/>
              <a:buNone/>
            </a:pPr>
            <a:r>
              <a:rPr lang="en-GB"/>
              <a:t>What is a URL template? </a:t>
            </a:r>
            <a:r>
              <a:rPr lang="en-GB" b="0" i="0">
                <a:solidFill>
                  <a:srgbClr val="001D35"/>
                </a:solidFill>
                <a:effectLst/>
                <a:latin typeface="Google Sans"/>
              </a:rPr>
              <a:t>A URL template, also known as a URI template, is a way to define a URL structure that can be dynamically modified by substituting placeholder values with specific data. These placeholders, often enclosed in curly braces {}, allow you to create URLs that change based on user context, data, or other factors.</a:t>
            </a:r>
            <a:endParaRPr lang="en-GB"/>
          </a:p>
          <a:p>
            <a:pPr marL="0" indent="0">
              <a:buFont typeface="Arial" panose="020B0604020202020204" pitchFamily="34" charset="0"/>
              <a:buNone/>
            </a:pPr>
            <a:endParaRPr lang="en-GB"/>
          </a:p>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indent="0">
              <a:buFont typeface="Arial" panose="020B0604020202020204" pitchFamily="34" charset="0"/>
              <a:buNone/>
            </a:pPr>
            <a:r>
              <a:rPr lang="en-GB"/>
              <a:t>Appendix E WIS2 Notification Message </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https://wmo-im.github.io/wis2-notification-message/standard/wis2-notification-message-STABLE.html</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Appendix F WMO Core Metadata Profile version 2 (WCMP2)</a:t>
            </a:r>
            <a:endParaRPr lang="en-GB"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a:t>https://wmo-im.github.io/wcmp2/standard/wcmp2-STABLE.html</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indent="0">
              <a:buFont typeface="Arial" panose="020B0604020202020204" pitchFamily="34" charset="0"/>
              <a:buNone/>
            </a:pPr>
            <a:r>
              <a:rPr lang="en-GB" b="0"/>
              <a:t>Section 7: </a:t>
            </a:r>
            <a:r>
              <a:rPr lang="it-IT" b="0"/>
              <a:t>WMO Core Metadata Profile (Version 2) </a:t>
            </a:r>
            <a:r>
              <a:rPr lang="en-GB" b="0"/>
              <a:t>&gt; #1 Requirements Class Core </a:t>
            </a:r>
            <a:r>
              <a:rPr lang="en-GB" b="0" i="0">
                <a:solidFill>
                  <a:srgbClr val="0F172A"/>
                </a:solidFill>
                <a:effectLst/>
                <a:latin typeface="Montserrat" panose="00000500000000000000" pitchFamily="2" charset="0"/>
              </a:rPr>
              <a:t>&gt; #1.19 Links and distribution information &gt; #1.19.5 Link relation section</a:t>
            </a:r>
          </a:p>
          <a:p>
            <a:pPr marL="0" indent="0">
              <a:buFont typeface="Arial" panose="020B0604020202020204" pitchFamily="34" charset="0"/>
              <a:buNone/>
            </a:pPr>
            <a:r>
              <a:rPr lang="en-GB" b="0" i="0">
                <a:solidFill>
                  <a:srgbClr val="0F172A"/>
                </a:solidFill>
                <a:effectLst/>
                <a:latin typeface="Montserrat" panose="00000500000000000000" pitchFamily="2" charset="0"/>
              </a:rPr>
              <a:t>https://wmo-im.github.io/wcmp2/standard/wcmp2-STABLE.html#_1_19_5_link_relation_selection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Section 3.3. Publishing a WIS2 Notification Message with embedded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https://wmo-im.github.io/wis2-cookbook/cookbook/wis2-cookbook-DRAFT.html#_publishing_a_wis2_notification_message_with_embedded_data</a:t>
            </a:r>
          </a:p>
        </p:txBody>
      </p:sp>
      <p:sp>
        <p:nvSpPr>
          <p:cNvPr id="4" name="Slide Number Placeholder 3">
            <a:extLst>
              <a:ext uri="{FF2B5EF4-FFF2-40B4-BE49-F238E27FC236}">
                <a16:creationId xmlns:a16="http://schemas.microsoft.com/office/drawing/2014/main" id="{B09443F9-DCF6-D109-2400-7949DDCB91E5}"/>
              </a:ext>
            </a:extLst>
          </p:cNvPr>
          <p:cNvSpPr>
            <a:spLocks noGrp="1"/>
          </p:cNvSpPr>
          <p:nvPr>
            <p:ph type="sldNum" sz="quarter" idx="5"/>
          </p:nvPr>
        </p:nvSpPr>
        <p:spPr/>
        <p:txBody>
          <a:bodyPr/>
          <a:lstStyle/>
          <a:p>
            <a:fld id="{69D70383-79B8-4C7D-A3F0-79791F16194F}" type="slidenum">
              <a:rPr lang="en-GB" smtClean="0"/>
              <a:t>11</a:t>
            </a:fld>
            <a:endParaRPr lang="en-GB"/>
          </a:p>
        </p:txBody>
      </p:sp>
    </p:spTree>
    <p:extLst>
      <p:ext uri="{BB962C8B-B14F-4D97-AF65-F5344CB8AC3E}">
        <p14:creationId xmlns:p14="http://schemas.microsoft.com/office/powerpoint/2010/main" val="956121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5E5FC-09B6-558B-E324-424F72422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50023-71D0-3234-A7C2-E255CC411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4276C-4AF1-9955-3AF6-D387E6F7FA77}"/>
              </a:ext>
            </a:extLst>
          </p:cNvPr>
          <p:cNvSpPr>
            <a:spLocks noGrp="1"/>
          </p:cNvSpPr>
          <p:nvPr>
            <p:ph type="body" idx="1"/>
          </p:nvPr>
        </p:nvSpPr>
        <p:spPr/>
        <p:txBody>
          <a:bodyPr/>
          <a:lstStyle/>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indent="0">
              <a:buFont typeface="Arial" panose="020B0604020202020204" pitchFamily="34" charset="0"/>
              <a:buNone/>
            </a:pPr>
            <a:r>
              <a:rPr lang="en-GB"/>
              <a:t>Appendix E WIS2 Notification Message </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https://wmo-im.github.io/wis2-notification-message/standard/wis2-notification-message-STABLE.html</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Appendix F WMO Core Metadata Profile version 2 (WCMP2)</a:t>
            </a:r>
            <a:endParaRPr lang="en-GB"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a:t>https://wmo-im.github.io/wcmp2/standard/wcmp2-STABLE.html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Section 3.2. Publishing a WIS2 Notification Message with access control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https://wmo-im.github.io/wis2-cookbook/cookbook/wis2-cookbook-DRAFT.html#_publishing_a_wis2_notification_message_with_access_control</a:t>
            </a:r>
          </a:p>
        </p:txBody>
      </p:sp>
      <p:sp>
        <p:nvSpPr>
          <p:cNvPr id="4" name="Slide Number Placeholder 3">
            <a:extLst>
              <a:ext uri="{FF2B5EF4-FFF2-40B4-BE49-F238E27FC236}">
                <a16:creationId xmlns:a16="http://schemas.microsoft.com/office/drawing/2014/main" id="{BABF2F22-AD06-3C71-3AB3-E4615EAB5931}"/>
              </a:ext>
            </a:extLst>
          </p:cNvPr>
          <p:cNvSpPr>
            <a:spLocks noGrp="1"/>
          </p:cNvSpPr>
          <p:nvPr>
            <p:ph type="sldNum" sz="quarter" idx="5"/>
          </p:nvPr>
        </p:nvSpPr>
        <p:spPr/>
        <p:txBody>
          <a:bodyPr/>
          <a:lstStyle/>
          <a:p>
            <a:fld id="{69D70383-79B8-4C7D-A3F0-79791F16194F}" type="slidenum">
              <a:rPr lang="en-GB" smtClean="0"/>
              <a:t>12</a:t>
            </a:fld>
            <a:endParaRPr lang="en-GB"/>
          </a:p>
        </p:txBody>
      </p:sp>
    </p:spTree>
    <p:extLst>
      <p:ext uri="{BB962C8B-B14F-4D97-AF65-F5344CB8AC3E}">
        <p14:creationId xmlns:p14="http://schemas.microsoft.com/office/powerpoint/2010/main" val="1593165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C4D4-3973-D16B-3C79-2420657B3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C1982-732E-1F65-46CE-448C1D826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A47CB-B3AF-6B03-B854-ADAE551B95D5}"/>
              </a:ext>
            </a:extLst>
          </p:cNvPr>
          <p:cNvSpPr>
            <a:spLocks noGrp="1"/>
          </p:cNvSpPr>
          <p:nvPr>
            <p:ph type="body" idx="1"/>
          </p:nvPr>
        </p:nvSpPr>
        <p:spPr/>
        <p:txBody>
          <a:bodyPr/>
          <a:lstStyle/>
          <a:p>
            <a:pPr marL="0" indent="0">
              <a:buFont typeface="Arial" panose="020B0604020202020204" pitchFamily="34" charset="0"/>
              <a:buNone/>
            </a:pPr>
            <a:r>
              <a:rPr lang="en-GB"/>
              <a:t>Manual on WIS (WMO No. 1060), Volume II</a:t>
            </a: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https://library.wmo.int/idurl/4/68731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indent="0">
              <a:buFont typeface="Arial" panose="020B0604020202020204" pitchFamily="34" charset="0"/>
              <a:buNone/>
            </a:pPr>
            <a:r>
              <a:rPr lang="en-GB"/>
              <a:t>Appendix E WIS2 Notification Message </a:t>
            </a:r>
            <a:endParaRPr lang="en-GB" b="0" i="0">
              <a:solidFill>
                <a:srgbClr val="0F172A"/>
              </a:solidFill>
              <a:effectLst/>
              <a:latin typeface="Montserrat" panose="00000500000000000000" pitchFamily="2" charset="0"/>
            </a:endParaRPr>
          </a:p>
          <a:p>
            <a:pPr marL="171450" indent="-171450">
              <a:buFont typeface="Arial" panose="020B0604020202020204" pitchFamily="34" charset="0"/>
              <a:buChar char="•"/>
            </a:pPr>
            <a:r>
              <a:rPr lang="en-GB" b="0" i="0">
                <a:solidFill>
                  <a:srgbClr val="0F172A"/>
                </a:solidFill>
                <a:effectLst/>
                <a:latin typeface="Montserrat" panose="00000500000000000000" pitchFamily="2" charset="0"/>
              </a:rPr>
              <a:t>https://wmo-im.github.io/wis2-notification-message/standard/wis2-notification-message-STABLE.html</a:t>
            </a:r>
          </a:p>
          <a:p>
            <a:pPr marL="0" indent="0">
              <a:buFont typeface="Arial" panose="020B0604020202020204" pitchFamily="34" charset="0"/>
              <a:buNone/>
            </a:pPr>
            <a:endParaRPr lang="en-GB" b="0" i="0">
              <a:solidFill>
                <a:srgbClr val="0F172A"/>
              </a:solidFill>
              <a:effectLst/>
              <a:latin typeface="Montserrat"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Appendix F WMO Core Metadata Profile version 2 (WCMP2)</a:t>
            </a:r>
            <a:endParaRPr lang="en-GB"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a:t>https://wmo-im.github.io/wcmp2/standard/wcmp2-STABLE.html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WIS2 Cookbook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https://wmo-im.github.io/wis2-cookbook/cookbook/wis2-cookbook-DRAFT.html</a:t>
            </a:r>
          </a:p>
        </p:txBody>
      </p:sp>
      <p:sp>
        <p:nvSpPr>
          <p:cNvPr id="4" name="Slide Number Placeholder 3">
            <a:extLst>
              <a:ext uri="{FF2B5EF4-FFF2-40B4-BE49-F238E27FC236}">
                <a16:creationId xmlns:a16="http://schemas.microsoft.com/office/drawing/2014/main" id="{6F4786A8-5279-A81C-E092-36899C425FDF}"/>
              </a:ext>
            </a:extLst>
          </p:cNvPr>
          <p:cNvSpPr>
            <a:spLocks noGrp="1"/>
          </p:cNvSpPr>
          <p:nvPr>
            <p:ph type="sldNum" sz="quarter" idx="5"/>
          </p:nvPr>
        </p:nvSpPr>
        <p:spPr/>
        <p:txBody>
          <a:bodyPr/>
          <a:lstStyle/>
          <a:p>
            <a:fld id="{69D70383-79B8-4C7D-A3F0-79791F16194F}" type="slidenum">
              <a:rPr lang="en-GB" smtClean="0"/>
              <a:t>13</a:t>
            </a:fld>
            <a:endParaRPr lang="en-GB"/>
          </a:p>
        </p:txBody>
      </p:sp>
    </p:spTree>
    <p:extLst>
      <p:ext uri="{BB962C8B-B14F-4D97-AF65-F5344CB8AC3E}">
        <p14:creationId xmlns:p14="http://schemas.microsoft.com/office/powerpoint/2010/main" val="1772847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2481-DB51-A75D-65CD-E95AD3B950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612E896-49AD-B30D-3BC4-9E8E14763C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8DF6422-AE94-BF8F-671D-9289ED1D059F}"/>
              </a:ext>
            </a:extLst>
          </p:cNvPr>
          <p:cNvSpPr>
            <a:spLocks noGrp="1"/>
          </p:cNvSpPr>
          <p:nvPr>
            <p:ph type="dt" sz="half" idx="10"/>
          </p:nvPr>
        </p:nvSpPr>
        <p:spPr/>
        <p:txBody>
          <a:bodyPr/>
          <a:lstStyle/>
          <a:p>
            <a:fld id="{078F0264-8BD4-497D-A827-F4DD7C1E384A}" type="datetime1">
              <a:rPr lang="en-GB" smtClean="0"/>
              <a:t>19/12/2025</a:t>
            </a:fld>
            <a:endParaRPr lang="en-GB"/>
          </a:p>
        </p:txBody>
      </p:sp>
      <p:sp>
        <p:nvSpPr>
          <p:cNvPr id="5" name="Footer Placeholder 4">
            <a:extLst>
              <a:ext uri="{FF2B5EF4-FFF2-40B4-BE49-F238E27FC236}">
                <a16:creationId xmlns:a16="http://schemas.microsoft.com/office/drawing/2014/main" id="{1E085ECD-594B-6291-2313-3A88A3F528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78F370-9F9B-586F-74C4-B878E2214139}"/>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88287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6305-1A22-3E52-5E51-D9BFC85768A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0305757-0F12-F44E-2725-1F5C0968FA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F6F492-2C14-2C1F-86A3-AAC70D31B962}"/>
              </a:ext>
            </a:extLst>
          </p:cNvPr>
          <p:cNvSpPr>
            <a:spLocks noGrp="1"/>
          </p:cNvSpPr>
          <p:nvPr>
            <p:ph type="dt" sz="half" idx="10"/>
          </p:nvPr>
        </p:nvSpPr>
        <p:spPr/>
        <p:txBody>
          <a:bodyPr/>
          <a:lstStyle/>
          <a:p>
            <a:fld id="{D7FFF596-98C2-47BC-A941-A17AB04F2B65}" type="datetime1">
              <a:rPr lang="en-GB" smtClean="0"/>
              <a:t>19/12/2025</a:t>
            </a:fld>
            <a:endParaRPr lang="en-GB"/>
          </a:p>
        </p:txBody>
      </p:sp>
      <p:sp>
        <p:nvSpPr>
          <p:cNvPr id="5" name="Footer Placeholder 4">
            <a:extLst>
              <a:ext uri="{FF2B5EF4-FFF2-40B4-BE49-F238E27FC236}">
                <a16:creationId xmlns:a16="http://schemas.microsoft.com/office/drawing/2014/main" id="{92F3ADEF-D270-76F2-A0DA-D96E29BED0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F232D0-DE09-B83D-A9DC-D4A7D504CEF1}"/>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3923989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05F8B-1006-2A4C-7D73-7AC6A02CF2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E845F43-B5B8-F049-BB97-0F54ADD0BF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6E42B3-70FC-DC60-F36B-175533CA14EE}"/>
              </a:ext>
            </a:extLst>
          </p:cNvPr>
          <p:cNvSpPr>
            <a:spLocks noGrp="1"/>
          </p:cNvSpPr>
          <p:nvPr>
            <p:ph type="dt" sz="half" idx="10"/>
          </p:nvPr>
        </p:nvSpPr>
        <p:spPr/>
        <p:txBody>
          <a:bodyPr/>
          <a:lstStyle/>
          <a:p>
            <a:fld id="{6821A8BA-40B4-4CED-B4B8-7E81AF4B1F50}" type="datetime1">
              <a:rPr lang="en-GB" smtClean="0"/>
              <a:t>19/12/2025</a:t>
            </a:fld>
            <a:endParaRPr lang="en-GB"/>
          </a:p>
        </p:txBody>
      </p:sp>
      <p:sp>
        <p:nvSpPr>
          <p:cNvPr id="5" name="Footer Placeholder 4">
            <a:extLst>
              <a:ext uri="{FF2B5EF4-FFF2-40B4-BE49-F238E27FC236}">
                <a16:creationId xmlns:a16="http://schemas.microsoft.com/office/drawing/2014/main" id="{7846FDFD-4360-483E-EC64-CCEEEDF6D5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9B6414-0FC1-541F-811E-4A012CA1F9B2}"/>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10444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19DEB-F07C-4371-F4DD-D458805AB6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DA55D9D-0F89-6047-C775-20B5ED3790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B78CDC-1F46-2852-3C29-9899EB33F8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6C030D1-E0D3-323E-E2FC-A2E5DB0B921D}"/>
              </a:ext>
            </a:extLst>
          </p:cNvPr>
          <p:cNvSpPr>
            <a:spLocks noGrp="1"/>
          </p:cNvSpPr>
          <p:nvPr>
            <p:ph type="dt" sz="half" idx="10"/>
          </p:nvPr>
        </p:nvSpPr>
        <p:spPr/>
        <p:txBody>
          <a:bodyPr/>
          <a:lstStyle/>
          <a:p>
            <a:fld id="{CE976854-F2D2-4121-9744-F56195AD9AFE}" type="datetime1">
              <a:rPr lang="en-GB" smtClean="0"/>
              <a:t>19/12/2025</a:t>
            </a:fld>
            <a:endParaRPr lang="en-GB"/>
          </a:p>
        </p:txBody>
      </p:sp>
      <p:sp>
        <p:nvSpPr>
          <p:cNvPr id="6" name="Footer Placeholder 5">
            <a:extLst>
              <a:ext uri="{FF2B5EF4-FFF2-40B4-BE49-F238E27FC236}">
                <a16:creationId xmlns:a16="http://schemas.microsoft.com/office/drawing/2014/main" id="{9E15B721-D9F1-2A0A-2FFA-A4B2B1A904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91D4A4-094D-1BC8-31BA-829CB23B2109}"/>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4287480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AD51D-C8D0-3D09-2B9F-18A447BD6B7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72DE54-622D-228C-F8B8-7F58A5B36C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3404A0-DB71-499F-F4A8-DD02BB843C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298713C-003D-E75E-F19C-F7CE8B10BD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C12436-9EC9-5638-79C8-B5804D201A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85038B5-53AD-8006-C2D5-79B70B55AF7F}"/>
              </a:ext>
            </a:extLst>
          </p:cNvPr>
          <p:cNvSpPr>
            <a:spLocks noGrp="1"/>
          </p:cNvSpPr>
          <p:nvPr>
            <p:ph type="dt" sz="half" idx="10"/>
          </p:nvPr>
        </p:nvSpPr>
        <p:spPr/>
        <p:txBody>
          <a:bodyPr/>
          <a:lstStyle/>
          <a:p>
            <a:fld id="{BFD0F341-448C-4266-BF85-D246AF9DFCFF}" type="datetime1">
              <a:rPr lang="en-GB" smtClean="0"/>
              <a:t>19/12/2025</a:t>
            </a:fld>
            <a:endParaRPr lang="en-GB"/>
          </a:p>
        </p:txBody>
      </p:sp>
      <p:sp>
        <p:nvSpPr>
          <p:cNvPr id="8" name="Footer Placeholder 7">
            <a:extLst>
              <a:ext uri="{FF2B5EF4-FFF2-40B4-BE49-F238E27FC236}">
                <a16:creationId xmlns:a16="http://schemas.microsoft.com/office/drawing/2014/main" id="{E276DF4A-94EC-40AF-C592-8EB7F120FC8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ADF5CBB-64AF-7B0F-D6F9-4E7D30B80A68}"/>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1856050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3B961-E493-7B4A-64F3-A9E0899B152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FFB12D0-9B26-6E63-AFB7-634798F09704}"/>
              </a:ext>
            </a:extLst>
          </p:cNvPr>
          <p:cNvSpPr>
            <a:spLocks noGrp="1"/>
          </p:cNvSpPr>
          <p:nvPr>
            <p:ph type="dt" sz="half" idx="10"/>
          </p:nvPr>
        </p:nvSpPr>
        <p:spPr/>
        <p:txBody>
          <a:bodyPr/>
          <a:lstStyle/>
          <a:p>
            <a:fld id="{121A0898-B7B3-4A09-8991-A93CCE52A12D}" type="datetime1">
              <a:rPr lang="en-GB" smtClean="0"/>
              <a:t>19/12/2025</a:t>
            </a:fld>
            <a:endParaRPr lang="en-GB"/>
          </a:p>
        </p:txBody>
      </p:sp>
      <p:sp>
        <p:nvSpPr>
          <p:cNvPr id="4" name="Footer Placeholder 3">
            <a:extLst>
              <a:ext uri="{FF2B5EF4-FFF2-40B4-BE49-F238E27FC236}">
                <a16:creationId xmlns:a16="http://schemas.microsoft.com/office/drawing/2014/main" id="{951F832A-9637-C8DE-26E1-A089EB460DE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3130529-EACA-2AFF-CF2B-36C614DC9722}"/>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2987724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48DE4E-0899-5A88-9D4C-F38068480BE6}"/>
              </a:ext>
            </a:extLst>
          </p:cNvPr>
          <p:cNvSpPr>
            <a:spLocks noGrp="1"/>
          </p:cNvSpPr>
          <p:nvPr>
            <p:ph type="dt" sz="half" idx="10"/>
          </p:nvPr>
        </p:nvSpPr>
        <p:spPr/>
        <p:txBody>
          <a:bodyPr/>
          <a:lstStyle/>
          <a:p>
            <a:fld id="{F6102294-CF4B-4DD8-8DC3-213EE7C38E5A}" type="datetime1">
              <a:rPr lang="en-GB" smtClean="0"/>
              <a:t>19/12/2025</a:t>
            </a:fld>
            <a:endParaRPr lang="en-GB"/>
          </a:p>
        </p:txBody>
      </p:sp>
      <p:sp>
        <p:nvSpPr>
          <p:cNvPr id="3" name="Footer Placeholder 2">
            <a:extLst>
              <a:ext uri="{FF2B5EF4-FFF2-40B4-BE49-F238E27FC236}">
                <a16:creationId xmlns:a16="http://schemas.microsoft.com/office/drawing/2014/main" id="{5C1DE93D-B33B-C9AA-556A-A46A125DCAC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4D4A488-BD22-51E2-12FA-1457F96E7F71}"/>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4067358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99E5-D500-9D27-BA4E-3DE76F5951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3B1224-93CD-DA33-605C-23861833A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A53DF8B-FB4B-ACBA-1AF0-9D7392EA5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50646B-CFA9-6675-624B-D8CCB06B05B8}"/>
              </a:ext>
            </a:extLst>
          </p:cNvPr>
          <p:cNvSpPr>
            <a:spLocks noGrp="1"/>
          </p:cNvSpPr>
          <p:nvPr>
            <p:ph type="dt" sz="half" idx="10"/>
          </p:nvPr>
        </p:nvSpPr>
        <p:spPr/>
        <p:txBody>
          <a:bodyPr/>
          <a:lstStyle/>
          <a:p>
            <a:fld id="{1BD37C73-72D9-4D36-BD30-B1FEF1A9A561}" type="datetime1">
              <a:rPr lang="en-GB" smtClean="0"/>
              <a:t>19/12/2025</a:t>
            </a:fld>
            <a:endParaRPr lang="en-GB"/>
          </a:p>
        </p:txBody>
      </p:sp>
      <p:sp>
        <p:nvSpPr>
          <p:cNvPr id="6" name="Footer Placeholder 5">
            <a:extLst>
              <a:ext uri="{FF2B5EF4-FFF2-40B4-BE49-F238E27FC236}">
                <a16:creationId xmlns:a16="http://schemas.microsoft.com/office/drawing/2014/main" id="{AF56BD9B-862F-5A20-D9A2-A36BA2D47F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7C423B-1549-CBE8-064D-C1B88E8A5791}"/>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1538525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F4438-7885-3B6D-4DC8-4287B4208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6B571C9-B3CB-7CD2-18B7-B26248CC0B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5D7D3B0-E134-AD77-78D4-C3EB978C83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6274EF-C7C4-DB84-A5FB-6ADDBAB480B9}"/>
              </a:ext>
            </a:extLst>
          </p:cNvPr>
          <p:cNvSpPr>
            <a:spLocks noGrp="1"/>
          </p:cNvSpPr>
          <p:nvPr>
            <p:ph type="dt" sz="half" idx="10"/>
          </p:nvPr>
        </p:nvSpPr>
        <p:spPr/>
        <p:txBody>
          <a:bodyPr/>
          <a:lstStyle/>
          <a:p>
            <a:fld id="{F3876F6A-3152-4D77-AAEE-A95E02D7F07D}" type="datetime1">
              <a:rPr lang="en-GB" smtClean="0"/>
              <a:t>19/12/2025</a:t>
            </a:fld>
            <a:endParaRPr lang="en-GB"/>
          </a:p>
        </p:txBody>
      </p:sp>
      <p:sp>
        <p:nvSpPr>
          <p:cNvPr id="6" name="Footer Placeholder 5">
            <a:extLst>
              <a:ext uri="{FF2B5EF4-FFF2-40B4-BE49-F238E27FC236}">
                <a16:creationId xmlns:a16="http://schemas.microsoft.com/office/drawing/2014/main" id="{CBAD0E06-4C63-CA62-E53F-CC3BBF8137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34C4C3-801E-8C24-BC4B-029ECEC154CE}"/>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979227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6FE3-AE29-859D-747C-6F468562EBE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5AFF1CC-C75A-4C9B-099F-E03A25AE0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99C6F1-9216-C11C-586E-D3ED2309879E}"/>
              </a:ext>
            </a:extLst>
          </p:cNvPr>
          <p:cNvSpPr>
            <a:spLocks noGrp="1"/>
          </p:cNvSpPr>
          <p:nvPr>
            <p:ph type="dt" sz="half" idx="10"/>
          </p:nvPr>
        </p:nvSpPr>
        <p:spPr/>
        <p:txBody>
          <a:bodyPr/>
          <a:lstStyle/>
          <a:p>
            <a:fld id="{D789DCEB-75D6-4E8B-A3E8-A490F1125C1C}" type="datetime1">
              <a:rPr lang="en-GB" smtClean="0"/>
              <a:t>19/12/2025</a:t>
            </a:fld>
            <a:endParaRPr lang="en-GB"/>
          </a:p>
        </p:txBody>
      </p:sp>
      <p:sp>
        <p:nvSpPr>
          <p:cNvPr id="5" name="Footer Placeholder 4">
            <a:extLst>
              <a:ext uri="{FF2B5EF4-FFF2-40B4-BE49-F238E27FC236}">
                <a16:creationId xmlns:a16="http://schemas.microsoft.com/office/drawing/2014/main" id="{CD758715-5761-B39C-5A36-C91A161FC9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F5AAE6-3E2E-E577-5DA7-E7ABE76DCDB8}"/>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4199704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B981F7-0BC2-2AFC-2328-9A26F24D6D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CB4584-2C96-9991-45A9-E3D389E7E8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593978-B0D9-9CD6-7592-18E62F55D980}"/>
              </a:ext>
            </a:extLst>
          </p:cNvPr>
          <p:cNvSpPr>
            <a:spLocks noGrp="1"/>
          </p:cNvSpPr>
          <p:nvPr>
            <p:ph type="dt" sz="half" idx="10"/>
          </p:nvPr>
        </p:nvSpPr>
        <p:spPr/>
        <p:txBody>
          <a:bodyPr/>
          <a:lstStyle/>
          <a:p>
            <a:fld id="{9AC52CDF-F131-4CA9-818E-7F6924F925B7}" type="datetime1">
              <a:rPr lang="en-GB" smtClean="0"/>
              <a:t>19/12/2025</a:t>
            </a:fld>
            <a:endParaRPr lang="en-GB"/>
          </a:p>
        </p:txBody>
      </p:sp>
      <p:sp>
        <p:nvSpPr>
          <p:cNvPr id="5" name="Footer Placeholder 4">
            <a:extLst>
              <a:ext uri="{FF2B5EF4-FFF2-40B4-BE49-F238E27FC236}">
                <a16:creationId xmlns:a16="http://schemas.microsoft.com/office/drawing/2014/main" id="{67E6CB6D-F971-009B-3B82-A90451770E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FE1D00-EC2E-3636-95D9-ADC12EB2C8C6}"/>
              </a:ext>
            </a:extLst>
          </p:cNvPr>
          <p:cNvSpPr>
            <a:spLocks noGrp="1"/>
          </p:cNvSpPr>
          <p:nvPr>
            <p:ph type="sldNum" sz="quarter" idx="12"/>
          </p:nvPr>
        </p:nvSpPr>
        <p:spPr/>
        <p:txBody>
          <a:bodyPr/>
          <a:lstStyle/>
          <a:p>
            <a:fld id="{3CC13ADF-2E82-439F-8371-D288CD6B0554}" type="slidenum">
              <a:rPr lang="en-GB" smtClean="0"/>
              <a:t>‹#›</a:t>
            </a:fld>
            <a:endParaRPr lang="en-GB"/>
          </a:p>
        </p:txBody>
      </p:sp>
    </p:spTree>
    <p:extLst>
      <p:ext uri="{BB962C8B-B14F-4D97-AF65-F5344CB8AC3E}">
        <p14:creationId xmlns:p14="http://schemas.microsoft.com/office/powerpoint/2010/main" val="140285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C0F7-F318-41C7-BDA1-DA94731E47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39D2FF0-3683-DCE1-C01A-F93D6E54FA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FF3B8CF-088E-962A-0E82-CDB96B14DA79}"/>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5" name="Footer Placeholder 4">
            <a:extLst>
              <a:ext uri="{FF2B5EF4-FFF2-40B4-BE49-F238E27FC236}">
                <a16:creationId xmlns:a16="http://schemas.microsoft.com/office/drawing/2014/main" id="{1091C63F-33AA-D5A3-983A-C9EF586B9C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71B4AC-4FED-586D-4AF2-12BEE103943D}"/>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1648188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CC4A5-69C2-7F69-79D5-3E011AEED95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BC1920-132A-FDF1-AD43-21D837482C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CEAEA8-F222-5732-0AB2-2896890F1754}"/>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5" name="Footer Placeholder 4">
            <a:extLst>
              <a:ext uri="{FF2B5EF4-FFF2-40B4-BE49-F238E27FC236}">
                <a16:creationId xmlns:a16="http://schemas.microsoft.com/office/drawing/2014/main" id="{80482555-543A-BA8A-3D29-46AA660977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7AF531-2EBE-7D42-669D-459FEFCCE6D6}"/>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366359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EE64-FE2A-084F-9317-C79286294C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67E0FED-A03C-292C-7561-9E7E67E168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8CB5EF-E93C-6A66-7F83-DB490A9D9379}"/>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5" name="Footer Placeholder 4">
            <a:extLst>
              <a:ext uri="{FF2B5EF4-FFF2-40B4-BE49-F238E27FC236}">
                <a16:creationId xmlns:a16="http://schemas.microsoft.com/office/drawing/2014/main" id="{C6C2B5B9-0A7D-34AD-7B36-FD236A972C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F2573F-ABD2-9D06-32B2-9DF29BEAAB5D}"/>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3428070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B88D1-6CBB-ADED-80AD-6011B092DF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1D282D7-617C-45C1-E99C-9EA5FC6BD3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985FEF0-56A5-1FED-60B8-082647B29C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FCD1B6E-03D5-7DD6-2B8C-478CC9E667C6}"/>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6" name="Footer Placeholder 5">
            <a:extLst>
              <a:ext uri="{FF2B5EF4-FFF2-40B4-BE49-F238E27FC236}">
                <a16:creationId xmlns:a16="http://schemas.microsoft.com/office/drawing/2014/main" id="{B334B9DE-FF90-FA20-1901-4BC6D97422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EBBA9A6-6565-BF84-1455-A32E6963A25B}"/>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3414242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C132-D3D1-EA98-7074-669C62F9698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F38315-9864-D966-CA18-C4F1C8864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817859-7368-22ED-CB45-7138F6C95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9625F53-13F2-9CF3-1F4B-4287485FF2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517940-4E4B-F193-80AB-3286BEE581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64EC396-C535-52CB-6A7A-ABCCB271E310}"/>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8" name="Footer Placeholder 7">
            <a:extLst>
              <a:ext uri="{FF2B5EF4-FFF2-40B4-BE49-F238E27FC236}">
                <a16:creationId xmlns:a16="http://schemas.microsoft.com/office/drawing/2014/main" id="{1603DF1B-C2B7-965E-CAFF-41C523D2044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78E03D4-D9B8-C965-EB51-8577E93152F2}"/>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17690538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6AB82-CD32-0159-ED73-6102E489ECD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E5F3044-33B5-4B98-6C64-805D1FFD3CEF}"/>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4" name="Footer Placeholder 3">
            <a:extLst>
              <a:ext uri="{FF2B5EF4-FFF2-40B4-BE49-F238E27FC236}">
                <a16:creationId xmlns:a16="http://schemas.microsoft.com/office/drawing/2014/main" id="{77ECCD3E-3CE5-389E-545B-AC50384A14D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203EF46-B5D7-16BF-7D60-B67AC65FB7BA}"/>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3165645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33E8EB-0973-80AE-73F5-7683D7E6E3DD}"/>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3" name="Footer Placeholder 2">
            <a:extLst>
              <a:ext uri="{FF2B5EF4-FFF2-40B4-BE49-F238E27FC236}">
                <a16:creationId xmlns:a16="http://schemas.microsoft.com/office/drawing/2014/main" id="{8E0CE682-AFFD-9297-07FA-1A5D92AD10C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89CDDB4-6D7F-6118-6298-3B41204F100A}"/>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2107153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128CB-8CC6-2B9D-11C9-EFF4A8498F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68CC9CB-E192-5109-CD29-D280203A8B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91A94F-F152-46C1-8BA4-A6C3E0D26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1F3C3-147D-D5A2-E152-4D0249199B6B}"/>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6" name="Footer Placeholder 5">
            <a:extLst>
              <a:ext uri="{FF2B5EF4-FFF2-40B4-BE49-F238E27FC236}">
                <a16:creationId xmlns:a16="http://schemas.microsoft.com/office/drawing/2014/main" id="{CC8A8444-0E98-B333-9F70-E203DCCCD1C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5E736C-23C2-D0A1-9B93-6DF59CF2C176}"/>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2650456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B0250-11D1-C0B8-7A8D-CFA0C093D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9DE1CFE-125B-3CDD-518D-826B5465DE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D0A7889-6CF2-5072-C5BE-D04C663DA6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0B755-3D75-E29D-1680-EC0A6463210C}"/>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6" name="Footer Placeholder 5">
            <a:extLst>
              <a:ext uri="{FF2B5EF4-FFF2-40B4-BE49-F238E27FC236}">
                <a16:creationId xmlns:a16="http://schemas.microsoft.com/office/drawing/2014/main" id="{CB347ECB-A07F-8599-D8F5-5508EC6ACE9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DC9FFE-2F69-7B33-565D-93CA511F6779}"/>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1702976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CCF4-9215-DBC9-A2D9-212F96251EE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A98836-F6AB-380B-C67A-18CD4EF720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53351B-849D-8B2E-F056-7FFF54050D40}"/>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5" name="Footer Placeholder 4">
            <a:extLst>
              <a:ext uri="{FF2B5EF4-FFF2-40B4-BE49-F238E27FC236}">
                <a16:creationId xmlns:a16="http://schemas.microsoft.com/office/drawing/2014/main" id="{81E2F75A-15CA-6778-8468-8A0FDC9818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C2B4C3-2DF2-F1F7-6CC5-7454D76580CF}"/>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19784214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5511C2-A084-399C-AF83-0C3C1A35DA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C234925-D1B8-9ED7-67A2-8180FC9B2F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9D44BA-C101-E965-93B1-7450475AC199}"/>
              </a:ext>
            </a:extLst>
          </p:cNvPr>
          <p:cNvSpPr>
            <a:spLocks noGrp="1"/>
          </p:cNvSpPr>
          <p:nvPr>
            <p:ph type="dt" sz="half" idx="10"/>
          </p:nvPr>
        </p:nvSpPr>
        <p:spPr/>
        <p:txBody>
          <a:bodyPr/>
          <a:lstStyle/>
          <a:p>
            <a:fld id="{9E4F3BEA-6B41-4D2D-8489-9129E1A8C2F6}" type="datetimeFigureOut">
              <a:rPr lang="en-GB" smtClean="0"/>
              <a:t>19/12/2025</a:t>
            </a:fld>
            <a:endParaRPr lang="en-GB"/>
          </a:p>
        </p:txBody>
      </p:sp>
      <p:sp>
        <p:nvSpPr>
          <p:cNvPr id="5" name="Footer Placeholder 4">
            <a:extLst>
              <a:ext uri="{FF2B5EF4-FFF2-40B4-BE49-F238E27FC236}">
                <a16:creationId xmlns:a16="http://schemas.microsoft.com/office/drawing/2014/main" id="{4756AED1-54B5-4620-0FB2-02A9AA3933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95E15A-38D4-DC36-F34D-817288277FBB}"/>
              </a:ext>
            </a:extLst>
          </p:cNvPr>
          <p:cNvSpPr>
            <a:spLocks noGrp="1"/>
          </p:cNvSpPr>
          <p:nvPr>
            <p:ph type="sldNum" sz="quarter" idx="12"/>
          </p:nvPr>
        </p:nvSpPr>
        <p:spPr/>
        <p:txBody>
          <a:bodyPr/>
          <a:lstStyle/>
          <a:p>
            <a:fld id="{89C2AD07-8E7A-4483-B698-DE7D186E8DEB}" type="slidenum">
              <a:rPr lang="en-GB" smtClean="0"/>
              <a:t>‹#›</a:t>
            </a:fld>
            <a:endParaRPr lang="en-GB"/>
          </a:p>
        </p:txBody>
      </p:sp>
    </p:spTree>
    <p:extLst>
      <p:ext uri="{BB962C8B-B14F-4D97-AF65-F5344CB8AC3E}">
        <p14:creationId xmlns:p14="http://schemas.microsoft.com/office/powerpoint/2010/main" val="3798013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3D2F2C-AE48-D607-6111-25D5751ED0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5225CDA-2396-E208-C110-68FC809B55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E64989-9A3D-2CC2-32D4-0BE7B53B67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F684AD-FEC8-4445-87A8-196EC15FDF91}" type="datetime1">
              <a:rPr lang="en-GB" smtClean="0"/>
              <a:t>19/12/2025</a:t>
            </a:fld>
            <a:endParaRPr lang="en-GB"/>
          </a:p>
        </p:txBody>
      </p:sp>
      <p:sp>
        <p:nvSpPr>
          <p:cNvPr id="5" name="Footer Placeholder 4">
            <a:extLst>
              <a:ext uri="{FF2B5EF4-FFF2-40B4-BE49-F238E27FC236}">
                <a16:creationId xmlns:a16="http://schemas.microsoft.com/office/drawing/2014/main" id="{337A8DB6-7017-0BA9-2948-ECB5879672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BAF4601-EF47-FBD5-6DB8-9004B741DE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C13ADF-2E82-439F-8371-D288CD6B0554}" type="slidenum">
              <a:rPr lang="en-GB" smtClean="0"/>
              <a:t>‹#›</a:t>
            </a:fld>
            <a:endParaRPr lang="en-GB"/>
          </a:p>
        </p:txBody>
      </p:sp>
    </p:spTree>
    <p:extLst>
      <p:ext uri="{BB962C8B-B14F-4D97-AF65-F5344CB8AC3E}">
        <p14:creationId xmlns:p14="http://schemas.microsoft.com/office/powerpoint/2010/main" val="117753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499A17-CC71-A04D-3D8E-5AD0B498A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3470719-4464-C2E7-AB70-5CE52015D6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ED2F23-65D3-D825-AFE7-214DD654E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4F3BEA-6B41-4D2D-8489-9129E1A8C2F6}" type="datetimeFigureOut">
              <a:rPr lang="en-GB" smtClean="0"/>
              <a:t>19/12/2025</a:t>
            </a:fld>
            <a:endParaRPr lang="en-GB"/>
          </a:p>
        </p:txBody>
      </p:sp>
      <p:sp>
        <p:nvSpPr>
          <p:cNvPr id="5" name="Footer Placeholder 4">
            <a:extLst>
              <a:ext uri="{FF2B5EF4-FFF2-40B4-BE49-F238E27FC236}">
                <a16:creationId xmlns:a16="http://schemas.microsoft.com/office/drawing/2014/main" id="{EFBB41C5-8356-EDCD-76BC-1F246CB1F8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86193DB-1495-097A-63B4-C7D6EC51D9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C2AD07-8E7A-4483-B698-DE7D186E8DEB}" type="slidenum">
              <a:rPr lang="en-GB" smtClean="0"/>
              <a:t>‹#›</a:t>
            </a:fld>
            <a:endParaRPr lang="en-GB"/>
          </a:p>
        </p:txBody>
      </p:sp>
    </p:spTree>
    <p:extLst>
      <p:ext uri="{BB962C8B-B14F-4D97-AF65-F5344CB8AC3E}">
        <p14:creationId xmlns:p14="http://schemas.microsoft.com/office/powerpoint/2010/main" val="2293253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library.wmo.int/idurl/4/68731" TargetMode="External"/><Relationship Id="rId13"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8.png"/><Relationship Id="rId17" Type="http://schemas.openxmlformats.org/officeDocument/2006/relationships/image" Target="../media/image1.png"/><Relationship Id="rId2" Type="http://schemas.openxmlformats.org/officeDocument/2006/relationships/notesSlide" Target="../notesSlides/notesSlide1.xml"/><Relationship Id="rId16"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wmo-im.github.io/wis2-cookbook/cookbook/wis2-cookbook-DRAFT.html" TargetMode="External"/><Relationship Id="rId5" Type="http://schemas.openxmlformats.org/officeDocument/2006/relationships/image" Target="../media/image4.png"/><Relationship Id="rId15" Type="http://schemas.openxmlformats.org/officeDocument/2006/relationships/image" Target="../media/image10.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hyperlink" Target="https://library.wmo.int/idurl/4/69130" TargetMode="External"/><Relationship Id="rId1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9.png"/><Relationship Id="rId12"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1.wdp"/><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hyperlink" Target="https://wmo-im.github.io/wis2-notification-message/standard/wis2-notification-message-STABLE.html" TargetMode="External"/><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0.svg"/><Relationship Id="rId12" Type="http://schemas.openxmlformats.org/officeDocument/2006/relationships/hyperlink" Target="http://codes.wmo.int/wis/topic-hierarchy/centre-id"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hyperlink" Target="http://codes.wmo.int/wis/topic-hierarchy" TargetMode="External"/><Relationship Id="rId5" Type="http://schemas.microsoft.com/office/2007/relationships/hdphoto" Target="../media/hdphoto1.wdp"/><Relationship Id="rId10" Type="http://schemas.openxmlformats.org/officeDocument/2006/relationships/hyperlink" Target="https://wmo-im.github.io/wis2-topic-hierarchy/standard/wis2-topic-hierarchy-STABLE.html" TargetMode="External"/><Relationship Id="rId4" Type="http://schemas.openxmlformats.org/officeDocument/2006/relationships/image" Target="../media/image8.png"/><Relationship Id="rId9" Type="http://schemas.openxmlformats.org/officeDocument/2006/relationships/image" Target="../media/image11.jpe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0.svg"/><Relationship Id="rId12" Type="http://schemas.openxmlformats.org/officeDocument/2006/relationships/hyperlink" Target="http://codes.wmo.int/wis/topic-hierarchy/earth-system-discipline/weather/surface-based-observation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hyperlink" Target="https://codes.wmo.int/wis/topic-hierarchy/earth-system-discipline/weather" TargetMode="External"/><Relationship Id="rId5" Type="http://schemas.microsoft.com/office/2007/relationships/hdphoto" Target="../media/hdphoto1.wdp"/><Relationship Id="rId10" Type="http://schemas.openxmlformats.org/officeDocument/2006/relationships/hyperlink" Target="https://wmo-im.github.io/wis2-topic-hierarchy/standard/wis2-topic-hierarchy-STABLE.html" TargetMode="External"/><Relationship Id="rId4" Type="http://schemas.openxmlformats.org/officeDocument/2006/relationships/image" Target="../media/image8.pn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png"/><Relationship Id="rId5" Type="http://schemas.microsoft.com/office/2007/relationships/hdphoto" Target="../media/hdphoto1.wdp"/><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0.svg"/><Relationship Id="rId12"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1.jpeg"/><Relationship Id="rId5" Type="http://schemas.microsoft.com/office/2007/relationships/hdphoto" Target="../media/hdphoto1.wdp"/><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hyperlink" Target="https://wmo-im.github.io/wis2-cookbook/cookbook/wis2-cookbook-DRAFT.html#_advertising_client_side_filters_for_data_subscriptions_in_wcmp2_and_wnm" TargetMode="Externa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wmo-im.github.io/wis2-cookbook/cookbook/wis2-cookbook-DRAFT.html#_publishing_a_wis2_notification_message_with_embedded_data" TargetMode="External"/><Relationship Id="rId5" Type="http://schemas.openxmlformats.org/officeDocument/2006/relationships/hyperlink" Target="https://wmo-im.github.io/wcmp2/standard/wcmp2-STABLE.html#_1_19_5_link_relation_selection" TargetMode="Externa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wmo-im.github.io/wis2-cookbook/cookbook/wis2-cookbook-DRAFT.html#_publishing_a_wis2_notification_message_with_access_control" TargetMode="External"/><Relationship Id="rId5" Type="http://schemas.openxmlformats.org/officeDocument/2006/relationships/hyperlink" Target="https://learn.openapis.org/specification/security.html" TargetMode="Externa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9B1411-ED81-047A-7F2D-BC4A4A43D2E7}"/>
              </a:ext>
            </a:extLst>
          </p:cNvPr>
          <p:cNvSpPr>
            <a:spLocks noGrp="1"/>
          </p:cNvSpPr>
          <p:nvPr>
            <p:ph type="ctrTitle"/>
          </p:nvPr>
        </p:nvSpPr>
        <p:spPr/>
        <p:txBody>
          <a:bodyPr/>
          <a:lstStyle/>
          <a:p>
            <a:r>
              <a:rPr lang="en-GB"/>
              <a:t>Publishing real-time data notifications in </a:t>
            </a:r>
            <a:r>
              <a:rPr lang="en-GB" err="1"/>
              <a:t>MeteoGate</a:t>
            </a:r>
            <a:endParaRPr lang="en-GB"/>
          </a:p>
        </p:txBody>
      </p:sp>
      <p:sp>
        <p:nvSpPr>
          <p:cNvPr id="9" name="TextBox 8">
            <a:extLst>
              <a:ext uri="{FF2B5EF4-FFF2-40B4-BE49-F238E27FC236}">
                <a16:creationId xmlns:a16="http://schemas.microsoft.com/office/drawing/2014/main" id="{0A8AE94E-AA74-2A73-F793-D4A1A010087D}"/>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1</a:t>
            </a:fld>
            <a:endParaRPr lang="en-GB" sz="1000" dirty="0"/>
          </a:p>
        </p:txBody>
      </p:sp>
      <p:sp>
        <p:nvSpPr>
          <p:cNvPr id="13" name="Subtitle 3">
            <a:extLst>
              <a:ext uri="{FF2B5EF4-FFF2-40B4-BE49-F238E27FC236}">
                <a16:creationId xmlns:a16="http://schemas.microsoft.com/office/drawing/2014/main" id="{849758B6-C52F-8D7F-6F50-E302544FCDF8}"/>
              </a:ext>
            </a:extLst>
          </p:cNvPr>
          <p:cNvSpPr>
            <a:spLocks noGrp="1"/>
          </p:cNvSpPr>
          <p:nvPr>
            <p:ph type="subTitle" idx="1"/>
          </p:nvPr>
        </p:nvSpPr>
        <p:spPr>
          <a:xfrm>
            <a:off x="1524000" y="3809240"/>
            <a:ext cx="9144000" cy="1655762"/>
          </a:xfrm>
        </p:spPr>
        <p:txBody>
          <a:bodyPr>
            <a:normAutofit/>
          </a:bodyPr>
          <a:lstStyle/>
          <a:p>
            <a:endParaRPr lang="en-GB" dirty="0"/>
          </a:p>
          <a:p>
            <a:endParaRPr lang="en-GB" dirty="0"/>
          </a:p>
          <a:p>
            <a:r>
              <a:rPr lang="en-GB" dirty="0"/>
              <a:t>Jeremy Tandy | October 2025</a:t>
            </a:r>
          </a:p>
        </p:txBody>
      </p:sp>
      <p:pic>
        <p:nvPicPr>
          <p:cNvPr id="14" name="Picture 2" descr="World Meteorological Organization - Wikipedia">
            <a:extLst>
              <a:ext uri="{FF2B5EF4-FFF2-40B4-BE49-F238E27FC236}">
                <a16:creationId xmlns:a16="http://schemas.microsoft.com/office/drawing/2014/main" id="{F0CF3FDF-A968-8106-3078-2D76F21EA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2912" y="3463164"/>
            <a:ext cx="3686175"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986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C7F60-E83E-D364-79E0-1011E20DD5FD}"/>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A9A54353-7EC6-8870-8925-78078EC57B8C}"/>
              </a:ext>
            </a:extLst>
          </p:cNvPr>
          <p:cNvSpPr/>
          <p:nvPr/>
        </p:nvSpPr>
        <p:spPr>
          <a:xfrm>
            <a:off x="395623" y="2017273"/>
            <a:ext cx="4243318" cy="4145108"/>
          </a:xfrm>
          <a:prstGeom prst="rect">
            <a:avLst/>
          </a:prstGeom>
          <a:solidFill>
            <a:schemeClr val="bg1"/>
          </a:solidFill>
          <a:ln w="12700" cap="flat" cmpd="sng" algn="ctr">
            <a:solidFill>
              <a:srgbClr val="50B9A4">
                <a:shade val="50000"/>
              </a:srgb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50" b="1" i="0" u="none" strike="noStrike" kern="0" cap="none" spc="0" normalizeH="0" baseline="0" noProof="0">
              <a:ln>
                <a:noFill/>
              </a:ln>
              <a:solidFill>
                <a:srgbClr val="A1A0AA">
                  <a:lumMod val="50000"/>
                </a:srgbClr>
              </a:solidFill>
              <a:effectLst/>
              <a:uLnTx/>
              <a:uFillTx/>
              <a:latin typeface="Calibri Light" panose="020F0302020204030204"/>
              <a:ea typeface="+mn-ea"/>
              <a:cs typeface="Calibri"/>
              <a:sym typeface="Calibri"/>
            </a:endParaRPr>
          </a:p>
        </p:txBody>
      </p:sp>
      <p:sp>
        <p:nvSpPr>
          <p:cNvPr id="8" name="TextBox 7">
            <a:extLst>
              <a:ext uri="{FF2B5EF4-FFF2-40B4-BE49-F238E27FC236}">
                <a16:creationId xmlns:a16="http://schemas.microsoft.com/office/drawing/2014/main" id="{86444933-7A6F-B142-DF22-E68FF7D7DE4E}"/>
              </a:ext>
            </a:extLst>
          </p:cNvPr>
          <p:cNvSpPr txBox="1"/>
          <p:nvPr/>
        </p:nvSpPr>
        <p:spPr>
          <a:xfrm>
            <a:off x="4763039" y="6311879"/>
            <a:ext cx="264198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Community Components</a:t>
            </a:r>
          </a:p>
        </p:txBody>
      </p:sp>
      <p:grpSp>
        <p:nvGrpSpPr>
          <p:cNvPr id="9" name="Group 8">
            <a:extLst>
              <a:ext uri="{FF2B5EF4-FFF2-40B4-BE49-F238E27FC236}">
                <a16:creationId xmlns:a16="http://schemas.microsoft.com/office/drawing/2014/main" id="{38D1D5A6-150D-2271-BEDB-6B7B7BF084EA}"/>
              </a:ext>
            </a:extLst>
          </p:cNvPr>
          <p:cNvGrpSpPr/>
          <p:nvPr/>
        </p:nvGrpSpPr>
        <p:grpSpPr>
          <a:xfrm>
            <a:off x="5465478" y="2441833"/>
            <a:ext cx="1333367" cy="533709"/>
            <a:chOff x="4738150" y="4607650"/>
            <a:chExt cx="1267200" cy="504342"/>
          </a:xfrm>
        </p:grpSpPr>
        <p:sp>
          <p:nvSpPr>
            <p:cNvPr id="10" name="Rectangle: Diagonal Corners Rounded 193">
              <a:extLst>
                <a:ext uri="{FF2B5EF4-FFF2-40B4-BE49-F238E27FC236}">
                  <a16:creationId xmlns:a16="http://schemas.microsoft.com/office/drawing/2014/main" id="{C5C58E8F-9FEE-9E8E-50FE-4BF2B0D9204A}"/>
                </a:ext>
              </a:extLst>
            </p:cNvPr>
            <p:cNvSpPr/>
            <p:nvPr/>
          </p:nvSpPr>
          <p:spPr>
            <a:xfrm>
              <a:off x="4738150" y="4607650"/>
              <a:ext cx="1267200" cy="504342"/>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Global Broker</a:t>
              </a:r>
            </a:p>
          </p:txBody>
        </p:sp>
        <p:pic>
          <p:nvPicPr>
            <p:cNvPr id="11" name="Picture 4" descr="Wmo Logo World Meteorological Organization Png - World Meteorological ...">
              <a:extLst>
                <a:ext uri="{FF2B5EF4-FFF2-40B4-BE49-F238E27FC236}">
                  <a16:creationId xmlns:a16="http://schemas.microsoft.com/office/drawing/2014/main" id="{AF83301C-A83E-72FC-855E-1B458A4B2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267" y="4666544"/>
              <a:ext cx="266956" cy="29248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6EF44F14-3C80-D2DE-24E9-E7F04526F3BB}"/>
              </a:ext>
            </a:extLst>
          </p:cNvPr>
          <p:cNvSpPr txBox="1"/>
          <p:nvPr/>
        </p:nvSpPr>
        <p:spPr>
          <a:xfrm>
            <a:off x="3157912" y="6310148"/>
            <a:ext cx="224601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Local Components </a:t>
            </a:r>
          </a:p>
        </p:txBody>
      </p:sp>
      <p:grpSp>
        <p:nvGrpSpPr>
          <p:cNvPr id="7" name="Group 6">
            <a:extLst>
              <a:ext uri="{FF2B5EF4-FFF2-40B4-BE49-F238E27FC236}">
                <a16:creationId xmlns:a16="http://schemas.microsoft.com/office/drawing/2014/main" id="{D318070D-86DC-55C4-D3BA-25CCB7E63BA9}"/>
              </a:ext>
            </a:extLst>
          </p:cNvPr>
          <p:cNvGrpSpPr/>
          <p:nvPr/>
        </p:nvGrpSpPr>
        <p:grpSpPr>
          <a:xfrm>
            <a:off x="3036000" y="2508583"/>
            <a:ext cx="1340114" cy="400209"/>
            <a:chOff x="6318068" y="3342518"/>
            <a:chExt cx="1340114" cy="400209"/>
          </a:xfrm>
        </p:grpSpPr>
        <p:sp>
          <p:nvSpPr>
            <p:cNvPr id="25" name="Rectangle: Rounded Corners 24">
              <a:extLst>
                <a:ext uri="{FF2B5EF4-FFF2-40B4-BE49-F238E27FC236}">
                  <a16:creationId xmlns:a16="http://schemas.microsoft.com/office/drawing/2014/main" id="{324F1478-C15C-2DD7-57D4-4AB446B87FB4}"/>
                </a:ext>
              </a:extLst>
            </p:cNvPr>
            <p:cNvSpPr/>
            <p:nvPr/>
          </p:nvSpPr>
          <p:spPr>
            <a:xfrm>
              <a:off x="6318068" y="3342518"/>
              <a:ext cx="1340114" cy="400209"/>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Local Broker</a:t>
              </a:r>
            </a:p>
          </p:txBody>
        </p:sp>
        <p:pic>
          <p:nvPicPr>
            <p:cNvPr id="6" name="Picture 4" descr="Wmo Logo World Meteorological Organization Png - World Meteorological ...">
              <a:extLst>
                <a:ext uri="{FF2B5EF4-FFF2-40B4-BE49-F238E27FC236}">
                  <a16:creationId xmlns:a16="http://schemas.microsoft.com/office/drawing/2014/main" id="{5AB248F1-A569-0A7A-5E24-AAC0D0B24A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164" y="3377612"/>
              <a:ext cx="282500" cy="3095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 name="Straight Connector 40">
            <a:extLst>
              <a:ext uri="{FF2B5EF4-FFF2-40B4-BE49-F238E27FC236}">
                <a16:creationId xmlns:a16="http://schemas.microsoft.com/office/drawing/2014/main" id="{400ED3B6-7C77-3DEC-0ACA-A954B3DA4CDF}"/>
              </a:ext>
            </a:extLst>
          </p:cNvPr>
          <p:cNvCxnSpPr>
            <a:cxnSpLocks/>
          </p:cNvCxnSpPr>
          <p:nvPr/>
        </p:nvCxnSpPr>
        <p:spPr>
          <a:xfrm>
            <a:off x="5073927" y="414309"/>
            <a:ext cx="0" cy="6124603"/>
          </a:xfrm>
          <a:prstGeom prst="line">
            <a:avLst/>
          </a:prstGeom>
          <a:noFill/>
          <a:ln w="19050" cap="flat" cmpd="sng" algn="ctr">
            <a:solidFill>
              <a:srgbClr val="C97F3A"/>
            </a:solidFill>
            <a:prstDash val="dash"/>
          </a:ln>
          <a:effectLst/>
        </p:spPr>
      </p:cxnSp>
      <p:sp>
        <p:nvSpPr>
          <p:cNvPr id="169" name="TextBox 168">
            <a:extLst>
              <a:ext uri="{FF2B5EF4-FFF2-40B4-BE49-F238E27FC236}">
                <a16:creationId xmlns:a16="http://schemas.microsoft.com/office/drawing/2014/main" id="{8FFC21A8-5D3D-064B-8ABC-A29AB3F03DB9}"/>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2</a:t>
            </a:fld>
            <a:endParaRPr lang="en-GB" sz="1000" dirty="0"/>
          </a:p>
        </p:txBody>
      </p:sp>
      <p:sp>
        <p:nvSpPr>
          <p:cNvPr id="198" name="TextBox 197">
            <a:extLst>
              <a:ext uri="{FF2B5EF4-FFF2-40B4-BE49-F238E27FC236}">
                <a16:creationId xmlns:a16="http://schemas.microsoft.com/office/drawing/2014/main" id="{FD40FB0A-A430-9627-B6C7-74E66D838CEC}"/>
              </a:ext>
            </a:extLst>
          </p:cNvPr>
          <p:cNvSpPr txBox="1"/>
          <p:nvPr/>
        </p:nvSpPr>
        <p:spPr>
          <a:xfrm>
            <a:off x="246111" y="133810"/>
            <a:ext cx="4912629" cy="1477328"/>
          </a:xfrm>
          <a:prstGeom prst="rect">
            <a:avLst/>
          </a:prstGeom>
          <a:noFill/>
        </p:spPr>
        <p:txBody>
          <a:bodyPr wrap="square" rtlCol="0">
            <a:spAutoFit/>
          </a:bodyPr>
          <a:lstStyle/>
          <a:p>
            <a:pPr marL="285750" indent="-285750">
              <a:buFont typeface="Arial" panose="020B0604020202020204" pitchFamily="34" charset="0"/>
              <a:buChar char="•"/>
            </a:pPr>
            <a:r>
              <a:rPr lang="en-GB"/>
              <a:t>WMO Information System version 2 (WIS2) is defined in the Tech-Regs…</a:t>
            </a:r>
          </a:p>
          <a:p>
            <a:pPr marL="285750" indent="-285750">
              <a:buFont typeface="Arial" panose="020B0604020202020204" pitchFamily="34" charset="0"/>
              <a:buChar char="•"/>
            </a:pPr>
            <a:r>
              <a:rPr lang="en-GB"/>
              <a:t>There’s also a ‘cookbook’ in draft</a:t>
            </a:r>
          </a:p>
          <a:p>
            <a:pPr marL="285750" indent="-285750">
              <a:buFont typeface="Arial" panose="020B0604020202020204" pitchFamily="34" charset="0"/>
              <a:buChar char="•"/>
            </a:pPr>
            <a:r>
              <a:rPr lang="en-GB"/>
              <a:t>If you need / want to find out more – get reading!</a:t>
            </a:r>
          </a:p>
        </p:txBody>
      </p:sp>
      <p:grpSp>
        <p:nvGrpSpPr>
          <p:cNvPr id="74" name="Group 73">
            <a:extLst>
              <a:ext uri="{FF2B5EF4-FFF2-40B4-BE49-F238E27FC236}">
                <a16:creationId xmlns:a16="http://schemas.microsoft.com/office/drawing/2014/main" id="{5E7ACC94-FC5D-6F8A-A1C3-7B9B1BE2F4F2}"/>
              </a:ext>
            </a:extLst>
          </p:cNvPr>
          <p:cNvGrpSpPr/>
          <p:nvPr/>
        </p:nvGrpSpPr>
        <p:grpSpPr>
          <a:xfrm>
            <a:off x="837869" y="3615669"/>
            <a:ext cx="13420623" cy="2831808"/>
            <a:chOff x="837869" y="3615669"/>
            <a:chExt cx="13420623" cy="2831808"/>
          </a:xfrm>
        </p:grpSpPr>
        <p:pic>
          <p:nvPicPr>
            <p:cNvPr id="60" name="Picture 59">
              <a:extLst>
                <a:ext uri="{FF2B5EF4-FFF2-40B4-BE49-F238E27FC236}">
                  <a16:creationId xmlns:a16="http://schemas.microsoft.com/office/drawing/2014/main" id="{C533E73B-2B77-DF1B-65FA-50F4B7C2D710}"/>
                </a:ext>
              </a:extLst>
            </p:cNvPr>
            <p:cNvPicPr>
              <a:picLocks noChangeAspect="1"/>
            </p:cNvPicPr>
            <p:nvPr/>
          </p:nvPicPr>
          <p:blipFill>
            <a:blip r:embed="rId4"/>
            <a:stretch>
              <a:fillRect/>
            </a:stretch>
          </p:blipFill>
          <p:spPr>
            <a:xfrm>
              <a:off x="837869" y="3615669"/>
              <a:ext cx="971798" cy="1353203"/>
            </a:xfrm>
            <a:prstGeom prst="rect">
              <a:avLst/>
            </a:prstGeom>
          </p:spPr>
        </p:pic>
        <p:pic>
          <p:nvPicPr>
            <p:cNvPr id="62" name="Picture 61">
              <a:extLst>
                <a:ext uri="{FF2B5EF4-FFF2-40B4-BE49-F238E27FC236}">
                  <a16:creationId xmlns:a16="http://schemas.microsoft.com/office/drawing/2014/main" id="{7C86A062-AFA1-E735-5990-F0934A535F04}"/>
                </a:ext>
              </a:extLst>
            </p:cNvPr>
            <p:cNvPicPr>
              <a:picLocks noChangeAspect="1"/>
            </p:cNvPicPr>
            <p:nvPr/>
          </p:nvPicPr>
          <p:blipFill>
            <a:blip r:embed="rId5"/>
            <a:stretch>
              <a:fillRect/>
            </a:stretch>
          </p:blipFill>
          <p:spPr>
            <a:xfrm>
              <a:off x="837869" y="5094273"/>
              <a:ext cx="972534" cy="1353204"/>
            </a:xfrm>
            <a:prstGeom prst="rect">
              <a:avLst/>
            </a:prstGeom>
          </p:spPr>
        </p:pic>
        <p:pic>
          <p:nvPicPr>
            <p:cNvPr id="64" name="Picture 63">
              <a:extLst>
                <a:ext uri="{FF2B5EF4-FFF2-40B4-BE49-F238E27FC236}">
                  <a16:creationId xmlns:a16="http://schemas.microsoft.com/office/drawing/2014/main" id="{EAC489D0-1899-084E-E708-22BD17DC3FE3}"/>
                </a:ext>
              </a:extLst>
            </p:cNvPr>
            <p:cNvPicPr>
              <a:picLocks noChangeAspect="1"/>
            </p:cNvPicPr>
            <p:nvPr/>
          </p:nvPicPr>
          <p:blipFill>
            <a:blip r:embed="rId6"/>
            <a:stretch>
              <a:fillRect/>
            </a:stretch>
          </p:blipFill>
          <p:spPr>
            <a:xfrm>
              <a:off x="1828440" y="5131266"/>
              <a:ext cx="5593214" cy="794263"/>
            </a:xfrm>
            <a:prstGeom prst="rect">
              <a:avLst/>
            </a:prstGeom>
          </p:spPr>
        </p:pic>
        <p:pic>
          <p:nvPicPr>
            <p:cNvPr id="66" name="Picture 65">
              <a:extLst>
                <a:ext uri="{FF2B5EF4-FFF2-40B4-BE49-F238E27FC236}">
                  <a16:creationId xmlns:a16="http://schemas.microsoft.com/office/drawing/2014/main" id="{43B10D11-E029-098C-093A-258B1BEC1999}"/>
                </a:ext>
              </a:extLst>
            </p:cNvPr>
            <p:cNvPicPr>
              <a:picLocks noChangeAspect="1"/>
            </p:cNvPicPr>
            <p:nvPr/>
          </p:nvPicPr>
          <p:blipFill>
            <a:blip r:embed="rId7"/>
            <a:stretch>
              <a:fillRect/>
            </a:stretch>
          </p:blipFill>
          <p:spPr>
            <a:xfrm>
              <a:off x="1828440" y="3651422"/>
              <a:ext cx="5603299" cy="1285344"/>
            </a:xfrm>
            <a:prstGeom prst="rect">
              <a:avLst/>
            </a:prstGeom>
          </p:spPr>
        </p:pic>
        <p:sp>
          <p:nvSpPr>
            <p:cNvPr id="71" name="TextBox 70">
              <a:extLst>
                <a:ext uri="{FF2B5EF4-FFF2-40B4-BE49-F238E27FC236}">
                  <a16:creationId xmlns:a16="http://schemas.microsoft.com/office/drawing/2014/main" id="{CB53C32D-C41E-E49A-63D3-5955685E09DC}"/>
                </a:ext>
              </a:extLst>
            </p:cNvPr>
            <p:cNvSpPr txBox="1"/>
            <p:nvPr/>
          </p:nvSpPr>
          <p:spPr>
            <a:xfrm>
              <a:off x="7474452" y="3878267"/>
              <a:ext cx="6098240" cy="369332"/>
            </a:xfrm>
            <a:prstGeom prst="rect">
              <a:avLst/>
            </a:prstGeom>
            <a:noFill/>
          </p:spPr>
          <p:txBody>
            <a:bodyPr wrap="square">
              <a:spAutoFit/>
            </a:bodyPr>
            <a:lstStyle/>
            <a:p>
              <a:r>
                <a:rPr lang="en-GB">
                  <a:hlinkClick r:id="rId8"/>
                </a:rPr>
                <a:t>https://library.wmo.int/idurl/4/68731</a:t>
              </a:r>
              <a:endParaRPr lang="en-GB"/>
            </a:p>
          </p:txBody>
        </p:sp>
        <p:sp>
          <p:nvSpPr>
            <p:cNvPr id="73" name="TextBox 72">
              <a:extLst>
                <a:ext uri="{FF2B5EF4-FFF2-40B4-BE49-F238E27FC236}">
                  <a16:creationId xmlns:a16="http://schemas.microsoft.com/office/drawing/2014/main" id="{14D2CAAC-3E94-A4E3-0263-B8684BCC000A}"/>
                </a:ext>
              </a:extLst>
            </p:cNvPr>
            <p:cNvSpPr txBox="1"/>
            <p:nvPr/>
          </p:nvSpPr>
          <p:spPr>
            <a:xfrm>
              <a:off x="7474452" y="5072855"/>
              <a:ext cx="6784040" cy="369332"/>
            </a:xfrm>
            <a:prstGeom prst="rect">
              <a:avLst/>
            </a:prstGeom>
            <a:noFill/>
          </p:spPr>
          <p:txBody>
            <a:bodyPr wrap="square">
              <a:spAutoFit/>
            </a:bodyPr>
            <a:lstStyle/>
            <a:p>
              <a:r>
                <a:rPr lang="en-GB">
                  <a:hlinkClick r:id="rId9"/>
                </a:rPr>
                <a:t>https://library.wmo.int/idurl/4/69130</a:t>
              </a:r>
              <a:endParaRPr lang="en-GB"/>
            </a:p>
          </p:txBody>
        </p:sp>
      </p:grpSp>
      <p:grpSp>
        <p:nvGrpSpPr>
          <p:cNvPr id="79" name="Group 78">
            <a:extLst>
              <a:ext uri="{FF2B5EF4-FFF2-40B4-BE49-F238E27FC236}">
                <a16:creationId xmlns:a16="http://schemas.microsoft.com/office/drawing/2014/main" id="{69EB624D-7E9B-E1DB-ED90-33561FE4A484}"/>
              </a:ext>
            </a:extLst>
          </p:cNvPr>
          <p:cNvGrpSpPr/>
          <p:nvPr/>
        </p:nvGrpSpPr>
        <p:grpSpPr>
          <a:xfrm>
            <a:off x="7061811" y="6092968"/>
            <a:ext cx="3897534" cy="458494"/>
            <a:chOff x="7061811" y="5703005"/>
            <a:chExt cx="3897534" cy="458494"/>
          </a:xfrm>
        </p:grpSpPr>
        <p:pic>
          <p:nvPicPr>
            <p:cNvPr id="75" name="Picture 74">
              <a:extLst>
                <a:ext uri="{FF2B5EF4-FFF2-40B4-BE49-F238E27FC236}">
                  <a16:creationId xmlns:a16="http://schemas.microsoft.com/office/drawing/2014/main" id="{199C1877-0334-BD25-AB54-7E71F6609437}"/>
                </a:ext>
              </a:extLst>
            </p:cNvPr>
            <p:cNvPicPr>
              <a:picLocks noChangeAspect="1"/>
            </p:cNvPicPr>
            <p:nvPr/>
          </p:nvPicPr>
          <p:blipFill>
            <a:blip r:embed="rId10"/>
            <a:stretch>
              <a:fillRect/>
            </a:stretch>
          </p:blipFill>
          <p:spPr>
            <a:xfrm>
              <a:off x="7061811" y="5716452"/>
              <a:ext cx="487722" cy="445047"/>
            </a:xfrm>
            <a:prstGeom prst="rect">
              <a:avLst/>
            </a:prstGeom>
          </p:spPr>
        </p:pic>
        <p:sp>
          <p:nvSpPr>
            <p:cNvPr id="78" name="TextBox 77">
              <a:extLst>
                <a:ext uri="{FF2B5EF4-FFF2-40B4-BE49-F238E27FC236}">
                  <a16:creationId xmlns:a16="http://schemas.microsoft.com/office/drawing/2014/main" id="{569E071F-F889-F5A9-2570-2981D6879072}"/>
                </a:ext>
              </a:extLst>
            </p:cNvPr>
            <p:cNvSpPr txBox="1"/>
            <p:nvPr/>
          </p:nvSpPr>
          <p:spPr>
            <a:xfrm>
              <a:off x="7474452" y="5703005"/>
              <a:ext cx="3484893" cy="369332"/>
            </a:xfrm>
            <a:prstGeom prst="rect">
              <a:avLst/>
            </a:prstGeom>
            <a:noFill/>
          </p:spPr>
          <p:txBody>
            <a:bodyPr wrap="square">
              <a:spAutoFit/>
            </a:bodyPr>
            <a:lstStyle/>
            <a:p>
              <a:r>
                <a:rPr lang="en-GB">
                  <a:hlinkClick r:id="rId11"/>
                </a:rPr>
                <a:t>WIS2 Cookbook (draft)</a:t>
              </a:r>
              <a:endParaRPr lang="en-GB"/>
            </a:p>
          </p:txBody>
        </p:sp>
      </p:grpSp>
      <p:grpSp>
        <p:nvGrpSpPr>
          <p:cNvPr id="82" name="Group 81">
            <a:extLst>
              <a:ext uri="{FF2B5EF4-FFF2-40B4-BE49-F238E27FC236}">
                <a16:creationId xmlns:a16="http://schemas.microsoft.com/office/drawing/2014/main" id="{7F0E9D1A-F713-5572-E67C-B3EB7975BD5D}"/>
              </a:ext>
            </a:extLst>
          </p:cNvPr>
          <p:cNvGrpSpPr/>
          <p:nvPr/>
        </p:nvGrpSpPr>
        <p:grpSpPr>
          <a:xfrm>
            <a:off x="619969" y="2516723"/>
            <a:ext cx="1340114" cy="400209"/>
            <a:chOff x="6318068" y="4437423"/>
            <a:chExt cx="1340114" cy="400209"/>
          </a:xfrm>
        </p:grpSpPr>
        <p:sp>
          <p:nvSpPr>
            <p:cNvPr id="80" name="Rectangle: Rounded Corners 79">
              <a:extLst>
                <a:ext uri="{FF2B5EF4-FFF2-40B4-BE49-F238E27FC236}">
                  <a16:creationId xmlns:a16="http://schemas.microsoft.com/office/drawing/2014/main" id="{521311F3-6FCD-B913-D84A-F125CE47BFAB}"/>
                </a:ext>
              </a:extLst>
            </p:cNvPr>
            <p:cNvSpPr/>
            <p:nvPr/>
          </p:nvSpPr>
          <p:spPr>
            <a:xfrm>
              <a:off x="6318068" y="4437423"/>
              <a:ext cx="1340114" cy="400209"/>
            </a:xfrm>
            <a:prstGeom prst="roundRect">
              <a:avLst/>
            </a:prstGeom>
            <a:solidFill>
              <a:srgbClr val="93B479"/>
            </a:solidFill>
            <a:ln w="6350" cap="flat" cmpd="sng" algn="ctr">
              <a:solidFill>
                <a:srgbClr val="004F59"/>
              </a:solidFill>
              <a:prstDash val="solid"/>
              <a:miter lim="800000"/>
            </a:ln>
            <a:effectLst>
              <a:outerShdw blurRad="50800" dist="38100" dir="2700000" algn="tl" rotWithShape="0">
                <a:prstClr val="black">
                  <a:alpha val="40000"/>
                </a:prstClr>
              </a:outerShdw>
            </a:effectLst>
          </p:spPr>
          <p:txBody>
            <a:bodyPr lIns="0" rIns="0" rtlCol="0" anchor="ctr"/>
            <a:lstStyle/>
            <a:p>
              <a:pPr marL="266700" algn="ctr" defTabSz="457200">
                <a:lnSpc>
                  <a:spcPct val="90000"/>
                </a:lnSpc>
                <a:defRPr/>
              </a:pPr>
              <a:r>
                <a:rPr lang="en-GB" sz="1200" kern="0">
                  <a:solidFill>
                    <a:prstClr val="black"/>
                  </a:solidFill>
                  <a:latin typeface="Calibri Light" panose="020F0302020204030204"/>
                  <a:ea typeface="Calibri Light" panose="020F0302020204030204" pitchFamily="34" charset="0"/>
                  <a:cs typeface="Calibri Light" panose="020F0302020204030204" pitchFamily="34" charset="0"/>
                  <a:sym typeface="Calibri"/>
                </a:rPr>
                <a:t>Data Access (APIs)</a:t>
              </a:r>
            </a:p>
          </p:txBody>
        </p:sp>
        <p:pic>
          <p:nvPicPr>
            <p:cNvPr id="81" name="Picture 80" descr="Logo, company name&#10;&#10;Description automatically generated">
              <a:extLst>
                <a:ext uri="{FF2B5EF4-FFF2-40B4-BE49-F238E27FC236}">
                  <a16:creationId xmlns:a16="http://schemas.microsoft.com/office/drawing/2014/main" id="{D0921E82-CCFA-DEF8-A337-BABFF427F560}"/>
                </a:ext>
              </a:extLst>
            </p:cNvPr>
            <p:cNvPicPr>
              <a:picLocks noChangeAspect="1"/>
            </p:cNvPicPr>
            <p:nvPr/>
          </p:nvPicPr>
          <p:blipFill rotWithShape="1">
            <a:blip r:embed="rId12">
              <a:duotone>
                <a:prstClr val="black"/>
                <a:srgbClr val="004F59">
                  <a:tint val="45000"/>
                  <a:satMod val="400000"/>
                </a:srgbClr>
              </a:duotone>
              <a:extLst>
                <a:ext uri="{BEBA8EAE-BF5A-486C-A8C5-ECC9F3942E4B}">
                  <a14:imgProps xmlns:a14="http://schemas.microsoft.com/office/drawing/2010/main">
                    <a14:imgLayer r:embed="rId13">
                      <a14:imgEffect>
                        <a14:backgroundRemoval t="5068" b="52703" l="24156" r="73002">
                          <a14:foregroundMark x1="70515" y1="31081" x2="70515" y2="31081"/>
                          <a14:foregroundMark x1="73002" y1="30743" x2="73002" y2="30743"/>
                          <a14:foregroundMark x1="52931" y1="50338" x2="52931" y2="50338"/>
                          <a14:foregroundMark x1="49023" y1="52703" x2="49023" y2="52703"/>
                          <a14:foregroundMark x1="24156" y1="29899" x2="24156" y2="29899"/>
                        </a14:backgroundRemoval>
                      </a14:imgEffect>
                    </a14:imgLayer>
                  </a14:imgProps>
                </a:ext>
                <a:ext uri="{28A0092B-C50C-407E-A947-70E740481C1C}">
                  <a14:useLocalDpi xmlns:a14="http://schemas.microsoft.com/office/drawing/2010/main" val="0"/>
                </a:ext>
              </a:extLst>
            </a:blip>
            <a:srcRect l="19216" r="24636" b="45879"/>
            <a:stretch/>
          </p:blipFill>
          <p:spPr>
            <a:xfrm>
              <a:off x="6349805" y="4481289"/>
              <a:ext cx="307211" cy="311371"/>
            </a:xfrm>
            <a:prstGeom prst="rect">
              <a:avLst/>
            </a:prstGeom>
            <a:ln>
              <a:solidFill>
                <a:srgbClr val="93B479"/>
              </a:solidFill>
            </a:ln>
          </p:spPr>
        </p:pic>
      </p:grpSp>
      <p:grpSp>
        <p:nvGrpSpPr>
          <p:cNvPr id="5" name="Group 4">
            <a:extLst>
              <a:ext uri="{FF2B5EF4-FFF2-40B4-BE49-F238E27FC236}">
                <a16:creationId xmlns:a16="http://schemas.microsoft.com/office/drawing/2014/main" id="{A4AC72C6-0D35-BD76-66D7-B5587D46042C}"/>
              </a:ext>
            </a:extLst>
          </p:cNvPr>
          <p:cNvGrpSpPr/>
          <p:nvPr/>
        </p:nvGrpSpPr>
        <p:grpSpPr>
          <a:xfrm>
            <a:off x="10957783" y="2284643"/>
            <a:ext cx="753415" cy="848088"/>
            <a:chOff x="10987252" y="3139965"/>
            <a:chExt cx="753415" cy="848088"/>
          </a:xfrm>
        </p:grpSpPr>
        <p:pic>
          <p:nvPicPr>
            <p:cNvPr id="2" name="Graphic 1" descr="Users with solid fill">
              <a:extLst>
                <a:ext uri="{FF2B5EF4-FFF2-40B4-BE49-F238E27FC236}">
                  <a16:creationId xmlns:a16="http://schemas.microsoft.com/office/drawing/2014/main" id="{F4A9C518-43DB-C145-0A7C-B6DCF596A4BC}"/>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049543" y="3139965"/>
              <a:ext cx="612315" cy="623947"/>
            </a:xfrm>
            <a:prstGeom prst="rect">
              <a:avLst/>
            </a:prstGeom>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EA7ACEEB-379E-44D4-CC26-3CE052CE5F34}"/>
                </a:ext>
              </a:extLst>
            </p:cNvPr>
            <p:cNvSpPr txBox="1"/>
            <p:nvPr/>
          </p:nvSpPr>
          <p:spPr>
            <a:xfrm>
              <a:off x="10987252" y="3633982"/>
              <a:ext cx="753415" cy="354071"/>
            </a:xfrm>
            <a:prstGeom prst="rect">
              <a:avLst/>
            </a:prstGeom>
            <a:noFill/>
          </p:spPr>
          <p:txBody>
            <a:bodyPr wrap="square" lIns="0" rIns="0" rtlCol="0">
              <a:spAutoFit/>
            </a:bodyPr>
            <a:lstStyle>
              <a:defPPr>
                <a:defRPr lang="en-US"/>
              </a:defPPr>
              <a:lvl1pPr marR="0" lvl="0" indent="0" algn="ctr" fontAlgn="auto">
                <a:lnSpc>
                  <a:spcPct val="80000"/>
                </a:lnSpc>
                <a:spcBef>
                  <a:spcPts val="0"/>
                </a:spcBef>
                <a:spcAft>
                  <a:spcPts val="0"/>
                </a:spcAft>
                <a:buClrTx/>
                <a:buSzTx/>
                <a:buFontTx/>
                <a:buNone/>
                <a:tabLst/>
                <a:defRPr kumimoji="0" sz="1050" b="0" i="0" u="none" strike="noStrike" cap="none" spc="0" normalizeH="0" baseline="0">
                  <a:ln>
                    <a:noFill/>
                  </a:ln>
                  <a:solidFill>
                    <a:prstClr val="black"/>
                  </a:solidFill>
                  <a:effectLst/>
                  <a:uLnTx/>
                  <a:uFillTx/>
                  <a:latin typeface="Calibri" panose="020F0502020204030204"/>
                </a:defRPr>
              </a:lvl1pPr>
            </a:lstStyle>
            <a:p>
              <a:pPr>
                <a:defRPr/>
              </a:pPr>
              <a:r>
                <a:rPr lang="en-GB">
                  <a:latin typeface="Calibri Light" panose="020F0302020204030204"/>
                  <a:cs typeface="Calibri"/>
                  <a:sym typeface="Calibri"/>
                </a:rPr>
                <a:t>Data Consumers</a:t>
              </a:r>
            </a:p>
          </p:txBody>
        </p:sp>
      </p:grpSp>
      <p:pic>
        <p:nvPicPr>
          <p:cNvPr id="17" name="Picture 16" descr="A group of flags of different countries/regions&#10;&#10;Description automatically generated">
            <a:extLst>
              <a:ext uri="{FF2B5EF4-FFF2-40B4-BE49-F238E27FC236}">
                <a16:creationId xmlns:a16="http://schemas.microsoft.com/office/drawing/2014/main" id="{CDCDD314-AE84-91CA-A564-E1D695D2EBA7}"/>
              </a:ext>
            </a:extLst>
          </p:cNvPr>
          <p:cNvPicPr>
            <a:picLocks noChangeAspect="1"/>
          </p:cNvPicPr>
          <p:nvPr/>
        </p:nvPicPr>
        <p:blipFill rotWithShape="1">
          <a:blip r:embed="rId16">
            <a:extLst>
              <a:ext uri="{28A0092B-C50C-407E-A947-70E740481C1C}">
                <a14:useLocalDpi xmlns:a14="http://schemas.microsoft.com/office/drawing/2010/main" val="0"/>
              </a:ext>
            </a:extLst>
          </a:blip>
          <a:srcRect l="10370" t="35630" r="80593" b="58444"/>
          <a:stretch/>
        </p:blipFill>
        <p:spPr>
          <a:xfrm>
            <a:off x="5929662" y="3041820"/>
            <a:ext cx="414059" cy="271514"/>
          </a:xfrm>
          <a:prstGeom prst="rect">
            <a:avLst/>
          </a:prstGeom>
        </p:spPr>
      </p:pic>
      <p:pic>
        <p:nvPicPr>
          <p:cNvPr id="12" name="Picture 2" descr="World Meteorological Organization - Wikipedia">
            <a:extLst>
              <a:ext uri="{FF2B5EF4-FFF2-40B4-BE49-F238E27FC236}">
                <a16:creationId xmlns:a16="http://schemas.microsoft.com/office/drawing/2014/main" id="{C898E8A5-EA29-D650-C143-7C7FEED09A3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FDC723-B868-3BF4-C73F-86545CE6C9C1}"/>
              </a:ext>
            </a:extLst>
          </p:cNvPr>
          <p:cNvSpPr txBox="1"/>
          <p:nvPr/>
        </p:nvSpPr>
        <p:spPr>
          <a:xfrm>
            <a:off x="413567" y="2039471"/>
            <a:ext cx="2556857" cy="2616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100" b="1"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rPr>
              <a:t>WIS2 Node</a:t>
            </a:r>
            <a:endParaRPr kumimoji="0" lang="en-GB" sz="1100" b="1" i="0"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endParaRPr>
          </a:p>
        </p:txBody>
      </p:sp>
    </p:spTree>
    <p:extLst>
      <p:ext uri="{BB962C8B-B14F-4D97-AF65-F5344CB8AC3E}">
        <p14:creationId xmlns:p14="http://schemas.microsoft.com/office/powerpoint/2010/main" val="156458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par>
                                <p:cTn id="8" presetID="10" presetClass="entr" presetSubtype="0" fill="hold"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C742D-85B3-7575-6AAC-6B74752F29CD}"/>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1C58E918-795F-7820-8F62-4FB33CB7B4CE}"/>
              </a:ext>
            </a:extLst>
          </p:cNvPr>
          <p:cNvSpPr/>
          <p:nvPr/>
        </p:nvSpPr>
        <p:spPr>
          <a:xfrm>
            <a:off x="395623" y="2017273"/>
            <a:ext cx="4243318" cy="4145108"/>
          </a:xfrm>
          <a:prstGeom prst="rect">
            <a:avLst/>
          </a:prstGeom>
          <a:solidFill>
            <a:schemeClr val="bg1"/>
          </a:solidFill>
          <a:ln w="12700" cap="flat" cmpd="sng" algn="ctr">
            <a:solidFill>
              <a:srgbClr val="50B9A4">
                <a:shade val="50000"/>
              </a:srgb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50" b="1" i="0" u="none" strike="noStrike" kern="0" cap="none" spc="0" normalizeH="0" baseline="0" noProof="0">
              <a:ln>
                <a:noFill/>
              </a:ln>
              <a:solidFill>
                <a:srgbClr val="A1A0AA">
                  <a:lumMod val="50000"/>
                </a:srgbClr>
              </a:solidFill>
              <a:effectLst/>
              <a:uLnTx/>
              <a:uFillTx/>
              <a:latin typeface="Calibri Light" panose="020F0302020204030204"/>
              <a:ea typeface="+mn-ea"/>
              <a:cs typeface="Calibri"/>
              <a:sym typeface="Calibri"/>
            </a:endParaRPr>
          </a:p>
        </p:txBody>
      </p:sp>
      <p:sp>
        <p:nvSpPr>
          <p:cNvPr id="8" name="TextBox 7">
            <a:extLst>
              <a:ext uri="{FF2B5EF4-FFF2-40B4-BE49-F238E27FC236}">
                <a16:creationId xmlns:a16="http://schemas.microsoft.com/office/drawing/2014/main" id="{60F4AEA0-2978-FBE4-FF0A-EC0F78FDE63E}"/>
              </a:ext>
            </a:extLst>
          </p:cNvPr>
          <p:cNvSpPr txBox="1"/>
          <p:nvPr/>
        </p:nvSpPr>
        <p:spPr>
          <a:xfrm>
            <a:off x="4763039" y="6311879"/>
            <a:ext cx="264198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Community Components</a:t>
            </a:r>
          </a:p>
        </p:txBody>
      </p:sp>
      <p:grpSp>
        <p:nvGrpSpPr>
          <p:cNvPr id="9" name="Group 8">
            <a:extLst>
              <a:ext uri="{FF2B5EF4-FFF2-40B4-BE49-F238E27FC236}">
                <a16:creationId xmlns:a16="http://schemas.microsoft.com/office/drawing/2014/main" id="{ACE655FB-0660-73DA-0835-142B63E00F25}"/>
              </a:ext>
            </a:extLst>
          </p:cNvPr>
          <p:cNvGrpSpPr/>
          <p:nvPr/>
        </p:nvGrpSpPr>
        <p:grpSpPr>
          <a:xfrm>
            <a:off x="5465478" y="2441833"/>
            <a:ext cx="1333367" cy="533709"/>
            <a:chOff x="4738150" y="4607650"/>
            <a:chExt cx="1267200" cy="504342"/>
          </a:xfrm>
        </p:grpSpPr>
        <p:sp>
          <p:nvSpPr>
            <p:cNvPr id="10" name="Rectangle: Diagonal Corners Rounded 193">
              <a:extLst>
                <a:ext uri="{FF2B5EF4-FFF2-40B4-BE49-F238E27FC236}">
                  <a16:creationId xmlns:a16="http://schemas.microsoft.com/office/drawing/2014/main" id="{221CFFBD-7FD6-8DE5-0477-1B7FC68E0819}"/>
                </a:ext>
              </a:extLst>
            </p:cNvPr>
            <p:cNvSpPr/>
            <p:nvPr/>
          </p:nvSpPr>
          <p:spPr>
            <a:xfrm>
              <a:off x="4738150" y="4607650"/>
              <a:ext cx="1267200" cy="504342"/>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Global Broker</a:t>
              </a:r>
            </a:p>
          </p:txBody>
        </p:sp>
        <p:pic>
          <p:nvPicPr>
            <p:cNvPr id="11" name="Picture 4" descr="Wmo Logo World Meteorological Organization Png - World Meteorological ...">
              <a:extLst>
                <a:ext uri="{FF2B5EF4-FFF2-40B4-BE49-F238E27FC236}">
                  <a16:creationId xmlns:a16="http://schemas.microsoft.com/office/drawing/2014/main" id="{02063794-3506-316D-8200-F65CFED0A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267" y="4666544"/>
              <a:ext cx="266956" cy="29248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4ED4EDE7-10EB-C962-C3F1-0DE1F52D66C1}"/>
              </a:ext>
            </a:extLst>
          </p:cNvPr>
          <p:cNvSpPr txBox="1"/>
          <p:nvPr/>
        </p:nvSpPr>
        <p:spPr>
          <a:xfrm>
            <a:off x="3157912" y="6310148"/>
            <a:ext cx="224601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Local Components </a:t>
            </a:r>
          </a:p>
        </p:txBody>
      </p:sp>
      <p:grpSp>
        <p:nvGrpSpPr>
          <p:cNvPr id="7" name="Group 6">
            <a:extLst>
              <a:ext uri="{FF2B5EF4-FFF2-40B4-BE49-F238E27FC236}">
                <a16:creationId xmlns:a16="http://schemas.microsoft.com/office/drawing/2014/main" id="{38A73443-B65C-9C58-EEB3-2FF8FF4583FB}"/>
              </a:ext>
            </a:extLst>
          </p:cNvPr>
          <p:cNvGrpSpPr/>
          <p:nvPr/>
        </p:nvGrpSpPr>
        <p:grpSpPr>
          <a:xfrm>
            <a:off x="3036000" y="2508583"/>
            <a:ext cx="1340114" cy="400209"/>
            <a:chOff x="6318068" y="3342518"/>
            <a:chExt cx="1340114" cy="400209"/>
          </a:xfrm>
        </p:grpSpPr>
        <p:sp>
          <p:nvSpPr>
            <p:cNvPr id="25" name="Rectangle: Rounded Corners 24">
              <a:extLst>
                <a:ext uri="{FF2B5EF4-FFF2-40B4-BE49-F238E27FC236}">
                  <a16:creationId xmlns:a16="http://schemas.microsoft.com/office/drawing/2014/main" id="{286BBB46-1253-BCD3-8F42-80F30F882D45}"/>
                </a:ext>
              </a:extLst>
            </p:cNvPr>
            <p:cNvSpPr/>
            <p:nvPr/>
          </p:nvSpPr>
          <p:spPr>
            <a:xfrm>
              <a:off x="6318068" y="3342518"/>
              <a:ext cx="1340114" cy="400209"/>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Local Broker</a:t>
              </a:r>
            </a:p>
          </p:txBody>
        </p:sp>
        <p:pic>
          <p:nvPicPr>
            <p:cNvPr id="6" name="Picture 4" descr="Wmo Logo World Meteorological Organization Png - World Meteorological ...">
              <a:extLst>
                <a:ext uri="{FF2B5EF4-FFF2-40B4-BE49-F238E27FC236}">
                  <a16:creationId xmlns:a16="http://schemas.microsoft.com/office/drawing/2014/main" id="{7473FD9A-DF6E-4A63-A18A-3634BF139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164" y="3377612"/>
              <a:ext cx="282500" cy="3095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 name="Straight Connector 40">
            <a:extLst>
              <a:ext uri="{FF2B5EF4-FFF2-40B4-BE49-F238E27FC236}">
                <a16:creationId xmlns:a16="http://schemas.microsoft.com/office/drawing/2014/main" id="{40889892-39EB-4379-65F1-CA8340791BE5}"/>
              </a:ext>
            </a:extLst>
          </p:cNvPr>
          <p:cNvCxnSpPr>
            <a:cxnSpLocks/>
          </p:cNvCxnSpPr>
          <p:nvPr/>
        </p:nvCxnSpPr>
        <p:spPr>
          <a:xfrm>
            <a:off x="5073927" y="414309"/>
            <a:ext cx="0" cy="6124603"/>
          </a:xfrm>
          <a:prstGeom prst="line">
            <a:avLst/>
          </a:prstGeom>
          <a:noFill/>
          <a:ln w="19050" cap="flat" cmpd="sng" algn="ctr">
            <a:solidFill>
              <a:srgbClr val="C97F3A"/>
            </a:solidFill>
            <a:prstDash val="dash"/>
          </a:ln>
          <a:effectLst/>
        </p:spPr>
      </p:cxnSp>
      <p:sp>
        <p:nvSpPr>
          <p:cNvPr id="169" name="TextBox 168">
            <a:extLst>
              <a:ext uri="{FF2B5EF4-FFF2-40B4-BE49-F238E27FC236}">
                <a16:creationId xmlns:a16="http://schemas.microsoft.com/office/drawing/2014/main" id="{7E21CA3E-14A7-0BBC-ECB9-EA6CB6FDF35D}"/>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3</a:t>
            </a:fld>
            <a:endParaRPr lang="en-GB" sz="1000" dirty="0"/>
          </a:p>
        </p:txBody>
      </p:sp>
      <p:sp>
        <p:nvSpPr>
          <p:cNvPr id="198" name="TextBox 197">
            <a:extLst>
              <a:ext uri="{FF2B5EF4-FFF2-40B4-BE49-F238E27FC236}">
                <a16:creationId xmlns:a16="http://schemas.microsoft.com/office/drawing/2014/main" id="{52AE626C-EA76-8521-63FB-B7C84E0B3A99}"/>
              </a:ext>
            </a:extLst>
          </p:cNvPr>
          <p:cNvSpPr txBox="1"/>
          <p:nvPr/>
        </p:nvSpPr>
        <p:spPr>
          <a:xfrm>
            <a:off x="246111" y="133810"/>
            <a:ext cx="4912629" cy="2031325"/>
          </a:xfrm>
          <a:prstGeom prst="rect">
            <a:avLst/>
          </a:prstGeom>
          <a:noFill/>
        </p:spPr>
        <p:txBody>
          <a:bodyPr wrap="square" rtlCol="0">
            <a:spAutoFit/>
          </a:bodyPr>
          <a:lstStyle/>
          <a:p>
            <a:pPr marL="285750" indent="-285750">
              <a:buFont typeface="Arial" panose="020B0604020202020204" pitchFamily="34" charset="0"/>
              <a:buChar char="•"/>
            </a:pPr>
            <a:r>
              <a:rPr lang="en-GB"/>
              <a:t>WIS2 uses real-time notifications published via the MQTT protocol to tell users about new data</a:t>
            </a:r>
          </a:p>
          <a:p>
            <a:pPr marL="285750" indent="-285750">
              <a:buFont typeface="Arial" panose="020B0604020202020204" pitchFamily="34" charset="0"/>
              <a:buChar char="•"/>
            </a:pPr>
            <a:r>
              <a:rPr lang="en-GB"/>
              <a:t>WIS2 notifications must follow the </a:t>
            </a:r>
            <a:r>
              <a:rPr lang="en-GB">
                <a:hlinkClick r:id="rId4"/>
              </a:rPr>
              <a:t>spec</a:t>
            </a:r>
            <a:endParaRPr lang="en-GB"/>
          </a:p>
          <a:p>
            <a:pPr marL="285750" indent="-285750">
              <a:buFont typeface="Arial" panose="020B0604020202020204" pitchFamily="34" charset="0"/>
              <a:buChar char="•"/>
            </a:pPr>
            <a:r>
              <a:rPr lang="en-GB" b="1"/>
              <a:t>WIS2 Notification Messages</a:t>
            </a:r>
            <a:r>
              <a:rPr lang="en-GB"/>
              <a:t> are GeoJSON</a:t>
            </a:r>
          </a:p>
          <a:p>
            <a:pPr marL="285750" indent="-285750">
              <a:buFont typeface="Arial" panose="020B0604020202020204" pitchFamily="34" charset="0"/>
              <a:buChar char="•"/>
            </a:pPr>
            <a:r>
              <a:rPr lang="en-GB"/>
              <a:t>Here’s how it works … </a:t>
            </a:r>
          </a:p>
          <a:p>
            <a:endParaRPr lang="en-GB"/>
          </a:p>
        </p:txBody>
      </p:sp>
      <p:grpSp>
        <p:nvGrpSpPr>
          <p:cNvPr id="82" name="Group 81">
            <a:extLst>
              <a:ext uri="{FF2B5EF4-FFF2-40B4-BE49-F238E27FC236}">
                <a16:creationId xmlns:a16="http://schemas.microsoft.com/office/drawing/2014/main" id="{EDCB545B-750F-49C3-2396-681DDE3B696E}"/>
              </a:ext>
            </a:extLst>
          </p:cNvPr>
          <p:cNvGrpSpPr/>
          <p:nvPr/>
        </p:nvGrpSpPr>
        <p:grpSpPr>
          <a:xfrm>
            <a:off x="619969" y="2516723"/>
            <a:ext cx="1340114" cy="400209"/>
            <a:chOff x="6318068" y="4437423"/>
            <a:chExt cx="1340114" cy="400209"/>
          </a:xfrm>
        </p:grpSpPr>
        <p:sp>
          <p:nvSpPr>
            <p:cNvPr id="80" name="Rectangle: Rounded Corners 79">
              <a:extLst>
                <a:ext uri="{FF2B5EF4-FFF2-40B4-BE49-F238E27FC236}">
                  <a16:creationId xmlns:a16="http://schemas.microsoft.com/office/drawing/2014/main" id="{7F82934D-7510-7A1D-FA70-67E50EB9F896}"/>
                </a:ext>
              </a:extLst>
            </p:cNvPr>
            <p:cNvSpPr/>
            <p:nvPr/>
          </p:nvSpPr>
          <p:spPr>
            <a:xfrm>
              <a:off x="6318068" y="4437423"/>
              <a:ext cx="1340114" cy="400209"/>
            </a:xfrm>
            <a:prstGeom prst="roundRect">
              <a:avLst/>
            </a:prstGeom>
            <a:solidFill>
              <a:srgbClr val="93B479"/>
            </a:solidFill>
            <a:ln w="6350" cap="flat" cmpd="sng" algn="ctr">
              <a:solidFill>
                <a:srgbClr val="004F59"/>
              </a:solidFill>
              <a:prstDash val="solid"/>
              <a:miter lim="800000"/>
            </a:ln>
            <a:effectLst>
              <a:outerShdw blurRad="50800" dist="38100" dir="2700000" algn="tl" rotWithShape="0">
                <a:prstClr val="black">
                  <a:alpha val="40000"/>
                </a:prstClr>
              </a:outerShdw>
            </a:effectLst>
          </p:spPr>
          <p:txBody>
            <a:bodyPr lIns="0" rIns="0" rtlCol="0" anchor="ctr"/>
            <a:lstStyle/>
            <a:p>
              <a:pPr marL="266700" algn="ctr" defTabSz="457200">
                <a:lnSpc>
                  <a:spcPct val="90000"/>
                </a:lnSpc>
                <a:defRPr/>
              </a:pPr>
              <a:r>
                <a:rPr lang="en-GB" sz="1200" kern="0">
                  <a:solidFill>
                    <a:prstClr val="black"/>
                  </a:solidFill>
                  <a:latin typeface="Calibri Light" panose="020F0302020204030204"/>
                  <a:ea typeface="Calibri Light" panose="020F0302020204030204" pitchFamily="34" charset="0"/>
                  <a:cs typeface="Calibri Light" panose="020F0302020204030204" pitchFamily="34" charset="0"/>
                  <a:sym typeface="Calibri"/>
                </a:rPr>
                <a:t>Data Access (APIs)</a:t>
              </a:r>
            </a:p>
          </p:txBody>
        </p:sp>
        <p:pic>
          <p:nvPicPr>
            <p:cNvPr id="81" name="Picture 80" descr="Logo, company name&#10;&#10;Description automatically generated">
              <a:extLst>
                <a:ext uri="{FF2B5EF4-FFF2-40B4-BE49-F238E27FC236}">
                  <a16:creationId xmlns:a16="http://schemas.microsoft.com/office/drawing/2014/main" id="{213BB2EE-6522-9A05-9787-85009CCAA737}"/>
                </a:ext>
              </a:extLst>
            </p:cNvPr>
            <p:cNvPicPr>
              <a:picLocks noChangeAspect="1"/>
            </p:cNvPicPr>
            <p:nvPr/>
          </p:nvPicPr>
          <p:blipFill rotWithShape="1">
            <a:blip r:embed="rId5">
              <a:duotone>
                <a:prstClr val="black"/>
                <a:srgbClr val="004F59">
                  <a:tint val="45000"/>
                  <a:satMod val="400000"/>
                </a:srgbClr>
              </a:duotone>
              <a:extLst>
                <a:ext uri="{BEBA8EAE-BF5A-486C-A8C5-ECC9F3942E4B}">
                  <a14:imgProps xmlns:a14="http://schemas.microsoft.com/office/drawing/2010/main">
                    <a14:imgLayer r:embed="rId6">
                      <a14:imgEffect>
                        <a14:backgroundRemoval t="5068" b="52703" l="24156" r="73002">
                          <a14:foregroundMark x1="70515" y1="31081" x2="70515" y2="31081"/>
                          <a14:foregroundMark x1="73002" y1="30743" x2="73002" y2="30743"/>
                          <a14:foregroundMark x1="52931" y1="50338" x2="52931" y2="50338"/>
                          <a14:foregroundMark x1="49023" y1="52703" x2="49023" y2="52703"/>
                          <a14:foregroundMark x1="24156" y1="29899" x2="24156" y2="29899"/>
                        </a14:backgroundRemoval>
                      </a14:imgEffect>
                    </a14:imgLayer>
                  </a14:imgProps>
                </a:ext>
                <a:ext uri="{28A0092B-C50C-407E-A947-70E740481C1C}">
                  <a14:useLocalDpi xmlns:a14="http://schemas.microsoft.com/office/drawing/2010/main" val="0"/>
                </a:ext>
              </a:extLst>
            </a:blip>
            <a:srcRect l="19216" r="24636" b="45879"/>
            <a:stretch/>
          </p:blipFill>
          <p:spPr>
            <a:xfrm>
              <a:off x="6349805" y="4481289"/>
              <a:ext cx="307211" cy="311371"/>
            </a:xfrm>
            <a:prstGeom prst="rect">
              <a:avLst/>
            </a:prstGeom>
            <a:ln>
              <a:solidFill>
                <a:srgbClr val="93B479"/>
              </a:solidFill>
            </a:ln>
          </p:spPr>
        </p:pic>
      </p:grpSp>
      <p:grpSp>
        <p:nvGrpSpPr>
          <p:cNvPr id="86" name="Group 85">
            <a:extLst>
              <a:ext uri="{FF2B5EF4-FFF2-40B4-BE49-F238E27FC236}">
                <a16:creationId xmlns:a16="http://schemas.microsoft.com/office/drawing/2014/main" id="{534921DD-4C85-AAD0-25B7-FAAFC6F9F471}"/>
              </a:ext>
            </a:extLst>
          </p:cNvPr>
          <p:cNvGrpSpPr/>
          <p:nvPr/>
        </p:nvGrpSpPr>
        <p:grpSpPr>
          <a:xfrm>
            <a:off x="10957783" y="2284643"/>
            <a:ext cx="753415" cy="848088"/>
            <a:chOff x="10987252" y="3139965"/>
            <a:chExt cx="753415" cy="848088"/>
          </a:xfrm>
        </p:grpSpPr>
        <p:pic>
          <p:nvPicPr>
            <p:cNvPr id="87" name="Graphic 86" descr="Users with solid fill">
              <a:extLst>
                <a:ext uri="{FF2B5EF4-FFF2-40B4-BE49-F238E27FC236}">
                  <a16:creationId xmlns:a16="http://schemas.microsoft.com/office/drawing/2014/main" id="{27FB88E3-4DF3-6BC4-1BB2-F954CBCDCAD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049543" y="3139965"/>
              <a:ext cx="612315" cy="623947"/>
            </a:xfrm>
            <a:prstGeom prst="rect">
              <a:avLst/>
            </a:prstGeom>
            <a:effectLst>
              <a:outerShdw blurRad="50800" dist="38100" dir="2700000" algn="tl" rotWithShape="0">
                <a:prstClr val="black">
                  <a:alpha val="40000"/>
                </a:prstClr>
              </a:outerShdw>
            </a:effectLst>
          </p:spPr>
        </p:pic>
        <p:sp>
          <p:nvSpPr>
            <p:cNvPr id="88" name="TextBox 87">
              <a:extLst>
                <a:ext uri="{FF2B5EF4-FFF2-40B4-BE49-F238E27FC236}">
                  <a16:creationId xmlns:a16="http://schemas.microsoft.com/office/drawing/2014/main" id="{8FC77C10-BD5D-3936-728A-9BBA1EDD2457}"/>
                </a:ext>
              </a:extLst>
            </p:cNvPr>
            <p:cNvSpPr txBox="1"/>
            <p:nvPr/>
          </p:nvSpPr>
          <p:spPr>
            <a:xfrm>
              <a:off x="10987252" y="3633982"/>
              <a:ext cx="753415" cy="354071"/>
            </a:xfrm>
            <a:prstGeom prst="rect">
              <a:avLst/>
            </a:prstGeom>
            <a:noFill/>
          </p:spPr>
          <p:txBody>
            <a:bodyPr wrap="square" lIns="0" rIns="0" rtlCol="0">
              <a:spAutoFit/>
            </a:bodyPr>
            <a:lstStyle>
              <a:defPPr>
                <a:defRPr lang="en-US"/>
              </a:defPPr>
              <a:lvl1pPr marR="0" lvl="0" indent="0" algn="ctr" fontAlgn="auto">
                <a:lnSpc>
                  <a:spcPct val="80000"/>
                </a:lnSpc>
                <a:spcBef>
                  <a:spcPts val="0"/>
                </a:spcBef>
                <a:spcAft>
                  <a:spcPts val="0"/>
                </a:spcAft>
                <a:buClrTx/>
                <a:buSzTx/>
                <a:buFontTx/>
                <a:buNone/>
                <a:tabLst/>
                <a:defRPr kumimoji="0" sz="1050" b="0" i="0" u="none" strike="noStrike" cap="none" spc="0" normalizeH="0" baseline="0">
                  <a:ln>
                    <a:noFill/>
                  </a:ln>
                  <a:solidFill>
                    <a:prstClr val="black"/>
                  </a:solidFill>
                  <a:effectLst/>
                  <a:uLnTx/>
                  <a:uFillTx/>
                  <a:latin typeface="Calibri" panose="020F0502020204030204"/>
                </a:defRPr>
              </a:lvl1pPr>
            </a:lstStyle>
            <a:p>
              <a:pPr>
                <a:defRPr/>
              </a:pPr>
              <a:r>
                <a:rPr lang="en-GB">
                  <a:latin typeface="Calibri Light" panose="020F0302020204030204"/>
                  <a:cs typeface="Calibri"/>
                  <a:sym typeface="Calibri"/>
                </a:rPr>
                <a:t>Data Consumers</a:t>
              </a:r>
            </a:p>
          </p:txBody>
        </p:sp>
      </p:grpSp>
      <p:grpSp>
        <p:nvGrpSpPr>
          <p:cNvPr id="32" name="Group 31">
            <a:extLst>
              <a:ext uri="{FF2B5EF4-FFF2-40B4-BE49-F238E27FC236}">
                <a16:creationId xmlns:a16="http://schemas.microsoft.com/office/drawing/2014/main" id="{67D3B810-F3B5-C0D6-F25C-5ACD69BE461A}"/>
              </a:ext>
            </a:extLst>
          </p:cNvPr>
          <p:cNvGrpSpPr/>
          <p:nvPr/>
        </p:nvGrpSpPr>
        <p:grpSpPr>
          <a:xfrm>
            <a:off x="10600274" y="3072021"/>
            <a:ext cx="1067148" cy="959069"/>
            <a:chOff x="10600274" y="3072021"/>
            <a:chExt cx="1067148" cy="959069"/>
          </a:xfrm>
        </p:grpSpPr>
        <p:pic>
          <p:nvPicPr>
            <p:cNvPr id="163" name="Picture 162">
              <a:extLst>
                <a:ext uri="{FF2B5EF4-FFF2-40B4-BE49-F238E27FC236}">
                  <a16:creationId xmlns:a16="http://schemas.microsoft.com/office/drawing/2014/main" id="{06047409-9D86-E168-1C2C-D2E212C9D453}"/>
                </a:ext>
              </a:extLst>
            </p:cNvPr>
            <p:cNvPicPr>
              <a:picLocks noChangeAspect="1"/>
            </p:cNvPicPr>
            <p:nvPr/>
          </p:nvPicPr>
          <p:blipFill>
            <a:blip r:embed="rId9"/>
            <a:stretch>
              <a:fillRect/>
            </a:stretch>
          </p:blipFill>
          <p:spPr>
            <a:xfrm>
              <a:off x="11100639" y="3183112"/>
              <a:ext cx="566783" cy="847978"/>
            </a:xfrm>
            <a:prstGeom prst="rect">
              <a:avLst/>
            </a:prstGeom>
          </p:spPr>
        </p:pic>
        <p:sp>
          <p:nvSpPr>
            <p:cNvPr id="194" name="TextBox 193">
              <a:extLst>
                <a:ext uri="{FF2B5EF4-FFF2-40B4-BE49-F238E27FC236}">
                  <a16:creationId xmlns:a16="http://schemas.microsoft.com/office/drawing/2014/main" id="{56D669D6-D555-A0B7-0A23-DA50FE37B3FB}"/>
                </a:ext>
              </a:extLst>
            </p:cNvPr>
            <p:cNvSpPr txBox="1"/>
            <p:nvPr/>
          </p:nvSpPr>
          <p:spPr>
            <a:xfrm>
              <a:off x="10600274" y="3072021"/>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④</a:t>
              </a:r>
            </a:p>
          </p:txBody>
        </p:sp>
      </p:grpSp>
      <p:grpSp>
        <p:nvGrpSpPr>
          <p:cNvPr id="29" name="Group 28">
            <a:extLst>
              <a:ext uri="{FF2B5EF4-FFF2-40B4-BE49-F238E27FC236}">
                <a16:creationId xmlns:a16="http://schemas.microsoft.com/office/drawing/2014/main" id="{CBF33300-CA94-7F97-8AF9-28AC07C3C1D4}"/>
              </a:ext>
            </a:extLst>
          </p:cNvPr>
          <p:cNvGrpSpPr/>
          <p:nvPr/>
        </p:nvGrpSpPr>
        <p:grpSpPr>
          <a:xfrm>
            <a:off x="850980" y="2706031"/>
            <a:ext cx="3266658" cy="1075921"/>
            <a:chOff x="850980" y="2706031"/>
            <a:chExt cx="3266658" cy="1075921"/>
          </a:xfrm>
        </p:grpSpPr>
        <p:grpSp>
          <p:nvGrpSpPr>
            <p:cNvPr id="154" name="Group 153">
              <a:extLst>
                <a:ext uri="{FF2B5EF4-FFF2-40B4-BE49-F238E27FC236}">
                  <a16:creationId xmlns:a16="http://schemas.microsoft.com/office/drawing/2014/main" id="{94F8FADB-571A-218F-996F-617BB2FE98A2}"/>
                </a:ext>
              </a:extLst>
            </p:cNvPr>
            <p:cNvGrpSpPr/>
            <p:nvPr/>
          </p:nvGrpSpPr>
          <p:grpSpPr>
            <a:xfrm>
              <a:off x="850980" y="2706031"/>
              <a:ext cx="3266658" cy="1075921"/>
              <a:chOff x="850980" y="2706031"/>
              <a:chExt cx="3266658" cy="1075921"/>
            </a:xfrm>
          </p:grpSpPr>
          <p:sp>
            <p:nvSpPr>
              <p:cNvPr id="150" name="TextBox 149">
                <a:extLst>
                  <a:ext uri="{FF2B5EF4-FFF2-40B4-BE49-F238E27FC236}">
                    <a16:creationId xmlns:a16="http://schemas.microsoft.com/office/drawing/2014/main" id="{F182239A-59FD-B256-50C1-D8263FE3F855}"/>
                  </a:ext>
                </a:extLst>
              </p:cNvPr>
              <p:cNvSpPr txBox="1"/>
              <p:nvPr/>
            </p:nvSpPr>
            <p:spPr>
              <a:xfrm>
                <a:off x="850980" y="3274121"/>
                <a:ext cx="3266658" cy="507831"/>
              </a:xfrm>
              <a:prstGeom prst="rect">
                <a:avLst/>
              </a:prstGeom>
              <a:noFill/>
            </p:spPr>
            <p:txBody>
              <a:bodyPr wrap="squar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endParaRPr lang="en-GB" sz="1200">
                  <a:solidFill>
                    <a:schemeClr val="accent6"/>
                  </a:solidFill>
                  <a:latin typeface="Consolas" panose="020B0609020204030204" pitchFamily="49" charset="0"/>
                </a:endParaRPr>
              </a:p>
            </p:txBody>
          </p:sp>
          <p:pic>
            <p:nvPicPr>
              <p:cNvPr id="151" name="Picture 150">
                <a:extLst>
                  <a:ext uri="{FF2B5EF4-FFF2-40B4-BE49-F238E27FC236}">
                    <a16:creationId xmlns:a16="http://schemas.microsoft.com/office/drawing/2014/main" id="{02A42D99-E598-E8E7-691A-3844C47529DC}"/>
                  </a:ext>
                </a:extLst>
              </p:cNvPr>
              <p:cNvPicPr>
                <a:picLocks noChangeAspect="1"/>
              </p:cNvPicPr>
              <p:nvPr/>
            </p:nvPicPr>
            <p:blipFill>
              <a:blip r:embed="rId10">
                <a:duotone>
                  <a:schemeClr val="accent6">
                    <a:shade val="45000"/>
                    <a:satMod val="135000"/>
                  </a:schemeClr>
                  <a:prstClr val="white"/>
                </a:duotone>
              </a:blip>
              <a:stretch>
                <a:fillRect/>
              </a:stretch>
            </p:blipFill>
            <p:spPr>
              <a:xfrm>
                <a:off x="1969723" y="3355216"/>
                <a:ext cx="169915" cy="196863"/>
              </a:xfrm>
              <a:prstGeom prst="rect">
                <a:avLst/>
              </a:prstGeom>
            </p:spPr>
          </p:pic>
          <p:cxnSp>
            <p:nvCxnSpPr>
              <p:cNvPr id="152" name="Straight Arrow Connector 151">
                <a:extLst>
                  <a:ext uri="{FF2B5EF4-FFF2-40B4-BE49-F238E27FC236}">
                    <a16:creationId xmlns:a16="http://schemas.microsoft.com/office/drawing/2014/main" id="{E65254A0-98D6-BFB4-2E1F-615D42FF6A5B}"/>
                  </a:ext>
                </a:extLst>
              </p:cNvPr>
              <p:cNvCxnSpPr>
                <a:cxnSpLocks/>
              </p:cNvCxnSpPr>
              <p:nvPr/>
            </p:nvCxnSpPr>
            <p:spPr>
              <a:xfrm flipH="1">
                <a:off x="1945956" y="2706031"/>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53" name="Straight Connector 152">
                <a:extLst>
                  <a:ext uri="{FF2B5EF4-FFF2-40B4-BE49-F238E27FC236}">
                    <a16:creationId xmlns:a16="http://schemas.microsoft.com/office/drawing/2014/main" id="{C3D2F987-7B4F-23FC-34D4-8E4F9ABEC849}"/>
                  </a:ext>
                </a:extLst>
              </p:cNvPr>
              <p:cNvCxnSpPr>
                <a:cxnSpLocks/>
              </p:cNvCxnSpPr>
              <p:nvPr/>
            </p:nvCxnSpPr>
            <p:spPr>
              <a:xfrm flipH="1" flipV="1">
                <a:off x="2489900" y="2707446"/>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grpSp>
        <p:sp>
          <p:nvSpPr>
            <p:cNvPr id="196" name="TextBox 195">
              <a:extLst>
                <a:ext uri="{FF2B5EF4-FFF2-40B4-BE49-F238E27FC236}">
                  <a16:creationId xmlns:a16="http://schemas.microsoft.com/office/drawing/2014/main" id="{569F9850-270D-911B-59A5-2A4AA4A9F83B}"/>
                </a:ext>
              </a:extLst>
            </p:cNvPr>
            <p:cNvSpPr txBox="1"/>
            <p:nvPr/>
          </p:nvSpPr>
          <p:spPr>
            <a:xfrm>
              <a:off x="2005536" y="2975761"/>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①</a:t>
              </a:r>
            </a:p>
          </p:txBody>
        </p:sp>
      </p:grpSp>
      <p:grpSp>
        <p:nvGrpSpPr>
          <p:cNvPr id="28" name="Group 27">
            <a:extLst>
              <a:ext uri="{FF2B5EF4-FFF2-40B4-BE49-F238E27FC236}">
                <a16:creationId xmlns:a16="http://schemas.microsoft.com/office/drawing/2014/main" id="{F5ECFE3E-DCAB-32AE-CF90-FBF6B688C4C0}"/>
              </a:ext>
            </a:extLst>
          </p:cNvPr>
          <p:cNvGrpSpPr/>
          <p:nvPr/>
        </p:nvGrpSpPr>
        <p:grpSpPr>
          <a:xfrm>
            <a:off x="3761820" y="1747081"/>
            <a:ext cx="4616746" cy="2041274"/>
            <a:chOff x="3761820" y="1747081"/>
            <a:chExt cx="4616746" cy="2041274"/>
          </a:xfrm>
        </p:grpSpPr>
        <p:grpSp>
          <p:nvGrpSpPr>
            <p:cNvPr id="117" name="Group 116">
              <a:extLst>
                <a:ext uri="{FF2B5EF4-FFF2-40B4-BE49-F238E27FC236}">
                  <a16:creationId xmlns:a16="http://schemas.microsoft.com/office/drawing/2014/main" id="{64CB4493-93A0-98BD-656D-F511580EBBFC}"/>
                </a:ext>
              </a:extLst>
            </p:cNvPr>
            <p:cNvGrpSpPr/>
            <p:nvPr/>
          </p:nvGrpSpPr>
          <p:grpSpPr>
            <a:xfrm>
              <a:off x="6763265" y="2660007"/>
              <a:ext cx="640816" cy="402471"/>
              <a:chOff x="6763265" y="2660007"/>
              <a:chExt cx="640816" cy="402471"/>
            </a:xfrm>
          </p:grpSpPr>
          <p:grpSp>
            <p:nvGrpSpPr>
              <p:cNvPr id="113" name="Group 112">
                <a:extLst>
                  <a:ext uri="{FF2B5EF4-FFF2-40B4-BE49-F238E27FC236}">
                    <a16:creationId xmlns:a16="http://schemas.microsoft.com/office/drawing/2014/main" id="{2F588D53-0502-3629-B94C-EBF0981D9446}"/>
                  </a:ext>
                </a:extLst>
              </p:cNvPr>
              <p:cNvGrpSpPr/>
              <p:nvPr/>
            </p:nvGrpSpPr>
            <p:grpSpPr>
              <a:xfrm>
                <a:off x="6802097" y="2660007"/>
                <a:ext cx="309320" cy="109283"/>
                <a:chOff x="7584406" y="1764347"/>
                <a:chExt cx="309320" cy="109283"/>
              </a:xfrm>
            </p:grpSpPr>
            <p:cxnSp>
              <p:nvCxnSpPr>
                <p:cNvPr id="114" name="Straight Arrow Connector 113">
                  <a:extLst>
                    <a:ext uri="{FF2B5EF4-FFF2-40B4-BE49-F238E27FC236}">
                      <a16:creationId xmlns:a16="http://schemas.microsoft.com/office/drawing/2014/main" id="{65AA98E1-9871-A945-06DA-370776970656}"/>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15" name="Oval 114">
                  <a:extLst>
                    <a:ext uri="{FF2B5EF4-FFF2-40B4-BE49-F238E27FC236}">
                      <a16:creationId xmlns:a16="http://schemas.microsoft.com/office/drawing/2014/main" id="{EED1C6AE-4FE2-AFA6-173E-17AE8280A6AA}"/>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6" name="TextBox 115">
                <a:extLst>
                  <a:ext uri="{FF2B5EF4-FFF2-40B4-BE49-F238E27FC236}">
                    <a16:creationId xmlns:a16="http://schemas.microsoft.com/office/drawing/2014/main" id="{C2800B43-7791-5CE7-3B7C-36B842A9E038}"/>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sp>
          <p:nvSpPr>
            <p:cNvPr id="125" name="TextBox 124">
              <a:extLst>
                <a:ext uri="{FF2B5EF4-FFF2-40B4-BE49-F238E27FC236}">
                  <a16:creationId xmlns:a16="http://schemas.microsoft.com/office/drawing/2014/main" id="{253AD150-D59A-C1A4-A7C9-2A706C591BB6}"/>
                </a:ext>
              </a:extLst>
            </p:cNvPr>
            <p:cNvSpPr txBox="1"/>
            <p:nvPr/>
          </p:nvSpPr>
          <p:spPr>
            <a:xfrm>
              <a:off x="5731688" y="1747081"/>
              <a:ext cx="2646878" cy="692497"/>
            </a:xfrm>
            <a:prstGeom prst="rect">
              <a:avLst/>
            </a:prstGeom>
            <a:noFill/>
          </p:spPr>
          <p:txBody>
            <a:bodyPr wrap="non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p>
            <a:p>
              <a:pPr algn="ctr"/>
              <a:endParaRPr lang="en-GB" sz="1200">
                <a:solidFill>
                  <a:schemeClr val="accent6"/>
                </a:solidFill>
                <a:latin typeface="Consolas" panose="020B0609020204030204" pitchFamily="49" charset="0"/>
              </a:endParaRPr>
            </a:p>
          </p:txBody>
        </p:sp>
        <p:grpSp>
          <p:nvGrpSpPr>
            <p:cNvPr id="129" name="Group 128">
              <a:extLst>
                <a:ext uri="{FF2B5EF4-FFF2-40B4-BE49-F238E27FC236}">
                  <a16:creationId xmlns:a16="http://schemas.microsoft.com/office/drawing/2014/main" id="{61FC7754-4B55-E7A9-5C8C-D2967B085901}"/>
                </a:ext>
              </a:extLst>
            </p:cNvPr>
            <p:cNvGrpSpPr/>
            <p:nvPr/>
          </p:nvGrpSpPr>
          <p:grpSpPr>
            <a:xfrm>
              <a:off x="3761820" y="2704600"/>
              <a:ext cx="2285252" cy="1083755"/>
              <a:chOff x="3761820" y="2704600"/>
              <a:chExt cx="2285252" cy="1083755"/>
            </a:xfrm>
          </p:grpSpPr>
          <p:cxnSp>
            <p:nvCxnSpPr>
              <p:cNvPr id="130" name="Straight Arrow Connector 129">
                <a:extLst>
                  <a:ext uri="{FF2B5EF4-FFF2-40B4-BE49-F238E27FC236}">
                    <a16:creationId xmlns:a16="http://schemas.microsoft.com/office/drawing/2014/main" id="{B1DE0822-99F3-0173-F041-0929582304E0}"/>
                  </a:ext>
                </a:extLst>
              </p:cNvPr>
              <p:cNvCxnSpPr>
                <a:cxnSpLocks/>
              </p:cNvCxnSpPr>
              <p:nvPr/>
            </p:nvCxnSpPr>
            <p:spPr>
              <a:xfrm>
                <a:off x="4360502" y="2704600"/>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31" name="Straight Connector 130">
                <a:extLst>
                  <a:ext uri="{FF2B5EF4-FFF2-40B4-BE49-F238E27FC236}">
                    <a16:creationId xmlns:a16="http://schemas.microsoft.com/office/drawing/2014/main" id="{57093A22-5350-BC82-23F8-D0708B82C6A8}"/>
                  </a:ext>
                </a:extLst>
              </p:cNvPr>
              <p:cNvCxnSpPr>
                <a:cxnSpLocks/>
                <a:stCxn id="132" idx="0"/>
              </p:cNvCxnSpPr>
              <p:nvPr/>
            </p:nvCxnSpPr>
            <p:spPr>
              <a:xfrm flipV="1">
                <a:off x="4904446" y="2706015"/>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0682C98A-D1B2-C743-81AB-5D7D82D7F2F9}"/>
                  </a:ext>
                </a:extLst>
              </p:cNvPr>
              <p:cNvSpPr txBox="1"/>
              <p:nvPr/>
            </p:nvSpPr>
            <p:spPr>
              <a:xfrm>
                <a:off x="3761820" y="3280524"/>
                <a:ext cx="2285252" cy="507831"/>
              </a:xfrm>
              <a:prstGeom prst="rect">
                <a:avLst/>
              </a:prstGeom>
              <a:solidFill>
                <a:srgbClr val="FFFFFF">
                  <a:alpha val="80000"/>
                </a:srgbClr>
              </a:solidFill>
            </p:spPr>
            <p:txBody>
              <a:bodyPr wrap="squar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origin/a/wis2/{centre-id}/#</a:t>
                </a:r>
                <a:endParaRPr lang="en-GB" sz="1200">
                  <a:solidFill>
                    <a:schemeClr val="accent6"/>
                  </a:solidFill>
                  <a:latin typeface="Consolas" panose="020B0609020204030204" pitchFamily="49" charset="0"/>
                </a:endParaRPr>
              </a:p>
            </p:txBody>
          </p:sp>
        </p:grpSp>
        <p:sp>
          <p:nvSpPr>
            <p:cNvPr id="197" name="TextBox 196">
              <a:extLst>
                <a:ext uri="{FF2B5EF4-FFF2-40B4-BE49-F238E27FC236}">
                  <a16:creationId xmlns:a16="http://schemas.microsoft.com/office/drawing/2014/main" id="{89277BDD-277A-F984-4964-B7543E5BDA46}"/>
                </a:ext>
              </a:extLst>
            </p:cNvPr>
            <p:cNvSpPr txBox="1"/>
            <p:nvPr/>
          </p:nvSpPr>
          <p:spPr>
            <a:xfrm>
              <a:off x="5095767" y="2161073"/>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②</a:t>
              </a:r>
            </a:p>
          </p:txBody>
        </p:sp>
      </p:grpSp>
      <p:sp>
        <p:nvSpPr>
          <p:cNvPr id="2" name="Rectangle 1">
            <a:extLst>
              <a:ext uri="{FF2B5EF4-FFF2-40B4-BE49-F238E27FC236}">
                <a16:creationId xmlns:a16="http://schemas.microsoft.com/office/drawing/2014/main" id="{CACD540E-9E87-CAE6-ADAD-502440105692}"/>
              </a:ext>
            </a:extLst>
          </p:cNvPr>
          <p:cNvSpPr/>
          <p:nvPr/>
        </p:nvSpPr>
        <p:spPr>
          <a:xfrm>
            <a:off x="246111" y="3832472"/>
            <a:ext cx="7112921" cy="276876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oup 29">
            <a:extLst>
              <a:ext uri="{FF2B5EF4-FFF2-40B4-BE49-F238E27FC236}">
                <a16:creationId xmlns:a16="http://schemas.microsoft.com/office/drawing/2014/main" id="{E879E9CC-CCDB-2AE8-9504-316F9C41537F}"/>
              </a:ext>
            </a:extLst>
          </p:cNvPr>
          <p:cNvGrpSpPr/>
          <p:nvPr/>
        </p:nvGrpSpPr>
        <p:grpSpPr>
          <a:xfrm>
            <a:off x="7111417" y="1483315"/>
            <a:ext cx="4508682" cy="1247964"/>
            <a:chOff x="7111417" y="1483315"/>
            <a:chExt cx="4508682" cy="1247964"/>
          </a:xfrm>
        </p:grpSpPr>
        <p:pic>
          <p:nvPicPr>
            <p:cNvPr id="136" name="Picture 135">
              <a:extLst>
                <a:ext uri="{FF2B5EF4-FFF2-40B4-BE49-F238E27FC236}">
                  <a16:creationId xmlns:a16="http://schemas.microsoft.com/office/drawing/2014/main" id="{5BC41267-0686-9D94-A6F6-FEEE42B82FED}"/>
                </a:ext>
              </a:extLst>
            </p:cNvPr>
            <p:cNvPicPr>
              <a:picLocks noChangeAspect="1"/>
            </p:cNvPicPr>
            <p:nvPr/>
          </p:nvPicPr>
          <p:blipFill>
            <a:blip r:embed="rId11">
              <a:duotone>
                <a:schemeClr val="accent6">
                  <a:shade val="45000"/>
                  <a:satMod val="135000"/>
                </a:schemeClr>
                <a:prstClr val="white"/>
              </a:duotone>
            </a:blip>
            <a:stretch>
              <a:fillRect/>
            </a:stretch>
          </p:blipFill>
          <p:spPr>
            <a:xfrm>
              <a:off x="11057179" y="1483315"/>
              <a:ext cx="562920" cy="820380"/>
            </a:xfrm>
            <a:prstGeom prst="rect">
              <a:avLst/>
            </a:prstGeom>
          </p:spPr>
        </p:pic>
        <p:cxnSp>
          <p:nvCxnSpPr>
            <p:cNvPr id="165" name="Straight Arrow Connector 164">
              <a:extLst>
                <a:ext uri="{FF2B5EF4-FFF2-40B4-BE49-F238E27FC236}">
                  <a16:creationId xmlns:a16="http://schemas.microsoft.com/office/drawing/2014/main" id="{9657878D-1185-90D6-AD1C-A0136F3AE0BD}"/>
                </a:ext>
              </a:extLst>
            </p:cNvPr>
            <p:cNvCxnSpPr>
              <a:cxnSpLocks/>
              <a:stCxn id="115" idx="6"/>
            </p:cNvCxnSpPr>
            <p:nvPr/>
          </p:nvCxnSpPr>
          <p:spPr>
            <a:xfrm>
              <a:off x="7111417" y="2714649"/>
              <a:ext cx="3908657" cy="16630"/>
            </a:xfrm>
            <a:prstGeom prst="straightConnector1">
              <a:avLst/>
            </a:prstGeom>
            <a:noFill/>
            <a:ln w="19050" cap="flat" cmpd="sng" algn="ctr">
              <a:solidFill>
                <a:schemeClr val="accent6"/>
              </a:solidFill>
              <a:prstDash val="solid"/>
              <a:headEnd type="triangle" w="med" len="med"/>
              <a:tailEnd type="none" w="med" len="med"/>
            </a:ln>
            <a:effectLst/>
          </p:spPr>
        </p:cxnSp>
        <p:sp>
          <p:nvSpPr>
            <p:cNvPr id="167" name="TextBox 166">
              <a:extLst>
                <a:ext uri="{FF2B5EF4-FFF2-40B4-BE49-F238E27FC236}">
                  <a16:creationId xmlns:a16="http://schemas.microsoft.com/office/drawing/2014/main" id="{73A4EBC8-B2D6-FE51-497A-C875FD9B8501}"/>
                </a:ext>
              </a:extLst>
            </p:cNvPr>
            <p:cNvSpPr txBox="1"/>
            <p:nvPr/>
          </p:nvSpPr>
          <p:spPr>
            <a:xfrm>
              <a:off x="8444236" y="2191016"/>
              <a:ext cx="2646878" cy="507831"/>
            </a:xfrm>
            <a:prstGeom prst="rect">
              <a:avLst/>
            </a:prstGeom>
            <a:solidFill>
              <a:srgbClr val="FFFFFF">
                <a:alpha val="80000"/>
              </a:srgbClr>
            </a:solidFill>
          </p:spPr>
          <p:txBody>
            <a:bodyPr wrap="non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origin/a/wis2/{centre-id}/data/#</a:t>
              </a:r>
              <a:endParaRPr lang="en-GB" sz="1200">
                <a:solidFill>
                  <a:schemeClr val="accent6"/>
                </a:solidFill>
                <a:latin typeface="Consolas" panose="020B0609020204030204" pitchFamily="49" charset="0"/>
              </a:endParaRPr>
            </a:p>
          </p:txBody>
        </p:sp>
        <p:sp>
          <p:nvSpPr>
            <p:cNvPr id="195" name="TextBox 194">
              <a:extLst>
                <a:ext uri="{FF2B5EF4-FFF2-40B4-BE49-F238E27FC236}">
                  <a16:creationId xmlns:a16="http://schemas.microsoft.com/office/drawing/2014/main" id="{4214B4DA-5EB3-507A-3F40-DBF17A422E65}"/>
                </a:ext>
              </a:extLst>
            </p:cNvPr>
            <p:cNvSpPr txBox="1"/>
            <p:nvPr/>
          </p:nvSpPr>
          <p:spPr>
            <a:xfrm>
              <a:off x="10568691" y="2068058"/>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③</a:t>
              </a:r>
            </a:p>
          </p:txBody>
        </p:sp>
      </p:grpSp>
      <p:pic>
        <p:nvPicPr>
          <p:cNvPr id="183" name="Picture 182" descr="A group of flags of different countries/regions&#10;&#10;Description automatically generated">
            <a:extLst>
              <a:ext uri="{FF2B5EF4-FFF2-40B4-BE49-F238E27FC236}">
                <a16:creationId xmlns:a16="http://schemas.microsoft.com/office/drawing/2014/main" id="{73BD4317-A4CA-87DA-DBC3-5FF9FE792E89}"/>
              </a:ext>
            </a:extLst>
          </p:cNvPr>
          <p:cNvPicPr>
            <a:picLocks noChangeAspect="1"/>
          </p:cNvPicPr>
          <p:nvPr/>
        </p:nvPicPr>
        <p:blipFill rotWithShape="1">
          <a:blip r:embed="rId12">
            <a:extLst>
              <a:ext uri="{28A0092B-C50C-407E-A947-70E740481C1C}">
                <a14:useLocalDpi xmlns:a14="http://schemas.microsoft.com/office/drawing/2010/main" val="0"/>
              </a:ext>
            </a:extLst>
          </a:blip>
          <a:srcRect l="10370" t="35630" r="80593" b="58444"/>
          <a:stretch/>
        </p:blipFill>
        <p:spPr>
          <a:xfrm>
            <a:off x="5929662" y="3041820"/>
            <a:ext cx="414059" cy="271514"/>
          </a:xfrm>
          <a:prstGeom prst="rect">
            <a:avLst/>
          </a:prstGeom>
        </p:spPr>
      </p:pic>
      <p:sp>
        <p:nvSpPr>
          <p:cNvPr id="19" name="TextBox 18">
            <a:extLst>
              <a:ext uri="{FF2B5EF4-FFF2-40B4-BE49-F238E27FC236}">
                <a16:creationId xmlns:a16="http://schemas.microsoft.com/office/drawing/2014/main" id="{9D996F3C-F139-EAC7-9416-1A4DB7A6D44C}"/>
              </a:ext>
            </a:extLst>
          </p:cNvPr>
          <p:cNvSpPr txBox="1"/>
          <p:nvPr/>
        </p:nvSpPr>
        <p:spPr>
          <a:xfrm>
            <a:off x="117712" y="4436000"/>
            <a:ext cx="5995984" cy="523220"/>
          </a:xfrm>
          <a:prstGeom prst="rect">
            <a:avLst/>
          </a:prstGeom>
          <a:noFill/>
        </p:spPr>
        <p:txBody>
          <a:bodyPr wrap="square">
            <a:spAutoFit/>
          </a:bodyPr>
          <a:lstStyle/>
          <a:p>
            <a:r>
              <a:rPr lang="en-GB" sz="1400"/>
              <a:t>2. Global Broker subscribes to the Local Broker; it validates received messages and republishes them</a:t>
            </a:r>
          </a:p>
        </p:txBody>
      </p:sp>
      <p:sp>
        <p:nvSpPr>
          <p:cNvPr id="20" name="TextBox 19">
            <a:extLst>
              <a:ext uri="{FF2B5EF4-FFF2-40B4-BE49-F238E27FC236}">
                <a16:creationId xmlns:a16="http://schemas.microsoft.com/office/drawing/2014/main" id="{3A21120F-40D2-AE97-AAD5-C02345B1F91C}"/>
              </a:ext>
            </a:extLst>
          </p:cNvPr>
          <p:cNvSpPr txBox="1"/>
          <p:nvPr/>
        </p:nvSpPr>
        <p:spPr>
          <a:xfrm>
            <a:off x="117712" y="3879002"/>
            <a:ext cx="6098240" cy="523220"/>
          </a:xfrm>
          <a:prstGeom prst="rect">
            <a:avLst/>
          </a:prstGeom>
          <a:noFill/>
        </p:spPr>
        <p:txBody>
          <a:bodyPr wrap="square">
            <a:spAutoFit/>
          </a:bodyPr>
          <a:lstStyle/>
          <a:p>
            <a:r>
              <a:rPr lang="en-GB" sz="1400"/>
              <a:t>1. Publish a notification message to the Local Broker advertising availability of new data</a:t>
            </a:r>
          </a:p>
        </p:txBody>
      </p:sp>
      <p:sp>
        <p:nvSpPr>
          <p:cNvPr id="21" name="TextBox 20">
            <a:extLst>
              <a:ext uri="{FF2B5EF4-FFF2-40B4-BE49-F238E27FC236}">
                <a16:creationId xmlns:a16="http://schemas.microsoft.com/office/drawing/2014/main" id="{812EDFC3-8B9D-48E4-D0E6-D1C2756B7A77}"/>
              </a:ext>
            </a:extLst>
          </p:cNvPr>
          <p:cNvSpPr txBox="1"/>
          <p:nvPr/>
        </p:nvSpPr>
        <p:spPr>
          <a:xfrm>
            <a:off x="117712" y="4992998"/>
            <a:ext cx="6098240" cy="523220"/>
          </a:xfrm>
          <a:prstGeom prst="rect">
            <a:avLst/>
          </a:prstGeom>
          <a:noFill/>
        </p:spPr>
        <p:txBody>
          <a:bodyPr wrap="square">
            <a:spAutoFit/>
          </a:bodyPr>
          <a:lstStyle/>
          <a:p>
            <a:r>
              <a:rPr lang="en-GB" sz="1400"/>
              <a:t>3. Data Consumer subscribes to the Global Broker and receives notifications about the availability of new data</a:t>
            </a:r>
          </a:p>
        </p:txBody>
      </p:sp>
      <p:sp>
        <p:nvSpPr>
          <p:cNvPr id="22" name="TextBox 21">
            <a:extLst>
              <a:ext uri="{FF2B5EF4-FFF2-40B4-BE49-F238E27FC236}">
                <a16:creationId xmlns:a16="http://schemas.microsoft.com/office/drawing/2014/main" id="{8B94AE60-460F-2B6F-C302-852FA2A8E949}"/>
              </a:ext>
            </a:extLst>
          </p:cNvPr>
          <p:cNvSpPr txBox="1"/>
          <p:nvPr/>
        </p:nvSpPr>
        <p:spPr>
          <a:xfrm>
            <a:off x="117712" y="5549997"/>
            <a:ext cx="6098240" cy="523220"/>
          </a:xfrm>
          <a:prstGeom prst="rect">
            <a:avLst/>
          </a:prstGeom>
          <a:noFill/>
        </p:spPr>
        <p:txBody>
          <a:bodyPr wrap="square">
            <a:spAutoFit/>
          </a:bodyPr>
          <a:lstStyle/>
          <a:p>
            <a:r>
              <a:rPr lang="en-GB" sz="1400"/>
              <a:t>4. Data Consumer downloads data from the Data Supply Capability (aka. WIS2 Node) using the link in the notification message </a:t>
            </a:r>
            <a:endParaRPr lang="en-GB" sz="1400">
              <a:latin typeface="Consolas" panose="020B0609020204030204" pitchFamily="49" charset="0"/>
            </a:endParaRPr>
          </a:p>
        </p:txBody>
      </p:sp>
      <p:pic>
        <p:nvPicPr>
          <p:cNvPr id="4" name="Picture 2" descr="World Meteorological Organization - Wikipedia">
            <a:extLst>
              <a:ext uri="{FF2B5EF4-FFF2-40B4-BE49-F238E27FC236}">
                <a16:creationId xmlns:a16="http://schemas.microsoft.com/office/drawing/2014/main" id="{BD063C59-C698-5EBA-9E4A-A5B8A1162C2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38819AD-76E8-F9CD-6300-DB4B256343C4}"/>
              </a:ext>
            </a:extLst>
          </p:cNvPr>
          <p:cNvSpPr txBox="1"/>
          <p:nvPr/>
        </p:nvSpPr>
        <p:spPr>
          <a:xfrm>
            <a:off x="413567" y="2039471"/>
            <a:ext cx="2556857" cy="2616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100" b="1"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rPr>
              <a:t>WIS2 Node</a:t>
            </a:r>
            <a:endParaRPr kumimoji="0" lang="en-GB" sz="1100" b="1" i="0"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endParaRPr>
          </a:p>
        </p:txBody>
      </p:sp>
    </p:spTree>
    <p:extLst>
      <p:ext uri="{BB962C8B-B14F-4D97-AF65-F5344CB8AC3E}">
        <p14:creationId xmlns:p14="http://schemas.microsoft.com/office/powerpoint/2010/main" val="425883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2A30A-879E-A6CA-71E8-1F606AA5C19F}"/>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B8EC5469-9077-0AF1-7CE0-B79C8DD437FF}"/>
              </a:ext>
            </a:extLst>
          </p:cNvPr>
          <p:cNvSpPr/>
          <p:nvPr/>
        </p:nvSpPr>
        <p:spPr>
          <a:xfrm>
            <a:off x="395623" y="2017273"/>
            <a:ext cx="4243318" cy="4145108"/>
          </a:xfrm>
          <a:prstGeom prst="rect">
            <a:avLst/>
          </a:prstGeom>
          <a:solidFill>
            <a:schemeClr val="bg1"/>
          </a:solidFill>
          <a:ln w="12700" cap="flat" cmpd="sng" algn="ctr">
            <a:solidFill>
              <a:srgbClr val="50B9A4">
                <a:shade val="50000"/>
              </a:srgb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50" b="1" i="0" u="none" strike="noStrike" kern="0" cap="none" spc="0" normalizeH="0" baseline="0" noProof="0">
              <a:ln>
                <a:noFill/>
              </a:ln>
              <a:solidFill>
                <a:srgbClr val="A1A0AA">
                  <a:lumMod val="50000"/>
                </a:srgbClr>
              </a:solidFill>
              <a:effectLst/>
              <a:uLnTx/>
              <a:uFillTx/>
              <a:latin typeface="Calibri Light" panose="020F0302020204030204"/>
              <a:ea typeface="+mn-ea"/>
              <a:cs typeface="Calibri"/>
              <a:sym typeface="Calibri"/>
            </a:endParaRPr>
          </a:p>
        </p:txBody>
      </p:sp>
      <p:sp>
        <p:nvSpPr>
          <p:cNvPr id="8" name="TextBox 7">
            <a:extLst>
              <a:ext uri="{FF2B5EF4-FFF2-40B4-BE49-F238E27FC236}">
                <a16:creationId xmlns:a16="http://schemas.microsoft.com/office/drawing/2014/main" id="{DDC833E1-0CFE-CE4D-5C49-2FA5A68DF7A7}"/>
              </a:ext>
            </a:extLst>
          </p:cNvPr>
          <p:cNvSpPr txBox="1"/>
          <p:nvPr/>
        </p:nvSpPr>
        <p:spPr>
          <a:xfrm>
            <a:off x="4763039" y="6311879"/>
            <a:ext cx="264198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Community Components</a:t>
            </a:r>
          </a:p>
        </p:txBody>
      </p:sp>
      <p:grpSp>
        <p:nvGrpSpPr>
          <p:cNvPr id="9" name="Group 8">
            <a:extLst>
              <a:ext uri="{FF2B5EF4-FFF2-40B4-BE49-F238E27FC236}">
                <a16:creationId xmlns:a16="http://schemas.microsoft.com/office/drawing/2014/main" id="{95348E6D-A276-D664-922E-632390B6C950}"/>
              </a:ext>
            </a:extLst>
          </p:cNvPr>
          <p:cNvGrpSpPr/>
          <p:nvPr/>
        </p:nvGrpSpPr>
        <p:grpSpPr>
          <a:xfrm>
            <a:off x="5465478" y="2441833"/>
            <a:ext cx="1333367" cy="533709"/>
            <a:chOff x="4738150" y="4607650"/>
            <a:chExt cx="1267200" cy="504342"/>
          </a:xfrm>
        </p:grpSpPr>
        <p:sp>
          <p:nvSpPr>
            <p:cNvPr id="10" name="Rectangle: Diagonal Corners Rounded 193">
              <a:extLst>
                <a:ext uri="{FF2B5EF4-FFF2-40B4-BE49-F238E27FC236}">
                  <a16:creationId xmlns:a16="http://schemas.microsoft.com/office/drawing/2014/main" id="{DCCA5E9C-9160-5B70-BBAF-EB28059E4100}"/>
                </a:ext>
              </a:extLst>
            </p:cNvPr>
            <p:cNvSpPr/>
            <p:nvPr/>
          </p:nvSpPr>
          <p:spPr>
            <a:xfrm>
              <a:off x="4738150" y="4607650"/>
              <a:ext cx="1267200" cy="504342"/>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Global Broker</a:t>
              </a:r>
            </a:p>
          </p:txBody>
        </p:sp>
        <p:pic>
          <p:nvPicPr>
            <p:cNvPr id="11" name="Picture 4" descr="Wmo Logo World Meteorological Organization Png - World Meteorological ...">
              <a:extLst>
                <a:ext uri="{FF2B5EF4-FFF2-40B4-BE49-F238E27FC236}">
                  <a16:creationId xmlns:a16="http://schemas.microsoft.com/office/drawing/2014/main" id="{784B51E3-6E10-576C-C79B-B419D42D5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267" y="4666544"/>
              <a:ext cx="266956" cy="29248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1A9ECED6-1597-AA5F-F713-CD496BB1BEA5}"/>
              </a:ext>
            </a:extLst>
          </p:cNvPr>
          <p:cNvSpPr txBox="1"/>
          <p:nvPr/>
        </p:nvSpPr>
        <p:spPr>
          <a:xfrm>
            <a:off x="3157912" y="6310148"/>
            <a:ext cx="224601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Local Components </a:t>
            </a:r>
          </a:p>
        </p:txBody>
      </p:sp>
      <p:grpSp>
        <p:nvGrpSpPr>
          <p:cNvPr id="7" name="Group 6">
            <a:extLst>
              <a:ext uri="{FF2B5EF4-FFF2-40B4-BE49-F238E27FC236}">
                <a16:creationId xmlns:a16="http://schemas.microsoft.com/office/drawing/2014/main" id="{8A887E7F-29D2-32E6-EF55-F188315F4272}"/>
              </a:ext>
            </a:extLst>
          </p:cNvPr>
          <p:cNvGrpSpPr/>
          <p:nvPr/>
        </p:nvGrpSpPr>
        <p:grpSpPr>
          <a:xfrm>
            <a:off x="3036000" y="2508583"/>
            <a:ext cx="1340114" cy="400209"/>
            <a:chOff x="6318068" y="3342518"/>
            <a:chExt cx="1340114" cy="400209"/>
          </a:xfrm>
        </p:grpSpPr>
        <p:sp>
          <p:nvSpPr>
            <p:cNvPr id="25" name="Rectangle: Rounded Corners 24">
              <a:extLst>
                <a:ext uri="{FF2B5EF4-FFF2-40B4-BE49-F238E27FC236}">
                  <a16:creationId xmlns:a16="http://schemas.microsoft.com/office/drawing/2014/main" id="{E2FA8224-D17C-6125-1873-39ED2DB352DC}"/>
                </a:ext>
              </a:extLst>
            </p:cNvPr>
            <p:cNvSpPr/>
            <p:nvPr/>
          </p:nvSpPr>
          <p:spPr>
            <a:xfrm>
              <a:off x="6318068" y="3342518"/>
              <a:ext cx="1340114" cy="400209"/>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Local Broker</a:t>
              </a:r>
            </a:p>
          </p:txBody>
        </p:sp>
        <p:pic>
          <p:nvPicPr>
            <p:cNvPr id="6" name="Picture 4" descr="Wmo Logo World Meteorological Organization Png - World Meteorological ...">
              <a:extLst>
                <a:ext uri="{FF2B5EF4-FFF2-40B4-BE49-F238E27FC236}">
                  <a16:creationId xmlns:a16="http://schemas.microsoft.com/office/drawing/2014/main" id="{73933922-8BFA-E3E4-C03D-1C91EA4346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164" y="3377612"/>
              <a:ext cx="282500" cy="3095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 name="Straight Connector 40">
            <a:extLst>
              <a:ext uri="{FF2B5EF4-FFF2-40B4-BE49-F238E27FC236}">
                <a16:creationId xmlns:a16="http://schemas.microsoft.com/office/drawing/2014/main" id="{2ED7BCFB-8658-39B1-85C9-3343DA5FA972}"/>
              </a:ext>
            </a:extLst>
          </p:cNvPr>
          <p:cNvCxnSpPr>
            <a:cxnSpLocks/>
          </p:cNvCxnSpPr>
          <p:nvPr/>
        </p:nvCxnSpPr>
        <p:spPr>
          <a:xfrm>
            <a:off x="5073927" y="414309"/>
            <a:ext cx="0" cy="6124603"/>
          </a:xfrm>
          <a:prstGeom prst="line">
            <a:avLst/>
          </a:prstGeom>
          <a:noFill/>
          <a:ln w="19050" cap="flat" cmpd="sng" algn="ctr">
            <a:solidFill>
              <a:srgbClr val="C97F3A"/>
            </a:solidFill>
            <a:prstDash val="dash"/>
          </a:ln>
          <a:effectLst/>
        </p:spPr>
      </p:cxnSp>
      <p:sp>
        <p:nvSpPr>
          <p:cNvPr id="169" name="TextBox 168">
            <a:extLst>
              <a:ext uri="{FF2B5EF4-FFF2-40B4-BE49-F238E27FC236}">
                <a16:creationId xmlns:a16="http://schemas.microsoft.com/office/drawing/2014/main" id="{D692F1ED-2F5A-413E-6141-B263FDB7F0F1}"/>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4</a:t>
            </a:fld>
            <a:endParaRPr lang="en-GB" sz="1000" dirty="0"/>
          </a:p>
        </p:txBody>
      </p:sp>
      <p:grpSp>
        <p:nvGrpSpPr>
          <p:cNvPr id="82" name="Group 81">
            <a:extLst>
              <a:ext uri="{FF2B5EF4-FFF2-40B4-BE49-F238E27FC236}">
                <a16:creationId xmlns:a16="http://schemas.microsoft.com/office/drawing/2014/main" id="{CEA5ED21-6E18-A98D-ADC8-7CF8EDAB1A12}"/>
              </a:ext>
            </a:extLst>
          </p:cNvPr>
          <p:cNvGrpSpPr/>
          <p:nvPr/>
        </p:nvGrpSpPr>
        <p:grpSpPr>
          <a:xfrm>
            <a:off x="619969" y="2516723"/>
            <a:ext cx="1340114" cy="400209"/>
            <a:chOff x="6318068" y="4437423"/>
            <a:chExt cx="1340114" cy="400209"/>
          </a:xfrm>
        </p:grpSpPr>
        <p:sp>
          <p:nvSpPr>
            <p:cNvPr id="80" name="Rectangle: Rounded Corners 79">
              <a:extLst>
                <a:ext uri="{FF2B5EF4-FFF2-40B4-BE49-F238E27FC236}">
                  <a16:creationId xmlns:a16="http://schemas.microsoft.com/office/drawing/2014/main" id="{B1FAEE26-34D1-8C21-4CA3-6BC819C6A254}"/>
                </a:ext>
              </a:extLst>
            </p:cNvPr>
            <p:cNvSpPr/>
            <p:nvPr/>
          </p:nvSpPr>
          <p:spPr>
            <a:xfrm>
              <a:off x="6318068" y="4437423"/>
              <a:ext cx="1340114" cy="400209"/>
            </a:xfrm>
            <a:prstGeom prst="roundRect">
              <a:avLst/>
            </a:prstGeom>
            <a:solidFill>
              <a:srgbClr val="93B479"/>
            </a:solidFill>
            <a:ln w="6350" cap="flat" cmpd="sng" algn="ctr">
              <a:solidFill>
                <a:srgbClr val="004F59"/>
              </a:solidFill>
              <a:prstDash val="solid"/>
              <a:miter lim="800000"/>
            </a:ln>
            <a:effectLst>
              <a:outerShdw blurRad="50800" dist="38100" dir="2700000" algn="tl" rotWithShape="0">
                <a:prstClr val="black">
                  <a:alpha val="40000"/>
                </a:prstClr>
              </a:outerShdw>
            </a:effectLst>
          </p:spPr>
          <p:txBody>
            <a:bodyPr lIns="0" rIns="0" rtlCol="0" anchor="ctr"/>
            <a:lstStyle/>
            <a:p>
              <a:pPr marL="266700" algn="ctr" defTabSz="457200">
                <a:lnSpc>
                  <a:spcPct val="90000"/>
                </a:lnSpc>
                <a:defRPr/>
              </a:pPr>
              <a:r>
                <a:rPr lang="en-GB" sz="1200" kern="0">
                  <a:solidFill>
                    <a:prstClr val="black"/>
                  </a:solidFill>
                  <a:latin typeface="Calibri Light" panose="020F0302020204030204"/>
                  <a:ea typeface="Calibri Light" panose="020F0302020204030204" pitchFamily="34" charset="0"/>
                  <a:cs typeface="Calibri Light" panose="020F0302020204030204" pitchFamily="34" charset="0"/>
                  <a:sym typeface="Calibri"/>
                </a:rPr>
                <a:t>Data Access (APIs)</a:t>
              </a:r>
            </a:p>
          </p:txBody>
        </p:sp>
        <p:pic>
          <p:nvPicPr>
            <p:cNvPr id="81" name="Picture 80" descr="Logo, company name&#10;&#10;Description automatically generated">
              <a:extLst>
                <a:ext uri="{FF2B5EF4-FFF2-40B4-BE49-F238E27FC236}">
                  <a16:creationId xmlns:a16="http://schemas.microsoft.com/office/drawing/2014/main" id="{55130A1B-F212-F25E-A396-EF3325A563F9}"/>
                </a:ext>
              </a:extLst>
            </p:cNvPr>
            <p:cNvPicPr>
              <a:picLocks noChangeAspect="1"/>
            </p:cNvPicPr>
            <p:nvPr/>
          </p:nvPicPr>
          <p:blipFill rotWithShape="1">
            <a:blip r:embed="rId4">
              <a:duotone>
                <a:prstClr val="black"/>
                <a:srgbClr val="004F59">
                  <a:tint val="45000"/>
                  <a:satMod val="400000"/>
                </a:srgbClr>
              </a:duotone>
              <a:extLst>
                <a:ext uri="{BEBA8EAE-BF5A-486C-A8C5-ECC9F3942E4B}">
                  <a14:imgProps xmlns:a14="http://schemas.microsoft.com/office/drawing/2010/main">
                    <a14:imgLayer r:embed="rId5">
                      <a14:imgEffect>
                        <a14:backgroundRemoval t="5068" b="52703" l="24156" r="73002">
                          <a14:foregroundMark x1="70515" y1="31081" x2="70515" y2="31081"/>
                          <a14:foregroundMark x1="73002" y1="30743" x2="73002" y2="30743"/>
                          <a14:foregroundMark x1="52931" y1="50338" x2="52931" y2="50338"/>
                          <a14:foregroundMark x1="49023" y1="52703" x2="49023" y2="52703"/>
                          <a14:foregroundMark x1="24156" y1="29899" x2="24156" y2="29899"/>
                        </a14:backgroundRemoval>
                      </a14:imgEffect>
                    </a14:imgLayer>
                  </a14:imgProps>
                </a:ext>
                <a:ext uri="{28A0092B-C50C-407E-A947-70E740481C1C}">
                  <a14:useLocalDpi xmlns:a14="http://schemas.microsoft.com/office/drawing/2010/main" val="0"/>
                </a:ext>
              </a:extLst>
            </a:blip>
            <a:srcRect l="19216" r="24636" b="45879"/>
            <a:stretch/>
          </p:blipFill>
          <p:spPr>
            <a:xfrm>
              <a:off x="6349805" y="4481289"/>
              <a:ext cx="307211" cy="311371"/>
            </a:xfrm>
            <a:prstGeom prst="rect">
              <a:avLst/>
            </a:prstGeom>
            <a:ln>
              <a:solidFill>
                <a:srgbClr val="93B479"/>
              </a:solidFill>
            </a:ln>
          </p:spPr>
        </p:pic>
      </p:grpSp>
      <p:grpSp>
        <p:nvGrpSpPr>
          <p:cNvPr id="86" name="Group 85">
            <a:extLst>
              <a:ext uri="{FF2B5EF4-FFF2-40B4-BE49-F238E27FC236}">
                <a16:creationId xmlns:a16="http://schemas.microsoft.com/office/drawing/2014/main" id="{083660F9-AFC5-E5A2-15E3-51AFA19118E3}"/>
              </a:ext>
            </a:extLst>
          </p:cNvPr>
          <p:cNvGrpSpPr/>
          <p:nvPr/>
        </p:nvGrpSpPr>
        <p:grpSpPr>
          <a:xfrm>
            <a:off x="10957783" y="2284643"/>
            <a:ext cx="753415" cy="848088"/>
            <a:chOff x="10987252" y="3139965"/>
            <a:chExt cx="753415" cy="848088"/>
          </a:xfrm>
        </p:grpSpPr>
        <p:pic>
          <p:nvPicPr>
            <p:cNvPr id="87" name="Graphic 86" descr="Users with solid fill">
              <a:extLst>
                <a:ext uri="{FF2B5EF4-FFF2-40B4-BE49-F238E27FC236}">
                  <a16:creationId xmlns:a16="http://schemas.microsoft.com/office/drawing/2014/main" id="{11636E37-5465-EE60-1954-49183684DE7F}"/>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049543" y="3139965"/>
              <a:ext cx="612315" cy="623947"/>
            </a:xfrm>
            <a:prstGeom prst="rect">
              <a:avLst/>
            </a:prstGeom>
            <a:effectLst>
              <a:outerShdw blurRad="50800" dist="38100" dir="2700000" algn="tl" rotWithShape="0">
                <a:prstClr val="black">
                  <a:alpha val="40000"/>
                </a:prstClr>
              </a:outerShdw>
            </a:effectLst>
          </p:spPr>
        </p:pic>
        <p:sp>
          <p:nvSpPr>
            <p:cNvPr id="88" name="TextBox 87">
              <a:extLst>
                <a:ext uri="{FF2B5EF4-FFF2-40B4-BE49-F238E27FC236}">
                  <a16:creationId xmlns:a16="http://schemas.microsoft.com/office/drawing/2014/main" id="{D76AD9DF-1127-1B56-B988-313AE1DDB514}"/>
                </a:ext>
              </a:extLst>
            </p:cNvPr>
            <p:cNvSpPr txBox="1"/>
            <p:nvPr/>
          </p:nvSpPr>
          <p:spPr>
            <a:xfrm>
              <a:off x="10987252" y="3633982"/>
              <a:ext cx="753415" cy="354071"/>
            </a:xfrm>
            <a:prstGeom prst="rect">
              <a:avLst/>
            </a:prstGeom>
            <a:noFill/>
          </p:spPr>
          <p:txBody>
            <a:bodyPr wrap="square" lIns="0" rIns="0" rtlCol="0">
              <a:spAutoFit/>
            </a:bodyPr>
            <a:lstStyle>
              <a:defPPr>
                <a:defRPr lang="en-US"/>
              </a:defPPr>
              <a:lvl1pPr marR="0" lvl="0" indent="0" algn="ctr" fontAlgn="auto">
                <a:lnSpc>
                  <a:spcPct val="80000"/>
                </a:lnSpc>
                <a:spcBef>
                  <a:spcPts val="0"/>
                </a:spcBef>
                <a:spcAft>
                  <a:spcPts val="0"/>
                </a:spcAft>
                <a:buClrTx/>
                <a:buSzTx/>
                <a:buFontTx/>
                <a:buNone/>
                <a:tabLst/>
                <a:defRPr kumimoji="0" sz="1050" b="0" i="0" u="none" strike="noStrike" cap="none" spc="0" normalizeH="0" baseline="0">
                  <a:ln>
                    <a:noFill/>
                  </a:ln>
                  <a:solidFill>
                    <a:prstClr val="black"/>
                  </a:solidFill>
                  <a:effectLst/>
                  <a:uLnTx/>
                  <a:uFillTx/>
                  <a:latin typeface="Calibri" panose="020F0502020204030204"/>
                </a:defRPr>
              </a:lvl1pPr>
            </a:lstStyle>
            <a:p>
              <a:pPr>
                <a:defRPr/>
              </a:pPr>
              <a:r>
                <a:rPr lang="en-GB">
                  <a:latin typeface="Calibri Light" panose="020F0302020204030204"/>
                  <a:cs typeface="Calibri"/>
                  <a:sym typeface="Calibri"/>
                </a:rPr>
                <a:t>Data Consumers</a:t>
              </a:r>
            </a:p>
          </p:txBody>
        </p:sp>
      </p:grpSp>
      <p:grpSp>
        <p:nvGrpSpPr>
          <p:cNvPr id="154" name="Group 153">
            <a:extLst>
              <a:ext uri="{FF2B5EF4-FFF2-40B4-BE49-F238E27FC236}">
                <a16:creationId xmlns:a16="http://schemas.microsoft.com/office/drawing/2014/main" id="{C9E1B01C-6589-2583-01DF-01DBB91771A4}"/>
              </a:ext>
            </a:extLst>
          </p:cNvPr>
          <p:cNvGrpSpPr/>
          <p:nvPr/>
        </p:nvGrpSpPr>
        <p:grpSpPr>
          <a:xfrm>
            <a:off x="850980" y="2706031"/>
            <a:ext cx="3266658" cy="1075921"/>
            <a:chOff x="850980" y="2706031"/>
            <a:chExt cx="3266658" cy="1075921"/>
          </a:xfrm>
        </p:grpSpPr>
        <p:sp>
          <p:nvSpPr>
            <p:cNvPr id="150" name="TextBox 149">
              <a:extLst>
                <a:ext uri="{FF2B5EF4-FFF2-40B4-BE49-F238E27FC236}">
                  <a16:creationId xmlns:a16="http://schemas.microsoft.com/office/drawing/2014/main" id="{B2E3FBE8-63AD-9192-4A18-0683C4AA7AE3}"/>
                </a:ext>
              </a:extLst>
            </p:cNvPr>
            <p:cNvSpPr txBox="1"/>
            <p:nvPr/>
          </p:nvSpPr>
          <p:spPr>
            <a:xfrm>
              <a:off x="850980" y="3274121"/>
              <a:ext cx="3266658" cy="507831"/>
            </a:xfrm>
            <a:prstGeom prst="rect">
              <a:avLst/>
            </a:prstGeom>
            <a:noFill/>
          </p:spPr>
          <p:txBody>
            <a:bodyPr wrap="squar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endParaRPr lang="en-GB" sz="1200">
                <a:solidFill>
                  <a:schemeClr val="accent6"/>
                </a:solidFill>
                <a:latin typeface="Consolas" panose="020B0609020204030204" pitchFamily="49" charset="0"/>
              </a:endParaRPr>
            </a:p>
          </p:txBody>
        </p:sp>
        <p:pic>
          <p:nvPicPr>
            <p:cNvPr id="151" name="Picture 150">
              <a:extLst>
                <a:ext uri="{FF2B5EF4-FFF2-40B4-BE49-F238E27FC236}">
                  <a16:creationId xmlns:a16="http://schemas.microsoft.com/office/drawing/2014/main" id="{BF14299A-D74E-B226-EFCA-97B6D154E41E}"/>
                </a:ext>
              </a:extLst>
            </p:cNvPr>
            <p:cNvPicPr>
              <a:picLocks noChangeAspect="1"/>
            </p:cNvPicPr>
            <p:nvPr/>
          </p:nvPicPr>
          <p:blipFill>
            <a:blip r:embed="rId8">
              <a:duotone>
                <a:schemeClr val="accent6">
                  <a:shade val="45000"/>
                  <a:satMod val="135000"/>
                </a:schemeClr>
                <a:prstClr val="white"/>
              </a:duotone>
            </a:blip>
            <a:stretch>
              <a:fillRect/>
            </a:stretch>
          </p:blipFill>
          <p:spPr>
            <a:xfrm>
              <a:off x="1969723" y="3355216"/>
              <a:ext cx="169915" cy="196863"/>
            </a:xfrm>
            <a:prstGeom prst="rect">
              <a:avLst/>
            </a:prstGeom>
          </p:spPr>
        </p:pic>
        <p:cxnSp>
          <p:nvCxnSpPr>
            <p:cNvPr id="152" name="Straight Arrow Connector 151">
              <a:extLst>
                <a:ext uri="{FF2B5EF4-FFF2-40B4-BE49-F238E27FC236}">
                  <a16:creationId xmlns:a16="http://schemas.microsoft.com/office/drawing/2014/main" id="{453885FE-EC0E-6DE2-3703-D1A92193AB97}"/>
                </a:ext>
              </a:extLst>
            </p:cNvPr>
            <p:cNvCxnSpPr>
              <a:cxnSpLocks/>
            </p:cNvCxnSpPr>
            <p:nvPr/>
          </p:nvCxnSpPr>
          <p:spPr>
            <a:xfrm flipH="1">
              <a:off x="1945956" y="2706031"/>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53" name="Straight Connector 152">
              <a:extLst>
                <a:ext uri="{FF2B5EF4-FFF2-40B4-BE49-F238E27FC236}">
                  <a16:creationId xmlns:a16="http://schemas.microsoft.com/office/drawing/2014/main" id="{CB6F2F61-C0A1-C208-8582-AFCD99A59A59}"/>
                </a:ext>
              </a:extLst>
            </p:cNvPr>
            <p:cNvCxnSpPr>
              <a:cxnSpLocks/>
            </p:cNvCxnSpPr>
            <p:nvPr/>
          </p:nvCxnSpPr>
          <p:spPr>
            <a:xfrm flipH="1" flipV="1">
              <a:off x="2489900" y="2707446"/>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2E5F15A5-5E9F-2CBB-9C50-64FF62DA669A}"/>
              </a:ext>
            </a:extLst>
          </p:cNvPr>
          <p:cNvGrpSpPr/>
          <p:nvPr/>
        </p:nvGrpSpPr>
        <p:grpSpPr>
          <a:xfrm>
            <a:off x="6763265" y="2660007"/>
            <a:ext cx="640816" cy="402471"/>
            <a:chOff x="6763265" y="2660007"/>
            <a:chExt cx="640816" cy="402471"/>
          </a:xfrm>
        </p:grpSpPr>
        <p:grpSp>
          <p:nvGrpSpPr>
            <p:cNvPr id="113" name="Group 112">
              <a:extLst>
                <a:ext uri="{FF2B5EF4-FFF2-40B4-BE49-F238E27FC236}">
                  <a16:creationId xmlns:a16="http://schemas.microsoft.com/office/drawing/2014/main" id="{CFA8C611-1451-073E-9C37-277829F7FA66}"/>
                </a:ext>
              </a:extLst>
            </p:cNvPr>
            <p:cNvGrpSpPr/>
            <p:nvPr/>
          </p:nvGrpSpPr>
          <p:grpSpPr>
            <a:xfrm>
              <a:off x="6802097" y="2660007"/>
              <a:ext cx="309320" cy="109283"/>
              <a:chOff x="7584406" y="1764347"/>
              <a:chExt cx="309320" cy="109283"/>
            </a:xfrm>
          </p:grpSpPr>
          <p:cxnSp>
            <p:nvCxnSpPr>
              <p:cNvPr id="114" name="Straight Arrow Connector 113">
                <a:extLst>
                  <a:ext uri="{FF2B5EF4-FFF2-40B4-BE49-F238E27FC236}">
                    <a16:creationId xmlns:a16="http://schemas.microsoft.com/office/drawing/2014/main" id="{72D89C3E-D316-E47A-6B2A-9C9962CBDCF5}"/>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15" name="Oval 114">
                <a:extLst>
                  <a:ext uri="{FF2B5EF4-FFF2-40B4-BE49-F238E27FC236}">
                    <a16:creationId xmlns:a16="http://schemas.microsoft.com/office/drawing/2014/main" id="{A6B7D204-0E77-3B87-58AC-5BE55EDFE3D0}"/>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6" name="TextBox 115">
              <a:extLst>
                <a:ext uri="{FF2B5EF4-FFF2-40B4-BE49-F238E27FC236}">
                  <a16:creationId xmlns:a16="http://schemas.microsoft.com/office/drawing/2014/main" id="{A9B8BF58-2FD7-DFA3-2263-F7A9A3343853}"/>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sp>
        <p:nvSpPr>
          <p:cNvPr id="125" name="TextBox 124">
            <a:extLst>
              <a:ext uri="{FF2B5EF4-FFF2-40B4-BE49-F238E27FC236}">
                <a16:creationId xmlns:a16="http://schemas.microsoft.com/office/drawing/2014/main" id="{85F48BE0-535A-9C26-0F4E-D24AABA57358}"/>
              </a:ext>
            </a:extLst>
          </p:cNvPr>
          <p:cNvSpPr txBox="1"/>
          <p:nvPr/>
        </p:nvSpPr>
        <p:spPr>
          <a:xfrm>
            <a:off x="5731688" y="1747081"/>
            <a:ext cx="2646878" cy="692497"/>
          </a:xfrm>
          <a:prstGeom prst="rect">
            <a:avLst/>
          </a:prstGeom>
          <a:noFill/>
        </p:spPr>
        <p:txBody>
          <a:bodyPr wrap="non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p>
          <a:p>
            <a:pPr algn="ctr"/>
            <a:endParaRPr lang="en-GB" sz="1200">
              <a:solidFill>
                <a:schemeClr val="accent6"/>
              </a:solidFill>
              <a:latin typeface="Consolas" panose="020B0609020204030204" pitchFamily="49" charset="0"/>
            </a:endParaRPr>
          </a:p>
        </p:txBody>
      </p:sp>
      <p:grpSp>
        <p:nvGrpSpPr>
          <p:cNvPr id="129" name="Group 128">
            <a:extLst>
              <a:ext uri="{FF2B5EF4-FFF2-40B4-BE49-F238E27FC236}">
                <a16:creationId xmlns:a16="http://schemas.microsoft.com/office/drawing/2014/main" id="{B9B28141-9FC0-15B4-4E84-33C527C7AB78}"/>
              </a:ext>
            </a:extLst>
          </p:cNvPr>
          <p:cNvGrpSpPr/>
          <p:nvPr/>
        </p:nvGrpSpPr>
        <p:grpSpPr>
          <a:xfrm>
            <a:off x="3761820" y="2704600"/>
            <a:ext cx="2285252" cy="1083755"/>
            <a:chOff x="3761820" y="2704600"/>
            <a:chExt cx="2285252" cy="1083755"/>
          </a:xfrm>
        </p:grpSpPr>
        <p:cxnSp>
          <p:nvCxnSpPr>
            <p:cNvPr id="130" name="Straight Arrow Connector 129">
              <a:extLst>
                <a:ext uri="{FF2B5EF4-FFF2-40B4-BE49-F238E27FC236}">
                  <a16:creationId xmlns:a16="http://schemas.microsoft.com/office/drawing/2014/main" id="{54844CB9-5B87-B4FE-58E5-E46CD5DF0C43}"/>
                </a:ext>
              </a:extLst>
            </p:cNvPr>
            <p:cNvCxnSpPr>
              <a:cxnSpLocks/>
            </p:cNvCxnSpPr>
            <p:nvPr/>
          </p:nvCxnSpPr>
          <p:spPr>
            <a:xfrm>
              <a:off x="4360502" y="2704600"/>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31" name="Straight Connector 130">
              <a:extLst>
                <a:ext uri="{FF2B5EF4-FFF2-40B4-BE49-F238E27FC236}">
                  <a16:creationId xmlns:a16="http://schemas.microsoft.com/office/drawing/2014/main" id="{81BB46A7-E893-491A-DE60-B8CAA3BB7B3E}"/>
                </a:ext>
              </a:extLst>
            </p:cNvPr>
            <p:cNvCxnSpPr>
              <a:cxnSpLocks/>
              <a:stCxn id="132" idx="0"/>
            </p:cNvCxnSpPr>
            <p:nvPr/>
          </p:nvCxnSpPr>
          <p:spPr>
            <a:xfrm flipV="1">
              <a:off x="4904446" y="2706015"/>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034A81DF-9EDB-5A13-BABD-69A2BD25DACA}"/>
                </a:ext>
              </a:extLst>
            </p:cNvPr>
            <p:cNvSpPr txBox="1"/>
            <p:nvPr/>
          </p:nvSpPr>
          <p:spPr>
            <a:xfrm>
              <a:off x="3761820" y="3280524"/>
              <a:ext cx="2285252" cy="507831"/>
            </a:xfrm>
            <a:prstGeom prst="rect">
              <a:avLst/>
            </a:prstGeom>
            <a:solidFill>
              <a:srgbClr val="FFFFFF">
                <a:alpha val="80000"/>
              </a:srgbClr>
            </a:solidFill>
          </p:spPr>
          <p:txBody>
            <a:bodyPr wrap="squar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origin/a/wis2/{centre-id}/#</a:t>
              </a:r>
              <a:endParaRPr lang="en-GB" sz="1200">
                <a:solidFill>
                  <a:schemeClr val="accent6"/>
                </a:solidFill>
                <a:latin typeface="Consolas" panose="020B0609020204030204" pitchFamily="49" charset="0"/>
              </a:endParaRPr>
            </a:p>
          </p:txBody>
        </p:sp>
      </p:grpSp>
      <p:sp>
        <p:nvSpPr>
          <p:cNvPr id="2" name="Rectangle 1">
            <a:extLst>
              <a:ext uri="{FF2B5EF4-FFF2-40B4-BE49-F238E27FC236}">
                <a16:creationId xmlns:a16="http://schemas.microsoft.com/office/drawing/2014/main" id="{0B43A05B-A77E-E36E-C2F0-07D4182D5149}"/>
              </a:ext>
            </a:extLst>
          </p:cNvPr>
          <p:cNvSpPr/>
          <p:nvPr/>
        </p:nvSpPr>
        <p:spPr>
          <a:xfrm>
            <a:off x="246111" y="3832472"/>
            <a:ext cx="7112921" cy="276876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3" name="Picture 182" descr="A group of flags of different countries/regions&#10;&#10;Description automatically generated">
            <a:extLst>
              <a:ext uri="{FF2B5EF4-FFF2-40B4-BE49-F238E27FC236}">
                <a16:creationId xmlns:a16="http://schemas.microsoft.com/office/drawing/2014/main" id="{43CC786B-0D5D-AABE-8453-BF8389700756}"/>
              </a:ext>
            </a:extLst>
          </p:cNvPr>
          <p:cNvPicPr>
            <a:picLocks noChangeAspect="1"/>
          </p:cNvPicPr>
          <p:nvPr/>
        </p:nvPicPr>
        <p:blipFill rotWithShape="1">
          <a:blip r:embed="rId9">
            <a:extLst>
              <a:ext uri="{28A0092B-C50C-407E-A947-70E740481C1C}">
                <a14:useLocalDpi xmlns:a14="http://schemas.microsoft.com/office/drawing/2010/main" val="0"/>
              </a:ext>
            </a:extLst>
          </a:blip>
          <a:srcRect l="10370" t="35630" r="80593" b="58444"/>
          <a:stretch/>
        </p:blipFill>
        <p:spPr>
          <a:xfrm>
            <a:off x="5929662" y="3041820"/>
            <a:ext cx="414059" cy="271514"/>
          </a:xfrm>
          <a:prstGeom prst="rect">
            <a:avLst/>
          </a:prstGeom>
        </p:spPr>
      </p:pic>
      <p:sp>
        <p:nvSpPr>
          <p:cNvPr id="4" name="TextBox 3">
            <a:extLst>
              <a:ext uri="{FF2B5EF4-FFF2-40B4-BE49-F238E27FC236}">
                <a16:creationId xmlns:a16="http://schemas.microsoft.com/office/drawing/2014/main" id="{72A66D63-E009-D904-B468-03954EF78319}"/>
              </a:ext>
            </a:extLst>
          </p:cNvPr>
          <p:cNvSpPr txBox="1"/>
          <p:nvPr/>
        </p:nvSpPr>
        <p:spPr>
          <a:xfrm>
            <a:off x="246111" y="133810"/>
            <a:ext cx="4912629" cy="1754326"/>
          </a:xfrm>
          <a:prstGeom prst="rect">
            <a:avLst/>
          </a:prstGeom>
          <a:noFill/>
        </p:spPr>
        <p:txBody>
          <a:bodyPr wrap="square" rtlCol="0">
            <a:spAutoFit/>
          </a:bodyPr>
          <a:lstStyle/>
          <a:p>
            <a:pPr marL="285750" indent="-285750">
              <a:buFont typeface="Arial" panose="020B0604020202020204" pitchFamily="34" charset="0"/>
              <a:buChar char="•"/>
            </a:pPr>
            <a:r>
              <a:rPr lang="en-GB"/>
              <a:t>WIS2 has hundreds of (meta)data publishers – how do we keep the notification messages organised?</a:t>
            </a:r>
          </a:p>
          <a:p>
            <a:pPr marL="285750" indent="-285750">
              <a:buFont typeface="Arial" panose="020B0604020202020204" pitchFamily="34" charset="0"/>
              <a:buChar char="•"/>
            </a:pPr>
            <a:r>
              <a:rPr lang="en-GB"/>
              <a:t>WIS2 requires that notification messages are published on specific </a:t>
            </a:r>
            <a:r>
              <a:rPr lang="en-GB" b="1"/>
              <a:t>topics</a:t>
            </a:r>
            <a:r>
              <a:rPr lang="en-GB"/>
              <a:t> according to a well-defined </a:t>
            </a:r>
            <a:r>
              <a:rPr lang="en-GB" b="1"/>
              <a:t>topic hierarchy </a:t>
            </a:r>
            <a:r>
              <a:rPr lang="en-GB"/>
              <a:t>(</a:t>
            </a:r>
            <a:r>
              <a:rPr lang="en-GB">
                <a:hlinkClick r:id="rId10"/>
              </a:rPr>
              <a:t>spec</a:t>
            </a:r>
            <a:r>
              <a:rPr lang="en-GB"/>
              <a:t>)</a:t>
            </a:r>
          </a:p>
        </p:txBody>
      </p:sp>
      <p:sp>
        <p:nvSpPr>
          <p:cNvPr id="5" name="TextBox 4">
            <a:extLst>
              <a:ext uri="{FF2B5EF4-FFF2-40B4-BE49-F238E27FC236}">
                <a16:creationId xmlns:a16="http://schemas.microsoft.com/office/drawing/2014/main" id="{94A9BAAE-730F-2A6B-C967-FDE7FA91AD9A}"/>
              </a:ext>
            </a:extLst>
          </p:cNvPr>
          <p:cNvSpPr txBox="1"/>
          <p:nvPr/>
        </p:nvSpPr>
        <p:spPr>
          <a:xfrm>
            <a:off x="5088404" y="127891"/>
            <a:ext cx="5347362" cy="1200329"/>
          </a:xfrm>
          <a:prstGeom prst="rect">
            <a:avLst/>
          </a:prstGeom>
          <a:noFill/>
        </p:spPr>
        <p:txBody>
          <a:bodyPr wrap="square" rtlCol="0">
            <a:spAutoFit/>
          </a:bodyPr>
          <a:lstStyle/>
          <a:p>
            <a:pPr marL="285750" indent="-285750">
              <a:buFont typeface="Arial" panose="020B0604020202020204" pitchFamily="34" charset="0"/>
              <a:buChar char="•"/>
            </a:pPr>
            <a:r>
              <a:rPr lang="en-GB"/>
              <a:t>Valid terms for each level in the topic hierarchy are published on the </a:t>
            </a:r>
            <a:r>
              <a:rPr lang="en-GB">
                <a:hlinkClick r:id="rId11"/>
              </a:rPr>
              <a:t>WMO Codes Registry</a:t>
            </a:r>
            <a:endParaRPr lang="en-GB"/>
          </a:p>
          <a:p>
            <a:pPr marL="285750" indent="-285750">
              <a:buFont typeface="Arial" panose="020B0604020202020204" pitchFamily="34" charset="0"/>
              <a:buChar char="•"/>
            </a:pPr>
            <a:r>
              <a:rPr lang="en-GB"/>
              <a:t>Global Brokers will discard messages published on unregistered topics (i.e., not in the spec)</a:t>
            </a:r>
          </a:p>
        </p:txBody>
      </p:sp>
      <p:sp>
        <p:nvSpPr>
          <p:cNvPr id="12" name="TextBox 11">
            <a:extLst>
              <a:ext uri="{FF2B5EF4-FFF2-40B4-BE49-F238E27FC236}">
                <a16:creationId xmlns:a16="http://schemas.microsoft.com/office/drawing/2014/main" id="{4FFFA9AA-CA2F-33DC-1044-089DBDA83754}"/>
              </a:ext>
            </a:extLst>
          </p:cNvPr>
          <p:cNvSpPr txBox="1"/>
          <p:nvPr/>
        </p:nvSpPr>
        <p:spPr>
          <a:xfrm>
            <a:off x="395623" y="3834371"/>
            <a:ext cx="11402609" cy="369332"/>
          </a:xfrm>
          <a:prstGeom prst="rect">
            <a:avLst/>
          </a:prstGeom>
          <a:noFill/>
        </p:spPr>
        <p:txBody>
          <a:bodyPr wrap="none" rtlCol="0">
            <a:spAutoFit/>
          </a:bodyPr>
          <a:lstStyle/>
          <a:p>
            <a:r>
              <a:rPr lang="en-GB"/>
              <a:t>{1:channel}/{2:version}/{3:system}/{4:centre-id}/{5:notification-type}/{6:data-policy}/{7:earth-system-discipline}/… </a:t>
            </a:r>
          </a:p>
        </p:txBody>
      </p:sp>
      <p:sp>
        <p:nvSpPr>
          <p:cNvPr id="14" name="TextBox 13">
            <a:extLst>
              <a:ext uri="{FF2B5EF4-FFF2-40B4-BE49-F238E27FC236}">
                <a16:creationId xmlns:a16="http://schemas.microsoft.com/office/drawing/2014/main" id="{083D6ABA-D741-F702-36A8-169113390CE9}"/>
              </a:ext>
            </a:extLst>
          </p:cNvPr>
          <p:cNvSpPr txBox="1"/>
          <p:nvPr/>
        </p:nvSpPr>
        <p:spPr>
          <a:xfrm>
            <a:off x="508817" y="4163918"/>
            <a:ext cx="1124026" cy="646331"/>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origin</a:t>
            </a:r>
          </a:p>
          <a:p>
            <a:pPr marL="177800" indent="-177800">
              <a:buFont typeface="Arial" panose="020B0604020202020204" pitchFamily="34" charset="0"/>
              <a:buChar char="•"/>
            </a:pPr>
            <a:r>
              <a:rPr lang="en-GB">
                <a:solidFill>
                  <a:schemeClr val="accent4"/>
                </a:solidFill>
                <a:latin typeface="Consolas" panose="020B0609020204030204" pitchFamily="49" charset="0"/>
              </a:rPr>
              <a:t>cache</a:t>
            </a:r>
          </a:p>
        </p:txBody>
      </p:sp>
      <p:sp>
        <p:nvSpPr>
          <p:cNvPr id="15" name="TextBox 14">
            <a:extLst>
              <a:ext uri="{FF2B5EF4-FFF2-40B4-BE49-F238E27FC236}">
                <a16:creationId xmlns:a16="http://schemas.microsoft.com/office/drawing/2014/main" id="{9351B26E-E868-3311-517A-28F239CA485C}"/>
              </a:ext>
            </a:extLst>
          </p:cNvPr>
          <p:cNvSpPr txBox="1"/>
          <p:nvPr/>
        </p:nvSpPr>
        <p:spPr>
          <a:xfrm>
            <a:off x="1682566" y="4163918"/>
            <a:ext cx="490840" cy="369332"/>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a</a:t>
            </a:r>
          </a:p>
        </p:txBody>
      </p:sp>
      <p:sp>
        <p:nvSpPr>
          <p:cNvPr id="17" name="TextBox 16">
            <a:extLst>
              <a:ext uri="{FF2B5EF4-FFF2-40B4-BE49-F238E27FC236}">
                <a16:creationId xmlns:a16="http://schemas.microsoft.com/office/drawing/2014/main" id="{8DD91C03-BB38-3CA9-954F-C929725E8B6F}"/>
              </a:ext>
            </a:extLst>
          </p:cNvPr>
          <p:cNvSpPr txBox="1"/>
          <p:nvPr/>
        </p:nvSpPr>
        <p:spPr>
          <a:xfrm>
            <a:off x="2794817" y="4163918"/>
            <a:ext cx="870751" cy="369332"/>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wis2</a:t>
            </a:r>
          </a:p>
        </p:txBody>
      </p:sp>
      <p:sp>
        <p:nvSpPr>
          <p:cNvPr id="23" name="TextBox 22">
            <a:extLst>
              <a:ext uri="{FF2B5EF4-FFF2-40B4-BE49-F238E27FC236}">
                <a16:creationId xmlns:a16="http://schemas.microsoft.com/office/drawing/2014/main" id="{71D2420E-F155-AE9D-BCE5-A4C00B326972}"/>
              </a:ext>
            </a:extLst>
          </p:cNvPr>
          <p:cNvSpPr txBox="1"/>
          <p:nvPr/>
        </p:nvSpPr>
        <p:spPr>
          <a:xfrm>
            <a:off x="3914187" y="4192346"/>
            <a:ext cx="1240782" cy="1384995"/>
          </a:xfrm>
          <a:prstGeom prst="rect">
            <a:avLst/>
          </a:prstGeom>
          <a:noFill/>
        </p:spPr>
        <p:txBody>
          <a:bodyPr wrap="square" rtlCol="0">
            <a:spAutoFit/>
          </a:bodyPr>
          <a:lstStyle/>
          <a:p>
            <a:pPr algn="ctr"/>
            <a:r>
              <a:rPr lang="en-GB" sz="1400"/>
              <a:t>see </a:t>
            </a:r>
            <a:r>
              <a:rPr lang="en-GB" sz="1400">
                <a:hlinkClick r:id="rId12"/>
              </a:rPr>
              <a:t>http://codes.wmo.int/wis/topic-hierarchy/centre-id</a:t>
            </a:r>
            <a:endParaRPr lang="en-GB" sz="1400"/>
          </a:p>
        </p:txBody>
      </p:sp>
      <p:sp>
        <p:nvSpPr>
          <p:cNvPr id="24" name="TextBox 23">
            <a:extLst>
              <a:ext uri="{FF2B5EF4-FFF2-40B4-BE49-F238E27FC236}">
                <a16:creationId xmlns:a16="http://schemas.microsoft.com/office/drawing/2014/main" id="{0E678BC1-0897-E63B-0783-5541C449EF36}"/>
              </a:ext>
            </a:extLst>
          </p:cNvPr>
          <p:cNvSpPr txBox="1"/>
          <p:nvPr/>
        </p:nvSpPr>
        <p:spPr>
          <a:xfrm>
            <a:off x="5213569" y="4164629"/>
            <a:ext cx="1377300" cy="646331"/>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data</a:t>
            </a:r>
          </a:p>
          <a:p>
            <a:pPr marL="177800" indent="-177800">
              <a:buFont typeface="Arial" panose="020B0604020202020204" pitchFamily="34" charset="0"/>
              <a:buChar char="•"/>
            </a:pPr>
            <a:r>
              <a:rPr lang="en-GB">
                <a:solidFill>
                  <a:schemeClr val="accent4"/>
                </a:solidFill>
                <a:latin typeface="Consolas" panose="020B0609020204030204" pitchFamily="49" charset="0"/>
              </a:rPr>
              <a:t>metadata</a:t>
            </a:r>
          </a:p>
        </p:txBody>
      </p:sp>
      <p:sp>
        <p:nvSpPr>
          <p:cNvPr id="26" name="TextBox 25">
            <a:extLst>
              <a:ext uri="{FF2B5EF4-FFF2-40B4-BE49-F238E27FC236}">
                <a16:creationId xmlns:a16="http://schemas.microsoft.com/office/drawing/2014/main" id="{7D9B5BB6-5E21-03FA-1F0A-FD0641A3504B}"/>
              </a:ext>
            </a:extLst>
          </p:cNvPr>
          <p:cNvSpPr txBox="1"/>
          <p:nvPr/>
        </p:nvSpPr>
        <p:spPr>
          <a:xfrm>
            <a:off x="7233841" y="4164585"/>
            <a:ext cx="1757212" cy="646331"/>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core</a:t>
            </a:r>
          </a:p>
          <a:p>
            <a:pPr marL="177800" indent="-177800">
              <a:buFont typeface="Arial" panose="020B0604020202020204" pitchFamily="34" charset="0"/>
              <a:buChar char="•"/>
            </a:pPr>
            <a:r>
              <a:rPr lang="en-GB">
                <a:solidFill>
                  <a:schemeClr val="accent4"/>
                </a:solidFill>
                <a:latin typeface="Consolas" panose="020B0609020204030204" pitchFamily="49" charset="0"/>
              </a:rPr>
              <a:t>recommended</a:t>
            </a:r>
          </a:p>
        </p:txBody>
      </p:sp>
      <p:sp>
        <p:nvSpPr>
          <p:cNvPr id="27" name="TextBox 26">
            <a:extLst>
              <a:ext uri="{FF2B5EF4-FFF2-40B4-BE49-F238E27FC236}">
                <a16:creationId xmlns:a16="http://schemas.microsoft.com/office/drawing/2014/main" id="{788E4EFD-62FE-48DB-F410-8E3D1EB6DBE2}"/>
              </a:ext>
            </a:extLst>
          </p:cNvPr>
          <p:cNvSpPr txBox="1"/>
          <p:nvPr/>
        </p:nvSpPr>
        <p:spPr>
          <a:xfrm>
            <a:off x="8933903" y="4162750"/>
            <a:ext cx="3276859" cy="2031325"/>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atmospheric-composition</a:t>
            </a:r>
          </a:p>
          <a:p>
            <a:pPr marL="177800" indent="-177800">
              <a:buFont typeface="Arial" panose="020B0604020202020204" pitchFamily="34" charset="0"/>
              <a:buChar char="•"/>
            </a:pPr>
            <a:r>
              <a:rPr lang="en-GB">
                <a:solidFill>
                  <a:schemeClr val="accent4"/>
                </a:solidFill>
                <a:latin typeface="Consolas" panose="020B0609020204030204" pitchFamily="49" charset="0"/>
              </a:rPr>
              <a:t>climate</a:t>
            </a:r>
          </a:p>
          <a:p>
            <a:pPr marL="177800" indent="-177800">
              <a:buFont typeface="Arial" panose="020B0604020202020204" pitchFamily="34" charset="0"/>
              <a:buChar char="•"/>
            </a:pPr>
            <a:r>
              <a:rPr lang="en-GB">
                <a:solidFill>
                  <a:schemeClr val="accent4"/>
                </a:solidFill>
                <a:latin typeface="Consolas" panose="020B0609020204030204" pitchFamily="49" charset="0"/>
              </a:rPr>
              <a:t>cryosphere</a:t>
            </a:r>
          </a:p>
          <a:p>
            <a:pPr marL="177800" indent="-177800">
              <a:buFont typeface="Arial" panose="020B0604020202020204" pitchFamily="34" charset="0"/>
              <a:buChar char="•"/>
            </a:pPr>
            <a:r>
              <a:rPr lang="en-GB">
                <a:solidFill>
                  <a:schemeClr val="accent4"/>
                </a:solidFill>
                <a:latin typeface="Consolas" panose="020B0609020204030204" pitchFamily="49" charset="0"/>
              </a:rPr>
              <a:t>hydrology</a:t>
            </a:r>
          </a:p>
          <a:p>
            <a:pPr marL="177800" indent="-177800">
              <a:buFont typeface="Arial" panose="020B0604020202020204" pitchFamily="34" charset="0"/>
              <a:buChar char="•"/>
            </a:pPr>
            <a:r>
              <a:rPr lang="en-GB">
                <a:solidFill>
                  <a:schemeClr val="accent4"/>
                </a:solidFill>
                <a:latin typeface="Consolas" panose="020B0609020204030204" pitchFamily="49" charset="0"/>
              </a:rPr>
              <a:t>ocean</a:t>
            </a:r>
          </a:p>
          <a:p>
            <a:pPr marL="177800" indent="-177800">
              <a:buFont typeface="Arial" panose="020B0604020202020204" pitchFamily="34" charset="0"/>
              <a:buChar char="•"/>
            </a:pPr>
            <a:r>
              <a:rPr lang="en-GB">
                <a:solidFill>
                  <a:schemeClr val="accent4"/>
                </a:solidFill>
                <a:latin typeface="Consolas" panose="020B0609020204030204" pitchFamily="49" charset="0"/>
              </a:rPr>
              <a:t>space-weather</a:t>
            </a:r>
          </a:p>
          <a:p>
            <a:pPr marL="177800" indent="-177800">
              <a:buFont typeface="Arial" panose="020B0604020202020204" pitchFamily="34" charset="0"/>
              <a:buChar char="•"/>
            </a:pPr>
            <a:r>
              <a:rPr lang="en-GB">
                <a:solidFill>
                  <a:schemeClr val="accent4"/>
                </a:solidFill>
                <a:latin typeface="Consolas" panose="020B0609020204030204" pitchFamily="49" charset="0"/>
              </a:rPr>
              <a:t>weather</a:t>
            </a:r>
          </a:p>
        </p:txBody>
      </p:sp>
      <p:pic>
        <p:nvPicPr>
          <p:cNvPr id="13" name="Picture 2" descr="World Meteorological Organization - Wikipedia">
            <a:extLst>
              <a:ext uri="{FF2B5EF4-FFF2-40B4-BE49-F238E27FC236}">
                <a16:creationId xmlns:a16="http://schemas.microsoft.com/office/drawing/2014/main" id="{7C679ED3-B02F-094A-E2F1-83B874DBE6F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9F2B26-1423-914C-682F-3ECD922764C1}"/>
              </a:ext>
            </a:extLst>
          </p:cNvPr>
          <p:cNvSpPr txBox="1"/>
          <p:nvPr/>
        </p:nvSpPr>
        <p:spPr>
          <a:xfrm>
            <a:off x="413567" y="2039471"/>
            <a:ext cx="2556857" cy="2616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100" b="1"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rPr>
              <a:t>WIS2 Node</a:t>
            </a:r>
            <a:endParaRPr kumimoji="0" lang="en-GB" sz="1100" b="1" i="0"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endParaRPr>
          </a:p>
        </p:txBody>
      </p:sp>
    </p:spTree>
    <p:extLst>
      <p:ext uri="{BB962C8B-B14F-4D97-AF65-F5344CB8AC3E}">
        <p14:creationId xmlns:p14="http://schemas.microsoft.com/office/powerpoint/2010/main" val="33010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B9999-5E61-4A57-41A4-4A2B0839D06C}"/>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9FC7513C-2AC2-3B65-49C3-9AB840E8BD9B}"/>
              </a:ext>
            </a:extLst>
          </p:cNvPr>
          <p:cNvSpPr/>
          <p:nvPr/>
        </p:nvSpPr>
        <p:spPr>
          <a:xfrm>
            <a:off x="395623" y="2017273"/>
            <a:ext cx="4243318" cy="4145108"/>
          </a:xfrm>
          <a:prstGeom prst="rect">
            <a:avLst/>
          </a:prstGeom>
          <a:solidFill>
            <a:schemeClr val="bg1"/>
          </a:solidFill>
          <a:ln w="12700" cap="flat" cmpd="sng" algn="ctr">
            <a:solidFill>
              <a:srgbClr val="50B9A4">
                <a:shade val="50000"/>
              </a:srgb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50" b="1" i="0" u="none" strike="noStrike" kern="0" cap="none" spc="0" normalizeH="0" baseline="0" noProof="0">
              <a:ln>
                <a:noFill/>
              </a:ln>
              <a:solidFill>
                <a:srgbClr val="A1A0AA">
                  <a:lumMod val="50000"/>
                </a:srgbClr>
              </a:solidFill>
              <a:effectLst/>
              <a:uLnTx/>
              <a:uFillTx/>
              <a:latin typeface="Calibri Light" panose="020F0302020204030204"/>
              <a:ea typeface="+mn-ea"/>
              <a:cs typeface="Calibri"/>
              <a:sym typeface="Calibri"/>
            </a:endParaRPr>
          </a:p>
        </p:txBody>
      </p:sp>
      <p:sp>
        <p:nvSpPr>
          <p:cNvPr id="8" name="TextBox 7">
            <a:extLst>
              <a:ext uri="{FF2B5EF4-FFF2-40B4-BE49-F238E27FC236}">
                <a16:creationId xmlns:a16="http://schemas.microsoft.com/office/drawing/2014/main" id="{35DCE0C4-8C9E-BC49-2834-E359C622E051}"/>
              </a:ext>
            </a:extLst>
          </p:cNvPr>
          <p:cNvSpPr txBox="1"/>
          <p:nvPr/>
        </p:nvSpPr>
        <p:spPr>
          <a:xfrm>
            <a:off x="4763039" y="6311879"/>
            <a:ext cx="264198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Community Components</a:t>
            </a:r>
          </a:p>
        </p:txBody>
      </p:sp>
      <p:grpSp>
        <p:nvGrpSpPr>
          <p:cNvPr id="9" name="Group 8">
            <a:extLst>
              <a:ext uri="{FF2B5EF4-FFF2-40B4-BE49-F238E27FC236}">
                <a16:creationId xmlns:a16="http://schemas.microsoft.com/office/drawing/2014/main" id="{878700DA-8B16-14B7-BA5F-D24B5C8FB7A4}"/>
              </a:ext>
            </a:extLst>
          </p:cNvPr>
          <p:cNvGrpSpPr/>
          <p:nvPr/>
        </p:nvGrpSpPr>
        <p:grpSpPr>
          <a:xfrm>
            <a:off x="5465478" y="2441833"/>
            <a:ext cx="1333367" cy="533709"/>
            <a:chOff x="4738150" y="4607650"/>
            <a:chExt cx="1267200" cy="504342"/>
          </a:xfrm>
        </p:grpSpPr>
        <p:sp>
          <p:nvSpPr>
            <p:cNvPr id="10" name="Rectangle: Diagonal Corners Rounded 193">
              <a:extLst>
                <a:ext uri="{FF2B5EF4-FFF2-40B4-BE49-F238E27FC236}">
                  <a16:creationId xmlns:a16="http://schemas.microsoft.com/office/drawing/2014/main" id="{9FEC2102-CC93-34DB-9E8B-F0606B90547A}"/>
                </a:ext>
              </a:extLst>
            </p:cNvPr>
            <p:cNvSpPr/>
            <p:nvPr/>
          </p:nvSpPr>
          <p:spPr>
            <a:xfrm>
              <a:off x="4738150" y="4607650"/>
              <a:ext cx="1267200" cy="504342"/>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Global Broker</a:t>
              </a:r>
            </a:p>
          </p:txBody>
        </p:sp>
        <p:pic>
          <p:nvPicPr>
            <p:cNvPr id="11" name="Picture 4" descr="Wmo Logo World Meteorological Organization Png - World Meteorological ...">
              <a:extLst>
                <a:ext uri="{FF2B5EF4-FFF2-40B4-BE49-F238E27FC236}">
                  <a16:creationId xmlns:a16="http://schemas.microsoft.com/office/drawing/2014/main" id="{4F0FA8B8-7399-DA5A-B3D2-3726E9D4B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267" y="4666544"/>
              <a:ext cx="266956" cy="29248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563330BC-B522-C5CA-A7C8-9CCFC221770F}"/>
              </a:ext>
            </a:extLst>
          </p:cNvPr>
          <p:cNvSpPr txBox="1"/>
          <p:nvPr/>
        </p:nvSpPr>
        <p:spPr>
          <a:xfrm>
            <a:off x="3157912" y="6310148"/>
            <a:ext cx="224601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Local Components </a:t>
            </a:r>
          </a:p>
        </p:txBody>
      </p:sp>
      <p:grpSp>
        <p:nvGrpSpPr>
          <p:cNvPr id="7" name="Group 6">
            <a:extLst>
              <a:ext uri="{FF2B5EF4-FFF2-40B4-BE49-F238E27FC236}">
                <a16:creationId xmlns:a16="http://schemas.microsoft.com/office/drawing/2014/main" id="{04365C6B-524C-4337-A841-3C385B3DE7AB}"/>
              </a:ext>
            </a:extLst>
          </p:cNvPr>
          <p:cNvGrpSpPr/>
          <p:nvPr/>
        </p:nvGrpSpPr>
        <p:grpSpPr>
          <a:xfrm>
            <a:off x="3036000" y="2508583"/>
            <a:ext cx="1340114" cy="400209"/>
            <a:chOff x="6318068" y="3342518"/>
            <a:chExt cx="1340114" cy="400209"/>
          </a:xfrm>
        </p:grpSpPr>
        <p:sp>
          <p:nvSpPr>
            <p:cNvPr id="25" name="Rectangle: Rounded Corners 24">
              <a:extLst>
                <a:ext uri="{FF2B5EF4-FFF2-40B4-BE49-F238E27FC236}">
                  <a16:creationId xmlns:a16="http://schemas.microsoft.com/office/drawing/2014/main" id="{714997BD-6EA7-C6BA-1A66-E9A0A911931C}"/>
                </a:ext>
              </a:extLst>
            </p:cNvPr>
            <p:cNvSpPr/>
            <p:nvPr/>
          </p:nvSpPr>
          <p:spPr>
            <a:xfrm>
              <a:off x="6318068" y="3342518"/>
              <a:ext cx="1340114" cy="400209"/>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Local Broker</a:t>
              </a:r>
            </a:p>
          </p:txBody>
        </p:sp>
        <p:pic>
          <p:nvPicPr>
            <p:cNvPr id="6" name="Picture 4" descr="Wmo Logo World Meteorological Organization Png - World Meteorological ...">
              <a:extLst>
                <a:ext uri="{FF2B5EF4-FFF2-40B4-BE49-F238E27FC236}">
                  <a16:creationId xmlns:a16="http://schemas.microsoft.com/office/drawing/2014/main" id="{F1647A6E-3017-F4DC-727B-2F35D801B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164" y="3377612"/>
              <a:ext cx="282500" cy="3095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 name="Straight Connector 40">
            <a:extLst>
              <a:ext uri="{FF2B5EF4-FFF2-40B4-BE49-F238E27FC236}">
                <a16:creationId xmlns:a16="http://schemas.microsoft.com/office/drawing/2014/main" id="{987FB677-6F2D-0655-386D-231F339802E2}"/>
              </a:ext>
            </a:extLst>
          </p:cNvPr>
          <p:cNvCxnSpPr>
            <a:cxnSpLocks/>
          </p:cNvCxnSpPr>
          <p:nvPr/>
        </p:nvCxnSpPr>
        <p:spPr>
          <a:xfrm>
            <a:off x="5073927" y="414309"/>
            <a:ext cx="0" cy="6124603"/>
          </a:xfrm>
          <a:prstGeom prst="line">
            <a:avLst/>
          </a:prstGeom>
          <a:noFill/>
          <a:ln w="19050" cap="flat" cmpd="sng" algn="ctr">
            <a:solidFill>
              <a:srgbClr val="C97F3A"/>
            </a:solidFill>
            <a:prstDash val="dash"/>
          </a:ln>
          <a:effectLst/>
        </p:spPr>
      </p:cxnSp>
      <p:sp>
        <p:nvSpPr>
          <p:cNvPr id="169" name="TextBox 168">
            <a:extLst>
              <a:ext uri="{FF2B5EF4-FFF2-40B4-BE49-F238E27FC236}">
                <a16:creationId xmlns:a16="http://schemas.microsoft.com/office/drawing/2014/main" id="{E5FF8A20-E54B-C249-3982-ADBDE846D3E0}"/>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5</a:t>
            </a:fld>
            <a:endParaRPr lang="en-GB" sz="1000" dirty="0"/>
          </a:p>
        </p:txBody>
      </p:sp>
      <p:grpSp>
        <p:nvGrpSpPr>
          <p:cNvPr id="82" name="Group 81">
            <a:extLst>
              <a:ext uri="{FF2B5EF4-FFF2-40B4-BE49-F238E27FC236}">
                <a16:creationId xmlns:a16="http://schemas.microsoft.com/office/drawing/2014/main" id="{3CE64FB4-D80E-76A0-1B6B-E647587311E0}"/>
              </a:ext>
            </a:extLst>
          </p:cNvPr>
          <p:cNvGrpSpPr/>
          <p:nvPr/>
        </p:nvGrpSpPr>
        <p:grpSpPr>
          <a:xfrm>
            <a:off x="619969" y="2516723"/>
            <a:ext cx="1340114" cy="400209"/>
            <a:chOff x="6318068" y="4437423"/>
            <a:chExt cx="1340114" cy="400209"/>
          </a:xfrm>
        </p:grpSpPr>
        <p:sp>
          <p:nvSpPr>
            <p:cNvPr id="80" name="Rectangle: Rounded Corners 79">
              <a:extLst>
                <a:ext uri="{FF2B5EF4-FFF2-40B4-BE49-F238E27FC236}">
                  <a16:creationId xmlns:a16="http://schemas.microsoft.com/office/drawing/2014/main" id="{8F1D730B-BBA4-6327-F777-532DF9D525B9}"/>
                </a:ext>
              </a:extLst>
            </p:cNvPr>
            <p:cNvSpPr/>
            <p:nvPr/>
          </p:nvSpPr>
          <p:spPr>
            <a:xfrm>
              <a:off x="6318068" y="4437423"/>
              <a:ext cx="1340114" cy="400209"/>
            </a:xfrm>
            <a:prstGeom prst="roundRect">
              <a:avLst/>
            </a:prstGeom>
            <a:solidFill>
              <a:srgbClr val="93B479"/>
            </a:solidFill>
            <a:ln w="6350" cap="flat" cmpd="sng" algn="ctr">
              <a:solidFill>
                <a:srgbClr val="004F59"/>
              </a:solidFill>
              <a:prstDash val="solid"/>
              <a:miter lim="800000"/>
            </a:ln>
            <a:effectLst>
              <a:outerShdw blurRad="50800" dist="38100" dir="2700000" algn="tl" rotWithShape="0">
                <a:prstClr val="black">
                  <a:alpha val="40000"/>
                </a:prstClr>
              </a:outerShdw>
            </a:effectLst>
          </p:spPr>
          <p:txBody>
            <a:bodyPr lIns="0" rIns="0" rtlCol="0" anchor="ctr"/>
            <a:lstStyle/>
            <a:p>
              <a:pPr marL="266700" algn="ctr" defTabSz="457200">
                <a:lnSpc>
                  <a:spcPct val="90000"/>
                </a:lnSpc>
                <a:defRPr/>
              </a:pPr>
              <a:r>
                <a:rPr lang="en-GB" sz="1200" kern="0">
                  <a:solidFill>
                    <a:prstClr val="black"/>
                  </a:solidFill>
                  <a:latin typeface="Calibri Light" panose="020F0302020204030204"/>
                  <a:ea typeface="Calibri Light" panose="020F0302020204030204" pitchFamily="34" charset="0"/>
                  <a:cs typeface="Calibri Light" panose="020F0302020204030204" pitchFamily="34" charset="0"/>
                  <a:sym typeface="Calibri"/>
                </a:rPr>
                <a:t>Data Access (APIs)</a:t>
              </a:r>
            </a:p>
          </p:txBody>
        </p:sp>
        <p:pic>
          <p:nvPicPr>
            <p:cNvPr id="81" name="Picture 80" descr="Logo, company name&#10;&#10;Description automatically generated">
              <a:extLst>
                <a:ext uri="{FF2B5EF4-FFF2-40B4-BE49-F238E27FC236}">
                  <a16:creationId xmlns:a16="http://schemas.microsoft.com/office/drawing/2014/main" id="{EE6F8B44-2DE5-E052-8F40-D39262B00496}"/>
                </a:ext>
              </a:extLst>
            </p:cNvPr>
            <p:cNvPicPr>
              <a:picLocks noChangeAspect="1"/>
            </p:cNvPicPr>
            <p:nvPr/>
          </p:nvPicPr>
          <p:blipFill rotWithShape="1">
            <a:blip r:embed="rId4">
              <a:duotone>
                <a:prstClr val="black"/>
                <a:srgbClr val="004F59">
                  <a:tint val="45000"/>
                  <a:satMod val="400000"/>
                </a:srgbClr>
              </a:duotone>
              <a:extLst>
                <a:ext uri="{BEBA8EAE-BF5A-486C-A8C5-ECC9F3942E4B}">
                  <a14:imgProps xmlns:a14="http://schemas.microsoft.com/office/drawing/2010/main">
                    <a14:imgLayer r:embed="rId5">
                      <a14:imgEffect>
                        <a14:backgroundRemoval t="5068" b="52703" l="24156" r="73002">
                          <a14:foregroundMark x1="70515" y1="31081" x2="70515" y2="31081"/>
                          <a14:foregroundMark x1="73002" y1="30743" x2="73002" y2="30743"/>
                          <a14:foregroundMark x1="52931" y1="50338" x2="52931" y2="50338"/>
                          <a14:foregroundMark x1="49023" y1="52703" x2="49023" y2="52703"/>
                          <a14:foregroundMark x1="24156" y1="29899" x2="24156" y2="29899"/>
                        </a14:backgroundRemoval>
                      </a14:imgEffect>
                    </a14:imgLayer>
                  </a14:imgProps>
                </a:ext>
                <a:ext uri="{28A0092B-C50C-407E-A947-70E740481C1C}">
                  <a14:useLocalDpi xmlns:a14="http://schemas.microsoft.com/office/drawing/2010/main" val="0"/>
                </a:ext>
              </a:extLst>
            </a:blip>
            <a:srcRect l="19216" r="24636" b="45879"/>
            <a:stretch/>
          </p:blipFill>
          <p:spPr>
            <a:xfrm>
              <a:off x="6349805" y="4481289"/>
              <a:ext cx="307211" cy="311371"/>
            </a:xfrm>
            <a:prstGeom prst="rect">
              <a:avLst/>
            </a:prstGeom>
            <a:ln>
              <a:solidFill>
                <a:srgbClr val="93B479"/>
              </a:solidFill>
            </a:ln>
          </p:spPr>
        </p:pic>
      </p:grpSp>
      <p:grpSp>
        <p:nvGrpSpPr>
          <p:cNvPr id="86" name="Group 85">
            <a:extLst>
              <a:ext uri="{FF2B5EF4-FFF2-40B4-BE49-F238E27FC236}">
                <a16:creationId xmlns:a16="http://schemas.microsoft.com/office/drawing/2014/main" id="{8E62F3F9-DAC0-76A4-F71D-56A888557002}"/>
              </a:ext>
            </a:extLst>
          </p:cNvPr>
          <p:cNvGrpSpPr/>
          <p:nvPr/>
        </p:nvGrpSpPr>
        <p:grpSpPr>
          <a:xfrm>
            <a:off x="10957783" y="2284643"/>
            <a:ext cx="753415" cy="848088"/>
            <a:chOff x="10987252" y="3139965"/>
            <a:chExt cx="753415" cy="848088"/>
          </a:xfrm>
        </p:grpSpPr>
        <p:pic>
          <p:nvPicPr>
            <p:cNvPr id="87" name="Graphic 86" descr="Users with solid fill">
              <a:extLst>
                <a:ext uri="{FF2B5EF4-FFF2-40B4-BE49-F238E27FC236}">
                  <a16:creationId xmlns:a16="http://schemas.microsoft.com/office/drawing/2014/main" id="{792EB299-AFE2-FC14-0796-661764C4152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049543" y="3139965"/>
              <a:ext cx="612315" cy="623947"/>
            </a:xfrm>
            <a:prstGeom prst="rect">
              <a:avLst/>
            </a:prstGeom>
            <a:effectLst>
              <a:outerShdw blurRad="50800" dist="38100" dir="2700000" algn="tl" rotWithShape="0">
                <a:prstClr val="black">
                  <a:alpha val="40000"/>
                </a:prstClr>
              </a:outerShdw>
            </a:effectLst>
          </p:spPr>
        </p:pic>
        <p:sp>
          <p:nvSpPr>
            <p:cNvPr id="88" name="TextBox 87">
              <a:extLst>
                <a:ext uri="{FF2B5EF4-FFF2-40B4-BE49-F238E27FC236}">
                  <a16:creationId xmlns:a16="http://schemas.microsoft.com/office/drawing/2014/main" id="{F636362C-C513-38F1-0B7A-9F793645FCFA}"/>
                </a:ext>
              </a:extLst>
            </p:cNvPr>
            <p:cNvSpPr txBox="1"/>
            <p:nvPr/>
          </p:nvSpPr>
          <p:spPr>
            <a:xfrm>
              <a:off x="10987252" y="3633982"/>
              <a:ext cx="753415" cy="354071"/>
            </a:xfrm>
            <a:prstGeom prst="rect">
              <a:avLst/>
            </a:prstGeom>
            <a:noFill/>
          </p:spPr>
          <p:txBody>
            <a:bodyPr wrap="square" lIns="0" rIns="0" rtlCol="0">
              <a:spAutoFit/>
            </a:bodyPr>
            <a:lstStyle>
              <a:defPPr>
                <a:defRPr lang="en-US"/>
              </a:defPPr>
              <a:lvl1pPr marR="0" lvl="0" indent="0" algn="ctr" fontAlgn="auto">
                <a:lnSpc>
                  <a:spcPct val="80000"/>
                </a:lnSpc>
                <a:spcBef>
                  <a:spcPts val="0"/>
                </a:spcBef>
                <a:spcAft>
                  <a:spcPts val="0"/>
                </a:spcAft>
                <a:buClrTx/>
                <a:buSzTx/>
                <a:buFontTx/>
                <a:buNone/>
                <a:tabLst/>
                <a:defRPr kumimoji="0" sz="1050" b="0" i="0" u="none" strike="noStrike" cap="none" spc="0" normalizeH="0" baseline="0">
                  <a:ln>
                    <a:noFill/>
                  </a:ln>
                  <a:solidFill>
                    <a:prstClr val="black"/>
                  </a:solidFill>
                  <a:effectLst/>
                  <a:uLnTx/>
                  <a:uFillTx/>
                  <a:latin typeface="Calibri" panose="020F0502020204030204"/>
                </a:defRPr>
              </a:lvl1pPr>
            </a:lstStyle>
            <a:p>
              <a:pPr>
                <a:defRPr/>
              </a:pPr>
              <a:r>
                <a:rPr lang="en-GB">
                  <a:latin typeface="Calibri Light" panose="020F0302020204030204"/>
                  <a:cs typeface="Calibri"/>
                  <a:sym typeface="Calibri"/>
                </a:rPr>
                <a:t>Data Consumers</a:t>
              </a:r>
            </a:p>
          </p:txBody>
        </p:sp>
      </p:grpSp>
      <p:grpSp>
        <p:nvGrpSpPr>
          <p:cNvPr id="154" name="Group 153">
            <a:extLst>
              <a:ext uri="{FF2B5EF4-FFF2-40B4-BE49-F238E27FC236}">
                <a16:creationId xmlns:a16="http://schemas.microsoft.com/office/drawing/2014/main" id="{14C227C3-110C-407A-33F8-39F2B914C90D}"/>
              </a:ext>
            </a:extLst>
          </p:cNvPr>
          <p:cNvGrpSpPr/>
          <p:nvPr/>
        </p:nvGrpSpPr>
        <p:grpSpPr>
          <a:xfrm>
            <a:off x="850980" y="2706031"/>
            <a:ext cx="3266658" cy="1075921"/>
            <a:chOff x="850980" y="2706031"/>
            <a:chExt cx="3266658" cy="1075921"/>
          </a:xfrm>
        </p:grpSpPr>
        <p:sp>
          <p:nvSpPr>
            <p:cNvPr id="150" name="TextBox 149">
              <a:extLst>
                <a:ext uri="{FF2B5EF4-FFF2-40B4-BE49-F238E27FC236}">
                  <a16:creationId xmlns:a16="http://schemas.microsoft.com/office/drawing/2014/main" id="{5C5446DB-0A4F-2212-C309-A2FDF4886863}"/>
                </a:ext>
              </a:extLst>
            </p:cNvPr>
            <p:cNvSpPr txBox="1"/>
            <p:nvPr/>
          </p:nvSpPr>
          <p:spPr>
            <a:xfrm>
              <a:off x="850980" y="3274121"/>
              <a:ext cx="3266658" cy="507831"/>
            </a:xfrm>
            <a:prstGeom prst="rect">
              <a:avLst/>
            </a:prstGeom>
            <a:noFill/>
          </p:spPr>
          <p:txBody>
            <a:bodyPr wrap="squar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endParaRPr lang="en-GB" sz="1200">
                <a:solidFill>
                  <a:schemeClr val="accent6"/>
                </a:solidFill>
                <a:latin typeface="Consolas" panose="020B0609020204030204" pitchFamily="49" charset="0"/>
              </a:endParaRPr>
            </a:p>
          </p:txBody>
        </p:sp>
        <p:pic>
          <p:nvPicPr>
            <p:cNvPr id="151" name="Picture 150">
              <a:extLst>
                <a:ext uri="{FF2B5EF4-FFF2-40B4-BE49-F238E27FC236}">
                  <a16:creationId xmlns:a16="http://schemas.microsoft.com/office/drawing/2014/main" id="{F732DCB1-717D-2AF1-6671-3A4D276695FD}"/>
                </a:ext>
              </a:extLst>
            </p:cNvPr>
            <p:cNvPicPr>
              <a:picLocks noChangeAspect="1"/>
            </p:cNvPicPr>
            <p:nvPr/>
          </p:nvPicPr>
          <p:blipFill>
            <a:blip r:embed="rId8">
              <a:duotone>
                <a:schemeClr val="accent6">
                  <a:shade val="45000"/>
                  <a:satMod val="135000"/>
                </a:schemeClr>
                <a:prstClr val="white"/>
              </a:duotone>
            </a:blip>
            <a:stretch>
              <a:fillRect/>
            </a:stretch>
          </p:blipFill>
          <p:spPr>
            <a:xfrm>
              <a:off x="1969723" y="3355216"/>
              <a:ext cx="169915" cy="196863"/>
            </a:xfrm>
            <a:prstGeom prst="rect">
              <a:avLst/>
            </a:prstGeom>
          </p:spPr>
        </p:pic>
        <p:cxnSp>
          <p:nvCxnSpPr>
            <p:cNvPr id="152" name="Straight Arrow Connector 151">
              <a:extLst>
                <a:ext uri="{FF2B5EF4-FFF2-40B4-BE49-F238E27FC236}">
                  <a16:creationId xmlns:a16="http://schemas.microsoft.com/office/drawing/2014/main" id="{0CB17B10-F0CD-702F-3ACF-AC73917B07FE}"/>
                </a:ext>
              </a:extLst>
            </p:cNvPr>
            <p:cNvCxnSpPr>
              <a:cxnSpLocks/>
            </p:cNvCxnSpPr>
            <p:nvPr/>
          </p:nvCxnSpPr>
          <p:spPr>
            <a:xfrm flipH="1">
              <a:off x="1945956" y="2706031"/>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53" name="Straight Connector 152">
              <a:extLst>
                <a:ext uri="{FF2B5EF4-FFF2-40B4-BE49-F238E27FC236}">
                  <a16:creationId xmlns:a16="http://schemas.microsoft.com/office/drawing/2014/main" id="{E6F9346D-5263-6A01-8E39-FB9F67952703}"/>
                </a:ext>
              </a:extLst>
            </p:cNvPr>
            <p:cNvCxnSpPr>
              <a:cxnSpLocks/>
            </p:cNvCxnSpPr>
            <p:nvPr/>
          </p:nvCxnSpPr>
          <p:spPr>
            <a:xfrm flipH="1" flipV="1">
              <a:off x="2489900" y="2707446"/>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29662882-61BE-07F3-EBC6-16E7E1176B6D}"/>
              </a:ext>
            </a:extLst>
          </p:cNvPr>
          <p:cNvGrpSpPr/>
          <p:nvPr/>
        </p:nvGrpSpPr>
        <p:grpSpPr>
          <a:xfrm>
            <a:off x="6763265" y="2660007"/>
            <a:ext cx="640816" cy="402471"/>
            <a:chOff x="6763265" y="2660007"/>
            <a:chExt cx="640816" cy="402471"/>
          </a:xfrm>
        </p:grpSpPr>
        <p:grpSp>
          <p:nvGrpSpPr>
            <p:cNvPr id="113" name="Group 112">
              <a:extLst>
                <a:ext uri="{FF2B5EF4-FFF2-40B4-BE49-F238E27FC236}">
                  <a16:creationId xmlns:a16="http://schemas.microsoft.com/office/drawing/2014/main" id="{BDA6ACDF-D7BA-5194-43FF-C0989B7D824C}"/>
                </a:ext>
              </a:extLst>
            </p:cNvPr>
            <p:cNvGrpSpPr/>
            <p:nvPr/>
          </p:nvGrpSpPr>
          <p:grpSpPr>
            <a:xfrm>
              <a:off x="6802097" y="2660007"/>
              <a:ext cx="309320" cy="109283"/>
              <a:chOff x="7584406" y="1764347"/>
              <a:chExt cx="309320" cy="109283"/>
            </a:xfrm>
          </p:grpSpPr>
          <p:cxnSp>
            <p:nvCxnSpPr>
              <p:cNvPr id="114" name="Straight Arrow Connector 113">
                <a:extLst>
                  <a:ext uri="{FF2B5EF4-FFF2-40B4-BE49-F238E27FC236}">
                    <a16:creationId xmlns:a16="http://schemas.microsoft.com/office/drawing/2014/main" id="{7C6E2FB4-1F21-5F7A-AC28-09673E0A6C6B}"/>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15" name="Oval 114">
                <a:extLst>
                  <a:ext uri="{FF2B5EF4-FFF2-40B4-BE49-F238E27FC236}">
                    <a16:creationId xmlns:a16="http://schemas.microsoft.com/office/drawing/2014/main" id="{9D3FD4C2-E2AC-6498-02D2-181243993770}"/>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6" name="TextBox 115">
              <a:extLst>
                <a:ext uri="{FF2B5EF4-FFF2-40B4-BE49-F238E27FC236}">
                  <a16:creationId xmlns:a16="http://schemas.microsoft.com/office/drawing/2014/main" id="{B0B5BDB5-E5E9-C90D-58D2-C070DC2F0927}"/>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sp>
        <p:nvSpPr>
          <p:cNvPr id="125" name="TextBox 124">
            <a:extLst>
              <a:ext uri="{FF2B5EF4-FFF2-40B4-BE49-F238E27FC236}">
                <a16:creationId xmlns:a16="http://schemas.microsoft.com/office/drawing/2014/main" id="{FE23734F-7819-1C18-0275-7CDCA3B784A2}"/>
              </a:ext>
            </a:extLst>
          </p:cNvPr>
          <p:cNvSpPr txBox="1"/>
          <p:nvPr/>
        </p:nvSpPr>
        <p:spPr>
          <a:xfrm>
            <a:off x="5731688" y="1747081"/>
            <a:ext cx="2646878" cy="692497"/>
          </a:xfrm>
          <a:prstGeom prst="rect">
            <a:avLst/>
          </a:prstGeom>
          <a:noFill/>
        </p:spPr>
        <p:txBody>
          <a:bodyPr wrap="non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p>
          <a:p>
            <a:pPr algn="ctr"/>
            <a:endParaRPr lang="en-GB" sz="1200">
              <a:solidFill>
                <a:schemeClr val="accent6"/>
              </a:solidFill>
              <a:latin typeface="Consolas" panose="020B0609020204030204" pitchFamily="49" charset="0"/>
            </a:endParaRPr>
          </a:p>
        </p:txBody>
      </p:sp>
      <p:grpSp>
        <p:nvGrpSpPr>
          <p:cNvPr id="129" name="Group 128">
            <a:extLst>
              <a:ext uri="{FF2B5EF4-FFF2-40B4-BE49-F238E27FC236}">
                <a16:creationId xmlns:a16="http://schemas.microsoft.com/office/drawing/2014/main" id="{F6BA1180-2158-1F4D-4BA5-2CDE924285B8}"/>
              </a:ext>
            </a:extLst>
          </p:cNvPr>
          <p:cNvGrpSpPr/>
          <p:nvPr/>
        </p:nvGrpSpPr>
        <p:grpSpPr>
          <a:xfrm>
            <a:off x="3761820" y="2704600"/>
            <a:ext cx="2285252" cy="1083755"/>
            <a:chOff x="3761820" y="2704600"/>
            <a:chExt cx="2285252" cy="1083755"/>
          </a:xfrm>
        </p:grpSpPr>
        <p:cxnSp>
          <p:nvCxnSpPr>
            <p:cNvPr id="130" name="Straight Arrow Connector 129">
              <a:extLst>
                <a:ext uri="{FF2B5EF4-FFF2-40B4-BE49-F238E27FC236}">
                  <a16:creationId xmlns:a16="http://schemas.microsoft.com/office/drawing/2014/main" id="{D3E4D718-FCD1-ACD1-8BC8-12827D531EC2}"/>
                </a:ext>
              </a:extLst>
            </p:cNvPr>
            <p:cNvCxnSpPr>
              <a:cxnSpLocks/>
            </p:cNvCxnSpPr>
            <p:nvPr/>
          </p:nvCxnSpPr>
          <p:spPr>
            <a:xfrm>
              <a:off x="4360502" y="2704600"/>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31" name="Straight Connector 130">
              <a:extLst>
                <a:ext uri="{FF2B5EF4-FFF2-40B4-BE49-F238E27FC236}">
                  <a16:creationId xmlns:a16="http://schemas.microsoft.com/office/drawing/2014/main" id="{4585DC63-980A-F37F-BEFB-87643ABA28FC}"/>
                </a:ext>
              </a:extLst>
            </p:cNvPr>
            <p:cNvCxnSpPr>
              <a:cxnSpLocks/>
              <a:stCxn id="132" idx="0"/>
            </p:cNvCxnSpPr>
            <p:nvPr/>
          </p:nvCxnSpPr>
          <p:spPr>
            <a:xfrm flipV="1">
              <a:off x="4904446" y="2706015"/>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D2BC3D0E-C61D-0CE0-96D9-A14B8C48C54A}"/>
                </a:ext>
              </a:extLst>
            </p:cNvPr>
            <p:cNvSpPr txBox="1"/>
            <p:nvPr/>
          </p:nvSpPr>
          <p:spPr>
            <a:xfrm>
              <a:off x="3761820" y="3280524"/>
              <a:ext cx="2285252" cy="507831"/>
            </a:xfrm>
            <a:prstGeom prst="rect">
              <a:avLst/>
            </a:prstGeom>
            <a:solidFill>
              <a:srgbClr val="FFFFFF">
                <a:alpha val="80000"/>
              </a:srgbClr>
            </a:solidFill>
          </p:spPr>
          <p:txBody>
            <a:bodyPr wrap="squar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origin/a/wis2/{centre-id}/#</a:t>
              </a:r>
              <a:endParaRPr lang="en-GB" sz="1200">
                <a:solidFill>
                  <a:schemeClr val="accent6"/>
                </a:solidFill>
                <a:latin typeface="Consolas" panose="020B0609020204030204" pitchFamily="49" charset="0"/>
              </a:endParaRPr>
            </a:p>
          </p:txBody>
        </p:sp>
      </p:grpSp>
      <p:sp>
        <p:nvSpPr>
          <p:cNvPr id="2" name="Rectangle 1">
            <a:extLst>
              <a:ext uri="{FF2B5EF4-FFF2-40B4-BE49-F238E27FC236}">
                <a16:creationId xmlns:a16="http://schemas.microsoft.com/office/drawing/2014/main" id="{01E226AB-C650-00E3-CE68-BE90C8C0E468}"/>
              </a:ext>
            </a:extLst>
          </p:cNvPr>
          <p:cNvSpPr/>
          <p:nvPr/>
        </p:nvSpPr>
        <p:spPr>
          <a:xfrm>
            <a:off x="246111" y="3832472"/>
            <a:ext cx="7112921" cy="276876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3" name="Picture 182" descr="A group of flags of different countries/regions&#10;&#10;Description automatically generated">
            <a:extLst>
              <a:ext uri="{FF2B5EF4-FFF2-40B4-BE49-F238E27FC236}">
                <a16:creationId xmlns:a16="http://schemas.microsoft.com/office/drawing/2014/main" id="{BB2A0698-6EAA-BBC0-89A4-03D377732B03}"/>
              </a:ext>
            </a:extLst>
          </p:cNvPr>
          <p:cNvPicPr>
            <a:picLocks noChangeAspect="1"/>
          </p:cNvPicPr>
          <p:nvPr/>
        </p:nvPicPr>
        <p:blipFill rotWithShape="1">
          <a:blip r:embed="rId9">
            <a:extLst>
              <a:ext uri="{28A0092B-C50C-407E-A947-70E740481C1C}">
                <a14:useLocalDpi xmlns:a14="http://schemas.microsoft.com/office/drawing/2010/main" val="0"/>
              </a:ext>
            </a:extLst>
          </a:blip>
          <a:srcRect l="10370" t="35630" r="80593" b="58444"/>
          <a:stretch/>
        </p:blipFill>
        <p:spPr>
          <a:xfrm>
            <a:off x="5929662" y="3041820"/>
            <a:ext cx="414059" cy="271514"/>
          </a:xfrm>
          <a:prstGeom prst="rect">
            <a:avLst/>
          </a:prstGeom>
        </p:spPr>
      </p:pic>
      <p:sp>
        <p:nvSpPr>
          <p:cNvPr id="4" name="TextBox 3">
            <a:extLst>
              <a:ext uri="{FF2B5EF4-FFF2-40B4-BE49-F238E27FC236}">
                <a16:creationId xmlns:a16="http://schemas.microsoft.com/office/drawing/2014/main" id="{AF3EA325-8932-B9C3-788D-4531C968B733}"/>
              </a:ext>
            </a:extLst>
          </p:cNvPr>
          <p:cNvSpPr txBox="1"/>
          <p:nvPr/>
        </p:nvSpPr>
        <p:spPr>
          <a:xfrm>
            <a:off x="246111" y="133810"/>
            <a:ext cx="4912629" cy="1754326"/>
          </a:xfrm>
          <a:prstGeom prst="rect">
            <a:avLst/>
          </a:prstGeom>
          <a:noFill/>
        </p:spPr>
        <p:txBody>
          <a:bodyPr wrap="square" rtlCol="0">
            <a:spAutoFit/>
          </a:bodyPr>
          <a:lstStyle/>
          <a:p>
            <a:pPr marL="285750" indent="-285750">
              <a:buFont typeface="Arial" panose="020B0604020202020204" pitchFamily="34" charset="0"/>
              <a:buChar char="•"/>
            </a:pPr>
            <a:r>
              <a:rPr lang="en-GB"/>
              <a:t>WIS2 has hundreds of (meta)data publishers – how do we keep the notification messages organised?</a:t>
            </a:r>
          </a:p>
          <a:p>
            <a:pPr marL="285750" indent="-285750">
              <a:buFont typeface="Arial" panose="020B0604020202020204" pitchFamily="34" charset="0"/>
              <a:buChar char="•"/>
            </a:pPr>
            <a:r>
              <a:rPr lang="en-GB"/>
              <a:t>WIS2 requires that notification messages are published on specific </a:t>
            </a:r>
            <a:r>
              <a:rPr lang="en-GB" b="1"/>
              <a:t>topics</a:t>
            </a:r>
            <a:r>
              <a:rPr lang="en-GB"/>
              <a:t> according to a well-defined </a:t>
            </a:r>
            <a:r>
              <a:rPr lang="en-GB" b="1"/>
              <a:t>topic hierarchy </a:t>
            </a:r>
            <a:r>
              <a:rPr lang="en-GB"/>
              <a:t>(</a:t>
            </a:r>
            <a:r>
              <a:rPr lang="en-GB">
                <a:hlinkClick r:id="rId10"/>
              </a:rPr>
              <a:t>spec</a:t>
            </a:r>
            <a:r>
              <a:rPr lang="en-GB"/>
              <a:t>)</a:t>
            </a:r>
          </a:p>
        </p:txBody>
      </p:sp>
      <p:sp>
        <p:nvSpPr>
          <p:cNvPr id="5" name="TextBox 4">
            <a:extLst>
              <a:ext uri="{FF2B5EF4-FFF2-40B4-BE49-F238E27FC236}">
                <a16:creationId xmlns:a16="http://schemas.microsoft.com/office/drawing/2014/main" id="{15FA32B4-2351-8976-8F0E-A89C2E656E8F}"/>
              </a:ext>
            </a:extLst>
          </p:cNvPr>
          <p:cNvSpPr txBox="1"/>
          <p:nvPr/>
        </p:nvSpPr>
        <p:spPr>
          <a:xfrm>
            <a:off x="5088404" y="127891"/>
            <a:ext cx="5236693" cy="1754326"/>
          </a:xfrm>
          <a:prstGeom prst="rect">
            <a:avLst/>
          </a:prstGeom>
          <a:noFill/>
        </p:spPr>
        <p:txBody>
          <a:bodyPr wrap="square" rtlCol="0">
            <a:spAutoFit/>
          </a:bodyPr>
          <a:lstStyle/>
          <a:p>
            <a:pPr marL="285750" indent="-285750">
              <a:buFont typeface="Arial" panose="020B0604020202020204" pitchFamily="34" charset="0"/>
              <a:buChar char="•"/>
            </a:pPr>
            <a:r>
              <a:rPr lang="en-GB"/>
              <a:t>Each earth-system-discipline is further organised into sub-disciplines according to recommendations of domain experts</a:t>
            </a:r>
          </a:p>
          <a:p>
            <a:pPr marL="285750" indent="-285750">
              <a:buFont typeface="Arial" panose="020B0604020202020204" pitchFamily="34" charset="0"/>
              <a:buChar char="•"/>
            </a:pPr>
            <a:r>
              <a:rPr lang="en-GB"/>
              <a:t>Sub-disciplines are the same for both Core and Recommended branches of the topic-hierarchy</a:t>
            </a:r>
          </a:p>
          <a:p>
            <a:pPr marL="285750" indent="-285750">
              <a:buFont typeface="Arial" panose="020B0604020202020204" pitchFamily="34" charset="0"/>
              <a:buChar char="•"/>
            </a:pPr>
            <a:r>
              <a:rPr lang="en-GB">
                <a:latin typeface="Consolas" panose="020B0609020204030204" pitchFamily="49" charset="0"/>
              </a:rPr>
              <a:t>experimental</a:t>
            </a:r>
            <a:r>
              <a:rPr lang="en-GB"/>
              <a:t> is your play-space </a:t>
            </a:r>
            <a:r>
              <a:rPr lang="en-GB">
                <a:sym typeface="Wingdings" panose="05000000000000000000" pitchFamily="2" charset="2"/>
              </a:rPr>
              <a:t></a:t>
            </a:r>
            <a:r>
              <a:rPr lang="en-GB"/>
              <a:t>  </a:t>
            </a:r>
          </a:p>
        </p:txBody>
      </p:sp>
      <p:sp>
        <p:nvSpPr>
          <p:cNvPr id="12" name="TextBox 11">
            <a:extLst>
              <a:ext uri="{FF2B5EF4-FFF2-40B4-BE49-F238E27FC236}">
                <a16:creationId xmlns:a16="http://schemas.microsoft.com/office/drawing/2014/main" id="{9D86C0CA-6E58-9696-469A-8A0E5D8B9FD1}"/>
              </a:ext>
            </a:extLst>
          </p:cNvPr>
          <p:cNvSpPr txBox="1"/>
          <p:nvPr/>
        </p:nvSpPr>
        <p:spPr>
          <a:xfrm>
            <a:off x="-7770477" y="3834371"/>
            <a:ext cx="18112010" cy="369332"/>
          </a:xfrm>
          <a:prstGeom prst="rect">
            <a:avLst/>
          </a:prstGeom>
          <a:noFill/>
        </p:spPr>
        <p:txBody>
          <a:bodyPr wrap="none" rtlCol="0">
            <a:spAutoFit/>
          </a:bodyPr>
          <a:lstStyle/>
          <a:p>
            <a:r>
              <a:rPr lang="en-GB"/>
              <a:t>{1:channel}/{2:version}/{3:system}/{4:centre-id}/{5:notification-type}/{6:data-policy}/{7:earth-system-discipline}     /     {8:sub-discipline}                        /                        {9:sub-sub-discipline} </a:t>
            </a:r>
          </a:p>
        </p:txBody>
      </p:sp>
      <p:sp>
        <p:nvSpPr>
          <p:cNvPr id="27" name="TextBox 26">
            <a:extLst>
              <a:ext uri="{FF2B5EF4-FFF2-40B4-BE49-F238E27FC236}">
                <a16:creationId xmlns:a16="http://schemas.microsoft.com/office/drawing/2014/main" id="{EE2297C2-2964-68A1-959F-34DAC5DB27EF}"/>
              </a:ext>
            </a:extLst>
          </p:cNvPr>
          <p:cNvSpPr txBox="1"/>
          <p:nvPr/>
        </p:nvSpPr>
        <p:spPr>
          <a:xfrm>
            <a:off x="513803" y="4162750"/>
            <a:ext cx="3276859" cy="2031325"/>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atmospheric-composition</a:t>
            </a:r>
          </a:p>
          <a:p>
            <a:pPr marL="177800" indent="-177800">
              <a:buFont typeface="Arial" panose="020B0604020202020204" pitchFamily="34" charset="0"/>
              <a:buChar char="•"/>
            </a:pPr>
            <a:r>
              <a:rPr lang="en-GB">
                <a:solidFill>
                  <a:schemeClr val="accent4"/>
                </a:solidFill>
                <a:latin typeface="Consolas" panose="020B0609020204030204" pitchFamily="49" charset="0"/>
              </a:rPr>
              <a:t>climate</a:t>
            </a:r>
          </a:p>
          <a:p>
            <a:pPr marL="177800" indent="-177800">
              <a:buFont typeface="Arial" panose="020B0604020202020204" pitchFamily="34" charset="0"/>
              <a:buChar char="•"/>
            </a:pPr>
            <a:r>
              <a:rPr lang="en-GB">
                <a:solidFill>
                  <a:schemeClr val="accent4"/>
                </a:solidFill>
                <a:latin typeface="Consolas" panose="020B0609020204030204" pitchFamily="49" charset="0"/>
              </a:rPr>
              <a:t>cryosphere</a:t>
            </a:r>
          </a:p>
          <a:p>
            <a:pPr marL="177800" indent="-177800">
              <a:buFont typeface="Arial" panose="020B0604020202020204" pitchFamily="34" charset="0"/>
              <a:buChar char="•"/>
            </a:pPr>
            <a:r>
              <a:rPr lang="en-GB">
                <a:solidFill>
                  <a:schemeClr val="accent4"/>
                </a:solidFill>
                <a:latin typeface="Consolas" panose="020B0609020204030204" pitchFamily="49" charset="0"/>
              </a:rPr>
              <a:t>hydrology</a:t>
            </a:r>
          </a:p>
          <a:p>
            <a:pPr marL="177800" indent="-177800">
              <a:buFont typeface="Arial" panose="020B0604020202020204" pitchFamily="34" charset="0"/>
              <a:buChar char="•"/>
            </a:pPr>
            <a:r>
              <a:rPr lang="en-GB">
                <a:solidFill>
                  <a:schemeClr val="accent4"/>
                </a:solidFill>
                <a:latin typeface="Consolas" panose="020B0609020204030204" pitchFamily="49" charset="0"/>
              </a:rPr>
              <a:t>ocean</a:t>
            </a:r>
          </a:p>
          <a:p>
            <a:pPr marL="177800" indent="-177800">
              <a:buFont typeface="Arial" panose="020B0604020202020204" pitchFamily="34" charset="0"/>
              <a:buChar char="•"/>
            </a:pPr>
            <a:r>
              <a:rPr lang="en-GB">
                <a:solidFill>
                  <a:schemeClr val="accent4"/>
                </a:solidFill>
                <a:latin typeface="Consolas" panose="020B0609020204030204" pitchFamily="49" charset="0"/>
              </a:rPr>
              <a:t>space-weather</a:t>
            </a:r>
          </a:p>
          <a:p>
            <a:pPr marL="177800" indent="-177800">
              <a:buFont typeface="Arial" panose="020B0604020202020204" pitchFamily="34" charset="0"/>
              <a:buChar char="•"/>
            </a:pPr>
            <a:r>
              <a:rPr lang="en-GB" b="1">
                <a:solidFill>
                  <a:schemeClr val="accent4"/>
                </a:solidFill>
                <a:latin typeface="Consolas" panose="020B0609020204030204" pitchFamily="49" charset="0"/>
                <a:hlinkClick r:id="rId11"/>
              </a:rPr>
              <a:t>weather</a:t>
            </a:r>
            <a:endParaRPr lang="en-GB" b="1">
              <a:solidFill>
                <a:schemeClr val="accent4"/>
              </a:solidFill>
              <a:latin typeface="Consolas" panose="020B0609020204030204" pitchFamily="49" charset="0"/>
            </a:endParaRPr>
          </a:p>
        </p:txBody>
      </p:sp>
      <p:sp>
        <p:nvSpPr>
          <p:cNvPr id="19" name="TextBox 18">
            <a:extLst>
              <a:ext uri="{FF2B5EF4-FFF2-40B4-BE49-F238E27FC236}">
                <a16:creationId xmlns:a16="http://schemas.microsoft.com/office/drawing/2014/main" id="{59142240-BD76-C075-EAB6-0E2CE35CB16C}"/>
              </a:ext>
            </a:extLst>
          </p:cNvPr>
          <p:cNvSpPr txBox="1"/>
          <p:nvPr/>
        </p:nvSpPr>
        <p:spPr>
          <a:xfrm>
            <a:off x="3750506" y="4167091"/>
            <a:ext cx="3656770" cy="1754326"/>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advisories-warnings</a:t>
            </a:r>
          </a:p>
          <a:p>
            <a:pPr marL="177800" indent="-177800">
              <a:buFont typeface="Arial" panose="020B0604020202020204" pitchFamily="34" charset="0"/>
              <a:buChar char="•"/>
            </a:pPr>
            <a:r>
              <a:rPr lang="en-GB">
                <a:solidFill>
                  <a:schemeClr val="accent4"/>
                </a:solidFill>
                <a:latin typeface="Consolas" panose="020B0609020204030204" pitchFamily="49" charset="0"/>
              </a:rPr>
              <a:t>aviation</a:t>
            </a:r>
          </a:p>
          <a:p>
            <a:pPr marL="177800" indent="-177800">
              <a:buFont typeface="Arial" panose="020B0604020202020204" pitchFamily="34" charset="0"/>
              <a:buChar char="•"/>
            </a:pPr>
            <a:r>
              <a:rPr lang="en-GB">
                <a:solidFill>
                  <a:schemeClr val="accent4"/>
                </a:solidFill>
                <a:latin typeface="Consolas" panose="020B0609020204030204" pitchFamily="49" charset="0"/>
              </a:rPr>
              <a:t>prediction</a:t>
            </a:r>
          </a:p>
          <a:p>
            <a:pPr marL="177800" indent="-177800">
              <a:buFont typeface="Arial" panose="020B0604020202020204" pitchFamily="34" charset="0"/>
              <a:buChar char="•"/>
            </a:pPr>
            <a:r>
              <a:rPr lang="en-GB">
                <a:solidFill>
                  <a:schemeClr val="accent4"/>
                </a:solidFill>
                <a:latin typeface="Consolas" panose="020B0609020204030204" pitchFamily="49" charset="0"/>
              </a:rPr>
              <a:t>space-based-observations</a:t>
            </a:r>
          </a:p>
          <a:p>
            <a:pPr marL="177800" indent="-177800">
              <a:buFont typeface="Arial" panose="020B0604020202020204" pitchFamily="34" charset="0"/>
              <a:buChar char="•"/>
            </a:pPr>
            <a:r>
              <a:rPr lang="en-GB" b="1">
                <a:solidFill>
                  <a:schemeClr val="accent4"/>
                </a:solidFill>
                <a:latin typeface="Consolas" panose="020B0609020204030204" pitchFamily="49" charset="0"/>
                <a:hlinkClick r:id="rId12"/>
              </a:rPr>
              <a:t>surface-based-observations</a:t>
            </a:r>
            <a:endParaRPr lang="en-GB" b="1">
              <a:solidFill>
                <a:schemeClr val="accent4"/>
              </a:solidFill>
              <a:latin typeface="Consolas" panose="020B0609020204030204" pitchFamily="49" charset="0"/>
            </a:endParaRPr>
          </a:p>
          <a:p>
            <a:pPr marL="177800" indent="-177800">
              <a:buFont typeface="Arial" panose="020B0604020202020204" pitchFamily="34" charset="0"/>
              <a:buChar char="•"/>
            </a:pPr>
            <a:r>
              <a:rPr lang="en-GB">
                <a:solidFill>
                  <a:srgbClr val="C00000"/>
                </a:solidFill>
                <a:latin typeface="Consolas" panose="020B0609020204030204" pitchFamily="49" charset="0"/>
              </a:rPr>
              <a:t>experimental</a:t>
            </a:r>
          </a:p>
        </p:txBody>
      </p:sp>
      <p:cxnSp>
        <p:nvCxnSpPr>
          <p:cNvPr id="21" name="Straight Arrow Connector 20">
            <a:extLst>
              <a:ext uri="{FF2B5EF4-FFF2-40B4-BE49-F238E27FC236}">
                <a16:creationId xmlns:a16="http://schemas.microsoft.com/office/drawing/2014/main" id="{4952270D-02C8-DE0D-E89C-2AD53A193C54}"/>
              </a:ext>
            </a:extLst>
          </p:cNvPr>
          <p:cNvCxnSpPr/>
          <p:nvPr/>
        </p:nvCxnSpPr>
        <p:spPr>
          <a:xfrm>
            <a:off x="1790700" y="6048884"/>
            <a:ext cx="1701800" cy="0"/>
          </a:xfrm>
          <a:prstGeom prst="straightConnector1">
            <a:avLst/>
          </a:prstGeom>
          <a:ln w="28575">
            <a:solidFill>
              <a:srgbClr val="0070C0"/>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1B0107C-4DF1-1D3A-E199-96C74443B556}"/>
              </a:ext>
            </a:extLst>
          </p:cNvPr>
          <p:cNvSpPr txBox="1"/>
          <p:nvPr/>
        </p:nvSpPr>
        <p:spPr>
          <a:xfrm>
            <a:off x="7749516" y="4165603"/>
            <a:ext cx="3530134" cy="2862322"/>
          </a:xfrm>
          <a:prstGeom prst="rect">
            <a:avLst/>
          </a:prstGeom>
          <a:noFill/>
        </p:spPr>
        <p:txBody>
          <a:bodyPr wrap="none" rtlCol="0">
            <a:spAutoFit/>
          </a:bodyPr>
          <a:lstStyle/>
          <a:p>
            <a:pPr marL="177800" indent="-177800">
              <a:buFont typeface="Arial" panose="020B0604020202020204" pitchFamily="34" charset="0"/>
              <a:buChar char="•"/>
            </a:pPr>
            <a:r>
              <a:rPr lang="en-GB">
                <a:solidFill>
                  <a:schemeClr val="accent4"/>
                </a:solidFill>
                <a:latin typeface="Consolas" panose="020B0609020204030204" pitchFamily="49" charset="0"/>
              </a:rPr>
              <a:t>fixed-marine-platforms</a:t>
            </a:r>
          </a:p>
          <a:p>
            <a:pPr marL="177800" indent="-177800">
              <a:buFont typeface="Arial" panose="020B0604020202020204" pitchFamily="34" charset="0"/>
              <a:buChar char="•"/>
            </a:pPr>
            <a:r>
              <a:rPr lang="en-GB">
                <a:solidFill>
                  <a:schemeClr val="accent4"/>
                </a:solidFill>
                <a:latin typeface="Consolas" panose="020B0609020204030204" pitchFamily="49" charset="0"/>
              </a:rPr>
              <a:t>ship</a:t>
            </a:r>
          </a:p>
          <a:p>
            <a:pPr marL="177800" indent="-177800">
              <a:buFont typeface="Arial" panose="020B0604020202020204" pitchFamily="34" charset="0"/>
              <a:buChar char="•"/>
            </a:pPr>
            <a:r>
              <a:rPr lang="en-GB" err="1">
                <a:solidFill>
                  <a:schemeClr val="accent4"/>
                </a:solidFill>
                <a:latin typeface="Consolas" panose="020B0609020204030204" pitchFamily="49" charset="0"/>
              </a:rPr>
              <a:t>synop</a:t>
            </a:r>
            <a:endParaRPr lang="en-GB">
              <a:solidFill>
                <a:schemeClr val="accent4"/>
              </a:solidFill>
              <a:latin typeface="Consolas" panose="020B0609020204030204" pitchFamily="49" charset="0"/>
            </a:endParaRPr>
          </a:p>
          <a:p>
            <a:pPr marL="177800" indent="-177800">
              <a:buFont typeface="Arial" panose="020B0604020202020204" pitchFamily="34" charset="0"/>
              <a:buChar char="•"/>
            </a:pPr>
            <a:r>
              <a:rPr lang="en-GB">
                <a:solidFill>
                  <a:schemeClr val="accent4"/>
                </a:solidFill>
                <a:latin typeface="Consolas" panose="020B0609020204030204" pitchFamily="49" charset="0"/>
              </a:rPr>
              <a:t>temp</a:t>
            </a:r>
          </a:p>
          <a:p>
            <a:pPr marL="177800" indent="-177800">
              <a:buFont typeface="Arial" panose="020B0604020202020204" pitchFamily="34" charset="0"/>
              <a:buChar char="•"/>
            </a:pPr>
            <a:r>
              <a:rPr lang="en-GB">
                <a:solidFill>
                  <a:schemeClr val="accent4"/>
                </a:solidFill>
                <a:latin typeface="Consolas" panose="020B0609020204030204" pitchFamily="49" charset="0"/>
              </a:rPr>
              <a:t>temp-ship</a:t>
            </a:r>
          </a:p>
          <a:p>
            <a:pPr marL="177800" indent="-177800">
              <a:buFont typeface="Arial" panose="020B0604020202020204" pitchFamily="34" charset="0"/>
              <a:buChar char="•"/>
            </a:pPr>
            <a:r>
              <a:rPr lang="en-GB">
                <a:solidFill>
                  <a:schemeClr val="accent4"/>
                </a:solidFill>
                <a:latin typeface="Consolas" panose="020B0609020204030204" pitchFamily="49" charset="0"/>
              </a:rPr>
              <a:t>temperature-profile-radar</a:t>
            </a:r>
          </a:p>
          <a:p>
            <a:pPr marL="177800" indent="-177800">
              <a:buFont typeface="Arial" panose="020B0604020202020204" pitchFamily="34" charset="0"/>
              <a:buChar char="•"/>
            </a:pPr>
            <a:r>
              <a:rPr lang="en-GB">
                <a:solidFill>
                  <a:schemeClr val="accent4"/>
                </a:solidFill>
                <a:latin typeface="Consolas" panose="020B0609020204030204" pitchFamily="49" charset="0"/>
              </a:rPr>
              <a:t>wind-profile</a:t>
            </a:r>
          </a:p>
          <a:p>
            <a:pPr marL="177800" indent="-177800">
              <a:buFont typeface="Arial" panose="020B0604020202020204" pitchFamily="34" charset="0"/>
              <a:buChar char="•"/>
            </a:pPr>
            <a:r>
              <a:rPr lang="en-GB">
                <a:solidFill>
                  <a:schemeClr val="accent4"/>
                </a:solidFill>
                <a:latin typeface="Consolas" panose="020B0609020204030204" pitchFamily="49" charset="0"/>
              </a:rPr>
              <a:t>wind-profile-radar</a:t>
            </a:r>
          </a:p>
          <a:p>
            <a:pPr marL="177800" indent="-177800">
              <a:buFont typeface="Arial" panose="020B0604020202020204" pitchFamily="34" charset="0"/>
              <a:buChar char="•"/>
            </a:pPr>
            <a:r>
              <a:rPr lang="en-GB">
                <a:solidFill>
                  <a:schemeClr val="accent4"/>
                </a:solidFill>
                <a:latin typeface="Consolas" panose="020B0609020204030204" pitchFamily="49" charset="0"/>
              </a:rPr>
              <a:t>wind-profile-ship</a:t>
            </a:r>
          </a:p>
          <a:p>
            <a:pPr marL="177800" indent="-177800">
              <a:buFont typeface="Arial" panose="020B0604020202020204" pitchFamily="34" charset="0"/>
              <a:buChar char="•"/>
            </a:pPr>
            <a:endParaRPr lang="en-GB">
              <a:solidFill>
                <a:schemeClr val="accent4"/>
              </a:solidFill>
              <a:latin typeface="Consolas" panose="020B0609020204030204" pitchFamily="49" charset="0"/>
            </a:endParaRPr>
          </a:p>
        </p:txBody>
      </p:sp>
      <p:cxnSp>
        <p:nvCxnSpPr>
          <p:cNvPr id="28" name="Straight Arrow Connector 27">
            <a:extLst>
              <a:ext uri="{FF2B5EF4-FFF2-40B4-BE49-F238E27FC236}">
                <a16:creationId xmlns:a16="http://schemas.microsoft.com/office/drawing/2014/main" id="{960CC877-C999-D5CD-F95B-8D83E29C6366}"/>
              </a:ext>
            </a:extLst>
          </p:cNvPr>
          <p:cNvCxnSpPr>
            <a:cxnSpLocks/>
          </p:cNvCxnSpPr>
          <p:nvPr/>
        </p:nvCxnSpPr>
        <p:spPr>
          <a:xfrm>
            <a:off x="7359032" y="5451984"/>
            <a:ext cx="347718" cy="0"/>
          </a:xfrm>
          <a:prstGeom prst="straightConnector1">
            <a:avLst/>
          </a:prstGeom>
          <a:ln w="28575">
            <a:solidFill>
              <a:srgbClr val="0070C0"/>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3" name="Picture 2" descr="World Meteorological Organization - Wikipedia">
            <a:extLst>
              <a:ext uri="{FF2B5EF4-FFF2-40B4-BE49-F238E27FC236}">
                <a16:creationId xmlns:a16="http://schemas.microsoft.com/office/drawing/2014/main" id="{9CEE06C7-287B-6318-409F-343A110E4A2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C5A559-4AFA-603E-D0FA-2B04832EC4DB}"/>
              </a:ext>
            </a:extLst>
          </p:cNvPr>
          <p:cNvSpPr txBox="1"/>
          <p:nvPr/>
        </p:nvSpPr>
        <p:spPr>
          <a:xfrm>
            <a:off x="413567" y="2039471"/>
            <a:ext cx="2556857" cy="2616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100" b="1"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rPr>
              <a:t>WIS2 Node</a:t>
            </a:r>
            <a:endParaRPr kumimoji="0" lang="en-GB" sz="1100" b="1" i="0"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endParaRPr>
          </a:p>
        </p:txBody>
      </p:sp>
    </p:spTree>
    <p:extLst>
      <p:ext uri="{BB962C8B-B14F-4D97-AF65-F5344CB8AC3E}">
        <p14:creationId xmlns:p14="http://schemas.microsoft.com/office/powerpoint/2010/main" val="525291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E6ED5-3C58-F719-C7AE-8E8BA5177C7E}"/>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E7A5BE33-9780-BE75-B02E-D6CA8BF56612}"/>
              </a:ext>
            </a:extLst>
          </p:cNvPr>
          <p:cNvSpPr/>
          <p:nvPr/>
        </p:nvSpPr>
        <p:spPr>
          <a:xfrm>
            <a:off x="395623" y="2017273"/>
            <a:ext cx="4243318" cy="4145108"/>
          </a:xfrm>
          <a:prstGeom prst="rect">
            <a:avLst/>
          </a:prstGeom>
          <a:solidFill>
            <a:schemeClr val="bg1"/>
          </a:solidFill>
          <a:ln w="12700" cap="flat" cmpd="sng" algn="ctr">
            <a:solidFill>
              <a:srgbClr val="50B9A4">
                <a:shade val="50000"/>
              </a:srgb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50" b="1" i="0" u="none" strike="noStrike" kern="0" cap="none" spc="0" normalizeH="0" baseline="0" noProof="0">
              <a:ln>
                <a:noFill/>
              </a:ln>
              <a:solidFill>
                <a:srgbClr val="A1A0AA">
                  <a:lumMod val="50000"/>
                </a:srgbClr>
              </a:solidFill>
              <a:effectLst/>
              <a:uLnTx/>
              <a:uFillTx/>
              <a:latin typeface="Calibri Light" panose="020F0302020204030204"/>
              <a:ea typeface="+mn-ea"/>
              <a:cs typeface="Calibri"/>
              <a:sym typeface="Calibri"/>
            </a:endParaRPr>
          </a:p>
        </p:txBody>
      </p:sp>
      <p:sp>
        <p:nvSpPr>
          <p:cNvPr id="8" name="TextBox 7">
            <a:extLst>
              <a:ext uri="{FF2B5EF4-FFF2-40B4-BE49-F238E27FC236}">
                <a16:creationId xmlns:a16="http://schemas.microsoft.com/office/drawing/2014/main" id="{72769345-116C-7E40-8070-F0650771E930}"/>
              </a:ext>
            </a:extLst>
          </p:cNvPr>
          <p:cNvSpPr txBox="1"/>
          <p:nvPr/>
        </p:nvSpPr>
        <p:spPr>
          <a:xfrm>
            <a:off x="4763039" y="6311879"/>
            <a:ext cx="264198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Community Components</a:t>
            </a:r>
          </a:p>
        </p:txBody>
      </p:sp>
      <p:grpSp>
        <p:nvGrpSpPr>
          <p:cNvPr id="9" name="Group 8">
            <a:extLst>
              <a:ext uri="{FF2B5EF4-FFF2-40B4-BE49-F238E27FC236}">
                <a16:creationId xmlns:a16="http://schemas.microsoft.com/office/drawing/2014/main" id="{770AF55D-A088-B256-ACE6-29C00647A753}"/>
              </a:ext>
            </a:extLst>
          </p:cNvPr>
          <p:cNvGrpSpPr/>
          <p:nvPr/>
        </p:nvGrpSpPr>
        <p:grpSpPr>
          <a:xfrm>
            <a:off x="5465478" y="2441833"/>
            <a:ext cx="1333367" cy="533709"/>
            <a:chOff x="4738150" y="4607650"/>
            <a:chExt cx="1267200" cy="504342"/>
          </a:xfrm>
        </p:grpSpPr>
        <p:sp>
          <p:nvSpPr>
            <p:cNvPr id="10" name="Rectangle: Diagonal Corners Rounded 193">
              <a:extLst>
                <a:ext uri="{FF2B5EF4-FFF2-40B4-BE49-F238E27FC236}">
                  <a16:creationId xmlns:a16="http://schemas.microsoft.com/office/drawing/2014/main" id="{5DF0583F-6D2E-BD27-F36C-8641D5B0E943}"/>
                </a:ext>
              </a:extLst>
            </p:cNvPr>
            <p:cNvSpPr/>
            <p:nvPr/>
          </p:nvSpPr>
          <p:spPr>
            <a:xfrm>
              <a:off x="4738150" y="4607650"/>
              <a:ext cx="1267200" cy="504342"/>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Global Broker</a:t>
              </a:r>
            </a:p>
          </p:txBody>
        </p:sp>
        <p:pic>
          <p:nvPicPr>
            <p:cNvPr id="11" name="Picture 4" descr="Wmo Logo World Meteorological Organization Png - World Meteorological ...">
              <a:extLst>
                <a:ext uri="{FF2B5EF4-FFF2-40B4-BE49-F238E27FC236}">
                  <a16:creationId xmlns:a16="http://schemas.microsoft.com/office/drawing/2014/main" id="{BDE72959-9C33-FDB0-1D35-06663F00E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267" y="4666544"/>
              <a:ext cx="266956" cy="2924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80A5733E-F70E-6018-2295-03C8EEFB8B47}"/>
              </a:ext>
            </a:extLst>
          </p:cNvPr>
          <p:cNvGrpSpPr/>
          <p:nvPr/>
        </p:nvGrpSpPr>
        <p:grpSpPr>
          <a:xfrm>
            <a:off x="7888209" y="4413670"/>
            <a:ext cx="1333367" cy="533385"/>
            <a:chOff x="4475682" y="2144515"/>
            <a:chExt cx="1260000" cy="504036"/>
          </a:xfrm>
        </p:grpSpPr>
        <p:sp>
          <p:nvSpPr>
            <p:cNvPr id="13" name="Rectangle: Diagonal Corners Rounded 191">
              <a:extLst>
                <a:ext uri="{FF2B5EF4-FFF2-40B4-BE49-F238E27FC236}">
                  <a16:creationId xmlns:a16="http://schemas.microsoft.com/office/drawing/2014/main" id="{831C35D2-E373-691E-E97E-C29C5CD28804}"/>
                </a:ext>
              </a:extLst>
            </p:cNvPr>
            <p:cNvSpPr/>
            <p:nvPr/>
          </p:nvSpPr>
          <p:spPr>
            <a:xfrm>
              <a:off x="4475682" y="2144515"/>
              <a:ext cx="1260000" cy="504036"/>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52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  Global Cache</a:t>
              </a:r>
            </a:p>
          </p:txBody>
        </p:sp>
        <p:pic>
          <p:nvPicPr>
            <p:cNvPr id="14" name="Picture 4" descr="Wmo Logo World Meteorological Organization Png - World Meteorological ...">
              <a:extLst>
                <a:ext uri="{FF2B5EF4-FFF2-40B4-BE49-F238E27FC236}">
                  <a16:creationId xmlns:a16="http://schemas.microsoft.com/office/drawing/2014/main" id="{9F72E3BA-E30B-5779-56B2-57A6533B6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6003" y="2232879"/>
              <a:ext cx="266956" cy="29248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74D7E14D-8436-BD04-EEB1-222FB0ACD1A6}"/>
              </a:ext>
            </a:extLst>
          </p:cNvPr>
          <p:cNvSpPr txBox="1"/>
          <p:nvPr/>
        </p:nvSpPr>
        <p:spPr>
          <a:xfrm>
            <a:off x="3157912" y="6310148"/>
            <a:ext cx="224601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Local Components </a:t>
            </a:r>
          </a:p>
        </p:txBody>
      </p:sp>
      <p:grpSp>
        <p:nvGrpSpPr>
          <p:cNvPr id="7" name="Group 6">
            <a:extLst>
              <a:ext uri="{FF2B5EF4-FFF2-40B4-BE49-F238E27FC236}">
                <a16:creationId xmlns:a16="http://schemas.microsoft.com/office/drawing/2014/main" id="{772D524F-2F4F-7043-11D3-3D23D58B222C}"/>
              </a:ext>
            </a:extLst>
          </p:cNvPr>
          <p:cNvGrpSpPr/>
          <p:nvPr/>
        </p:nvGrpSpPr>
        <p:grpSpPr>
          <a:xfrm>
            <a:off x="3036000" y="2508583"/>
            <a:ext cx="1340114" cy="400209"/>
            <a:chOff x="6318068" y="3342518"/>
            <a:chExt cx="1340114" cy="400209"/>
          </a:xfrm>
        </p:grpSpPr>
        <p:sp>
          <p:nvSpPr>
            <p:cNvPr id="25" name="Rectangle: Rounded Corners 24">
              <a:extLst>
                <a:ext uri="{FF2B5EF4-FFF2-40B4-BE49-F238E27FC236}">
                  <a16:creationId xmlns:a16="http://schemas.microsoft.com/office/drawing/2014/main" id="{FC29A8F8-1D5F-9A5F-4139-B8C03E35966E}"/>
                </a:ext>
              </a:extLst>
            </p:cNvPr>
            <p:cNvSpPr/>
            <p:nvPr/>
          </p:nvSpPr>
          <p:spPr>
            <a:xfrm>
              <a:off x="6318068" y="3342518"/>
              <a:ext cx="1340114" cy="400209"/>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Local Broker</a:t>
              </a:r>
            </a:p>
          </p:txBody>
        </p:sp>
        <p:pic>
          <p:nvPicPr>
            <p:cNvPr id="6" name="Picture 4" descr="Wmo Logo World Meteorological Organization Png - World Meteorological ...">
              <a:extLst>
                <a:ext uri="{FF2B5EF4-FFF2-40B4-BE49-F238E27FC236}">
                  <a16:creationId xmlns:a16="http://schemas.microsoft.com/office/drawing/2014/main" id="{C51BED21-3D4D-8020-D67E-9B6D62773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164" y="3377612"/>
              <a:ext cx="282500" cy="3095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 name="Straight Connector 40">
            <a:extLst>
              <a:ext uri="{FF2B5EF4-FFF2-40B4-BE49-F238E27FC236}">
                <a16:creationId xmlns:a16="http://schemas.microsoft.com/office/drawing/2014/main" id="{747C3711-6D85-272C-AB92-B5B169D92943}"/>
              </a:ext>
            </a:extLst>
          </p:cNvPr>
          <p:cNvCxnSpPr>
            <a:cxnSpLocks/>
          </p:cNvCxnSpPr>
          <p:nvPr/>
        </p:nvCxnSpPr>
        <p:spPr>
          <a:xfrm>
            <a:off x="5073927" y="414309"/>
            <a:ext cx="0" cy="6124603"/>
          </a:xfrm>
          <a:prstGeom prst="line">
            <a:avLst/>
          </a:prstGeom>
          <a:noFill/>
          <a:ln w="19050" cap="flat" cmpd="sng" algn="ctr">
            <a:solidFill>
              <a:srgbClr val="C97F3A"/>
            </a:solidFill>
            <a:prstDash val="dash"/>
          </a:ln>
          <a:effectLst/>
        </p:spPr>
      </p:cxnSp>
      <p:sp>
        <p:nvSpPr>
          <p:cNvPr id="169" name="TextBox 168">
            <a:extLst>
              <a:ext uri="{FF2B5EF4-FFF2-40B4-BE49-F238E27FC236}">
                <a16:creationId xmlns:a16="http://schemas.microsoft.com/office/drawing/2014/main" id="{D690B0FD-EB18-CDF7-164F-2435BDF8E6DF}"/>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6</a:t>
            </a:fld>
            <a:endParaRPr lang="en-GB" sz="1000" dirty="0"/>
          </a:p>
        </p:txBody>
      </p:sp>
      <p:sp>
        <p:nvSpPr>
          <p:cNvPr id="198" name="TextBox 197">
            <a:extLst>
              <a:ext uri="{FF2B5EF4-FFF2-40B4-BE49-F238E27FC236}">
                <a16:creationId xmlns:a16="http://schemas.microsoft.com/office/drawing/2014/main" id="{3053BB84-B531-F0A1-C852-0D1C549B7F3B}"/>
              </a:ext>
            </a:extLst>
          </p:cNvPr>
          <p:cNvSpPr txBox="1"/>
          <p:nvPr/>
        </p:nvSpPr>
        <p:spPr>
          <a:xfrm>
            <a:off x="246111" y="133810"/>
            <a:ext cx="4912629" cy="1754326"/>
          </a:xfrm>
          <a:prstGeom prst="rect">
            <a:avLst/>
          </a:prstGeom>
          <a:noFill/>
        </p:spPr>
        <p:txBody>
          <a:bodyPr wrap="square" rtlCol="0">
            <a:spAutoFit/>
          </a:bodyPr>
          <a:lstStyle/>
          <a:p>
            <a:pPr marL="285750" indent="-285750">
              <a:buFont typeface="Arial" panose="020B0604020202020204" pitchFamily="34" charset="0"/>
              <a:buChar char="•"/>
            </a:pPr>
            <a:r>
              <a:rPr lang="en-GB"/>
              <a:t>WIS2 also has the concept of a Global Cache</a:t>
            </a:r>
          </a:p>
          <a:p>
            <a:pPr marL="285750" indent="-285750">
              <a:buFont typeface="Arial" panose="020B0604020202020204" pitchFamily="34" charset="0"/>
              <a:buChar char="•"/>
            </a:pPr>
            <a:r>
              <a:rPr lang="en-GB"/>
              <a:t>Multiple, globally-distributed, highly-available instances serving Core data </a:t>
            </a:r>
          </a:p>
          <a:p>
            <a:pPr marL="285750" indent="-285750">
              <a:buFont typeface="Arial" panose="020B0604020202020204" pitchFamily="34" charset="0"/>
              <a:buChar char="•"/>
            </a:pPr>
            <a:r>
              <a:rPr lang="en-GB"/>
              <a:t>WIS2 encourages data consumers to download data from the Global Caches – not the “origin” WIS2 Nodes </a:t>
            </a:r>
          </a:p>
        </p:txBody>
      </p:sp>
      <p:grpSp>
        <p:nvGrpSpPr>
          <p:cNvPr id="82" name="Group 81">
            <a:extLst>
              <a:ext uri="{FF2B5EF4-FFF2-40B4-BE49-F238E27FC236}">
                <a16:creationId xmlns:a16="http://schemas.microsoft.com/office/drawing/2014/main" id="{6578B5D7-036E-5A29-7235-CF4542CE410C}"/>
              </a:ext>
            </a:extLst>
          </p:cNvPr>
          <p:cNvGrpSpPr/>
          <p:nvPr/>
        </p:nvGrpSpPr>
        <p:grpSpPr>
          <a:xfrm>
            <a:off x="619969" y="2516723"/>
            <a:ext cx="1340114" cy="400209"/>
            <a:chOff x="6318068" y="4437423"/>
            <a:chExt cx="1340114" cy="400209"/>
          </a:xfrm>
        </p:grpSpPr>
        <p:sp>
          <p:nvSpPr>
            <p:cNvPr id="80" name="Rectangle: Rounded Corners 79">
              <a:extLst>
                <a:ext uri="{FF2B5EF4-FFF2-40B4-BE49-F238E27FC236}">
                  <a16:creationId xmlns:a16="http://schemas.microsoft.com/office/drawing/2014/main" id="{DFB545B5-F751-9337-3BFE-F8BD9ADCA5EF}"/>
                </a:ext>
              </a:extLst>
            </p:cNvPr>
            <p:cNvSpPr/>
            <p:nvPr/>
          </p:nvSpPr>
          <p:spPr>
            <a:xfrm>
              <a:off x="6318068" y="4437423"/>
              <a:ext cx="1340114" cy="400209"/>
            </a:xfrm>
            <a:prstGeom prst="roundRect">
              <a:avLst/>
            </a:prstGeom>
            <a:solidFill>
              <a:srgbClr val="93B479"/>
            </a:solidFill>
            <a:ln w="6350" cap="flat" cmpd="sng" algn="ctr">
              <a:solidFill>
                <a:srgbClr val="004F59"/>
              </a:solidFill>
              <a:prstDash val="solid"/>
              <a:miter lim="800000"/>
            </a:ln>
            <a:effectLst>
              <a:outerShdw blurRad="50800" dist="38100" dir="2700000" algn="tl" rotWithShape="0">
                <a:prstClr val="black">
                  <a:alpha val="40000"/>
                </a:prstClr>
              </a:outerShdw>
            </a:effectLst>
          </p:spPr>
          <p:txBody>
            <a:bodyPr lIns="0" rIns="0" rtlCol="0" anchor="ctr"/>
            <a:lstStyle/>
            <a:p>
              <a:pPr marL="266700" algn="ctr" defTabSz="457200">
                <a:lnSpc>
                  <a:spcPct val="90000"/>
                </a:lnSpc>
                <a:defRPr/>
              </a:pPr>
              <a:r>
                <a:rPr lang="en-GB" sz="1200" kern="0">
                  <a:solidFill>
                    <a:prstClr val="black"/>
                  </a:solidFill>
                  <a:latin typeface="Calibri Light" panose="020F0302020204030204"/>
                  <a:ea typeface="Calibri Light" panose="020F0302020204030204" pitchFamily="34" charset="0"/>
                  <a:cs typeface="Calibri Light" panose="020F0302020204030204" pitchFamily="34" charset="0"/>
                  <a:sym typeface="Calibri"/>
                </a:rPr>
                <a:t>Data Access (APIs)</a:t>
              </a:r>
            </a:p>
          </p:txBody>
        </p:sp>
        <p:pic>
          <p:nvPicPr>
            <p:cNvPr id="81" name="Picture 80" descr="Logo, company name&#10;&#10;Description automatically generated">
              <a:extLst>
                <a:ext uri="{FF2B5EF4-FFF2-40B4-BE49-F238E27FC236}">
                  <a16:creationId xmlns:a16="http://schemas.microsoft.com/office/drawing/2014/main" id="{DE751CE0-9247-F4B2-083D-0A9C811BA3E0}"/>
                </a:ext>
              </a:extLst>
            </p:cNvPr>
            <p:cNvPicPr>
              <a:picLocks noChangeAspect="1"/>
            </p:cNvPicPr>
            <p:nvPr/>
          </p:nvPicPr>
          <p:blipFill rotWithShape="1">
            <a:blip r:embed="rId4">
              <a:duotone>
                <a:prstClr val="black"/>
                <a:srgbClr val="004F59">
                  <a:tint val="45000"/>
                  <a:satMod val="400000"/>
                </a:srgbClr>
              </a:duotone>
              <a:extLst>
                <a:ext uri="{BEBA8EAE-BF5A-486C-A8C5-ECC9F3942E4B}">
                  <a14:imgProps xmlns:a14="http://schemas.microsoft.com/office/drawing/2010/main">
                    <a14:imgLayer r:embed="rId5">
                      <a14:imgEffect>
                        <a14:backgroundRemoval t="5068" b="52703" l="24156" r="73002">
                          <a14:foregroundMark x1="70515" y1="31081" x2="70515" y2="31081"/>
                          <a14:foregroundMark x1="73002" y1="30743" x2="73002" y2="30743"/>
                          <a14:foregroundMark x1="52931" y1="50338" x2="52931" y2="50338"/>
                          <a14:foregroundMark x1="49023" y1="52703" x2="49023" y2="52703"/>
                          <a14:foregroundMark x1="24156" y1="29899" x2="24156" y2="29899"/>
                        </a14:backgroundRemoval>
                      </a14:imgEffect>
                    </a14:imgLayer>
                  </a14:imgProps>
                </a:ext>
                <a:ext uri="{28A0092B-C50C-407E-A947-70E740481C1C}">
                  <a14:useLocalDpi xmlns:a14="http://schemas.microsoft.com/office/drawing/2010/main" val="0"/>
                </a:ext>
              </a:extLst>
            </a:blip>
            <a:srcRect l="19216" r="24636" b="45879"/>
            <a:stretch/>
          </p:blipFill>
          <p:spPr>
            <a:xfrm>
              <a:off x="6349805" y="4481289"/>
              <a:ext cx="307211" cy="311371"/>
            </a:xfrm>
            <a:prstGeom prst="rect">
              <a:avLst/>
            </a:prstGeom>
            <a:ln>
              <a:solidFill>
                <a:srgbClr val="93B479"/>
              </a:solidFill>
            </a:ln>
          </p:spPr>
        </p:pic>
      </p:grpSp>
      <p:sp>
        <p:nvSpPr>
          <p:cNvPr id="85" name="TextBox 84">
            <a:extLst>
              <a:ext uri="{FF2B5EF4-FFF2-40B4-BE49-F238E27FC236}">
                <a16:creationId xmlns:a16="http://schemas.microsoft.com/office/drawing/2014/main" id="{0F366DE8-74BA-2D1A-3B05-5FECDA49C3AB}"/>
              </a:ext>
            </a:extLst>
          </p:cNvPr>
          <p:cNvSpPr txBox="1"/>
          <p:nvPr/>
        </p:nvSpPr>
        <p:spPr>
          <a:xfrm>
            <a:off x="259057" y="4141092"/>
            <a:ext cx="6138396" cy="2185214"/>
          </a:xfrm>
          <a:prstGeom prst="rect">
            <a:avLst/>
          </a:prstGeom>
          <a:solidFill>
            <a:srgbClr val="FFFFFF">
              <a:alpha val="80000"/>
            </a:srgbClr>
          </a:solidFill>
        </p:spPr>
        <p:txBody>
          <a:bodyPr wrap="square" rtlCol="0">
            <a:spAutoFit/>
          </a:bodyPr>
          <a:lstStyle/>
          <a:p>
            <a:pPr>
              <a:spcAft>
                <a:spcPts val="1200"/>
              </a:spcAft>
            </a:pPr>
            <a:r>
              <a:rPr lang="en-GB"/>
              <a:t>Core vs. Recommended? WMO Unified Data Policy</a:t>
            </a:r>
          </a:p>
          <a:p>
            <a:pPr marL="342900" indent="-342900">
              <a:buFont typeface="Arial" panose="020B0604020202020204" pitchFamily="34" charset="0"/>
              <a:buChar char="•"/>
            </a:pPr>
            <a:r>
              <a:rPr lang="en-GB" b="1" i="0">
                <a:solidFill>
                  <a:srgbClr val="000000"/>
                </a:solidFill>
                <a:effectLst/>
                <a:latin typeface="Aptos" panose="020B0004020202020204" pitchFamily="34" charset="0"/>
              </a:rPr>
              <a:t>Core </a:t>
            </a:r>
            <a:r>
              <a:rPr lang="en-GB" b="0" i="0">
                <a:solidFill>
                  <a:srgbClr val="000000"/>
                </a:solidFill>
                <a:effectLst/>
                <a:latin typeface="Aptos" panose="020B0004020202020204" pitchFamily="34" charset="0"/>
              </a:rPr>
              <a:t>data that are necessary for the provision of services in support of the protection of life and property and for the well-being of all nations</a:t>
            </a:r>
          </a:p>
          <a:p>
            <a:pPr marL="342900" indent="-342900">
              <a:buFont typeface="Arial" panose="020B0604020202020204" pitchFamily="34" charset="0"/>
              <a:buChar char="•"/>
            </a:pPr>
            <a:r>
              <a:rPr lang="en-GB" b="1">
                <a:solidFill>
                  <a:srgbClr val="000000"/>
                </a:solidFill>
                <a:effectLst/>
                <a:latin typeface="Aptos" panose="020B0004020202020204" pitchFamily="34" charset="0"/>
              </a:rPr>
              <a:t>Recommended</a:t>
            </a:r>
            <a:r>
              <a:rPr lang="en-GB">
                <a:solidFill>
                  <a:srgbClr val="000000"/>
                </a:solidFill>
                <a:effectLst/>
                <a:latin typeface="Aptos" panose="020B0004020202020204" pitchFamily="34" charset="0"/>
              </a:rPr>
              <a:t> data that are required to support Earth system monitoring and prediction activities at the global, regional and national levels […]</a:t>
            </a:r>
            <a:endParaRPr lang="en-GB"/>
          </a:p>
        </p:txBody>
      </p:sp>
      <p:grpSp>
        <p:nvGrpSpPr>
          <p:cNvPr id="86" name="Group 85">
            <a:extLst>
              <a:ext uri="{FF2B5EF4-FFF2-40B4-BE49-F238E27FC236}">
                <a16:creationId xmlns:a16="http://schemas.microsoft.com/office/drawing/2014/main" id="{15ED2847-BFB0-E3D5-B683-1EC05C0726F8}"/>
              </a:ext>
            </a:extLst>
          </p:cNvPr>
          <p:cNvGrpSpPr/>
          <p:nvPr/>
        </p:nvGrpSpPr>
        <p:grpSpPr>
          <a:xfrm>
            <a:off x="10957783" y="2284643"/>
            <a:ext cx="753415" cy="848088"/>
            <a:chOff x="10987252" y="3139965"/>
            <a:chExt cx="753415" cy="848088"/>
          </a:xfrm>
        </p:grpSpPr>
        <p:pic>
          <p:nvPicPr>
            <p:cNvPr id="87" name="Graphic 86" descr="Users with solid fill">
              <a:extLst>
                <a:ext uri="{FF2B5EF4-FFF2-40B4-BE49-F238E27FC236}">
                  <a16:creationId xmlns:a16="http://schemas.microsoft.com/office/drawing/2014/main" id="{970401AE-D75D-2903-7DD3-1A37920A15C9}"/>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049543" y="3139965"/>
              <a:ext cx="612315" cy="623947"/>
            </a:xfrm>
            <a:prstGeom prst="rect">
              <a:avLst/>
            </a:prstGeom>
            <a:effectLst>
              <a:outerShdw blurRad="50800" dist="38100" dir="2700000" algn="tl" rotWithShape="0">
                <a:prstClr val="black">
                  <a:alpha val="40000"/>
                </a:prstClr>
              </a:outerShdw>
            </a:effectLst>
          </p:spPr>
        </p:pic>
        <p:sp>
          <p:nvSpPr>
            <p:cNvPr id="88" name="TextBox 87">
              <a:extLst>
                <a:ext uri="{FF2B5EF4-FFF2-40B4-BE49-F238E27FC236}">
                  <a16:creationId xmlns:a16="http://schemas.microsoft.com/office/drawing/2014/main" id="{006AC129-AFA5-C891-D468-6C23304BF597}"/>
                </a:ext>
              </a:extLst>
            </p:cNvPr>
            <p:cNvSpPr txBox="1"/>
            <p:nvPr/>
          </p:nvSpPr>
          <p:spPr>
            <a:xfrm>
              <a:off x="10987252" y="3633982"/>
              <a:ext cx="753415" cy="354071"/>
            </a:xfrm>
            <a:prstGeom prst="rect">
              <a:avLst/>
            </a:prstGeom>
            <a:noFill/>
          </p:spPr>
          <p:txBody>
            <a:bodyPr wrap="square" lIns="0" rIns="0" rtlCol="0">
              <a:spAutoFit/>
            </a:bodyPr>
            <a:lstStyle>
              <a:defPPr>
                <a:defRPr lang="en-US"/>
              </a:defPPr>
              <a:lvl1pPr marR="0" lvl="0" indent="0" algn="ctr" fontAlgn="auto">
                <a:lnSpc>
                  <a:spcPct val="80000"/>
                </a:lnSpc>
                <a:spcBef>
                  <a:spcPts val="0"/>
                </a:spcBef>
                <a:spcAft>
                  <a:spcPts val="0"/>
                </a:spcAft>
                <a:buClrTx/>
                <a:buSzTx/>
                <a:buFontTx/>
                <a:buNone/>
                <a:tabLst/>
                <a:defRPr kumimoji="0" sz="1050" b="0" i="0" u="none" strike="noStrike" cap="none" spc="0" normalizeH="0" baseline="0">
                  <a:ln>
                    <a:noFill/>
                  </a:ln>
                  <a:solidFill>
                    <a:prstClr val="black"/>
                  </a:solidFill>
                  <a:effectLst/>
                  <a:uLnTx/>
                  <a:uFillTx/>
                  <a:latin typeface="Calibri" panose="020F0502020204030204"/>
                </a:defRPr>
              </a:lvl1pPr>
            </a:lstStyle>
            <a:p>
              <a:pPr>
                <a:defRPr/>
              </a:pPr>
              <a:r>
                <a:rPr lang="en-GB">
                  <a:latin typeface="Calibri Light" panose="020F0302020204030204"/>
                  <a:cs typeface="Calibri"/>
                  <a:sym typeface="Calibri"/>
                </a:rPr>
                <a:t>Data Consumers</a:t>
              </a:r>
            </a:p>
          </p:txBody>
        </p:sp>
      </p:grpSp>
      <p:grpSp>
        <p:nvGrpSpPr>
          <p:cNvPr id="90" name="Group 89">
            <a:extLst>
              <a:ext uri="{FF2B5EF4-FFF2-40B4-BE49-F238E27FC236}">
                <a16:creationId xmlns:a16="http://schemas.microsoft.com/office/drawing/2014/main" id="{1B6255AC-F00E-EE5E-5CFE-7BC09F1F7E48}"/>
              </a:ext>
            </a:extLst>
          </p:cNvPr>
          <p:cNvGrpSpPr/>
          <p:nvPr/>
        </p:nvGrpSpPr>
        <p:grpSpPr>
          <a:xfrm>
            <a:off x="9218658" y="4612042"/>
            <a:ext cx="309320" cy="109283"/>
            <a:chOff x="7584406" y="1764347"/>
            <a:chExt cx="309320" cy="109283"/>
          </a:xfrm>
        </p:grpSpPr>
        <p:cxnSp>
          <p:nvCxnSpPr>
            <p:cNvPr id="97" name="Straight Arrow Connector 96">
              <a:extLst>
                <a:ext uri="{FF2B5EF4-FFF2-40B4-BE49-F238E27FC236}">
                  <a16:creationId xmlns:a16="http://schemas.microsoft.com/office/drawing/2014/main" id="{36DEE687-E645-6368-42D5-D2C1A7B58C11}"/>
                </a:ext>
              </a:extLst>
            </p:cNvPr>
            <p:cNvCxnSpPr>
              <a:cxnSpLocks/>
            </p:cNvCxnSpPr>
            <p:nvPr/>
          </p:nvCxnSpPr>
          <p:spPr>
            <a:xfrm>
              <a:off x="7584406" y="1820761"/>
              <a:ext cx="200037" cy="0"/>
            </a:xfrm>
            <a:prstGeom prst="straightConnector1">
              <a:avLst/>
            </a:prstGeom>
            <a:noFill/>
            <a:ln w="19050" cap="flat" cmpd="sng" algn="ctr">
              <a:solidFill>
                <a:srgbClr val="0070C0"/>
              </a:solidFill>
              <a:prstDash val="solid"/>
              <a:headEnd type="none" w="med" len="med"/>
              <a:tailEnd type="none" w="med" len="med"/>
            </a:ln>
            <a:effectLst/>
          </p:spPr>
        </p:cxnSp>
        <p:sp>
          <p:nvSpPr>
            <p:cNvPr id="98" name="Oval 97">
              <a:extLst>
                <a:ext uri="{FF2B5EF4-FFF2-40B4-BE49-F238E27FC236}">
                  <a16:creationId xmlns:a16="http://schemas.microsoft.com/office/drawing/2014/main" id="{77D3D16A-EA78-3F11-2D25-D38ECB09E89F}"/>
                </a:ext>
              </a:extLst>
            </p:cNvPr>
            <p:cNvSpPr/>
            <p:nvPr/>
          </p:nvSpPr>
          <p:spPr>
            <a:xfrm>
              <a:off x="7784443" y="1764347"/>
              <a:ext cx="109283" cy="109283"/>
            </a:xfrm>
            <a:prstGeom prst="ellipse">
              <a:avLst/>
            </a:prstGeom>
            <a:solidFill>
              <a:srgbClr val="FFFFFF"/>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9" name="TextBox 98">
            <a:extLst>
              <a:ext uri="{FF2B5EF4-FFF2-40B4-BE49-F238E27FC236}">
                <a16:creationId xmlns:a16="http://schemas.microsoft.com/office/drawing/2014/main" id="{8288C1DA-82B8-23F7-FAB2-424F8225A35A}"/>
              </a:ext>
            </a:extLst>
          </p:cNvPr>
          <p:cNvSpPr txBox="1"/>
          <p:nvPr/>
        </p:nvSpPr>
        <p:spPr>
          <a:xfrm>
            <a:off x="9179826" y="4706736"/>
            <a:ext cx="587020" cy="307777"/>
          </a:xfrm>
          <a:prstGeom prst="rect">
            <a:avLst/>
          </a:prstGeom>
          <a:noFill/>
        </p:spPr>
        <p:txBody>
          <a:bodyPr wrap="none" rtlCol="0">
            <a:spAutoFit/>
          </a:bodyPr>
          <a:lstStyle/>
          <a:p>
            <a:r>
              <a:rPr lang="en-GB" sz="1400">
                <a:solidFill>
                  <a:srgbClr val="0070C0"/>
                </a:solidFill>
              </a:rPr>
              <a:t>https</a:t>
            </a:r>
          </a:p>
        </p:txBody>
      </p:sp>
      <p:grpSp>
        <p:nvGrpSpPr>
          <p:cNvPr id="117" name="Group 116">
            <a:extLst>
              <a:ext uri="{FF2B5EF4-FFF2-40B4-BE49-F238E27FC236}">
                <a16:creationId xmlns:a16="http://schemas.microsoft.com/office/drawing/2014/main" id="{D72B88C1-B808-5768-5BED-5B5613FC485F}"/>
              </a:ext>
            </a:extLst>
          </p:cNvPr>
          <p:cNvGrpSpPr/>
          <p:nvPr/>
        </p:nvGrpSpPr>
        <p:grpSpPr>
          <a:xfrm>
            <a:off x="6763265" y="2660007"/>
            <a:ext cx="640816" cy="402471"/>
            <a:chOff x="6763265" y="2660007"/>
            <a:chExt cx="640816" cy="402471"/>
          </a:xfrm>
        </p:grpSpPr>
        <p:grpSp>
          <p:nvGrpSpPr>
            <p:cNvPr id="113" name="Group 112">
              <a:extLst>
                <a:ext uri="{FF2B5EF4-FFF2-40B4-BE49-F238E27FC236}">
                  <a16:creationId xmlns:a16="http://schemas.microsoft.com/office/drawing/2014/main" id="{18754E8E-45F9-1FAB-5069-DDA571C7E244}"/>
                </a:ext>
              </a:extLst>
            </p:cNvPr>
            <p:cNvGrpSpPr/>
            <p:nvPr/>
          </p:nvGrpSpPr>
          <p:grpSpPr>
            <a:xfrm>
              <a:off x="6802097" y="2660007"/>
              <a:ext cx="309320" cy="109283"/>
              <a:chOff x="7584406" y="1764347"/>
              <a:chExt cx="309320" cy="109283"/>
            </a:xfrm>
          </p:grpSpPr>
          <p:cxnSp>
            <p:nvCxnSpPr>
              <p:cNvPr id="114" name="Straight Arrow Connector 113">
                <a:extLst>
                  <a:ext uri="{FF2B5EF4-FFF2-40B4-BE49-F238E27FC236}">
                    <a16:creationId xmlns:a16="http://schemas.microsoft.com/office/drawing/2014/main" id="{AA21082B-6E5A-0FBF-9FB2-57EBEB880CA3}"/>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15" name="Oval 114">
                <a:extLst>
                  <a:ext uri="{FF2B5EF4-FFF2-40B4-BE49-F238E27FC236}">
                    <a16:creationId xmlns:a16="http://schemas.microsoft.com/office/drawing/2014/main" id="{5CE28068-38EC-C94E-B1E9-6D18B61CBE6A}"/>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6" name="TextBox 115">
              <a:extLst>
                <a:ext uri="{FF2B5EF4-FFF2-40B4-BE49-F238E27FC236}">
                  <a16:creationId xmlns:a16="http://schemas.microsoft.com/office/drawing/2014/main" id="{989CE9D7-6E8C-1912-B95A-C4BA855B3D4F}"/>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grpSp>
        <p:nvGrpSpPr>
          <p:cNvPr id="118" name="Group 117">
            <a:extLst>
              <a:ext uri="{FF2B5EF4-FFF2-40B4-BE49-F238E27FC236}">
                <a16:creationId xmlns:a16="http://schemas.microsoft.com/office/drawing/2014/main" id="{B7E08DD7-2517-7490-CD33-CBD3F28E3BC7}"/>
              </a:ext>
            </a:extLst>
          </p:cNvPr>
          <p:cNvGrpSpPr/>
          <p:nvPr/>
        </p:nvGrpSpPr>
        <p:grpSpPr>
          <a:xfrm flipH="1">
            <a:off x="7284449" y="4615455"/>
            <a:ext cx="640816" cy="402471"/>
            <a:chOff x="6763265" y="2660007"/>
            <a:chExt cx="640816" cy="402471"/>
          </a:xfrm>
        </p:grpSpPr>
        <p:grpSp>
          <p:nvGrpSpPr>
            <p:cNvPr id="119" name="Group 118">
              <a:extLst>
                <a:ext uri="{FF2B5EF4-FFF2-40B4-BE49-F238E27FC236}">
                  <a16:creationId xmlns:a16="http://schemas.microsoft.com/office/drawing/2014/main" id="{A88A6775-2F2E-E091-3F5C-7495122341D0}"/>
                </a:ext>
              </a:extLst>
            </p:cNvPr>
            <p:cNvGrpSpPr/>
            <p:nvPr/>
          </p:nvGrpSpPr>
          <p:grpSpPr>
            <a:xfrm>
              <a:off x="6802097" y="2660007"/>
              <a:ext cx="309320" cy="109283"/>
              <a:chOff x="7584406" y="1764347"/>
              <a:chExt cx="309320" cy="109283"/>
            </a:xfrm>
          </p:grpSpPr>
          <p:cxnSp>
            <p:nvCxnSpPr>
              <p:cNvPr id="121" name="Straight Arrow Connector 120">
                <a:extLst>
                  <a:ext uri="{FF2B5EF4-FFF2-40B4-BE49-F238E27FC236}">
                    <a16:creationId xmlns:a16="http://schemas.microsoft.com/office/drawing/2014/main" id="{9AD8A93D-F51E-ECEF-AE49-FAC8E916DEEE}"/>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22" name="Oval 121">
                <a:extLst>
                  <a:ext uri="{FF2B5EF4-FFF2-40B4-BE49-F238E27FC236}">
                    <a16:creationId xmlns:a16="http://schemas.microsoft.com/office/drawing/2014/main" id="{172C0A60-442D-3EE0-6CAD-DB6C7E7A9B1A}"/>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0" name="TextBox 119">
              <a:extLst>
                <a:ext uri="{FF2B5EF4-FFF2-40B4-BE49-F238E27FC236}">
                  <a16:creationId xmlns:a16="http://schemas.microsoft.com/office/drawing/2014/main" id="{A9639AB4-6975-AA47-3710-FCDCED2F03DE}"/>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pic>
        <p:nvPicPr>
          <p:cNvPr id="84" name="Picture 83">
            <a:extLst>
              <a:ext uri="{FF2B5EF4-FFF2-40B4-BE49-F238E27FC236}">
                <a16:creationId xmlns:a16="http://schemas.microsoft.com/office/drawing/2014/main" id="{FCFAC3B3-59EF-3A41-F0B9-713CCCFFA4A0}"/>
              </a:ext>
            </a:extLst>
          </p:cNvPr>
          <p:cNvPicPr>
            <a:picLocks noChangeAspect="1"/>
          </p:cNvPicPr>
          <p:nvPr/>
        </p:nvPicPr>
        <p:blipFill>
          <a:blip r:embed="rId8"/>
          <a:stretch>
            <a:fillRect/>
          </a:stretch>
        </p:blipFill>
        <p:spPr>
          <a:xfrm>
            <a:off x="7704148" y="4196805"/>
            <a:ext cx="1670032" cy="967403"/>
          </a:xfrm>
          <a:prstGeom prst="rect">
            <a:avLst/>
          </a:prstGeom>
        </p:spPr>
      </p:pic>
      <p:sp>
        <p:nvSpPr>
          <p:cNvPr id="125" name="TextBox 124">
            <a:extLst>
              <a:ext uri="{FF2B5EF4-FFF2-40B4-BE49-F238E27FC236}">
                <a16:creationId xmlns:a16="http://schemas.microsoft.com/office/drawing/2014/main" id="{185C873F-0959-1238-69C1-DA2C5B9FF994}"/>
              </a:ext>
            </a:extLst>
          </p:cNvPr>
          <p:cNvSpPr txBox="1"/>
          <p:nvPr/>
        </p:nvSpPr>
        <p:spPr>
          <a:xfrm>
            <a:off x="5731688" y="1747081"/>
            <a:ext cx="2646878" cy="692497"/>
          </a:xfrm>
          <a:prstGeom prst="rect">
            <a:avLst/>
          </a:prstGeom>
          <a:noFill/>
        </p:spPr>
        <p:txBody>
          <a:bodyPr wrap="non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p>
          <a:p>
            <a:pPr algn="ctr"/>
            <a:endParaRPr lang="en-GB" sz="1200">
              <a:solidFill>
                <a:schemeClr val="accent6"/>
              </a:solidFill>
              <a:latin typeface="Consolas" panose="020B0609020204030204" pitchFamily="49" charset="0"/>
            </a:endParaRPr>
          </a:p>
        </p:txBody>
      </p:sp>
      <p:pic>
        <p:nvPicPr>
          <p:cNvPr id="183" name="Picture 182" descr="A group of flags of different countries/regions&#10;&#10;Description automatically generated">
            <a:extLst>
              <a:ext uri="{FF2B5EF4-FFF2-40B4-BE49-F238E27FC236}">
                <a16:creationId xmlns:a16="http://schemas.microsoft.com/office/drawing/2014/main" id="{6C747909-0587-0469-B6F0-148B86B90A8D}"/>
              </a:ext>
            </a:extLst>
          </p:cNvPr>
          <p:cNvPicPr>
            <a:picLocks noChangeAspect="1"/>
          </p:cNvPicPr>
          <p:nvPr/>
        </p:nvPicPr>
        <p:blipFill rotWithShape="1">
          <a:blip r:embed="rId9">
            <a:extLst>
              <a:ext uri="{28A0092B-C50C-407E-A947-70E740481C1C}">
                <a14:useLocalDpi xmlns:a14="http://schemas.microsoft.com/office/drawing/2010/main" val="0"/>
              </a:ext>
            </a:extLst>
          </a:blip>
          <a:srcRect l="10370" t="35630" r="80593" b="58444"/>
          <a:stretch/>
        </p:blipFill>
        <p:spPr>
          <a:xfrm>
            <a:off x="5929662" y="3041820"/>
            <a:ext cx="414059" cy="271514"/>
          </a:xfrm>
          <a:prstGeom prst="rect">
            <a:avLst/>
          </a:prstGeom>
        </p:spPr>
      </p:pic>
      <p:grpSp>
        <p:nvGrpSpPr>
          <p:cNvPr id="208" name="Group 207">
            <a:extLst>
              <a:ext uri="{FF2B5EF4-FFF2-40B4-BE49-F238E27FC236}">
                <a16:creationId xmlns:a16="http://schemas.microsoft.com/office/drawing/2014/main" id="{2F92CD76-6132-02E6-3F82-29ECDEC41F17}"/>
              </a:ext>
            </a:extLst>
          </p:cNvPr>
          <p:cNvGrpSpPr/>
          <p:nvPr/>
        </p:nvGrpSpPr>
        <p:grpSpPr>
          <a:xfrm>
            <a:off x="3761820" y="2704600"/>
            <a:ext cx="2285252" cy="1083755"/>
            <a:chOff x="3761820" y="2704600"/>
            <a:chExt cx="2285252" cy="1083755"/>
          </a:xfrm>
        </p:grpSpPr>
        <p:cxnSp>
          <p:nvCxnSpPr>
            <p:cNvPr id="209" name="Straight Arrow Connector 208">
              <a:extLst>
                <a:ext uri="{FF2B5EF4-FFF2-40B4-BE49-F238E27FC236}">
                  <a16:creationId xmlns:a16="http://schemas.microsoft.com/office/drawing/2014/main" id="{11193057-B190-89DC-7F3A-CD8F959D03DB}"/>
                </a:ext>
              </a:extLst>
            </p:cNvPr>
            <p:cNvCxnSpPr>
              <a:cxnSpLocks/>
            </p:cNvCxnSpPr>
            <p:nvPr/>
          </p:nvCxnSpPr>
          <p:spPr>
            <a:xfrm>
              <a:off x="4360502" y="2704600"/>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210" name="Straight Connector 209">
              <a:extLst>
                <a:ext uri="{FF2B5EF4-FFF2-40B4-BE49-F238E27FC236}">
                  <a16:creationId xmlns:a16="http://schemas.microsoft.com/office/drawing/2014/main" id="{592F32B0-E81D-E924-898B-22448FC68D1A}"/>
                </a:ext>
              </a:extLst>
            </p:cNvPr>
            <p:cNvCxnSpPr>
              <a:cxnSpLocks/>
              <a:stCxn id="211" idx="0"/>
            </p:cNvCxnSpPr>
            <p:nvPr/>
          </p:nvCxnSpPr>
          <p:spPr>
            <a:xfrm flipV="1">
              <a:off x="4904446" y="2706015"/>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sp>
          <p:nvSpPr>
            <p:cNvPr id="211" name="TextBox 210">
              <a:extLst>
                <a:ext uri="{FF2B5EF4-FFF2-40B4-BE49-F238E27FC236}">
                  <a16:creationId xmlns:a16="http://schemas.microsoft.com/office/drawing/2014/main" id="{A11651BD-BD22-FE48-DF6F-17BC366D07E3}"/>
                </a:ext>
              </a:extLst>
            </p:cNvPr>
            <p:cNvSpPr txBox="1"/>
            <p:nvPr/>
          </p:nvSpPr>
          <p:spPr>
            <a:xfrm>
              <a:off x="3761820" y="3280524"/>
              <a:ext cx="2285252" cy="507831"/>
            </a:xfrm>
            <a:prstGeom prst="rect">
              <a:avLst/>
            </a:prstGeom>
            <a:solidFill>
              <a:srgbClr val="FFFFFF">
                <a:alpha val="80000"/>
              </a:srgbClr>
            </a:solidFill>
          </p:spPr>
          <p:txBody>
            <a:bodyPr wrap="squar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origin/a/wis2/{centre-id}/#</a:t>
              </a:r>
              <a:endParaRPr lang="en-GB" sz="1200">
                <a:solidFill>
                  <a:schemeClr val="accent6"/>
                </a:solidFill>
                <a:latin typeface="Consolas" panose="020B0609020204030204" pitchFamily="49" charset="0"/>
              </a:endParaRPr>
            </a:p>
          </p:txBody>
        </p:sp>
      </p:grpSp>
      <p:grpSp>
        <p:nvGrpSpPr>
          <p:cNvPr id="212" name="Group 211">
            <a:extLst>
              <a:ext uri="{FF2B5EF4-FFF2-40B4-BE49-F238E27FC236}">
                <a16:creationId xmlns:a16="http://schemas.microsoft.com/office/drawing/2014/main" id="{A90F341B-58A9-C5A9-C088-F154F8614528}"/>
              </a:ext>
            </a:extLst>
          </p:cNvPr>
          <p:cNvGrpSpPr/>
          <p:nvPr/>
        </p:nvGrpSpPr>
        <p:grpSpPr>
          <a:xfrm>
            <a:off x="850980" y="2706031"/>
            <a:ext cx="3266658" cy="1075921"/>
            <a:chOff x="850980" y="2706031"/>
            <a:chExt cx="3266658" cy="1075921"/>
          </a:xfrm>
        </p:grpSpPr>
        <p:sp>
          <p:nvSpPr>
            <p:cNvPr id="213" name="TextBox 212">
              <a:extLst>
                <a:ext uri="{FF2B5EF4-FFF2-40B4-BE49-F238E27FC236}">
                  <a16:creationId xmlns:a16="http://schemas.microsoft.com/office/drawing/2014/main" id="{93666780-AADA-E446-DCFE-8DD6A754A6AB}"/>
                </a:ext>
              </a:extLst>
            </p:cNvPr>
            <p:cNvSpPr txBox="1"/>
            <p:nvPr/>
          </p:nvSpPr>
          <p:spPr>
            <a:xfrm>
              <a:off x="850980" y="3274121"/>
              <a:ext cx="3266658" cy="507831"/>
            </a:xfrm>
            <a:prstGeom prst="rect">
              <a:avLst/>
            </a:prstGeom>
            <a:noFill/>
          </p:spPr>
          <p:txBody>
            <a:bodyPr wrap="squar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endParaRPr lang="en-GB" sz="1200">
                <a:solidFill>
                  <a:schemeClr val="accent6"/>
                </a:solidFill>
                <a:latin typeface="Consolas" panose="020B0609020204030204" pitchFamily="49" charset="0"/>
              </a:endParaRPr>
            </a:p>
          </p:txBody>
        </p:sp>
        <p:pic>
          <p:nvPicPr>
            <p:cNvPr id="214" name="Picture 213">
              <a:extLst>
                <a:ext uri="{FF2B5EF4-FFF2-40B4-BE49-F238E27FC236}">
                  <a16:creationId xmlns:a16="http://schemas.microsoft.com/office/drawing/2014/main" id="{86024E3F-7FC5-880D-68D7-6CF7FDB69A43}"/>
                </a:ext>
              </a:extLst>
            </p:cNvPr>
            <p:cNvPicPr>
              <a:picLocks noChangeAspect="1"/>
            </p:cNvPicPr>
            <p:nvPr/>
          </p:nvPicPr>
          <p:blipFill>
            <a:blip r:embed="rId10">
              <a:duotone>
                <a:schemeClr val="accent6">
                  <a:shade val="45000"/>
                  <a:satMod val="135000"/>
                </a:schemeClr>
                <a:prstClr val="white"/>
              </a:duotone>
            </a:blip>
            <a:stretch>
              <a:fillRect/>
            </a:stretch>
          </p:blipFill>
          <p:spPr>
            <a:xfrm>
              <a:off x="1969723" y="3355216"/>
              <a:ext cx="169915" cy="196863"/>
            </a:xfrm>
            <a:prstGeom prst="rect">
              <a:avLst/>
            </a:prstGeom>
          </p:spPr>
        </p:pic>
        <p:cxnSp>
          <p:nvCxnSpPr>
            <p:cNvPr id="215" name="Straight Arrow Connector 214">
              <a:extLst>
                <a:ext uri="{FF2B5EF4-FFF2-40B4-BE49-F238E27FC236}">
                  <a16:creationId xmlns:a16="http://schemas.microsoft.com/office/drawing/2014/main" id="{408222AB-5227-7C12-0866-2DE8EA817B0E}"/>
                </a:ext>
              </a:extLst>
            </p:cNvPr>
            <p:cNvCxnSpPr>
              <a:cxnSpLocks/>
            </p:cNvCxnSpPr>
            <p:nvPr/>
          </p:nvCxnSpPr>
          <p:spPr>
            <a:xfrm flipH="1">
              <a:off x="1945956" y="2706031"/>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216" name="Straight Connector 215">
              <a:extLst>
                <a:ext uri="{FF2B5EF4-FFF2-40B4-BE49-F238E27FC236}">
                  <a16:creationId xmlns:a16="http://schemas.microsoft.com/office/drawing/2014/main" id="{882D83EE-9EC5-D4DF-0576-1D2BB85AD16C}"/>
                </a:ext>
              </a:extLst>
            </p:cNvPr>
            <p:cNvCxnSpPr>
              <a:cxnSpLocks/>
            </p:cNvCxnSpPr>
            <p:nvPr/>
          </p:nvCxnSpPr>
          <p:spPr>
            <a:xfrm flipH="1" flipV="1">
              <a:off x="2489900" y="2707446"/>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grpSp>
      <p:pic>
        <p:nvPicPr>
          <p:cNvPr id="2" name="Picture 2" descr="World Meteorological Organization - Wikipedia">
            <a:extLst>
              <a:ext uri="{FF2B5EF4-FFF2-40B4-BE49-F238E27FC236}">
                <a16:creationId xmlns:a16="http://schemas.microsoft.com/office/drawing/2014/main" id="{B05CEDE3-80EB-7358-48CA-84528E1BE24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E57C9FC-1F04-BE8C-5111-D56A5C636713}"/>
              </a:ext>
            </a:extLst>
          </p:cNvPr>
          <p:cNvSpPr txBox="1"/>
          <p:nvPr/>
        </p:nvSpPr>
        <p:spPr>
          <a:xfrm>
            <a:off x="413567" y="2039471"/>
            <a:ext cx="2556857" cy="2616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100" b="1"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rPr>
              <a:t>WIS2 Node</a:t>
            </a:r>
            <a:endParaRPr kumimoji="0" lang="en-GB" sz="1100" b="1" i="0"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endParaRPr>
          </a:p>
        </p:txBody>
      </p:sp>
    </p:spTree>
    <p:extLst>
      <p:ext uri="{BB962C8B-B14F-4D97-AF65-F5344CB8AC3E}">
        <p14:creationId xmlns:p14="http://schemas.microsoft.com/office/powerpoint/2010/main" val="2593460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ACD3-ABB9-10E5-E56E-98A86688B471}"/>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A00CAD65-A5C8-3252-D4F0-4C5B6CD24A59}"/>
              </a:ext>
            </a:extLst>
          </p:cNvPr>
          <p:cNvSpPr/>
          <p:nvPr/>
        </p:nvSpPr>
        <p:spPr>
          <a:xfrm>
            <a:off x="395623" y="2017273"/>
            <a:ext cx="4243318" cy="4145108"/>
          </a:xfrm>
          <a:prstGeom prst="rect">
            <a:avLst/>
          </a:prstGeom>
          <a:solidFill>
            <a:schemeClr val="bg1"/>
          </a:solidFill>
          <a:ln w="12700" cap="flat" cmpd="sng" algn="ctr">
            <a:solidFill>
              <a:srgbClr val="50B9A4">
                <a:shade val="50000"/>
              </a:srgb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50" b="1" i="0" u="none" strike="noStrike" kern="0" cap="none" spc="0" normalizeH="0" baseline="0" noProof="0">
              <a:ln>
                <a:noFill/>
              </a:ln>
              <a:solidFill>
                <a:srgbClr val="A1A0AA">
                  <a:lumMod val="50000"/>
                </a:srgbClr>
              </a:solidFill>
              <a:effectLst/>
              <a:uLnTx/>
              <a:uFillTx/>
              <a:latin typeface="Calibri Light" panose="020F0302020204030204"/>
              <a:ea typeface="+mn-ea"/>
              <a:cs typeface="Calibri"/>
              <a:sym typeface="Calibri"/>
            </a:endParaRPr>
          </a:p>
        </p:txBody>
      </p:sp>
      <p:sp>
        <p:nvSpPr>
          <p:cNvPr id="8" name="TextBox 7">
            <a:extLst>
              <a:ext uri="{FF2B5EF4-FFF2-40B4-BE49-F238E27FC236}">
                <a16:creationId xmlns:a16="http://schemas.microsoft.com/office/drawing/2014/main" id="{93B8CC2F-B6D7-74F4-77BF-7AEC9BC279BA}"/>
              </a:ext>
            </a:extLst>
          </p:cNvPr>
          <p:cNvSpPr txBox="1"/>
          <p:nvPr/>
        </p:nvSpPr>
        <p:spPr>
          <a:xfrm>
            <a:off x="4763039" y="6311879"/>
            <a:ext cx="264198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Community Components</a:t>
            </a:r>
          </a:p>
        </p:txBody>
      </p:sp>
      <p:grpSp>
        <p:nvGrpSpPr>
          <p:cNvPr id="9" name="Group 8">
            <a:extLst>
              <a:ext uri="{FF2B5EF4-FFF2-40B4-BE49-F238E27FC236}">
                <a16:creationId xmlns:a16="http://schemas.microsoft.com/office/drawing/2014/main" id="{973F6FCF-C1FA-0F73-3E86-B5597617E993}"/>
              </a:ext>
            </a:extLst>
          </p:cNvPr>
          <p:cNvGrpSpPr/>
          <p:nvPr/>
        </p:nvGrpSpPr>
        <p:grpSpPr>
          <a:xfrm>
            <a:off x="5465478" y="2441833"/>
            <a:ext cx="1333367" cy="533709"/>
            <a:chOff x="4738150" y="4607650"/>
            <a:chExt cx="1267200" cy="504342"/>
          </a:xfrm>
        </p:grpSpPr>
        <p:sp>
          <p:nvSpPr>
            <p:cNvPr id="10" name="Rectangle: Diagonal Corners Rounded 193">
              <a:extLst>
                <a:ext uri="{FF2B5EF4-FFF2-40B4-BE49-F238E27FC236}">
                  <a16:creationId xmlns:a16="http://schemas.microsoft.com/office/drawing/2014/main" id="{F4C94837-4CE7-C237-AAB1-29DCF5B108DC}"/>
                </a:ext>
              </a:extLst>
            </p:cNvPr>
            <p:cNvSpPr/>
            <p:nvPr/>
          </p:nvSpPr>
          <p:spPr>
            <a:xfrm>
              <a:off x="4738150" y="4607650"/>
              <a:ext cx="1267200" cy="504342"/>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Global Broker</a:t>
              </a:r>
            </a:p>
          </p:txBody>
        </p:sp>
        <p:pic>
          <p:nvPicPr>
            <p:cNvPr id="11" name="Picture 4" descr="Wmo Logo World Meteorological Organization Png - World Meteorological ...">
              <a:extLst>
                <a:ext uri="{FF2B5EF4-FFF2-40B4-BE49-F238E27FC236}">
                  <a16:creationId xmlns:a16="http://schemas.microsoft.com/office/drawing/2014/main" id="{4D9A53C3-DE7F-3C70-550A-A6DC46AC4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267" y="4666544"/>
              <a:ext cx="266956" cy="2924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B4B3F454-2C17-5FD4-7958-1305E64531F9}"/>
              </a:ext>
            </a:extLst>
          </p:cNvPr>
          <p:cNvGrpSpPr/>
          <p:nvPr/>
        </p:nvGrpSpPr>
        <p:grpSpPr>
          <a:xfrm>
            <a:off x="7888209" y="4413670"/>
            <a:ext cx="1333367" cy="533385"/>
            <a:chOff x="4475682" y="2144515"/>
            <a:chExt cx="1260000" cy="504036"/>
          </a:xfrm>
        </p:grpSpPr>
        <p:sp>
          <p:nvSpPr>
            <p:cNvPr id="13" name="Rectangle: Diagonal Corners Rounded 191">
              <a:extLst>
                <a:ext uri="{FF2B5EF4-FFF2-40B4-BE49-F238E27FC236}">
                  <a16:creationId xmlns:a16="http://schemas.microsoft.com/office/drawing/2014/main" id="{BEA4A7F1-EBDF-656B-7E29-110A2693D61C}"/>
                </a:ext>
              </a:extLst>
            </p:cNvPr>
            <p:cNvSpPr/>
            <p:nvPr/>
          </p:nvSpPr>
          <p:spPr>
            <a:xfrm>
              <a:off x="4475682" y="2144515"/>
              <a:ext cx="1260000" cy="504036"/>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52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  Global Cache</a:t>
              </a:r>
            </a:p>
          </p:txBody>
        </p:sp>
        <p:pic>
          <p:nvPicPr>
            <p:cNvPr id="14" name="Picture 4" descr="Wmo Logo World Meteorological Organization Png - World Meteorological ...">
              <a:extLst>
                <a:ext uri="{FF2B5EF4-FFF2-40B4-BE49-F238E27FC236}">
                  <a16:creationId xmlns:a16="http://schemas.microsoft.com/office/drawing/2014/main" id="{A32C979D-69AA-D2FD-3E49-EEF96F936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6003" y="2232879"/>
              <a:ext cx="266956" cy="29248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41F3A741-5352-420B-3B8F-E23B5F6EB185}"/>
              </a:ext>
            </a:extLst>
          </p:cNvPr>
          <p:cNvSpPr txBox="1"/>
          <p:nvPr/>
        </p:nvSpPr>
        <p:spPr>
          <a:xfrm>
            <a:off x="3157912" y="6310148"/>
            <a:ext cx="224601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Light" panose="020F0302020204030204"/>
                <a:ea typeface="+mn-ea"/>
                <a:cs typeface="Calibri"/>
                <a:sym typeface="Calibri"/>
              </a:rPr>
              <a:t>Local Components </a:t>
            </a:r>
          </a:p>
        </p:txBody>
      </p:sp>
      <p:grpSp>
        <p:nvGrpSpPr>
          <p:cNvPr id="7" name="Group 6">
            <a:extLst>
              <a:ext uri="{FF2B5EF4-FFF2-40B4-BE49-F238E27FC236}">
                <a16:creationId xmlns:a16="http://schemas.microsoft.com/office/drawing/2014/main" id="{4F28009F-DB4A-456D-E886-BEE5A555134A}"/>
              </a:ext>
            </a:extLst>
          </p:cNvPr>
          <p:cNvGrpSpPr/>
          <p:nvPr/>
        </p:nvGrpSpPr>
        <p:grpSpPr>
          <a:xfrm>
            <a:off x="3036000" y="2508583"/>
            <a:ext cx="1340114" cy="400209"/>
            <a:chOff x="6318068" y="3342518"/>
            <a:chExt cx="1340114" cy="400209"/>
          </a:xfrm>
        </p:grpSpPr>
        <p:sp>
          <p:nvSpPr>
            <p:cNvPr id="25" name="Rectangle: Rounded Corners 24">
              <a:extLst>
                <a:ext uri="{FF2B5EF4-FFF2-40B4-BE49-F238E27FC236}">
                  <a16:creationId xmlns:a16="http://schemas.microsoft.com/office/drawing/2014/main" id="{EB62B040-FB33-E357-DD25-4774A85F603B}"/>
                </a:ext>
              </a:extLst>
            </p:cNvPr>
            <p:cNvSpPr/>
            <p:nvPr/>
          </p:nvSpPr>
          <p:spPr>
            <a:xfrm>
              <a:off x="6318068" y="3342518"/>
              <a:ext cx="1340114" cy="400209"/>
            </a:xfrm>
            <a:prstGeom prst="roundRect">
              <a:avLst/>
            </a:prstGeom>
            <a:solidFill>
              <a:srgbClr val="77D9FF"/>
            </a:solidFill>
            <a:ln w="12700" cap="flat" cmpd="sng" algn="ctr">
              <a:solidFill>
                <a:srgbClr val="05529D"/>
              </a:solidFill>
              <a:prstDash val="solid"/>
              <a:miter lim="800000"/>
            </a:ln>
            <a:effectLst>
              <a:outerShdw blurRad="50800" dist="38100" dir="2700000" algn="tl" rotWithShape="0">
                <a:prstClr val="black">
                  <a:alpha val="40000"/>
                </a:prstClr>
              </a:outerShdw>
            </a:effectLst>
          </p:spPr>
          <p:txBody>
            <a:bodyPr lIns="288000" rtlCol="0" anchor="ct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0" lang="en-GB" sz="1000" b="0" i="0" u="none" strike="noStrike" kern="1200" cap="none" spc="0" normalizeH="0" baseline="0" noProof="0">
                  <a:ln>
                    <a:noFill/>
                  </a:ln>
                  <a:solidFill>
                    <a:srgbClr val="005BA9"/>
                  </a:solidFill>
                  <a:effectLst/>
                  <a:uLnTx/>
                  <a:uFillTx/>
                  <a:latin typeface="Calibri Light" panose="020F0302020204030204"/>
                  <a:ea typeface="Verdana" panose="020B0604030504040204" pitchFamily="34" charset="0"/>
                  <a:cs typeface="Calibri"/>
                  <a:sym typeface="Calibri"/>
                </a:rPr>
                <a:t>Local Broker</a:t>
              </a:r>
            </a:p>
          </p:txBody>
        </p:sp>
        <p:pic>
          <p:nvPicPr>
            <p:cNvPr id="6" name="Picture 4" descr="Wmo Logo World Meteorological Organization Png - World Meteorological ...">
              <a:extLst>
                <a:ext uri="{FF2B5EF4-FFF2-40B4-BE49-F238E27FC236}">
                  <a16:creationId xmlns:a16="http://schemas.microsoft.com/office/drawing/2014/main" id="{158F60DA-FFDA-183B-B676-46C421823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164" y="3377612"/>
              <a:ext cx="282500" cy="3095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 name="Straight Connector 40">
            <a:extLst>
              <a:ext uri="{FF2B5EF4-FFF2-40B4-BE49-F238E27FC236}">
                <a16:creationId xmlns:a16="http://schemas.microsoft.com/office/drawing/2014/main" id="{7DB15E2C-97AB-3B9E-2533-0296C6948D99}"/>
              </a:ext>
            </a:extLst>
          </p:cNvPr>
          <p:cNvCxnSpPr>
            <a:cxnSpLocks/>
          </p:cNvCxnSpPr>
          <p:nvPr/>
        </p:nvCxnSpPr>
        <p:spPr>
          <a:xfrm>
            <a:off x="5073927" y="414309"/>
            <a:ext cx="0" cy="6124603"/>
          </a:xfrm>
          <a:prstGeom prst="line">
            <a:avLst/>
          </a:prstGeom>
          <a:noFill/>
          <a:ln w="19050" cap="flat" cmpd="sng" algn="ctr">
            <a:solidFill>
              <a:srgbClr val="C97F3A"/>
            </a:solidFill>
            <a:prstDash val="dash"/>
          </a:ln>
          <a:effectLst/>
        </p:spPr>
      </p:cxnSp>
      <p:sp>
        <p:nvSpPr>
          <p:cNvPr id="169" name="TextBox 168">
            <a:extLst>
              <a:ext uri="{FF2B5EF4-FFF2-40B4-BE49-F238E27FC236}">
                <a16:creationId xmlns:a16="http://schemas.microsoft.com/office/drawing/2014/main" id="{9C0B15AF-AB6D-C0EA-DF39-2C1B770AB540}"/>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7</a:t>
            </a:fld>
            <a:endParaRPr lang="en-GB" sz="1000" dirty="0"/>
          </a:p>
        </p:txBody>
      </p:sp>
      <p:sp>
        <p:nvSpPr>
          <p:cNvPr id="198" name="TextBox 197">
            <a:extLst>
              <a:ext uri="{FF2B5EF4-FFF2-40B4-BE49-F238E27FC236}">
                <a16:creationId xmlns:a16="http://schemas.microsoft.com/office/drawing/2014/main" id="{88665D2C-945B-F9F2-D191-01200675D1C0}"/>
              </a:ext>
            </a:extLst>
          </p:cNvPr>
          <p:cNvSpPr txBox="1"/>
          <p:nvPr/>
        </p:nvSpPr>
        <p:spPr>
          <a:xfrm>
            <a:off x="246111" y="133810"/>
            <a:ext cx="4912629" cy="1754326"/>
          </a:xfrm>
          <a:prstGeom prst="rect">
            <a:avLst/>
          </a:prstGeom>
          <a:noFill/>
        </p:spPr>
        <p:txBody>
          <a:bodyPr wrap="square" rtlCol="0">
            <a:spAutoFit/>
          </a:bodyPr>
          <a:lstStyle/>
          <a:p>
            <a:pPr marL="285750" indent="-285750">
              <a:buFont typeface="Arial" panose="020B0604020202020204" pitchFamily="34" charset="0"/>
              <a:buChar char="•"/>
            </a:pPr>
            <a:r>
              <a:rPr lang="en-GB"/>
              <a:t>WIS2 also has the concept of a Global Cache</a:t>
            </a:r>
          </a:p>
          <a:p>
            <a:pPr marL="285750" indent="-285750">
              <a:buFont typeface="Arial" panose="020B0604020202020204" pitchFamily="34" charset="0"/>
              <a:buChar char="•"/>
            </a:pPr>
            <a:r>
              <a:rPr lang="en-GB"/>
              <a:t>Multiple, globally-distributed, highly-available instances serving Core data </a:t>
            </a:r>
          </a:p>
          <a:p>
            <a:pPr marL="285750" indent="-285750">
              <a:buFont typeface="Arial" panose="020B0604020202020204" pitchFamily="34" charset="0"/>
              <a:buChar char="•"/>
            </a:pPr>
            <a:r>
              <a:rPr lang="en-GB"/>
              <a:t>WIS2 encourages data consumers to download data from the Global Caches – not the “origin” WIS2 Nodes </a:t>
            </a:r>
          </a:p>
        </p:txBody>
      </p:sp>
      <p:grpSp>
        <p:nvGrpSpPr>
          <p:cNvPr id="82" name="Group 81">
            <a:extLst>
              <a:ext uri="{FF2B5EF4-FFF2-40B4-BE49-F238E27FC236}">
                <a16:creationId xmlns:a16="http://schemas.microsoft.com/office/drawing/2014/main" id="{336CC90B-E305-0955-8C1C-D03AB983DC8A}"/>
              </a:ext>
            </a:extLst>
          </p:cNvPr>
          <p:cNvGrpSpPr/>
          <p:nvPr/>
        </p:nvGrpSpPr>
        <p:grpSpPr>
          <a:xfrm>
            <a:off x="619969" y="2516723"/>
            <a:ext cx="1340114" cy="400209"/>
            <a:chOff x="6318068" y="4437423"/>
            <a:chExt cx="1340114" cy="400209"/>
          </a:xfrm>
        </p:grpSpPr>
        <p:sp>
          <p:nvSpPr>
            <p:cNvPr id="80" name="Rectangle: Rounded Corners 79">
              <a:extLst>
                <a:ext uri="{FF2B5EF4-FFF2-40B4-BE49-F238E27FC236}">
                  <a16:creationId xmlns:a16="http://schemas.microsoft.com/office/drawing/2014/main" id="{A839F05E-4526-73BF-640F-65CF27282470}"/>
                </a:ext>
              </a:extLst>
            </p:cNvPr>
            <p:cNvSpPr/>
            <p:nvPr/>
          </p:nvSpPr>
          <p:spPr>
            <a:xfrm>
              <a:off x="6318068" y="4437423"/>
              <a:ext cx="1340114" cy="400209"/>
            </a:xfrm>
            <a:prstGeom prst="roundRect">
              <a:avLst/>
            </a:prstGeom>
            <a:solidFill>
              <a:srgbClr val="93B479"/>
            </a:solidFill>
            <a:ln w="6350" cap="flat" cmpd="sng" algn="ctr">
              <a:solidFill>
                <a:srgbClr val="004F59"/>
              </a:solidFill>
              <a:prstDash val="solid"/>
              <a:miter lim="800000"/>
            </a:ln>
            <a:effectLst>
              <a:outerShdw blurRad="50800" dist="38100" dir="2700000" algn="tl" rotWithShape="0">
                <a:prstClr val="black">
                  <a:alpha val="40000"/>
                </a:prstClr>
              </a:outerShdw>
            </a:effectLst>
          </p:spPr>
          <p:txBody>
            <a:bodyPr lIns="0" rIns="0" rtlCol="0" anchor="ctr"/>
            <a:lstStyle/>
            <a:p>
              <a:pPr marL="266700" algn="ctr" defTabSz="457200">
                <a:lnSpc>
                  <a:spcPct val="90000"/>
                </a:lnSpc>
                <a:defRPr/>
              </a:pPr>
              <a:r>
                <a:rPr lang="en-GB" sz="1200" kern="0">
                  <a:solidFill>
                    <a:prstClr val="black"/>
                  </a:solidFill>
                  <a:latin typeface="Calibri Light" panose="020F0302020204030204"/>
                  <a:ea typeface="Calibri Light" panose="020F0302020204030204" pitchFamily="34" charset="0"/>
                  <a:cs typeface="Calibri Light" panose="020F0302020204030204" pitchFamily="34" charset="0"/>
                  <a:sym typeface="Calibri"/>
                </a:rPr>
                <a:t>Data Access (APIs)</a:t>
              </a:r>
            </a:p>
          </p:txBody>
        </p:sp>
        <p:pic>
          <p:nvPicPr>
            <p:cNvPr id="81" name="Picture 80" descr="Logo, company name&#10;&#10;Description automatically generated">
              <a:extLst>
                <a:ext uri="{FF2B5EF4-FFF2-40B4-BE49-F238E27FC236}">
                  <a16:creationId xmlns:a16="http://schemas.microsoft.com/office/drawing/2014/main" id="{4BFEFB1B-9B30-8F50-DD0C-B4EF1E500F29}"/>
                </a:ext>
              </a:extLst>
            </p:cNvPr>
            <p:cNvPicPr>
              <a:picLocks noChangeAspect="1"/>
            </p:cNvPicPr>
            <p:nvPr/>
          </p:nvPicPr>
          <p:blipFill rotWithShape="1">
            <a:blip r:embed="rId4">
              <a:duotone>
                <a:prstClr val="black"/>
                <a:srgbClr val="004F59">
                  <a:tint val="45000"/>
                  <a:satMod val="400000"/>
                </a:srgbClr>
              </a:duotone>
              <a:extLst>
                <a:ext uri="{BEBA8EAE-BF5A-486C-A8C5-ECC9F3942E4B}">
                  <a14:imgProps xmlns:a14="http://schemas.microsoft.com/office/drawing/2010/main">
                    <a14:imgLayer r:embed="rId5">
                      <a14:imgEffect>
                        <a14:backgroundRemoval t="5068" b="52703" l="24156" r="73002">
                          <a14:foregroundMark x1="70515" y1="31081" x2="70515" y2="31081"/>
                          <a14:foregroundMark x1="73002" y1="30743" x2="73002" y2="30743"/>
                          <a14:foregroundMark x1="52931" y1="50338" x2="52931" y2="50338"/>
                          <a14:foregroundMark x1="49023" y1="52703" x2="49023" y2="52703"/>
                          <a14:foregroundMark x1="24156" y1="29899" x2="24156" y2="29899"/>
                        </a14:backgroundRemoval>
                      </a14:imgEffect>
                    </a14:imgLayer>
                  </a14:imgProps>
                </a:ext>
                <a:ext uri="{28A0092B-C50C-407E-A947-70E740481C1C}">
                  <a14:useLocalDpi xmlns:a14="http://schemas.microsoft.com/office/drawing/2010/main" val="0"/>
                </a:ext>
              </a:extLst>
            </a:blip>
            <a:srcRect l="19216" r="24636" b="45879"/>
            <a:stretch/>
          </p:blipFill>
          <p:spPr>
            <a:xfrm>
              <a:off x="6349805" y="4481289"/>
              <a:ext cx="307211" cy="311371"/>
            </a:xfrm>
            <a:prstGeom prst="rect">
              <a:avLst/>
            </a:prstGeom>
            <a:ln>
              <a:solidFill>
                <a:srgbClr val="93B479"/>
              </a:solidFill>
            </a:ln>
          </p:spPr>
        </p:pic>
      </p:grpSp>
      <p:grpSp>
        <p:nvGrpSpPr>
          <p:cNvPr id="86" name="Group 85">
            <a:extLst>
              <a:ext uri="{FF2B5EF4-FFF2-40B4-BE49-F238E27FC236}">
                <a16:creationId xmlns:a16="http://schemas.microsoft.com/office/drawing/2014/main" id="{D896624E-E224-7DCA-8481-F55E73908679}"/>
              </a:ext>
            </a:extLst>
          </p:cNvPr>
          <p:cNvGrpSpPr/>
          <p:nvPr/>
        </p:nvGrpSpPr>
        <p:grpSpPr>
          <a:xfrm>
            <a:off x="10957783" y="2284643"/>
            <a:ext cx="753415" cy="848088"/>
            <a:chOff x="10987252" y="3139965"/>
            <a:chExt cx="753415" cy="848088"/>
          </a:xfrm>
        </p:grpSpPr>
        <p:pic>
          <p:nvPicPr>
            <p:cNvPr id="87" name="Graphic 86" descr="Users with solid fill">
              <a:extLst>
                <a:ext uri="{FF2B5EF4-FFF2-40B4-BE49-F238E27FC236}">
                  <a16:creationId xmlns:a16="http://schemas.microsoft.com/office/drawing/2014/main" id="{0508EED6-C75D-ABE2-9459-50DCBA786E8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049543" y="3139965"/>
              <a:ext cx="612315" cy="623947"/>
            </a:xfrm>
            <a:prstGeom prst="rect">
              <a:avLst/>
            </a:prstGeom>
            <a:effectLst>
              <a:outerShdw blurRad="50800" dist="38100" dir="2700000" algn="tl" rotWithShape="0">
                <a:prstClr val="black">
                  <a:alpha val="40000"/>
                </a:prstClr>
              </a:outerShdw>
            </a:effectLst>
          </p:spPr>
        </p:pic>
        <p:sp>
          <p:nvSpPr>
            <p:cNvPr id="88" name="TextBox 87">
              <a:extLst>
                <a:ext uri="{FF2B5EF4-FFF2-40B4-BE49-F238E27FC236}">
                  <a16:creationId xmlns:a16="http://schemas.microsoft.com/office/drawing/2014/main" id="{49C054A1-F19D-8702-84E5-8B364F09F7D3}"/>
                </a:ext>
              </a:extLst>
            </p:cNvPr>
            <p:cNvSpPr txBox="1"/>
            <p:nvPr/>
          </p:nvSpPr>
          <p:spPr>
            <a:xfrm>
              <a:off x="10987252" y="3633982"/>
              <a:ext cx="753415" cy="354071"/>
            </a:xfrm>
            <a:prstGeom prst="rect">
              <a:avLst/>
            </a:prstGeom>
            <a:noFill/>
          </p:spPr>
          <p:txBody>
            <a:bodyPr wrap="square" lIns="0" rIns="0" rtlCol="0">
              <a:spAutoFit/>
            </a:bodyPr>
            <a:lstStyle>
              <a:defPPr>
                <a:defRPr lang="en-US"/>
              </a:defPPr>
              <a:lvl1pPr marR="0" lvl="0" indent="0" algn="ctr" fontAlgn="auto">
                <a:lnSpc>
                  <a:spcPct val="80000"/>
                </a:lnSpc>
                <a:spcBef>
                  <a:spcPts val="0"/>
                </a:spcBef>
                <a:spcAft>
                  <a:spcPts val="0"/>
                </a:spcAft>
                <a:buClrTx/>
                <a:buSzTx/>
                <a:buFontTx/>
                <a:buNone/>
                <a:tabLst/>
                <a:defRPr kumimoji="0" sz="1050" b="0" i="0" u="none" strike="noStrike" cap="none" spc="0" normalizeH="0" baseline="0">
                  <a:ln>
                    <a:noFill/>
                  </a:ln>
                  <a:solidFill>
                    <a:prstClr val="black"/>
                  </a:solidFill>
                  <a:effectLst/>
                  <a:uLnTx/>
                  <a:uFillTx/>
                  <a:latin typeface="Calibri" panose="020F0502020204030204"/>
                </a:defRPr>
              </a:lvl1pPr>
            </a:lstStyle>
            <a:p>
              <a:pPr>
                <a:defRPr/>
              </a:pPr>
              <a:r>
                <a:rPr lang="en-GB">
                  <a:latin typeface="Calibri Light" panose="020F0302020204030204"/>
                  <a:cs typeface="Calibri"/>
                  <a:sym typeface="Calibri"/>
                </a:rPr>
                <a:t>Data Consumers</a:t>
              </a:r>
            </a:p>
          </p:txBody>
        </p:sp>
      </p:grpSp>
      <p:grpSp>
        <p:nvGrpSpPr>
          <p:cNvPr id="90" name="Group 89">
            <a:extLst>
              <a:ext uri="{FF2B5EF4-FFF2-40B4-BE49-F238E27FC236}">
                <a16:creationId xmlns:a16="http://schemas.microsoft.com/office/drawing/2014/main" id="{1EA88467-59A3-10CD-461E-846F2872CB56}"/>
              </a:ext>
            </a:extLst>
          </p:cNvPr>
          <p:cNvGrpSpPr/>
          <p:nvPr/>
        </p:nvGrpSpPr>
        <p:grpSpPr>
          <a:xfrm>
            <a:off x="9218658" y="4612042"/>
            <a:ext cx="309320" cy="109283"/>
            <a:chOff x="7584406" y="1764347"/>
            <a:chExt cx="309320" cy="109283"/>
          </a:xfrm>
        </p:grpSpPr>
        <p:cxnSp>
          <p:nvCxnSpPr>
            <p:cNvPr id="97" name="Straight Arrow Connector 96">
              <a:extLst>
                <a:ext uri="{FF2B5EF4-FFF2-40B4-BE49-F238E27FC236}">
                  <a16:creationId xmlns:a16="http://schemas.microsoft.com/office/drawing/2014/main" id="{05616F2B-17B4-1CFD-2421-C7F4E17BFFC5}"/>
                </a:ext>
              </a:extLst>
            </p:cNvPr>
            <p:cNvCxnSpPr>
              <a:cxnSpLocks/>
            </p:cNvCxnSpPr>
            <p:nvPr/>
          </p:nvCxnSpPr>
          <p:spPr>
            <a:xfrm>
              <a:off x="7584406" y="1820761"/>
              <a:ext cx="200037" cy="0"/>
            </a:xfrm>
            <a:prstGeom prst="straightConnector1">
              <a:avLst/>
            </a:prstGeom>
            <a:noFill/>
            <a:ln w="19050" cap="flat" cmpd="sng" algn="ctr">
              <a:solidFill>
                <a:srgbClr val="0070C0"/>
              </a:solidFill>
              <a:prstDash val="solid"/>
              <a:headEnd type="none" w="med" len="med"/>
              <a:tailEnd type="none" w="med" len="med"/>
            </a:ln>
            <a:effectLst/>
          </p:spPr>
        </p:cxnSp>
        <p:sp>
          <p:nvSpPr>
            <p:cNvPr id="98" name="Oval 97">
              <a:extLst>
                <a:ext uri="{FF2B5EF4-FFF2-40B4-BE49-F238E27FC236}">
                  <a16:creationId xmlns:a16="http://schemas.microsoft.com/office/drawing/2014/main" id="{2AD8FF0D-9E2F-C0A9-73A2-016696FE5053}"/>
                </a:ext>
              </a:extLst>
            </p:cNvPr>
            <p:cNvSpPr/>
            <p:nvPr/>
          </p:nvSpPr>
          <p:spPr>
            <a:xfrm>
              <a:off x="7784443" y="1764347"/>
              <a:ext cx="109283" cy="109283"/>
            </a:xfrm>
            <a:prstGeom prst="ellipse">
              <a:avLst/>
            </a:prstGeom>
            <a:solidFill>
              <a:srgbClr val="FFFFFF"/>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9" name="TextBox 98">
            <a:extLst>
              <a:ext uri="{FF2B5EF4-FFF2-40B4-BE49-F238E27FC236}">
                <a16:creationId xmlns:a16="http://schemas.microsoft.com/office/drawing/2014/main" id="{76B376B5-F725-9384-546E-C078E8F7AAEC}"/>
              </a:ext>
            </a:extLst>
          </p:cNvPr>
          <p:cNvSpPr txBox="1"/>
          <p:nvPr/>
        </p:nvSpPr>
        <p:spPr>
          <a:xfrm>
            <a:off x="9179826" y="4706736"/>
            <a:ext cx="587020" cy="307777"/>
          </a:xfrm>
          <a:prstGeom prst="rect">
            <a:avLst/>
          </a:prstGeom>
          <a:noFill/>
        </p:spPr>
        <p:txBody>
          <a:bodyPr wrap="none" rtlCol="0">
            <a:spAutoFit/>
          </a:bodyPr>
          <a:lstStyle/>
          <a:p>
            <a:r>
              <a:rPr lang="en-GB" sz="1400">
                <a:solidFill>
                  <a:srgbClr val="0070C0"/>
                </a:solidFill>
              </a:rPr>
              <a:t>https</a:t>
            </a:r>
          </a:p>
        </p:txBody>
      </p:sp>
      <p:grpSp>
        <p:nvGrpSpPr>
          <p:cNvPr id="117" name="Group 116">
            <a:extLst>
              <a:ext uri="{FF2B5EF4-FFF2-40B4-BE49-F238E27FC236}">
                <a16:creationId xmlns:a16="http://schemas.microsoft.com/office/drawing/2014/main" id="{16EEDAB3-5E2E-E098-1D8A-E4A84F067ACE}"/>
              </a:ext>
            </a:extLst>
          </p:cNvPr>
          <p:cNvGrpSpPr/>
          <p:nvPr/>
        </p:nvGrpSpPr>
        <p:grpSpPr>
          <a:xfrm>
            <a:off x="6763265" y="2660007"/>
            <a:ext cx="640816" cy="402471"/>
            <a:chOff x="6763265" y="2660007"/>
            <a:chExt cx="640816" cy="402471"/>
          </a:xfrm>
        </p:grpSpPr>
        <p:grpSp>
          <p:nvGrpSpPr>
            <p:cNvPr id="113" name="Group 112">
              <a:extLst>
                <a:ext uri="{FF2B5EF4-FFF2-40B4-BE49-F238E27FC236}">
                  <a16:creationId xmlns:a16="http://schemas.microsoft.com/office/drawing/2014/main" id="{18316FCF-5286-1F98-7F47-9C6D79B726E6}"/>
                </a:ext>
              </a:extLst>
            </p:cNvPr>
            <p:cNvGrpSpPr/>
            <p:nvPr/>
          </p:nvGrpSpPr>
          <p:grpSpPr>
            <a:xfrm>
              <a:off x="6802097" y="2660007"/>
              <a:ext cx="309320" cy="109283"/>
              <a:chOff x="7584406" y="1764347"/>
              <a:chExt cx="309320" cy="109283"/>
            </a:xfrm>
          </p:grpSpPr>
          <p:cxnSp>
            <p:nvCxnSpPr>
              <p:cNvPr id="114" name="Straight Arrow Connector 113">
                <a:extLst>
                  <a:ext uri="{FF2B5EF4-FFF2-40B4-BE49-F238E27FC236}">
                    <a16:creationId xmlns:a16="http://schemas.microsoft.com/office/drawing/2014/main" id="{D1CB93B2-DF7D-C429-EEB6-359259A3A043}"/>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15" name="Oval 114">
                <a:extLst>
                  <a:ext uri="{FF2B5EF4-FFF2-40B4-BE49-F238E27FC236}">
                    <a16:creationId xmlns:a16="http://schemas.microsoft.com/office/drawing/2014/main" id="{6220C41D-749C-E097-FFA9-79A58D1D1868}"/>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6" name="TextBox 115">
              <a:extLst>
                <a:ext uri="{FF2B5EF4-FFF2-40B4-BE49-F238E27FC236}">
                  <a16:creationId xmlns:a16="http://schemas.microsoft.com/office/drawing/2014/main" id="{27B8C26C-16A6-7B8C-648B-40E123AAD359}"/>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grpSp>
        <p:nvGrpSpPr>
          <p:cNvPr id="118" name="Group 117">
            <a:extLst>
              <a:ext uri="{FF2B5EF4-FFF2-40B4-BE49-F238E27FC236}">
                <a16:creationId xmlns:a16="http://schemas.microsoft.com/office/drawing/2014/main" id="{33492E79-841D-C674-3540-DFC019C96CEB}"/>
              </a:ext>
            </a:extLst>
          </p:cNvPr>
          <p:cNvGrpSpPr/>
          <p:nvPr/>
        </p:nvGrpSpPr>
        <p:grpSpPr>
          <a:xfrm flipH="1">
            <a:off x="7284449" y="4615455"/>
            <a:ext cx="640816" cy="402471"/>
            <a:chOff x="6763265" y="2660007"/>
            <a:chExt cx="640816" cy="402471"/>
          </a:xfrm>
        </p:grpSpPr>
        <p:grpSp>
          <p:nvGrpSpPr>
            <p:cNvPr id="119" name="Group 118">
              <a:extLst>
                <a:ext uri="{FF2B5EF4-FFF2-40B4-BE49-F238E27FC236}">
                  <a16:creationId xmlns:a16="http://schemas.microsoft.com/office/drawing/2014/main" id="{C0302303-E373-0BBC-2824-83EB01955409}"/>
                </a:ext>
              </a:extLst>
            </p:cNvPr>
            <p:cNvGrpSpPr/>
            <p:nvPr/>
          </p:nvGrpSpPr>
          <p:grpSpPr>
            <a:xfrm>
              <a:off x="6802097" y="2660007"/>
              <a:ext cx="309320" cy="109283"/>
              <a:chOff x="7584406" y="1764347"/>
              <a:chExt cx="309320" cy="109283"/>
            </a:xfrm>
          </p:grpSpPr>
          <p:cxnSp>
            <p:nvCxnSpPr>
              <p:cNvPr id="121" name="Straight Arrow Connector 120">
                <a:extLst>
                  <a:ext uri="{FF2B5EF4-FFF2-40B4-BE49-F238E27FC236}">
                    <a16:creationId xmlns:a16="http://schemas.microsoft.com/office/drawing/2014/main" id="{882B178E-D505-175F-BB1C-E9C2093A83FD}"/>
                  </a:ext>
                </a:extLst>
              </p:cNvPr>
              <p:cNvCxnSpPr>
                <a:cxnSpLocks/>
              </p:cNvCxnSpPr>
              <p:nvPr/>
            </p:nvCxnSpPr>
            <p:spPr>
              <a:xfrm>
                <a:off x="7584406" y="1820761"/>
                <a:ext cx="200037" cy="0"/>
              </a:xfrm>
              <a:prstGeom prst="straightConnector1">
                <a:avLst/>
              </a:prstGeom>
              <a:noFill/>
              <a:ln w="19050" cap="flat" cmpd="sng" algn="ctr">
                <a:solidFill>
                  <a:schemeClr val="accent6"/>
                </a:solidFill>
                <a:prstDash val="solid"/>
                <a:headEnd type="none" w="med" len="med"/>
                <a:tailEnd type="none" w="med" len="med"/>
              </a:ln>
              <a:effectLst/>
            </p:spPr>
          </p:cxnSp>
          <p:sp>
            <p:nvSpPr>
              <p:cNvPr id="122" name="Oval 121">
                <a:extLst>
                  <a:ext uri="{FF2B5EF4-FFF2-40B4-BE49-F238E27FC236}">
                    <a16:creationId xmlns:a16="http://schemas.microsoft.com/office/drawing/2014/main" id="{57CD5B85-0106-B8AB-834C-FF90DED85A0E}"/>
                  </a:ext>
                </a:extLst>
              </p:cNvPr>
              <p:cNvSpPr/>
              <p:nvPr/>
            </p:nvSpPr>
            <p:spPr>
              <a:xfrm>
                <a:off x="7784443" y="1764347"/>
                <a:ext cx="109283" cy="109283"/>
              </a:xfrm>
              <a:prstGeom prst="ellipse">
                <a:avLst/>
              </a:prstGeom>
              <a:solidFill>
                <a:srgbClr val="FFFF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0" name="TextBox 119">
              <a:extLst>
                <a:ext uri="{FF2B5EF4-FFF2-40B4-BE49-F238E27FC236}">
                  <a16:creationId xmlns:a16="http://schemas.microsoft.com/office/drawing/2014/main" id="{073A5F80-A095-CD77-DD91-A2505A3920A7}"/>
                </a:ext>
              </a:extLst>
            </p:cNvPr>
            <p:cNvSpPr txBox="1"/>
            <p:nvPr/>
          </p:nvSpPr>
          <p:spPr>
            <a:xfrm>
              <a:off x="6763265" y="2754701"/>
              <a:ext cx="640816" cy="307777"/>
            </a:xfrm>
            <a:prstGeom prst="rect">
              <a:avLst/>
            </a:prstGeom>
            <a:noFill/>
          </p:spPr>
          <p:txBody>
            <a:bodyPr wrap="none" rtlCol="0">
              <a:spAutoFit/>
            </a:bodyPr>
            <a:lstStyle/>
            <a:p>
              <a:r>
                <a:rPr lang="en-GB" sz="1400" err="1">
                  <a:solidFill>
                    <a:schemeClr val="accent6"/>
                  </a:solidFill>
                </a:rPr>
                <a:t>mqtts</a:t>
              </a:r>
              <a:endParaRPr lang="en-GB" sz="1400">
                <a:solidFill>
                  <a:schemeClr val="accent6"/>
                </a:solidFill>
              </a:endParaRPr>
            </a:p>
          </p:txBody>
        </p:sp>
      </p:grpSp>
      <p:sp>
        <p:nvSpPr>
          <p:cNvPr id="125" name="TextBox 124">
            <a:extLst>
              <a:ext uri="{FF2B5EF4-FFF2-40B4-BE49-F238E27FC236}">
                <a16:creationId xmlns:a16="http://schemas.microsoft.com/office/drawing/2014/main" id="{473F31C7-454C-CBF8-DCE0-21F6931E7FC7}"/>
              </a:ext>
            </a:extLst>
          </p:cNvPr>
          <p:cNvSpPr txBox="1"/>
          <p:nvPr/>
        </p:nvSpPr>
        <p:spPr>
          <a:xfrm>
            <a:off x="5731688" y="1747081"/>
            <a:ext cx="2646878" cy="692497"/>
          </a:xfrm>
          <a:prstGeom prst="rect">
            <a:avLst/>
          </a:prstGeom>
          <a:noFill/>
        </p:spPr>
        <p:txBody>
          <a:bodyPr wrap="non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p>
          <a:p>
            <a:pPr algn="ctr"/>
            <a:endParaRPr lang="en-GB" sz="1200">
              <a:solidFill>
                <a:schemeClr val="accent6"/>
              </a:solidFill>
              <a:latin typeface="Consolas" panose="020B0609020204030204" pitchFamily="49" charset="0"/>
            </a:endParaRPr>
          </a:p>
        </p:txBody>
      </p:sp>
      <p:grpSp>
        <p:nvGrpSpPr>
          <p:cNvPr id="129" name="Group 128">
            <a:extLst>
              <a:ext uri="{FF2B5EF4-FFF2-40B4-BE49-F238E27FC236}">
                <a16:creationId xmlns:a16="http://schemas.microsoft.com/office/drawing/2014/main" id="{2CEE96B8-4C0F-9148-D745-CB772015FDB9}"/>
              </a:ext>
            </a:extLst>
          </p:cNvPr>
          <p:cNvGrpSpPr/>
          <p:nvPr/>
        </p:nvGrpSpPr>
        <p:grpSpPr>
          <a:xfrm>
            <a:off x="3761820" y="2704600"/>
            <a:ext cx="2285252" cy="1083755"/>
            <a:chOff x="3761820" y="2704600"/>
            <a:chExt cx="2285252" cy="1083755"/>
          </a:xfrm>
        </p:grpSpPr>
        <p:cxnSp>
          <p:nvCxnSpPr>
            <p:cNvPr id="130" name="Straight Arrow Connector 129">
              <a:extLst>
                <a:ext uri="{FF2B5EF4-FFF2-40B4-BE49-F238E27FC236}">
                  <a16:creationId xmlns:a16="http://schemas.microsoft.com/office/drawing/2014/main" id="{D0BBA6DF-08C1-F609-9661-66D01641FE5F}"/>
                </a:ext>
              </a:extLst>
            </p:cNvPr>
            <p:cNvCxnSpPr>
              <a:cxnSpLocks/>
            </p:cNvCxnSpPr>
            <p:nvPr/>
          </p:nvCxnSpPr>
          <p:spPr>
            <a:xfrm>
              <a:off x="4360502" y="2704600"/>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31" name="Straight Connector 130">
              <a:extLst>
                <a:ext uri="{FF2B5EF4-FFF2-40B4-BE49-F238E27FC236}">
                  <a16:creationId xmlns:a16="http://schemas.microsoft.com/office/drawing/2014/main" id="{B6F9178F-B4FE-F0CF-0DC7-B1403503B7C0}"/>
                </a:ext>
              </a:extLst>
            </p:cNvPr>
            <p:cNvCxnSpPr>
              <a:cxnSpLocks/>
              <a:stCxn id="132" idx="0"/>
            </p:cNvCxnSpPr>
            <p:nvPr/>
          </p:nvCxnSpPr>
          <p:spPr>
            <a:xfrm flipV="1">
              <a:off x="4904446" y="2706015"/>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F9E5D332-6534-EDC1-5863-11DEED78D9DD}"/>
                </a:ext>
              </a:extLst>
            </p:cNvPr>
            <p:cNvSpPr txBox="1"/>
            <p:nvPr/>
          </p:nvSpPr>
          <p:spPr>
            <a:xfrm>
              <a:off x="3761820" y="3280524"/>
              <a:ext cx="2285252" cy="507831"/>
            </a:xfrm>
            <a:prstGeom prst="rect">
              <a:avLst/>
            </a:prstGeom>
            <a:solidFill>
              <a:srgbClr val="FFFFFF">
                <a:alpha val="80000"/>
              </a:srgbClr>
            </a:solidFill>
          </p:spPr>
          <p:txBody>
            <a:bodyPr wrap="squar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origin/a/wis2/{centre-id}/#</a:t>
              </a:r>
              <a:endParaRPr lang="en-GB" sz="1200">
                <a:solidFill>
                  <a:schemeClr val="accent6"/>
                </a:solidFill>
                <a:latin typeface="Consolas" panose="020B0609020204030204" pitchFamily="49" charset="0"/>
              </a:endParaRPr>
            </a:p>
          </p:txBody>
        </p:sp>
      </p:grpSp>
      <p:grpSp>
        <p:nvGrpSpPr>
          <p:cNvPr id="154" name="Group 153">
            <a:extLst>
              <a:ext uri="{FF2B5EF4-FFF2-40B4-BE49-F238E27FC236}">
                <a16:creationId xmlns:a16="http://schemas.microsoft.com/office/drawing/2014/main" id="{DAAF7B69-B0E7-F82A-F46C-9FBF740614C0}"/>
              </a:ext>
            </a:extLst>
          </p:cNvPr>
          <p:cNvGrpSpPr/>
          <p:nvPr/>
        </p:nvGrpSpPr>
        <p:grpSpPr>
          <a:xfrm>
            <a:off x="850980" y="2706031"/>
            <a:ext cx="3266658" cy="1075921"/>
            <a:chOff x="850980" y="2706031"/>
            <a:chExt cx="3266658" cy="1075921"/>
          </a:xfrm>
        </p:grpSpPr>
        <p:sp>
          <p:nvSpPr>
            <p:cNvPr id="150" name="TextBox 149">
              <a:extLst>
                <a:ext uri="{FF2B5EF4-FFF2-40B4-BE49-F238E27FC236}">
                  <a16:creationId xmlns:a16="http://schemas.microsoft.com/office/drawing/2014/main" id="{3A26991D-1868-B258-619C-B0E92961FD91}"/>
                </a:ext>
              </a:extLst>
            </p:cNvPr>
            <p:cNvSpPr txBox="1"/>
            <p:nvPr/>
          </p:nvSpPr>
          <p:spPr>
            <a:xfrm>
              <a:off x="850980" y="3274121"/>
              <a:ext cx="3266658" cy="507831"/>
            </a:xfrm>
            <a:prstGeom prst="rect">
              <a:avLst/>
            </a:prstGeom>
            <a:noFill/>
          </p:spPr>
          <p:txBody>
            <a:bodyPr wrap="square" rtlCol="0">
              <a:spAutoFit/>
            </a:bodyPr>
            <a:lstStyle/>
            <a:p>
              <a:pPr algn="ctr"/>
              <a:r>
                <a:rPr lang="en-GB" sz="1600">
                  <a:solidFill>
                    <a:schemeClr val="accent6"/>
                  </a:solidFill>
                </a:rPr>
                <a:t>publish</a:t>
              </a:r>
            </a:p>
            <a:p>
              <a:pPr algn="ctr"/>
              <a:r>
                <a:rPr lang="en-GB" sz="1100">
                  <a:solidFill>
                    <a:schemeClr val="accent6"/>
                  </a:solidFill>
                  <a:latin typeface="Consolas" panose="020B0609020204030204" pitchFamily="49" charset="0"/>
                </a:rPr>
                <a:t>origin/a/wis2/{centre-id}/data/…</a:t>
              </a:r>
              <a:endParaRPr lang="en-GB" sz="1200">
                <a:solidFill>
                  <a:schemeClr val="accent6"/>
                </a:solidFill>
                <a:latin typeface="Consolas" panose="020B0609020204030204" pitchFamily="49" charset="0"/>
              </a:endParaRPr>
            </a:p>
          </p:txBody>
        </p:sp>
        <p:pic>
          <p:nvPicPr>
            <p:cNvPr id="151" name="Picture 150">
              <a:extLst>
                <a:ext uri="{FF2B5EF4-FFF2-40B4-BE49-F238E27FC236}">
                  <a16:creationId xmlns:a16="http://schemas.microsoft.com/office/drawing/2014/main" id="{4BF34149-9EB4-9EDE-F9A7-ABD308FE2095}"/>
                </a:ext>
              </a:extLst>
            </p:cNvPr>
            <p:cNvPicPr>
              <a:picLocks noChangeAspect="1"/>
            </p:cNvPicPr>
            <p:nvPr/>
          </p:nvPicPr>
          <p:blipFill>
            <a:blip r:embed="rId8">
              <a:duotone>
                <a:schemeClr val="accent6">
                  <a:shade val="45000"/>
                  <a:satMod val="135000"/>
                </a:schemeClr>
                <a:prstClr val="white"/>
              </a:duotone>
            </a:blip>
            <a:stretch>
              <a:fillRect/>
            </a:stretch>
          </p:blipFill>
          <p:spPr>
            <a:xfrm>
              <a:off x="1969723" y="3355216"/>
              <a:ext cx="169915" cy="196863"/>
            </a:xfrm>
            <a:prstGeom prst="rect">
              <a:avLst/>
            </a:prstGeom>
          </p:spPr>
        </p:pic>
        <p:cxnSp>
          <p:nvCxnSpPr>
            <p:cNvPr id="152" name="Straight Arrow Connector 151">
              <a:extLst>
                <a:ext uri="{FF2B5EF4-FFF2-40B4-BE49-F238E27FC236}">
                  <a16:creationId xmlns:a16="http://schemas.microsoft.com/office/drawing/2014/main" id="{434B9E2D-A1B5-7C1B-40AA-0446358FEB39}"/>
                </a:ext>
              </a:extLst>
            </p:cNvPr>
            <p:cNvCxnSpPr>
              <a:cxnSpLocks/>
            </p:cNvCxnSpPr>
            <p:nvPr/>
          </p:nvCxnSpPr>
          <p:spPr>
            <a:xfrm flipH="1">
              <a:off x="1945956" y="2706031"/>
              <a:ext cx="1089364" cy="0"/>
            </a:xfrm>
            <a:prstGeom prst="straightConnector1">
              <a:avLst/>
            </a:prstGeom>
            <a:noFill/>
            <a:ln w="19050" cap="flat" cmpd="sng" algn="ctr">
              <a:solidFill>
                <a:schemeClr val="accent6"/>
              </a:solidFill>
              <a:prstDash val="solid"/>
              <a:headEnd type="triangle" w="med" len="med"/>
              <a:tailEnd type="none" w="med" len="med"/>
            </a:ln>
            <a:effectLst/>
          </p:spPr>
        </p:cxnSp>
        <p:cxnSp>
          <p:nvCxnSpPr>
            <p:cNvPr id="153" name="Straight Connector 152">
              <a:extLst>
                <a:ext uri="{FF2B5EF4-FFF2-40B4-BE49-F238E27FC236}">
                  <a16:creationId xmlns:a16="http://schemas.microsoft.com/office/drawing/2014/main" id="{BC087319-DC2D-4312-CEF4-40E14A11E2E3}"/>
                </a:ext>
              </a:extLst>
            </p:cNvPr>
            <p:cNvCxnSpPr>
              <a:cxnSpLocks/>
            </p:cNvCxnSpPr>
            <p:nvPr/>
          </p:nvCxnSpPr>
          <p:spPr>
            <a:xfrm flipH="1" flipV="1">
              <a:off x="2489900" y="2707446"/>
              <a:ext cx="1" cy="574509"/>
            </a:xfrm>
            <a:prstGeom prst="line">
              <a:avLst/>
            </a:prstGeom>
            <a:ln w="9525">
              <a:solidFill>
                <a:schemeClr val="accent6"/>
              </a:solidFill>
              <a:prstDash val="sysDash"/>
            </a:ln>
          </p:spPr>
          <p:style>
            <a:lnRef idx="2">
              <a:schemeClr val="accent1"/>
            </a:lnRef>
            <a:fillRef idx="0">
              <a:schemeClr val="accent1"/>
            </a:fillRef>
            <a:effectRef idx="1">
              <a:schemeClr val="accent1"/>
            </a:effectRef>
            <a:fontRef idx="minor">
              <a:schemeClr val="tx1"/>
            </a:fontRef>
          </p:style>
        </p:cxnSp>
      </p:grpSp>
      <p:sp>
        <p:nvSpPr>
          <p:cNvPr id="177" name="TextBox 176">
            <a:extLst>
              <a:ext uri="{FF2B5EF4-FFF2-40B4-BE49-F238E27FC236}">
                <a16:creationId xmlns:a16="http://schemas.microsoft.com/office/drawing/2014/main" id="{65036294-EF2E-3480-A5C1-C18E266BA642}"/>
              </a:ext>
            </a:extLst>
          </p:cNvPr>
          <p:cNvSpPr txBox="1"/>
          <p:nvPr/>
        </p:nvSpPr>
        <p:spPr>
          <a:xfrm>
            <a:off x="0" y="6618354"/>
            <a:ext cx="9031947" cy="230832"/>
          </a:xfrm>
          <a:prstGeom prst="rect">
            <a:avLst/>
          </a:prstGeom>
          <a:noFill/>
        </p:spPr>
        <p:txBody>
          <a:bodyPr wrap="square">
            <a:spAutoFit/>
          </a:bodyPr>
          <a:lstStyle/>
          <a:p>
            <a:r>
              <a:rPr lang="en-GB" sz="900"/>
              <a:t>* Global Caches actually subscribe to both origin and cache so that they get notifications from other Global Caches about data they might have missed from origin WIS2 Nodes</a:t>
            </a:r>
            <a:endParaRPr lang="en-GB" sz="1000"/>
          </a:p>
        </p:txBody>
      </p:sp>
      <p:grpSp>
        <p:nvGrpSpPr>
          <p:cNvPr id="199" name="Group 198">
            <a:extLst>
              <a:ext uri="{FF2B5EF4-FFF2-40B4-BE49-F238E27FC236}">
                <a16:creationId xmlns:a16="http://schemas.microsoft.com/office/drawing/2014/main" id="{A4CDCBAF-7772-0D06-FAFA-4A81153A2CF3}"/>
              </a:ext>
            </a:extLst>
          </p:cNvPr>
          <p:cNvGrpSpPr/>
          <p:nvPr/>
        </p:nvGrpSpPr>
        <p:grpSpPr>
          <a:xfrm>
            <a:off x="9527979" y="3132731"/>
            <a:ext cx="2501695" cy="2268735"/>
            <a:chOff x="9527979" y="3132731"/>
            <a:chExt cx="2501695" cy="2268735"/>
          </a:xfrm>
        </p:grpSpPr>
        <p:cxnSp>
          <p:nvCxnSpPr>
            <p:cNvPr id="158" name="Connector: Elbow 157">
              <a:extLst>
                <a:ext uri="{FF2B5EF4-FFF2-40B4-BE49-F238E27FC236}">
                  <a16:creationId xmlns:a16="http://schemas.microsoft.com/office/drawing/2014/main" id="{1FA255CF-B5E0-67C9-218E-324154864331}"/>
                </a:ext>
              </a:extLst>
            </p:cNvPr>
            <p:cNvCxnSpPr>
              <a:cxnSpLocks/>
              <a:stCxn id="88" idx="2"/>
              <a:endCxn id="98" idx="6"/>
            </p:cNvCxnSpPr>
            <p:nvPr/>
          </p:nvCxnSpPr>
          <p:spPr>
            <a:xfrm rot="5400000">
              <a:off x="9664259" y="2996451"/>
              <a:ext cx="1533953" cy="1806513"/>
            </a:xfrm>
            <a:prstGeom prst="bentConnector2">
              <a:avLst/>
            </a:prstGeom>
            <a:noFill/>
            <a:ln w="19050" cap="flat" cmpd="sng" algn="ctr">
              <a:solidFill>
                <a:srgbClr val="0070C0"/>
              </a:solidFill>
              <a:prstDash val="solid"/>
              <a:headEnd type="none" w="med" len="med"/>
              <a:tailEnd type="triangle" w="med" len="med"/>
            </a:ln>
            <a:effectLst/>
          </p:spPr>
        </p:cxnSp>
        <p:sp>
          <p:nvSpPr>
            <p:cNvPr id="159" name="TextBox 158">
              <a:extLst>
                <a:ext uri="{FF2B5EF4-FFF2-40B4-BE49-F238E27FC236}">
                  <a16:creationId xmlns:a16="http://schemas.microsoft.com/office/drawing/2014/main" id="{5E317D57-71F1-DCA3-6A45-E158AD88CCCF}"/>
                </a:ext>
              </a:extLst>
            </p:cNvPr>
            <p:cNvSpPr txBox="1"/>
            <p:nvPr/>
          </p:nvSpPr>
          <p:spPr>
            <a:xfrm>
              <a:off x="10786600" y="4816691"/>
              <a:ext cx="1106007" cy="584775"/>
            </a:xfrm>
            <a:prstGeom prst="rect">
              <a:avLst/>
            </a:prstGeom>
            <a:noFill/>
          </p:spPr>
          <p:txBody>
            <a:bodyPr wrap="none" rtlCol="0">
              <a:spAutoFit/>
            </a:bodyPr>
            <a:lstStyle/>
            <a:p>
              <a:pPr algn="ctr"/>
              <a:r>
                <a:rPr lang="en-GB" sz="1600">
                  <a:solidFill>
                    <a:srgbClr val="0070C0"/>
                  </a:solidFill>
                </a:rPr>
                <a:t>download </a:t>
              </a:r>
            </a:p>
            <a:p>
              <a:pPr algn="ctr"/>
              <a:r>
                <a:rPr lang="en-GB" sz="1600">
                  <a:solidFill>
                    <a:srgbClr val="0070C0"/>
                  </a:solidFill>
                </a:rPr>
                <a:t>(https)</a:t>
              </a:r>
              <a:endParaRPr lang="en-GB" sz="1200">
                <a:solidFill>
                  <a:srgbClr val="0070C0"/>
                </a:solidFill>
                <a:latin typeface="Consolas" panose="020B0609020204030204" pitchFamily="49" charset="0"/>
              </a:endParaRPr>
            </a:p>
          </p:txBody>
        </p:sp>
        <p:pic>
          <p:nvPicPr>
            <p:cNvPr id="163" name="Picture 162">
              <a:extLst>
                <a:ext uri="{FF2B5EF4-FFF2-40B4-BE49-F238E27FC236}">
                  <a16:creationId xmlns:a16="http://schemas.microsoft.com/office/drawing/2014/main" id="{1B91117C-3594-63B0-76A6-C8DFBD32D060}"/>
                </a:ext>
              </a:extLst>
            </p:cNvPr>
            <p:cNvPicPr>
              <a:picLocks noChangeAspect="1"/>
            </p:cNvPicPr>
            <p:nvPr/>
          </p:nvPicPr>
          <p:blipFill>
            <a:blip r:embed="rId9"/>
            <a:stretch>
              <a:fillRect/>
            </a:stretch>
          </p:blipFill>
          <p:spPr>
            <a:xfrm>
              <a:off x="11462891" y="3152133"/>
              <a:ext cx="566783" cy="847978"/>
            </a:xfrm>
            <a:prstGeom prst="rect">
              <a:avLst/>
            </a:prstGeom>
          </p:spPr>
        </p:pic>
        <p:sp>
          <p:nvSpPr>
            <p:cNvPr id="192" name="TextBox 191">
              <a:extLst>
                <a:ext uri="{FF2B5EF4-FFF2-40B4-BE49-F238E27FC236}">
                  <a16:creationId xmlns:a16="http://schemas.microsoft.com/office/drawing/2014/main" id="{0F6832A4-566D-E0A5-F800-DFC8B8F878B2}"/>
                </a:ext>
              </a:extLst>
            </p:cNvPr>
            <p:cNvSpPr txBox="1"/>
            <p:nvPr/>
          </p:nvSpPr>
          <p:spPr>
            <a:xfrm>
              <a:off x="10851350" y="3371997"/>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⑥</a:t>
              </a:r>
            </a:p>
          </p:txBody>
        </p:sp>
      </p:grpSp>
      <p:grpSp>
        <p:nvGrpSpPr>
          <p:cNvPr id="201" name="Group 200">
            <a:extLst>
              <a:ext uri="{FF2B5EF4-FFF2-40B4-BE49-F238E27FC236}">
                <a16:creationId xmlns:a16="http://schemas.microsoft.com/office/drawing/2014/main" id="{A1D0DB27-EA40-F3B6-1B25-3F40DEB795DA}"/>
              </a:ext>
            </a:extLst>
          </p:cNvPr>
          <p:cNvGrpSpPr/>
          <p:nvPr/>
        </p:nvGrpSpPr>
        <p:grpSpPr>
          <a:xfrm>
            <a:off x="7111417" y="1549990"/>
            <a:ext cx="4918257" cy="1181289"/>
            <a:chOff x="7111417" y="1549990"/>
            <a:chExt cx="4918257" cy="1181289"/>
          </a:xfrm>
        </p:grpSpPr>
        <p:pic>
          <p:nvPicPr>
            <p:cNvPr id="136" name="Picture 135">
              <a:extLst>
                <a:ext uri="{FF2B5EF4-FFF2-40B4-BE49-F238E27FC236}">
                  <a16:creationId xmlns:a16="http://schemas.microsoft.com/office/drawing/2014/main" id="{9292B277-77C1-C221-2D78-BE1036E31F05}"/>
                </a:ext>
              </a:extLst>
            </p:cNvPr>
            <p:cNvPicPr>
              <a:picLocks noChangeAspect="1"/>
            </p:cNvPicPr>
            <p:nvPr/>
          </p:nvPicPr>
          <p:blipFill>
            <a:blip r:embed="rId10">
              <a:duotone>
                <a:schemeClr val="accent6">
                  <a:shade val="45000"/>
                  <a:satMod val="135000"/>
                </a:schemeClr>
                <a:prstClr val="white"/>
              </a:duotone>
            </a:blip>
            <a:stretch>
              <a:fillRect/>
            </a:stretch>
          </p:blipFill>
          <p:spPr>
            <a:xfrm>
              <a:off x="11466754" y="1549990"/>
              <a:ext cx="562920" cy="820380"/>
            </a:xfrm>
            <a:prstGeom prst="rect">
              <a:avLst/>
            </a:prstGeom>
          </p:spPr>
        </p:pic>
        <p:cxnSp>
          <p:nvCxnSpPr>
            <p:cNvPr id="165" name="Straight Arrow Connector 164">
              <a:extLst>
                <a:ext uri="{FF2B5EF4-FFF2-40B4-BE49-F238E27FC236}">
                  <a16:creationId xmlns:a16="http://schemas.microsoft.com/office/drawing/2014/main" id="{B0C4CCE8-770E-F023-691C-F4613F76FBB4}"/>
                </a:ext>
              </a:extLst>
            </p:cNvPr>
            <p:cNvCxnSpPr>
              <a:cxnSpLocks/>
              <a:stCxn id="115" idx="6"/>
            </p:cNvCxnSpPr>
            <p:nvPr/>
          </p:nvCxnSpPr>
          <p:spPr>
            <a:xfrm>
              <a:off x="7111417" y="2714649"/>
              <a:ext cx="3908657" cy="16630"/>
            </a:xfrm>
            <a:prstGeom prst="straightConnector1">
              <a:avLst/>
            </a:prstGeom>
            <a:noFill/>
            <a:ln w="19050" cap="flat" cmpd="sng" algn="ctr">
              <a:solidFill>
                <a:schemeClr val="accent6"/>
              </a:solidFill>
              <a:prstDash val="solid"/>
              <a:headEnd type="triangle" w="med" len="med"/>
              <a:tailEnd type="none" w="med" len="med"/>
            </a:ln>
            <a:effectLst/>
          </p:spPr>
        </p:cxnSp>
        <p:sp>
          <p:nvSpPr>
            <p:cNvPr id="167" name="TextBox 166">
              <a:extLst>
                <a:ext uri="{FF2B5EF4-FFF2-40B4-BE49-F238E27FC236}">
                  <a16:creationId xmlns:a16="http://schemas.microsoft.com/office/drawing/2014/main" id="{A344617A-1FA2-2D8A-DD9C-138210831449}"/>
                </a:ext>
              </a:extLst>
            </p:cNvPr>
            <p:cNvSpPr txBox="1"/>
            <p:nvPr/>
          </p:nvSpPr>
          <p:spPr>
            <a:xfrm>
              <a:off x="8482707" y="2191016"/>
              <a:ext cx="2569934" cy="507831"/>
            </a:xfrm>
            <a:prstGeom prst="rect">
              <a:avLst/>
            </a:prstGeom>
            <a:solidFill>
              <a:srgbClr val="FFFFFF">
                <a:alpha val="80000"/>
              </a:srgbClr>
            </a:solidFill>
          </p:spPr>
          <p:txBody>
            <a:bodyPr wrap="none" rtlCol="0">
              <a:spAutoFit/>
            </a:bodyPr>
            <a:lstStyle/>
            <a:p>
              <a:pPr algn="ctr"/>
              <a:r>
                <a:rPr lang="en-GB" sz="1600">
                  <a:solidFill>
                    <a:schemeClr val="accent6"/>
                  </a:solidFill>
                </a:rPr>
                <a:t>subscribe</a:t>
              </a:r>
            </a:p>
            <a:p>
              <a:pPr algn="ctr"/>
              <a:r>
                <a:rPr lang="en-GB" sz="1100">
                  <a:solidFill>
                    <a:schemeClr val="accent6"/>
                  </a:solidFill>
                  <a:latin typeface="Consolas" panose="020B0609020204030204" pitchFamily="49" charset="0"/>
                </a:rPr>
                <a:t>cache/a/wis2/{centre-id}/data/#</a:t>
              </a:r>
              <a:endParaRPr lang="en-GB" sz="1200">
                <a:solidFill>
                  <a:schemeClr val="accent6"/>
                </a:solidFill>
                <a:latin typeface="Consolas" panose="020B0609020204030204" pitchFamily="49" charset="0"/>
              </a:endParaRPr>
            </a:p>
          </p:txBody>
        </p:sp>
        <p:sp>
          <p:nvSpPr>
            <p:cNvPr id="193" name="TextBox 192">
              <a:extLst>
                <a:ext uri="{FF2B5EF4-FFF2-40B4-BE49-F238E27FC236}">
                  <a16:creationId xmlns:a16="http://schemas.microsoft.com/office/drawing/2014/main" id="{B9710B1B-8D4E-847D-3355-551ED8A53E9E}"/>
                </a:ext>
              </a:extLst>
            </p:cNvPr>
            <p:cNvSpPr txBox="1"/>
            <p:nvPr/>
          </p:nvSpPr>
          <p:spPr>
            <a:xfrm>
              <a:off x="11016536" y="1781632"/>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⑤</a:t>
              </a:r>
            </a:p>
          </p:txBody>
        </p:sp>
      </p:grpSp>
      <p:grpSp>
        <p:nvGrpSpPr>
          <p:cNvPr id="202" name="Group 201">
            <a:extLst>
              <a:ext uri="{FF2B5EF4-FFF2-40B4-BE49-F238E27FC236}">
                <a16:creationId xmlns:a16="http://schemas.microsoft.com/office/drawing/2014/main" id="{D19172D1-4D33-E279-B27F-36616E7A0033}"/>
              </a:ext>
            </a:extLst>
          </p:cNvPr>
          <p:cNvGrpSpPr/>
          <p:nvPr/>
        </p:nvGrpSpPr>
        <p:grpSpPr>
          <a:xfrm>
            <a:off x="5400749" y="2018091"/>
            <a:ext cx="2944705" cy="400320"/>
            <a:chOff x="5400749" y="2018091"/>
            <a:chExt cx="2944705" cy="400320"/>
          </a:xfrm>
        </p:grpSpPr>
        <p:sp>
          <p:nvSpPr>
            <p:cNvPr id="128" name="TextBox 127">
              <a:extLst>
                <a:ext uri="{FF2B5EF4-FFF2-40B4-BE49-F238E27FC236}">
                  <a16:creationId xmlns:a16="http://schemas.microsoft.com/office/drawing/2014/main" id="{62B760F3-D56D-BCCF-5677-D40209E66407}"/>
                </a:ext>
              </a:extLst>
            </p:cNvPr>
            <p:cNvSpPr txBox="1"/>
            <p:nvPr/>
          </p:nvSpPr>
          <p:spPr>
            <a:xfrm>
              <a:off x="5775520" y="2156801"/>
              <a:ext cx="2569934" cy="261610"/>
            </a:xfrm>
            <a:prstGeom prst="rect">
              <a:avLst/>
            </a:prstGeom>
            <a:noFill/>
          </p:spPr>
          <p:txBody>
            <a:bodyPr wrap="none" rtlCol="0">
              <a:spAutoFit/>
            </a:bodyPr>
            <a:lstStyle/>
            <a:p>
              <a:pPr algn="ctr"/>
              <a:r>
                <a:rPr lang="en-GB" sz="1100">
                  <a:solidFill>
                    <a:schemeClr val="accent6"/>
                  </a:solidFill>
                  <a:latin typeface="Consolas" panose="020B0609020204030204" pitchFamily="49" charset="0"/>
                </a:rPr>
                <a:t>cache/a/wis2/{centre-id}/data/…</a:t>
              </a:r>
              <a:endParaRPr lang="en-GB" sz="1200">
                <a:solidFill>
                  <a:schemeClr val="accent6"/>
                </a:solidFill>
                <a:latin typeface="Consolas" panose="020B0609020204030204" pitchFamily="49" charset="0"/>
              </a:endParaRPr>
            </a:p>
          </p:txBody>
        </p:sp>
        <p:sp>
          <p:nvSpPr>
            <p:cNvPr id="194" name="TextBox 193">
              <a:extLst>
                <a:ext uri="{FF2B5EF4-FFF2-40B4-BE49-F238E27FC236}">
                  <a16:creationId xmlns:a16="http://schemas.microsoft.com/office/drawing/2014/main" id="{D0AB3E1A-E756-2DA8-19AA-8B5D0BA92264}"/>
                </a:ext>
              </a:extLst>
            </p:cNvPr>
            <p:cNvSpPr txBox="1"/>
            <p:nvPr/>
          </p:nvSpPr>
          <p:spPr>
            <a:xfrm>
              <a:off x="5400749" y="2018091"/>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④</a:t>
              </a:r>
            </a:p>
          </p:txBody>
        </p:sp>
      </p:grpSp>
      <p:grpSp>
        <p:nvGrpSpPr>
          <p:cNvPr id="206" name="Group 205">
            <a:extLst>
              <a:ext uri="{FF2B5EF4-FFF2-40B4-BE49-F238E27FC236}">
                <a16:creationId xmlns:a16="http://schemas.microsoft.com/office/drawing/2014/main" id="{01ABAEA6-3D3D-B464-B0AB-5709E152CB0E}"/>
              </a:ext>
            </a:extLst>
          </p:cNvPr>
          <p:cNvGrpSpPr/>
          <p:nvPr/>
        </p:nvGrpSpPr>
        <p:grpSpPr>
          <a:xfrm>
            <a:off x="7404081" y="2908590"/>
            <a:ext cx="3106146" cy="1505080"/>
            <a:chOff x="7404081" y="2908590"/>
            <a:chExt cx="3106146" cy="1505080"/>
          </a:xfrm>
        </p:grpSpPr>
        <p:grpSp>
          <p:nvGrpSpPr>
            <p:cNvPr id="190" name="Group 189">
              <a:extLst>
                <a:ext uri="{FF2B5EF4-FFF2-40B4-BE49-F238E27FC236}">
                  <a16:creationId xmlns:a16="http://schemas.microsoft.com/office/drawing/2014/main" id="{52CA0F39-EE84-E68C-D860-38D138A07D45}"/>
                </a:ext>
              </a:extLst>
            </p:cNvPr>
            <p:cNvGrpSpPr/>
            <p:nvPr/>
          </p:nvGrpSpPr>
          <p:grpSpPr>
            <a:xfrm>
              <a:off x="7404081" y="2908590"/>
              <a:ext cx="3106146" cy="1505080"/>
              <a:chOff x="7404081" y="2908590"/>
              <a:chExt cx="3106146" cy="1505080"/>
            </a:xfrm>
          </p:grpSpPr>
          <p:cxnSp>
            <p:nvCxnSpPr>
              <p:cNvPr id="171" name="Connector: Elbow 170">
                <a:extLst>
                  <a:ext uri="{FF2B5EF4-FFF2-40B4-BE49-F238E27FC236}">
                    <a16:creationId xmlns:a16="http://schemas.microsoft.com/office/drawing/2014/main" id="{14B97E9F-4044-33F8-7D7D-2D5B8ED412A5}"/>
                  </a:ext>
                </a:extLst>
              </p:cNvPr>
              <p:cNvCxnSpPr>
                <a:cxnSpLocks/>
                <a:stCxn id="116" idx="3"/>
              </p:cNvCxnSpPr>
              <p:nvPr/>
            </p:nvCxnSpPr>
            <p:spPr>
              <a:xfrm>
                <a:off x="7404081" y="2908590"/>
                <a:ext cx="1183659" cy="1505080"/>
              </a:xfrm>
              <a:prstGeom prst="bentConnector2">
                <a:avLst/>
              </a:prstGeom>
              <a:noFill/>
              <a:ln w="19050" cap="flat" cmpd="sng" algn="ctr">
                <a:solidFill>
                  <a:schemeClr val="accent6"/>
                </a:solidFill>
                <a:prstDash val="solid"/>
                <a:headEnd type="triangle" w="med" len="med"/>
                <a:tailEnd type="none" w="med" len="med"/>
              </a:ln>
              <a:effectLst/>
            </p:spPr>
          </p:cxnSp>
          <p:sp>
            <p:nvSpPr>
              <p:cNvPr id="176" name="TextBox 175">
                <a:extLst>
                  <a:ext uri="{FF2B5EF4-FFF2-40B4-BE49-F238E27FC236}">
                    <a16:creationId xmlns:a16="http://schemas.microsoft.com/office/drawing/2014/main" id="{1307DB71-A253-4EEC-785C-5ADD97497600}"/>
                  </a:ext>
                </a:extLst>
              </p:cNvPr>
              <p:cNvSpPr txBox="1"/>
              <p:nvPr/>
            </p:nvSpPr>
            <p:spPr>
              <a:xfrm>
                <a:off x="8632789" y="3426812"/>
                <a:ext cx="1877438" cy="507831"/>
              </a:xfrm>
              <a:prstGeom prst="rect">
                <a:avLst/>
              </a:prstGeom>
              <a:solidFill>
                <a:srgbClr val="FFFFFF">
                  <a:alpha val="80000"/>
                </a:srgbClr>
              </a:solidFill>
            </p:spPr>
            <p:txBody>
              <a:bodyPr wrap="none" rtlCol="0">
                <a:spAutoFit/>
              </a:bodyPr>
              <a:lstStyle/>
              <a:p>
                <a:r>
                  <a:rPr lang="en-GB" sz="1600">
                    <a:solidFill>
                      <a:schemeClr val="accent6"/>
                    </a:solidFill>
                  </a:rPr>
                  <a:t>Subscribe*</a:t>
                </a:r>
              </a:p>
              <a:p>
                <a:r>
                  <a:rPr lang="en-GB" sz="1100">
                    <a:solidFill>
                      <a:schemeClr val="accent6"/>
                    </a:solidFill>
                    <a:latin typeface="Consolas" panose="020B0609020204030204" pitchFamily="49" charset="0"/>
                  </a:rPr>
                  <a:t>origin/a/wis2/+/data/#</a:t>
                </a:r>
                <a:endParaRPr lang="en-GB" sz="1200">
                  <a:solidFill>
                    <a:schemeClr val="accent6"/>
                  </a:solidFill>
                  <a:latin typeface="Consolas" panose="020B0609020204030204" pitchFamily="49" charset="0"/>
                </a:endParaRPr>
              </a:p>
            </p:txBody>
          </p:sp>
        </p:grpSp>
        <p:sp>
          <p:nvSpPr>
            <p:cNvPr id="196" name="TextBox 195">
              <a:extLst>
                <a:ext uri="{FF2B5EF4-FFF2-40B4-BE49-F238E27FC236}">
                  <a16:creationId xmlns:a16="http://schemas.microsoft.com/office/drawing/2014/main" id="{DCB06EAA-ED99-1C16-E6BE-9BBE85C93870}"/>
                </a:ext>
              </a:extLst>
            </p:cNvPr>
            <p:cNvSpPr txBox="1"/>
            <p:nvPr/>
          </p:nvSpPr>
          <p:spPr>
            <a:xfrm>
              <a:off x="8590720" y="3143614"/>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①</a:t>
              </a:r>
            </a:p>
          </p:txBody>
        </p:sp>
      </p:grpSp>
      <p:grpSp>
        <p:nvGrpSpPr>
          <p:cNvPr id="204" name="Group 203">
            <a:extLst>
              <a:ext uri="{FF2B5EF4-FFF2-40B4-BE49-F238E27FC236}">
                <a16:creationId xmlns:a16="http://schemas.microsoft.com/office/drawing/2014/main" id="{EDA68761-0291-B93D-EEFC-7148E1CAA720}"/>
              </a:ext>
            </a:extLst>
          </p:cNvPr>
          <p:cNvGrpSpPr/>
          <p:nvPr/>
        </p:nvGrpSpPr>
        <p:grpSpPr>
          <a:xfrm>
            <a:off x="8308635" y="5097245"/>
            <a:ext cx="566783" cy="1185942"/>
            <a:chOff x="8308635" y="5097245"/>
            <a:chExt cx="566783" cy="1185942"/>
          </a:xfrm>
        </p:grpSpPr>
        <p:pic>
          <p:nvPicPr>
            <p:cNvPr id="111" name="Picture 110">
              <a:extLst>
                <a:ext uri="{FF2B5EF4-FFF2-40B4-BE49-F238E27FC236}">
                  <a16:creationId xmlns:a16="http://schemas.microsoft.com/office/drawing/2014/main" id="{AB19D174-E1B8-6A06-F2B8-C8E7DEF532BC}"/>
                </a:ext>
              </a:extLst>
            </p:cNvPr>
            <p:cNvPicPr>
              <a:picLocks noChangeAspect="1"/>
            </p:cNvPicPr>
            <p:nvPr/>
          </p:nvPicPr>
          <p:blipFill>
            <a:blip r:embed="rId9"/>
            <a:stretch>
              <a:fillRect/>
            </a:stretch>
          </p:blipFill>
          <p:spPr>
            <a:xfrm>
              <a:off x="8308635" y="5097245"/>
              <a:ext cx="566783" cy="847978"/>
            </a:xfrm>
            <a:prstGeom prst="rect">
              <a:avLst/>
            </a:prstGeom>
          </p:spPr>
        </p:pic>
        <p:sp>
          <p:nvSpPr>
            <p:cNvPr id="197" name="TextBox 196">
              <a:extLst>
                <a:ext uri="{FF2B5EF4-FFF2-40B4-BE49-F238E27FC236}">
                  <a16:creationId xmlns:a16="http://schemas.microsoft.com/office/drawing/2014/main" id="{12047D8B-FD59-131A-146F-E85D22717275}"/>
                </a:ext>
              </a:extLst>
            </p:cNvPr>
            <p:cNvSpPr txBox="1"/>
            <p:nvPr/>
          </p:nvSpPr>
          <p:spPr>
            <a:xfrm>
              <a:off x="8345300" y="5913855"/>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②</a:t>
              </a:r>
            </a:p>
          </p:txBody>
        </p:sp>
      </p:grpSp>
      <p:sp>
        <p:nvSpPr>
          <p:cNvPr id="2" name="Rectangle 1">
            <a:extLst>
              <a:ext uri="{FF2B5EF4-FFF2-40B4-BE49-F238E27FC236}">
                <a16:creationId xmlns:a16="http://schemas.microsoft.com/office/drawing/2014/main" id="{C991E4CB-A1DA-59BA-3B77-C4A4A8DA754E}"/>
              </a:ext>
            </a:extLst>
          </p:cNvPr>
          <p:cNvSpPr/>
          <p:nvPr/>
        </p:nvSpPr>
        <p:spPr>
          <a:xfrm>
            <a:off x="246111" y="3832472"/>
            <a:ext cx="7112921" cy="276876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3" name="Group 202">
            <a:extLst>
              <a:ext uri="{FF2B5EF4-FFF2-40B4-BE49-F238E27FC236}">
                <a16:creationId xmlns:a16="http://schemas.microsoft.com/office/drawing/2014/main" id="{365EA578-A788-DAEA-1AAB-C8A06415463D}"/>
              </a:ext>
            </a:extLst>
          </p:cNvPr>
          <p:cNvGrpSpPr/>
          <p:nvPr/>
        </p:nvGrpSpPr>
        <p:grpSpPr>
          <a:xfrm>
            <a:off x="6132163" y="2975543"/>
            <a:ext cx="1828014" cy="1694555"/>
            <a:chOff x="6132163" y="2975543"/>
            <a:chExt cx="1828014" cy="1694555"/>
          </a:xfrm>
        </p:grpSpPr>
        <p:grpSp>
          <p:nvGrpSpPr>
            <p:cNvPr id="191" name="Group 190">
              <a:extLst>
                <a:ext uri="{FF2B5EF4-FFF2-40B4-BE49-F238E27FC236}">
                  <a16:creationId xmlns:a16="http://schemas.microsoft.com/office/drawing/2014/main" id="{3C93EC54-11DE-6022-AE7C-983684D90440}"/>
                </a:ext>
              </a:extLst>
            </p:cNvPr>
            <p:cNvGrpSpPr/>
            <p:nvPr/>
          </p:nvGrpSpPr>
          <p:grpSpPr>
            <a:xfrm>
              <a:off x="6132163" y="2975543"/>
              <a:ext cx="1828014" cy="1694555"/>
              <a:chOff x="6132163" y="2975543"/>
              <a:chExt cx="1828014" cy="1694555"/>
            </a:xfrm>
          </p:grpSpPr>
          <p:cxnSp>
            <p:nvCxnSpPr>
              <p:cNvPr id="178" name="Connector: Elbow 177">
                <a:extLst>
                  <a:ext uri="{FF2B5EF4-FFF2-40B4-BE49-F238E27FC236}">
                    <a16:creationId xmlns:a16="http://schemas.microsoft.com/office/drawing/2014/main" id="{87F3A2F2-7489-0538-7BFB-761E4A5922DF}"/>
                  </a:ext>
                </a:extLst>
              </p:cNvPr>
              <p:cNvCxnSpPr>
                <a:cxnSpLocks/>
                <a:stCxn id="122" idx="6"/>
                <a:endCxn id="10" idx="2"/>
              </p:cNvCxnSpPr>
              <p:nvPr/>
            </p:nvCxnSpPr>
            <p:spPr>
              <a:xfrm rot="10800000">
                <a:off x="6132163" y="2975543"/>
                <a:ext cx="1444951" cy="1694555"/>
              </a:xfrm>
              <a:prstGeom prst="bentConnector2">
                <a:avLst/>
              </a:prstGeom>
              <a:noFill/>
              <a:ln w="19050" cap="flat" cmpd="sng" algn="ctr">
                <a:solidFill>
                  <a:schemeClr val="accent6"/>
                </a:solidFill>
                <a:prstDash val="solid"/>
                <a:headEnd type="triangle" w="med" len="med"/>
                <a:tailEnd type="none" w="med" len="med"/>
              </a:ln>
              <a:effectLst/>
            </p:spPr>
          </p:cxnSp>
          <p:sp>
            <p:nvSpPr>
              <p:cNvPr id="187" name="TextBox 186">
                <a:extLst>
                  <a:ext uri="{FF2B5EF4-FFF2-40B4-BE49-F238E27FC236}">
                    <a16:creationId xmlns:a16="http://schemas.microsoft.com/office/drawing/2014/main" id="{19202535-E491-C2BA-E7B3-D3365A333E27}"/>
                  </a:ext>
                </a:extLst>
              </p:cNvPr>
              <p:cNvSpPr txBox="1"/>
              <p:nvPr/>
            </p:nvSpPr>
            <p:spPr>
              <a:xfrm>
                <a:off x="6159684" y="3427728"/>
                <a:ext cx="1800493" cy="507831"/>
              </a:xfrm>
              <a:prstGeom prst="rect">
                <a:avLst/>
              </a:prstGeom>
              <a:solidFill>
                <a:srgbClr val="FFFFFF">
                  <a:alpha val="80000"/>
                </a:srgbClr>
              </a:solidFill>
            </p:spPr>
            <p:txBody>
              <a:bodyPr wrap="none" rtlCol="0">
                <a:spAutoFit/>
              </a:bodyPr>
              <a:lstStyle/>
              <a:p>
                <a:r>
                  <a:rPr lang="en-GB" sz="1600">
                    <a:solidFill>
                      <a:schemeClr val="accent6"/>
                    </a:solidFill>
                  </a:rPr>
                  <a:t>Subscribe</a:t>
                </a:r>
              </a:p>
              <a:p>
                <a:r>
                  <a:rPr lang="en-GB" sz="1100">
                    <a:solidFill>
                      <a:schemeClr val="accent6"/>
                    </a:solidFill>
                    <a:latin typeface="Consolas" panose="020B0609020204030204" pitchFamily="49" charset="0"/>
                  </a:rPr>
                  <a:t>cache/a/wis2/+/data/#</a:t>
                </a:r>
                <a:endParaRPr lang="en-GB" sz="1200">
                  <a:solidFill>
                    <a:schemeClr val="accent6"/>
                  </a:solidFill>
                  <a:latin typeface="Consolas" panose="020B0609020204030204" pitchFamily="49" charset="0"/>
                </a:endParaRPr>
              </a:p>
            </p:txBody>
          </p:sp>
        </p:grpSp>
        <p:sp>
          <p:nvSpPr>
            <p:cNvPr id="195" name="TextBox 194">
              <a:extLst>
                <a:ext uri="{FF2B5EF4-FFF2-40B4-BE49-F238E27FC236}">
                  <a16:creationId xmlns:a16="http://schemas.microsoft.com/office/drawing/2014/main" id="{BA025537-FAB1-5877-6264-19B6D4260690}"/>
                </a:ext>
              </a:extLst>
            </p:cNvPr>
            <p:cNvSpPr txBox="1"/>
            <p:nvPr/>
          </p:nvSpPr>
          <p:spPr>
            <a:xfrm>
              <a:off x="6159684" y="3875526"/>
              <a:ext cx="4908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③</a:t>
              </a:r>
            </a:p>
          </p:txBody>
        </p:sp>
      </p:grpSp>
      <p:pic>
        <p:nvPicPr>
          <p:cNvPr id="183" name="Picture 182" descr="A group of flags of different countries/regions&#10;&#10;Description automatically generated">
            <a:extLst>
              <a:ext uri="{FF2B5EF4-FFF2-40B4-BE49-F238E27FC236}">
                <a16:creationId xmlns:a16="http://schemas.microsoft.com/office/drawing/2014/main" id="{B7030F7D-910C-B991-3183-5363726E4D1D}"/>
              </a:ext>
            </a:extLst>
          </p:cNvPr>
          <p:cNvPicPr>
            <a:picLocks noChangeAspect="1"/>
          </p:cNvPicPr>
          <p:nvPr/>
        </p:nvPicPr>
        <p:blipFill rotWithShape="1">
          <a:blip r:embed="rId11">
            <a:extLst>
              <a:ext uri="{28A0092B-C50C-407E-A947-70E740481C1C}">
                <a14:useLocalDpi xmlns:a14="http://schemas.microsoft.com/office/drawing/2010/main" val="0"/>
              </a:ext>
            </a:extLst>
          </a:blip>
          <a:srcRect l="10370" t="35630" r="80593" b="58444"/>
          <a:stretch/>
        </p:blipFill>
        <p:spPr>
          <a:xfrm>
            <a:off x="5929662" y="3041820"/>
            <a:ext cx="414059" cy="271514"/>
          </a:xfrm>
          <a:prstGeom prst="rect">
            <a:avLst/>
          </a:prstGeom>
        </p:spPr>
      </p:pic>
      <p:sp>
        <p:nvSpPr>
          <p:cNvPr id="19" name="TextBox 18">
            <a:extLst>
              <a:ext uri="{FF2B5EF4-FFF2-40B4-BE49-F238E27FC236}">
                <a16:creationId xmlns:a16="http://schemas.microsoft.com/office/drawing/2014/main" id="{C145485B-B66D-DC7D-230F-EDE0AC0E313D}"/>
              </a:ext>
            </a:extLst>
          </p:cNvPr>
          <p:cNvSpPr txBox="1"/>
          <p:nvPr/>
        </p:nvSpPr>
        <p:spPr>
          <a:xfrm>
            <a:off x="117712" y="4103883"/>
            <a:ext cx="5995984" cy="738664"/>
          </a:xfrm>
          <a:prstGeom prst="rect">
            <a:avLst/>
          </a:prstGeom>
          <a:noFill/>
        </p:spPr>
        <p:txBody>
          <a:bodyPr wrap="square">
            <a:spAutoFit/>
          </a:bodyPr>
          <a:lstStyle/>
          <a:p>
            <a:r>
              <a:rPr lang="en-GB" sz="1400"/>
              <a:t>2. Global Cache receives notification messages, downloads data objects from WIS2 Node into the cache, and publishes new notification messages on </a:t>
            </a:r>
            <a:r>
              <a:rPr lang="en-GB" sz="1400">
                <a:latin typeface="Consolas" panose="020B0609020204030204" pitchFamily="49" charset="0"/>
              </a:rPr>
              <a:t>cache/…</a:t>
            </a:r>
            <a:r>
              <a:rPr lang="en-GB" sz="1400"/>
              <a:t> topic about availability of the data objects from its cache</a:t>
            </a:r>
          </a:p>
        </p:txBody>
      </p:sp>
      <p:sp>
        <p:nvSpPr>
          <p:cNvPr id="20" name="TextBox 19">
            <a:extLst>
              <a:ext uri="{FF2B5EF4-FFF2-40B4-BE49-F238E27FC236}">
                <a16:creationId xmlns:a16="http://schemas.microsoft.com/office/drawing/2014/main" id="{F11F8720-7D45-1A21-8BEF-9FE3949F9431}"/>
              </a:ext>
            </a:extLst>
          </p:cNvPr>
          <p:cNvSpPr txBox="1"/>
          <p:nvPr/>
        </p:nvSpPr>
        <p:spPr>
          <a:xfrm>
            <a:off x="117712" y="3820943"/>
            <a:ext cx="6098240" cy="307777"/>
          </a:xfrm>
          <a:prstGeom prst="rect">
            <a:avLst/>
          </a:prstGeom>
          <a:noFill/>
        </p:spPr>
        <p:txBody>
          <a:bodyPr wrap="square">
            <a:spAutoFit/>
          </a:bodyPr>
          <a:lstStyle/>
          <a:p>
            <a:r>
              <a:rPr lang="en-GB" sz="1400"/>
              <a:t>1. Global Cache subscribes to Global Broker</a:t>
            </a:r>
          </a:p>
        </p:txBody>
      </p:sp>
      <p:sp>
        <p:nvSpPr>
          <p:cNvPr id="21" name="TextBox 20">
            <a:extLst>
              <a:ext uri="{FF2B5EF4-FFF2-40B4-BE49-F238E27FC236}">
                <a16:creationId xmlns:a16="http://schemas.microsoft.com/office/drawing/2014/main" id="{13B72AF7-5FE4-4F1D-F999-CDF356FA3A63}"/>
              </a:ext>
            </a:extLst>
          </p:cNvPr>
          <p:cNvSpPr txBox="1"/>
          <p:nvPr/>
        </p:nvSpPr>
        <p:spPr>
          <a:xfrm>
            <a:off x="117712" y="4817710"/>
            <a:ext cx="6098240" cy="523220"/>
          </a:xfrm>
          <a:prstGeom prst="rect">
            <a:avLst/>
          </a:prstGeom>
          <a:noFill/>
        </p:spPr>
        <p:txBody>
          <a:bodyPr wrap="square">
            <a:spAutoFit/>
          </a:bodyPr>
          <a:lstStyle/>
          <a:p>
            <a:r>
              <a:rPr lang="en-GB" sz="1400"/>
              <a:t>3. Global Broker subscribes to messages from the Global Cache and gets notifications about cached data</a:t>
            </a:r>
          </a:p>
        </p:txBody>
      </p:sp>
      <p:sp>
        <p:nvSpPr>
          <p:cNvPr id="22" name="TextBox 21">
            <a:extLst>
              <a:ext uri="{FF2B5EF4-FFF2-40B4-BE49-F238E27FC236}">
                <a16:creationId xmlns:a16="http://schemas.microsoft.com/office/drawing/2014/main" id="{16794685-0D35-4EEA-BF94-FA0D2756AFC6}"/>
              </a:ext>
            </a:extLst>
          </p:cNvPr>
          <p:cNvSpPr txBox="1"/>
          <p:nvPr/>
        </p:nvSpPr>
        <p:spPr>
          <a:xfrm>
            <a:off x="117712" y="5316093"/>
            <a:ext cx="6098240" cy="307777"/>
          </a:xfrm>
          <a:prstGeom prst="rect">
            <a:avLst/>
          </a:prstGeom>
          <a:noFill/>
        </p:spPr>
        <p:txBody>
          <a:bodyPr wrap="square">
            <a:spAutoFit/>
          </a:bodyPr>
          <a:lstStyle/>
          <a:p>
            <a:r>
              <a:rPr lang="en-GB" sz="1400"/>
              <a:t>4. Global Broker republishes notifications on </a:t>
            </a:r>
            <a:r>
              <a:rPr lang="en-GB" sz="1400">
                <a:latin typeface="Consolas" panose="020B0609020204030204" pitchFamily="49" charset="0"/>
              </a:rPr>
              <a:t>cache/…</a:t>
            </a:r>
          </a:p>
        </p:txBody>
      </p:sp>
      <p:sp>
        <p:nvSpPr>
          <p:cNvPr id="23" name="TextBox 22">
            <a:extLst>
              <a:ext uri="{FF2B5EF4-FFF2-40B4-BE49-F238E27FC236}">
                <a16:creationId xmlns:a16="http://schemas.microsoft.com/office/drawing/2014/main" id="{75EFCF14-DD37-B728-E189-A2CAF262D16D}"/>
              </a:ext>
            </a:extLst>
          </p:cNvPr>
          <p:cNvSpPr txBox="1"/>
          <p:nvPr/>
        </p:nvSpPr>
        <p:spPr>
          <a:xfrm>
            <a:off x="117712" y="5599033"/>
            <a:ext cx="6098240" cy="523220"/>
          </a:xfrm>
          <a:prstGeom prst="rect">
            <a:avLst/>
          </a:prstGeom>
          <a:noFill/>
        </p:spPr>
        <p:txBody>
          <a:bodyPr wrap="square">
            <a:spAutoFit/>
          </a:bodyPr>
          <a:lstStyle/>
          <a:p>
            <a:r>
              <a:rPr lang="en-GB" sz="1400"/>
              <a:t>5. Data Consumer subscribes to the Global Broker on </a:t>
            </a:r>
            <a:r>
              <a:rPr lang="en-GB" sz="1400">
                <a:latin typeface="Consolas" panose="020B0609020204030204" pitchFamily="49" charset="0"/>
              </a:rPr>
              <a:t>cache/…</a:t>
            </a:r>
            <a:r>
              <a:rPr lang="en-GB" sz="1400"/>
              <a:t> topic and receives notifications about new Core data available from the Global Cache</a:t>
            </a:r>
          </a:p>
        </p:txBody>
      </p:sp>
      <p:sp>
        <p:nvSpPr>
          <p:cNvPr id="24" name="TextBox 23">
            <a:extLst>
              <a:ext uri="{FF2B5EF4-FFF2-40B4-BE49-F238E27FC236}">
                <a16:creationId xmlns:a16="http://schemas.microsoft.com/office/drawing/2014/main" id="{729A00ED-1220-17D0-1CB9-736B724E10ED}"/>
              </a:ext>
            </a:extLst>
          </p:cNvPr>
          <p:cNvSpPr txBox="1"/>
          <p:nvPr/>
        </p:nvSpPr>
        <p:spPr>
          <a:xfrm>
            <a:off x="117712" y="6097418"/>
            <a:ext cx="6098240" cy="523220"/>
          </a:xfrm>
          <a:prstGeom prst="rect">
            <a:avLst/>
          </a:prstGeom>
          <a:noFill/>
        </p:spPr>
        <p:txBody>
          <a:bodyPr wrap="square">
            <a:spAutoFit/>
          </a:bodyPr>
          <a:lstStyle/>
          <a:p>
            <a:r>
              <a:rPr lang="en-GB" sz="1400"/>
              <a:t>6. Data Consumer downloads data from the Global Cache using the link in the notification message</a:t>
            </a:r>
          </a:p>
        </p:txBody>
      </p:sp>
      <p:sp>
        <p:nvSpPr>
          <p:cNvPr id="26" name="TextBox 25">
            <a:extLst>
              <a:ext uri="{FF2B5EF4-FFF2-40B4-BE49-F238E27FC236}">
                <a16:creationId xmlns:a16="http://schemas.microsoft.com/office/drawing/2014/main" id="{D3E844E3-B94B-9972-375B-515CECE96EE0}"/>
              </a:ext>
            </a:extLst>
          </p:cNvPr>
          <p:cNvSpPr txBox="1"/>
          <p:nvPr/>
        </p:nvSpPr>
        <p:spPr>
          <a:xfrm>
            <a:off x="5088404" y="127891"/>
            <a:ext cx="6138396" cy="369332"/>
          </a:xfrm>
          <a:prstGeom prst="rect">
            <a:avLst/>
          </a:prstGeom>
          <a:noFill/>
        </p:spPr>
        <p:txBody>
          <a:bodyPr wrap="square" rtlCol="0">
            <a:spAutoFit/>
          </a:bodyPr>
          <a:lstStyle/>
          <a:p>
            <a:pPr marL="342900" indent="-342900">
              <a:buFont typeface="Arial" panose="020B0604020202020204" pitchFamily="34" charset="0"/>
              <a:buChar char="•"/>
            </a:pPr>
            <a:r>
              <a:rPr lang="en-GB"/>
              <a:t>Here’s how the Global Caches work … </a:t>
            </a:r>
          </a:p>
        </p:txBody>
      </p:sp>
      <p:sp>
        <p:nvSpPr>
          <p:cNvPr id="27" name="TextBox 26">
            <a:extLst>
              <a:ext uri="{FF2B5EF4-FFF2-40B4-BE49-F238E27FC236}">
                <a16:creationId xmlns:a16="http://schemas.microsoft.com/office/drawing/2014/main" id="{89438B4B-D33F-17D4-735B-B6CA8637F523}"/>
              </a:ext>
            </a:extLst>
          </p:cNvPr>
          <p:cNvSpPr txBox="1"/>
          <p:nvPr/>
        </p:nvSpPr>
        <p:spPr>
          <a:xfrm>
            <a:off x="5084811" y="396186"/>
            <a:ext cx="5701787" cy="1477328"/>
          </a:xfrm>
          <a:prstGeom prst="rect">
            <a:avLst/>
          </a:prstGeom>
          <a:noFill/>
        </p:spPr>
        <p:txBody>
          <a:bodyPr wrap="square" rtlCol="0">
            <a:spAutoFit/>
          </a:bodyPr>
          <a:lstStyle/>
          <a:p>
            <a:pPr marL="342900" indent="-342900">
              <a:buFont typeface="Arial" panose="020B0604020202020204" pitchFamily="34" charset="0"/>
              <a:buChar char="•"/>
            </a:pPr>
            <a:r>
              <a:rPr lang="en-GB"/>
              <a:t>Given there are multiple Global Caches, Data Consumers need to be able to handle multiple notification messages on </a:t>
            </a:r>
            <a:r>
              <a:rPr lang="en-GB">
                <a:latin typeface="Consolas" panose="020B0609020204030204" pitchFamily="49" charset="0"/>
              </a:rPr>
              <a:t>cache/…</a:t>
            </a:r>
            <a:r>
              <a:rPr lang="en-GB"/>
              <a:t> about the same data object</a:t>
            </a:r>
          </a:p>
          <a:p>
            <a:endParaRPr lang="en-GB"/>
          </a:p>
        </p:txBody>
      </p:sp>
      <p:pic>
        <p:nvPicPr>
          <p:cNvPr id="4" name="Picture 2" descr="World Meteorological Organization - Wikipedia">
            <a:extLst>
              <a:ext uri="{FF2B5EF4-FFF2-40B4-BE49-F238E27FC236}">
                <a16:creationId xmlns:a16="http://schemas.microsoft.com/office/drawing/2014/main" id="{A0B8BB57-405F-1D18-D3C6-B2452B652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93BE34-E56A-783F-577C-0D487457A09E}"/>
              </a:ext>
            </a:extLst>
          </p:cNvPr>
          <p:cNvSpPr txBox="1"/>
          <p:nvPr/>
        </p:nvSpPr>
        <p:spPr>
          <a:xfrm>
            <a:off x="413567" y="2039471"/>
            <a:ext cx="2556857" cy="2616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100" b="1"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rPr>
              <a:t>WIS2 Node</a:t>
            </a:r>
            <a:endParaRPr kumimoji="0" lang="en-GB" sz="1100" b="1" i="0" u="none" strike="noStrike" kern="1200" cap="none" spc="0" normalizeH="0" baseline="0" noProof="0" dirty="0">
              <a:ln>
                <a:noFill/>
              </a:ln>
              <a:solidFill>
                <a:prstClr val="black"/>
              </a:solidFill>
              <a:effectLst/>
              <a:uLnTx/>
              <a:uFillTx/>
              <a:latin typeface="Calibri Light" panose="020F0302020204030204"/>
              <a:ea typeface="+mn-ea"/>
              <a:cs typeface="Calibri"/>
              <a:sym typeface="Calibri"/>
            </a:endParaRPr>
          </a:p>
        </p:txBody>
      </p:sp>
    </p:spTree>
    <p:extLst>
      <p:ext uri="{BB962C8B-B14F-4D97-AF65-F5344CB8AC3E}">
        <p14:creationId xmlns:p14="http://schemas.microsoft.com/office/powerpoint/2010/main" val="194642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P spid="19" grpId="0"/>
      <p:bldP spid="20" grpId="0"/>
      <p:bldP spid="21" grpId="0"/>
      <p:bldP spid="22" grpId="0"/>
      <p:bldP spid="23" grpId="0"/>
      <p:bldP spid="24"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75AF8-337D-6075-E84D-D871806F9B26}"/>
            </a:ext>
          </a:extLst>
        </p:cNvPr>
        <p:cNvGrpSpPr/>
        <p:nvPr/>
      </p:nvGrpSpPr>
      <p:grpSpPr>
        <a:xfrm>
          <a:off x="0" y="0"/>
          <a:ext cx="0" cy="0"/>
          <a:chOff x="0" y="0"/>
          <a:chExt cx="0" cy="0"/>
        </a:xfrm>
      </p:grpSpPr>
      <p:sp>
        <p:nvSpPr>
          <p:cNvPr id="198" name="TextBox 197">
            <a:extLst>
              <a:ext uri="{FF2B5EF4-FFF2-40B4-BE49-F238E27FC236}">
                <a16:creationId xmlns:a16="http://schemas.microsoft.com/office/drawing/2014/main" id="{5D7CD3D8-6AA8-B3BC-FF2B-7894F6626E75}"/>
              </a:ext>
            </a:extLst>
          </p:cNvPr>
          <p:cNvSpPr txBox="1"/>
          <p:nvPr/>
        </p:nvSpPr>
        <p:spPr>
          <a:xfrm>
            <a:off x="246111" y="133810"/>
            <a:ext cx="9632675" cy="1661993"/>
          </a:xfrm>
          <a:prstGeom prst="rect">
            <a:avLst/>
          </a:prstGeom>
          <a:noFill/>
        </p:spPr>
        <p:txBody>
          <a:bodyPr wrap="square" rtlCol="0">
            <a:spAutoFit/>
          </a:bodyPr>
          <a:lstStyle/>
          <a:p>
            <a:r>
              <a:rPr lang="en-GB"/>
              <a:t>So – what do we need to know about WIS2 Notification Messages for data?</a:t>
            </a:r>
          </a:p>
          <a:p>
            <a:endParaRPr lang="en-GB" sz="1200"/>
          </a:p>
          <a:p>
            <a:r>
              <a:rPr lang="en-GB"/>
              <a:t>Let’s take a look at a fictional example providing a notification advertising availability of new data from WIGOS Station 0-20000-0-06344 (ROTTERDAM THE HAGUE AP, Netherlands) as part of KNMI’s current 10-minute observation dataset (Actuele10mindataKNMIstations-2): </a:t>
            </a:r>
          </a:p>
          <a:p>
            <a:endParaRPr lang="en-GB"/>
          </a:p>
        </p:txBody>
      </p:sp>
      <p:pic>
        <p:nvPicPr>
          <p:cNvPr id="13" name="Picture 12">
            <a:extLst>
              <a:ext uri="{FF2B5EF4-FFF2-40B4-BE49-F238E27FC236}">
                <a16:creationId xmlns:a16="http://schemas.microsoft.com/office/drawing/2014/main" id="{7483A39B-1F6D-13AD-F9BB-8EDAA9BC0E67}"/>
              </a:ext>
            </a:extLst>
          </p:cNvPr>
          <p:cNvPicPr>
            <a:picLocks noChangeAspect="1"/>
          </p:cNvPicPr>
          <p:nvPr/>
        </p:nvPicPr>
        <p:blipFill>
          <a:blip r:embed="rId3"/>
          <a:srcRect b="17571"/>
          <a:stretch/>
        </p:blipFill>
        <p:spPr>
          <a:xfrm>
            <a:off x="-14437" y="1657029"/>
            <a:ext cx="12192000" cy="5207856"/>
          </a:xfrm>
          <a:prstGeom prst="rect">
            <a:avLst/>
          </a:prstGeom>
        </p:spPr>
      </p:pic>
      <p:sp>
        <p:nvSpPr>
          <p:cNvPr id="169" name="TextBox 168">
            <a:extLst>
              <a:ext uri="{FF2B5EF4-FFF2-40B4-BE49-F238E27FC236}">
                <a16:creationId xmlns:a16="http://schemas.microsoft.com/office/drawing/2014/main" id="{87389D94-BFC8-DF52-47D8-386146BA9904}"/>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8</a:t>
            </a:fld>
            <a:endParaRPr lang="en-GB" sz="1000" dirty="0"/>
          </a:p>
        </p:txBody>
      </p:sp>
      <p:sp>
        <p:nvSpPr>
          <p:cNvPr id="14" name="TextBox 13">
            <a:extLst>
              <a:ext uri="{FF2B5EF4-FFF2-40B4-BE49-F238E27FC236}">
                <a16:creationId xmlns:a16="http://schemas.microsoft.com/office/drawing/2014/main" id="{C31E4E12-2487-C017-B0E8-9E9308D701C3}"/>
              </a:ext>
            </a:extLst>
          </p:cNvPr>
          <p:cNvSpPr txBox="1"/>
          <p:nvPr/>
        </p:nvSpPr>
        <p:spPr>
          <a:xfrm>
            <a:off x="3423066" y="2295882"/>
            <a:ext cx="8764546" cy="769441"/>
          </a:xfrm>
          <a:prstGeom prst="rect">
            <a:avLst/>
          </a:prstGeom>
          <a:noFill/>
          <a:ln>
            <a:solidFill>
              <a:srgbClr val="0070C0"/>
            </a:solidFill>
          </a:ln>
        </p:spPr>
        <p:txBody>
          <a:bodyPr wrap="square" rtlCol="0">
            <a:spAutoFit/>
          </a:bodyPr>
          <a:lstStyle/>
          <a:p>
            <a:pPr>
              <a:spcAft>
                <a:spcPts val="1200"/>
              </a:spcAft>
            </a:pPr>
            <a:r>
              <a:rPr lang="en-GB"/>
              <a:t>Notification identifier </a:t>
            </a:r>
            <a:r>
              <a:rPr lang="en-GB">
                <a:latin typeface="Consolas" panose="020B0609020204030204" pitchFamily="49" charset="0"/>
              </a:rPr>
              <a:t>id</a:t>
            </a:r>
            <a:r>
              <a:rPr lang="en-GB"/>
              <a:t> must always be unique – use a UUID</a:t>
            </a:r>
          </a:p>
          <a:p>
            <a:r>
              <a:rPr lang="en-GB" sz="1600" b="0">
                <a:solidFill>
                  <a:srgbClr val="0451A5"/>
                </a:solidFill>
                <a:effectLst/>
                <a:latin typeface="Consolas" panose="020B0609020204030204" pitchFamily="49" charset="0"/>
              </a:rPr>
              <a:t>"id"</a:t>
            </a:r>
            <a:r>
              <a:rPr lang="en-GB" sz="1600" b="0">
                <a:solidFill>
                  <a:srgbClr val="3B3B3B"/>
                </a:solidFill>
                <a:effectLst/>
                <a:latin typeface="Consolas" panose="020B0609020204030204" pitchFamily="49" charset="0"/>
              </a:rPr>
              <a:t>: </a:t>
            </a:r>
            <a:r>
              <a:rPr lang="en-GB" sz="1600" b="0">
                <a:solidFill>
                  <a:srgbClr val="A31515"/>
                </a:solidFill>
                <a:effectLst/>
                <a:latin typeface="Consolas" panose="020B0609020204030204" pitchFamily="49" charset="0"/>
              </a:rPr>
              <a:t>"91c694b9-f811-4017-837b-2f19febdea58"</a:t>
            </a:r>
            <a:endParaRPr lang="en-GB" sz="1600" b="0">
              <a:solidFill>
                <a:srgbClr val="3B3B3B"/>
              </a:solidFill>
              <a:effectLst/>
              <a:latin typeface="Consolas" panose="020B0609020204030204" pitchFamily="49" charset="0"/>
            </a:endParaRPr>
          </a:p>
        </p:txBody>
      </p:sp>
      <p:sp>
        <p:nvSpPr>
          <p:cNvPr id="20" name="TextBox 19">
            <a:extLst>
              <a:ext uri="{FF2B5EF4-FFF2-40B4-BE49-F238E27FC236}">
                <a16:creationId xmlns:a16="http://schemas.microsoft.com/office/drawing/2014/main" id="{33C5A4B9-6277-1818-EA16-BBC94DD03F4E}"/>
              </a:ext>
            </a:extLst>
          </p:cNvPr>
          <p:cNvSpPr txBox="1"/>
          <p:nvPr/>
        </p:nvSpPr>
        <p:spPr>
          <a:xfrm>
            <a:off x="3423065" y="3252818"/>
            <a:ext cx="8764546" cy="2071465"/>
          </a:xfrm>
          <a:prstGeom prst="rect">
            <a:avLst/>
          </a:prstGeom>
          <a:solidFill>
            <a:schemeClr val="bg1"/>
          </a:solidFill>
          <a:ln>
            <a:solidFill>
              <a:srgbClr val="0070C0"/>
            </a:solidFill>
          </a:ln>
        </p:spPr>
        <p:txBody>
          <a:bodyPr wrap="square" rtlCol="0">
            <a:spAutoFit/>
          </a:bodyPr>
          <a:lstStyle/>
          <a:p>
            <a:pPr>
              <a:spcAft>
                <a:spcPts val="1200"/>
              </a:spcAft>
            </a:pPr>
            <a:r>
              <a:rPr lang="en-GB"/>
              <a:t>Including geometry for the data item is good practice – it helps Data Consumers decide if this particular data item is one they want</a:t>
            </a:r>
          </a:p>
          <a:p>
            <a:pPr>
              <a:lnSpc>
                <a:spcPts val="1425"/>
              </a:lnSpc>
              <a:buNone/>
            </a:pPr>
            <a:r>
              <a:rPr lang="en-GB" sz="1600">
                <a:solidFill>
                  <a:srgbClr val="0451A5"/>
                </a:solidFill>
                <a:latin typeface="Consolas" panose="020B0609020204030204" pitchFamily="49" charset="0"/>
              </a:rPr>
              <a:t>"geometry"</a:t>
            </a: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"type"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"Point"</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"coordinates"</a:t>
            </a: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r>
              <a:rPr lang="en-GB" sz="1600">
                <a:solidFill>
                  <a:srgbClr val="098658"/>
                </a:solidFill>
                <a:latin typeface="Consolas" panose="020B0609020204030204" pitchFamily="49" charset="0"/>
              </a:rPr>
              <a:t>4.4469</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98658"/>
                </a:solidFill>
                <a:latin typeface="Consolas" panose="020B0609020204030204" pitchFamily="49" charset="0"/>
              </a:rPr>
              <a:t>51.9606</a:t>
            </a:r>
            <a:endParaRPr lang="en-GB" sz="1600">
              <a:solidFill>
                <a:srgbClr val="3B3B3B"/>
              </a:solidFill>
              <a:latin typeface="Consolas" panose="020B0609020204030204" pitchFamily="49" charset="0"/>
            </a:endParaRPr>
          </a:p>
          <a:p>
            <a:pPr>
              <a:lnSpc>
                <a:spcPts val="1425"/>
              </a:lnSpc>
              <a:buNone/>
            </a:pPr>
            <a:r>
              <a:rPr lang="en-GB" sz="1600">
                <a:solidFill>
                  <a:srgbClr val="3B3B3B"/>
                </a:solidFill>
                <a:latin typeface="Consolas" panose="020B0609020204030204" pitchFamily="49" charset="0"/>
              </a:rPr>
              <a:t>    ]</a:t>
            </a:r>
          </a:p>
          <a:p>
            <a:pPr>
              <a:lnSpc>
                <a:spcPts val="1425"/>
              </a:lnSpc>
            </a:pPr>
            <a:r>
              <a:rPr lang="en-GB" sz="1600">
                <a:solidFill>
                  <a:srgbClr val="3B3B3B"/>
                </a:solidFill>
                <a:latin typeface="Consolas" panose="020B0609020204030204" pitchFamily="49" charset="0"/>
              </a:rPr>
              <a:t>}</a:t>
            </a:r>
          </a:p>
        </p:txBody>
      </p:sp>
      <p:cxnSp>
        <p:nvCxnSpPr>
          <p:cNvPr id="26" name="Straight Connector 25">
            <a:extLst>
              <a:ext uri="{FF2B5EF4-FFF2-40B4-BE49-F238E27FC236}">
                <a16:creationId xmlns:a16="http://schemas.microsoft.com/office/drawing/2014/main" id="{D89D9811-E923-76B5-FAF5-79C0275F4C99}"/>
              </a:ext>
            </a:extLst>
          </p:cNvPr>
          <p:cNvCxnSpPr/>
          <p:nvPr/>
        </p:nvCxnSpPr>
        <p:spPr>
          <a:xfrm>
            <a:off x="0" y="1658112"/>
            <a:ext cx="12192000" cy="0"/>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pic>
        <p:nvPicPr>
          <p:cNvPr id="2" name="Picture 2" descr="World Meteorological Organization - Wikipedia">
            <a:extLst>
              <a:ext uri="{FF2B5EF4-FFF2-40B4-BE49-F238E27FC236}">
                <a16:creationId xmlns:a16="http://schemas.microsoft.com/office/drawing/2014/main" id="{5E0E9508-80D8-22A0-74CE-671C546293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77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73764-5909-A5BD-C5E6-F719AD65F178}"/>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750BD2B-3D11-A007-2CA5-1269971B38E9}"/>
              </a:ext>
            </a:extLst>
          </p:cNvPr>
          <p:cNvGrpSpPr/>
          <p:nvPr/>
        </p:nvGrpSpPr>
        <p:grpSpPr>
          <a:xfrm>
            <a:off x="-14437" y="-6"/>
            <a:ext cx="12201977" cy="6864890"/>
            <a:chOff x="-14437" y="-6"/>
            <a:chExt cx="12201977" cy="6864890"/>
          </a:xfrm>
        </p:grpSpPr>
        <p:pic>
          <p:nvPicPr>
            <p:cNvPr id="13" name="Picture 12">
              <a:extLst>
                <a:ext uri="{FF2B5EF4-FFF2-40B4-BE49-F238E27FC236}">
                  <a16:creationId xmlns:a16="http://schemas.microsoft.com/office/drawing/2014/main" id="{3B7376B1-0B8C-C21D-BBE0-F2D8AAE7A212}"/>
                </a:ext>
              </a:extLst>
            </p:cNvPr>
            <p:cNvPicPr>
              <a:picLocks noChangeAspect="1"/>
            </p:cNvPicPr>
            <p:nvPr/>
          </p:nvPicPr>
          <p:blipFill>
            <a:blip r:embed="rId3"/>
            <a:srcRect t="30541" b="-1643"/>
            <a:stretch/>
          </p:blipFill>
          <p:spPr>
            <a:xfrm>
              <a:off x="-14437" y="-6"/>
              <a:ext cx="12192000" cy="4492313"/>
            </a:xfrm>
            <a:prstGeom prst="rect">
              <a:avLst/>
            </a:prstGeom>
          </p:spPr>
        </p:pic>
        <p:pic>
          <p:nvPicPr>
            <p:cNvPr id="6" name="Picture 5">
              <a:extLst>
                <a:ext uri="{FF2B5EF4-FFF2-40B4-BE49-F238E27FC236}">
                  <a16:creationId xmlns:a16="http://schemas.microsoft.com/office/drawing/2014/main" id="{EE00DCBF-422D-0E7C-7591-A65B297A7D5D}"/>
                </a:ext>
              </a:extLst>
            </p:cNvPr>
            <p:cNvPicPr>
              <a:picLocks noChangeAspect="1"/>
            </p:cNvPicPr>
            <p:nvPr/>
          </p:nvPicPr>
          <p:blipFill>
            <a:blip r:embed="rId4"/>
            <a:srcRect b="10856"/>
            <a:stretch/>
          </p:blipFill>
          <p:spPr>
            <a:xfrm>
              <a:off x="-4460" y="4281782"/>
              <a:ext cx="12192000" cy="2583102"/>
            </a:xfrm>
            <a:prstGeom prst="rect">
              <a:avLst/>
            </a:prstGeom>
          </p:spPr>
        </p:pic>
      </p:grpSp>
      <p:sp>
        <p:nvSpPr>
          <p:cNvPr id="169" name="TextBox 168">
            <a:extLst>
              <a:ext uri="{FF2B5EF4-FFF2-40B4-BE49-F238E27FC236}">
                <a16:creationId xmlns:a16="http://schemas.microsoft.com/office/drawing/2014/main" id="{0262320B-1BCB-67A8-27FD-F03AE09C6D5C}"/>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9</a:t>
            </a:fld>
            <a:endParaRPr lang="en-GB" sz="1000" dirty="0"/>
          </a:p>
        </p:txBody>
      </p:sp>
      <p:sp>
        <p:nvSpPr>
          <p:cNvPr id="14" name="TextBox 13">
            <a:extLst>
              <a:ext uri="{FF2B5EF4-FFF2-40B4-BE49-F238E27FC236}">
                <a16:creationId xmlns:a16="http://schemas.microsoft.com/office/drawing/2014/main" id="{86C62DD4-95E8-F758-35E3-1A057394D575}"/>
              </a:ext>
            </a:extLst>
          </p:cNvPr>
          <p:cNvSpPr txBox="1"/>
          <p:nvPr/>
        </p:nvSpPr>
        <p:spPr>
          <a:xfrm>
            <a:off x="3427454" y="537234"/>
            <a:ext cx="8764546" cy="1173783"/>
          </a:xfrm>
          <a:prstGeom prst="rect">
            <a:avLst/>
          </a:prstGeom>
          <a:solidFill>
            <a:schemeClr val="bg1"/>
          </a:solidFill>
          <a:ln>
            <a:solidFill>
              <a:srgbClr val="0070C0"/>
            </a:solidFill>
          </a:ln>
        </p:spPr>
        <p:txBody>
          <a:bodyPr wrap="square" rtlCol="0">
            <a:spAutoFit/>
          </a:bodyPr>
          <a:lstStyle/>
          <a:p>
            <a:pPr>
              <a:spcAft>
                <a:spcPts val="1200"/>
              </a:spcAft>
            </a:pPr>
            <a:r>
              <a:rPr lang="en-GB"/>
              <a:t>Identifier for the data item </a:t>
            </a:r>
            <a:r>
              <a:rPr lang="en-GB" err="1">
                <a:latin typeface="Consolas" panose="020B0609020204030204" pitchFamily="49" charset="0"/>
              </a:rPr>
              <a:t>data_id</a:t>
            </a:r>
            <a:r>
              <a:rPr lang="en-GB"/>
              <a:t> must always be unique; you can decide how to do this, but most people are appending a local identifier (i.e., file/object name) to the topic</a:t>
            </a:r>
            <a:endParaRPr lang="en-GB" sz="1600"/>
          </a:p>
          <a:p>
            <a:pPr>
              <a:lnSpc>
                <a:spcPts val="1425"/>
              </a:lnSpc>
            </a:pPr>
            <a:r>
              <a:rPr lang="en-GB" sz="1600" b="0">
                <a:solidFill>
                  <a:srgbClr val="0451A5"/>
                </a:solidFill>
                <a:effectLst/>
                <a:latin typeface="Consolas" panose="020B0609020204030204" pitchFamily="49" charset="0"/>
              </a:rPr>
              <a:t>"</a:t>
            </a:r>
            <a:r>
              <a:rPr lang="en-GB" sz="1600" b="0" err="1">
                <a:solidFill>
                  <a:srgbClr val="0451A5"/>
                </a:solidFill>
                <a:effectLst/>
                <a:latin typeface="Consolas" panose="020B0609020204030204" pitchFamily="49" charset="0"/>
              </a:rPr>
              <a:t>data_id</a:t>
            </a:r>
            <a:r>
              <a:rPr lang="en-GB" sz="1600" b="0">
                <a:solidFill>
                  <a:srgbClr val="0451A5"/>
                </a:solidFill>
                <a:effectLst/>
                <a:latin typeface="Consolas" panose="020B0609020204030204" pitchFamily="49" charset="0"/>
              </a:rPr>
              <a:t>"</a:t>
            </a:r>
            <a:r>
              <a:rPr lang="en-GB" sz="1600" b="0">
                <a:solidFill>
                  <a:srgbClr val="3B3B3B"/>
                </a:solidFill>
                <a:effectLst/>
                <a:latin typeface="Consolas" panose="020B0609020204030204" pitchFamily="49" charset="0"/>
              </a:rPr>
              <a:t>: </a:t>
            </a:r>
            <a:r>
              <a:rPr lang="en-GB" sz="1600" b="0">
                <a:solidFill>
                  <a:srgbClr val="A31515"/>
                </a:solidFill>
                <a:effectLst/>
                <a:latin typeface="Consolas" panose="020B0609020204030204" pitchFamily="49" charset="0"/>
              </a:rPr>
              <a:t>"nl-knmi-</a:t>
            </a:r>
            <a:r>
              <a:rPr lang="en-GB" sz="1600">
                <a:solidFill>
                  <a:srgbClr val="A31515"/>
                </a:solidFill>
                <a:latin typeface="Consolas" panose="020B0609020204030204" pitchFamily="49" charset="0"/>
              </a:rPr>
              <a:t>nm</a:t>
            </a:r>
            <a:r>
              <a:rPr lang="en-GB" sz="1600" b="0">
                <a:solidFill>
                  <a:srgbClr val="A31515"/>
                </a:solidFill>
                <a:effectLst/>
                <a:latin typeface="Consolas" panose="020B0609020204030204" pitchFamily="49" charset="0"/>
              </a:rPr>
              <a:t>c/data/recommended/weather/surface-based-observations/</a:t>
            </a:r>
            <a:r>
              <a:rPr lang="en-GB" sz="1600" b="0" err="1">
                <a:solidFill>
                  <a:srgbClr val="A31515"/>
                </a:solidFill>
                <a:effectLst/>
                <a:latin typeface="Consolas" panose="020B0609020204030204" pitchFamily="49" charset="0"/>
              </a:rPr>
              <a:t>synop</a:t>
            </a:r>
            <a:r>
              <a:rPr lang="en-GB" sz="1600" b="0">
                <a:solidFill>
                  <a:srgbClr val="A31515"/>
                </a:solidFill>
                <a:effectLst/>
                <a:latin typeface="Consolas" panose="020B0609020204030204" pitchFamily="49" charset="0"/>
              </a:rPr>
              <a:t>/WIGOS_0-20000-0-06344_20240411T130000"</a:t>
            </a:r>
            <a:endParaRPr lang="en-GB" sz="1600" b="0">
              <a:solidFill>
                <a:srgbClr val="3B3B3B"/>
              </a:solidFill>
              <a:effectLst/>
              <a:latin typeface="Consolas" panose="020B0609020204030204" pitchFamily="49" charset="0"/>
            </a:endParaRPr>
          </a:p>
        </p:txBody>
      </p:sp>
      <p:sp>
        <p:nvSpPr>
          <p:cNvPr id="8" name="TextBox 7">
            <a:extLst>
              <a:ext uri="{FF2B5EF4-FFF2-40B4-BE49-F238E27FC236}">
                <a16:creationId xmlns:a16="http://schemas.microsoft.com/office/drawing/2014/main" id="{83C64673-9161-74E3-070F-2F471E3A9020}"/>
              </a:ext>
            </a:extLst>
          </p:cNvPr>
          <p:cNvSpPr txBox="1"/>
          <p:nvPr/>
        </p:nvSpPr>
        <p:spPr>
          <a:xfrm>
            <a:off x="3427454" y="1939558"/>
            <a:ext cx="8764546" cy="994247"/>
          </a:xfrm>
          <a:prstGeom prst="rect">
            <a:avLst/>
          </a:prstGeom>
          <a:solidFill>
            <a:schemeClr val="bg1"/>
          </a:solidFill>
          <a:ln>
            <a:solidFill>
              <a:srgbClr val="0070C0"/>
            </a:solidFill>
          </a:ln>
        </p:spPr>
        <p:txBody>
          <a:bodyPr wrap="square" rtlCol="0">
            <a:spAutoFit/>
          </a:bodyPr>
          <a:lstStyle/>
          <a:p>
            <a:pPr>
              <a:spcAft>
                <a:spcPts val="1200"/>
              </a:spcAft>
            </a:pPr>
            <a:r>
              <a:rPr lang="en-GB">
                <a:latin typeface="Consolas" panose="020B0609020204030204" pitchFamily="49" charset="0"/>
              </a:rPr>
              <a:t>datetime</a:t>
            </a:r>
            <a:r>
              <a:rPr lang="en-GB"/>
              <a:t> is the time associated with the data (i.e., the observation time) – also useful for users to determine if this is data they need</a:t>
            </a:r>
          </a:p>
          <a:p>
            <a:pPr>
              <a:lnSpc>
                <a:spcPts val="1425"/>
              </a:lnSpc>
            </a:pPr>
            <a:r>
              <a:rPr lang="en-GB" sz="1600">
                <a:solidFill>
                  <a:srgbClr val="0451A5"/>
                </a:solidFill>
                <a:latin typeface="Consolas" panose="020B0609020204030204" pitchFamily="49" charset="0"/>
              </a:rPr>
              <a:t>"datetime"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"2024-04-11T13:00:00Z"</a:t>
            </a:r>
            <a:endParaRPr lang="en-GB" sz="1600">
              <a:solidFill>
                <a:srgbClr val="3B3B3B"/>
              </a:solidFill>
              <a:latin typeface="Consolas" panose="020B0609020204030204" pitchFamily="49" charset="0"/>
            </a:endParaRPr>
          </a:p>
        </p:txBody>
      </p:sp>
      <p:sp>
        <p:nvSpPr>
          <p:cNvPr id="9" name="TextBox 8">
            <a:extLst>
              <a:ext uri="{FF2B5EF4-FFF2-40B4-BE49-F238E27FC236}">
                <a16:creationId xmlns:a16="http://schemas.microsoft.com/office/drawing/2014/main" id="{2A21BE6D-CF37-7574-AEB8-8CEE2DCC5D5F}"/>
              </a:ext>
            </a:extLst>
          </p:cNvPr>
          <p:cNvSpPr txBox="1"/>
          <p:nvPr/>
        </p:nvSpPr>
        <p:spPr>
          <a:xfrm>
            <a:off x="3418006" y="3162346"/>
            <a:ext cx="8764546" cy="1271245"/>
          </a:xfrm>
          <a:prstGeom prst="rect">
            <a:avLst/>
          </a:prstGeom>
          <a:solidFill>
            <a:schemeClr val="bg1"/>
          </a:solidFill>
          <a:ln>
            <a:solidFill>
              <a:srgbClr val="0070C0"/>
            </a:solidFill>
          </a:ln>
        </p:spPr>
        <p:txBody>
          <a:bodyPr wrap="square" rtlCol="0">
            <a:spAutoFit/>
          </a:bodyPr>
          <a:lstStyle/>
          <a:p>
            <a:pPr>
              <a:spcAft>
                <a:spcPts val="1200"/>
              </a:spcAft>
            </a:pPr>
            <a:r>
              <a:rPr lang="en-GB" err="1">
                <a:latin typeface="Consolas" panose="020B0609020204030204" pitchFamily="49" charset="0"/>
              </a:rPr>
              <a:t>pubtime</a:t>
            </a:r>
            <a:r>
              <a:rPr lang="en-GB"/>
              <a:t> is the time when the notification message was sent; a CORRECTION must always have a later </a:t>
            </a:r>
            <a:r>
              <a:rPr lang="en-GB" err="1">
                <a:latin typeface="Consolas" panose="020B0609020204030204" pitchFamily="49" charset="0"/>
              </a:rPr>
              <a:t>pubtime</a:t>
            </a:r>
            <a:r>
              <a:rPr lang="en-GB"/>
              <a:t> than the original message _and_ have a link with </a:t>
            </a:r>
            <a:r>
              <a:rPr lang="en-GB" err="1">
                <a:latin typeface="Consolas" panose="020B0609020204030204" pitchFamily="49" charset="0"/>
              </a:rPr>
              <a:t>rel</a:t>
            </a:r>
            <a:r>
              <a:rPr lang="en-GB">
                <a:latin typeface="Consolas" panose="020B0609020204030204" pitchFamily="49" charset="0"/>
              </a:rPr>
              <a:t>=update</a:t>
            </a:r>
            <a:r>
              <a:rPr lang="en-GB"/>
              <a:t> (see more on </a:t>
            </a:r>
            <a:r>
              <a:rPr lang="en-GB">
                <a:latin typeface="Consolas" panose="020B0609020204030204" pitchFamily="49" charset="0"/>
              </a:rPr>
              <a:t>links</a:t>
            </a:r>
            <a:r>
              <a:rPr lang="en-GB"/>
              <a:t> later)</a:t>
            </a:r>
          </a:p>
          <a:p>
            <a:pPr>
              <a:lnSpc>
                <a:spcPts val="1425"/>
              </a:lnSpc>
            </a:pP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pubtime</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"2024-04-11T13:15:06Z"</a:t>
            </a:r>
            <a:endParaRPr lang="en-GB" sz="1600">
              <a:solidFill>
                <a:srgbClr val="3B3B3B"/>
              </a:solidFill>
              <a:latin typeface="Consolas" panose="020B0609020204030204" pitchFamily="49" charset="0"/>
            </a:endParaRPr>
          </a:p>
        </p:txBody>
      </p:sp>
      <p:sp>
        <p:nvSpPr>
          <p:cNvPr id="10" name="TextBox 9">
            <a:extLst>
              <a:ext uri="{FF2B5EF4-FFF2-40B4-BE49-F238E27FC236}">
                <a16:creationId xmlns:a16="http://schemas.microsoft.com/office/drawing/2014/main" id="{1A706D50-FD75-7186-383B-31A922DEF7E5}"/>
              </a:ext>
            </a:extLst>
          </p:cNvPr>
          <p:cNvSpPr txBox="1"/>
          <p:nvPr/>
        </p:nvSpPr>
        <p:spPr>
          <a:xfrm>
            <a:off x="3413017" y="4673429"/>
            <a:ext cx="8764546" cy="1541640"/>
          </a:xfrm>
          <a:prstGeom prst="rect">
            <a:avLst/>
          </a:prstGeom>
          <a:solidFill>
            <a:schemeClr val="bg1"/>
          </a:solidFill>
          <a:ln>
            <a:solidFill>
              <a:srgbClr val="0070C0"/>
            </a:solidFill>
          </a:ln>
        </p:spPr>
        <p:txBody>
          <a:bodyPr wrap="square" rtlCol="0">
            <a:spAutoFit/>
          </a:bodyPr>
          <a:lstStyle/>
          <a:p>
            <a:pPr>
              <a:spcAft>
                <a:spcPts val="1200"/>
              </a:spcAft>
            </a:pPr>
            <a:r>
              <a:rPr lang="en-GB"/>
              <a:t>Discovery metadata for the dataset _must_ exist before the data is shared. The Global Broker will discard messages for which there is no associated metadata record. This is also useful for Data Consumers – they find more context about this data item by searching in the Global Discovery Catalogue (or maybe their favourite search engine) </a:t>
            </a:r>
          </a:p>
          <a:p>
            <a:pPr>
              <a:lnSpc>
                <a:spcPts val="1425"/>
              </a:lnSpc>
            </a:pPr>
            <a:r>
              <a:rPr lang="sv-SE" sz="1600">
                <a:solidFill>
                  <a:srgbClr val="0451A5"/>
                </a:solidFill>
                <a:latin typeface="Consolas" panose="020B0609020204030204" pitchFamily="49" charset="0"/>
              </a:rPr>
              <a:t>"metadata_id"</a:t>
            </a:r>
            <a:r>
              <a:rPr lang="sv-SE" sz="1600">
                <a:solidFill>
                  <a:srgbClr val="3B3B3B"/>
                </a:solidFill>
                <a:latin typeface="Consolas" panose="020B0609020204030204" pitchFamily="49" charset="0"/>
              </a:rPr>
              <a:t>: </a:t>
            </a:r>
            <a:r>
              <a:rPr lang="sv-SE" sz="1600">
                <a:solidFill>
                  <a:srgbClr val="A31515"/>
                </a:solidFill>
                <a:latin typeface="Consolas" panose="020B0609020204030204" pitchFamily="49" charset="0"/>
              </a:rPr>
              <a:t>"urn:wmo:md:nl-knmi-nmc:Actuele10mindataKNMIstations-2"</a:t>
            </a:r>
            <a:endParaRPr lang="sv-SE" sz="1600">
              <a:solidFill>
                <a:srgbClr val="3B3B3B"/>
              </a:solidFill>
              <a:latin typeface="Consolas" panose="020B0609020204030204" pitchFamily="49" charset="0"/>
            </a:endParaRPr>
          </a:p>
        </p:txBody>
      </p:sp>
      <p:pic>
        <p:nvPicPr>
          <p:cNvPr id="2" name="Picture 2" descr="World Meteorological Organization - Wikipedia">
            <a:extLst>
              <a:ext uri="{FF2B5EF4-FFF2-40B4-BE49-F238E27FC236}">
                <a16:creationId xmlns:a16="http://schemas.microsoft.com/office/drawing/2014/main" id="{78BE0E66-F9CC-0F7F-C3DD-248ABAB66F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13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64ADE-D6E8-B275-281E-1E5AD23687E4}"/>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044B274-A7A0-D059-EDB0-F49381681A18}"/>
              </a:ext>
            </a:extLst>
          </p:cNvPr>
          <p:cNvGrpSpPr/>
          <p:nvPr/>
        </p:nvGrpSpPr>
        <p:grpSpPr>
          <a:xfrm>
            <a:off x="-14437" y="-6"/>
            <a:ext cx="12201977" cy="6864890"/>
            <a:chOff x="-14437" y="-6"/>
            <a:chExt cx="12201977" cy="6864890"/>
          </a:xfrm>
        </p:grpSpPr>
        <p:pic>
          <p:nvPicPr>
            <p:cNvPr id="13" name="Picture 12">
              <a:extLst>
                <a:ext uri="{FF2B5EF4-FFF2-40B4-BE49-F238E27FC236}">
                  <a16:creationId xmlns:a16="http://schemas.microsoft.com/office/drawing/2014/main" id="{7D4BC34E-552E-7D82-90A0-2C9DBFDDA881}"/>
                </a:ext>
              </a:extLst>
            </p:cNvPr>
            <p:cNvPicPr>
              <a:picLocks noChangeAspect="1"/>
            </p:cNvPicPr>
            <p:nvPr/>
          </p:nvPicPr>
          <p:blipFill>
            <a:blip r:embed="rId3"/>
            <a:srcRect t="30541" b="-1643"/>
            <a:stretch/>
          </p:blipFill>
          <p:spPr>
            <a:xfrm>
              <a:off x="-14437" y="-6"/>
              <a:ext cx="12192000" cy="4492313"/>
            </a:xfrm>
            <a:prstGeom prst="rect">
              <a:avLst/>
            </a:prstGeom>
          </p:spPr>
        </p:pic>
        <p:pic>
          <p:nvPicPr>
            <p:cNvPr id="6" name="Picture 5">
              <a:extLst>
                <a:ext uri="{FF2B5EF4-FFF2-40B4-BE49-F238E27FC236}">
                  <a16:creationId xmlns:a16="http://schemas.microsoft.com/office/drawing/2014/main" id="{16CB9ABD-C770-E3F0-870C-400269C49422}"/>
                </a:ext>
              </a:extLst>
            </p:cNvPr>
            <p:cNvPicPr>
              <a:picLocks noChangeAspect="1"/>
            </p:cNvPicPr>
            <p:nvPr/>
          </p:nvPicPr>
          <p:blipFill>
            <a:blip r:embed="rId4"/>
            <a:srcRect b="10856"/>
            <a:stretch/>
          </p:blipFill>
          <p:spPr>
            <a:xfrm>
              <a:off x="-4460" y="4281782"/>
              <a:ext cx="12192000" cy="2583102"/>
            </a:xfrm>
            <a:prstGeom prst="rect">
              <a:avLst/>
            </a:prstGeom>
          </p:spPr>
        </p:pic>
      </p:grpSp>
      <p:sp>
        <p:nvSpPr>
          <p:cNvPr id="169" name="TextBox 168">
            <a:extLst>
              <a:ext uri="{FF2B5EF4-FFF2-40B4-BE49-F238E27FC236}">
                <a16:creationId xmlns:a16="http://schemas.microsoft.com/office/drawing/2014/main" id="{1F258DD9-113D-C91F-824A-3833AD2506BD}"/>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10</a:t>
            </a:fld>
            <a:endParaRPr lang="en-GB" sz="1000" dirty="0"/>
          </a:p>
        </p:txBody>
      </p:sp>
      <p:sp>
        <p:nvSpPr>
          <p:cNvPr id="2" name="TextBox 1">
            <a:extLst>
              <a:ext uri="{FF2B5EF4-FFF2-40B4-BE49-F238E27FC236}">
                <a16:creationId xmlns:a16="http://schemas.microsoft.com/office/drawing/2014/main" id="{BFB0EF13-CBCB-ACCA-D5AE-C7E362370DDC}"/>
              </a:ext>
            </a:extLst>
          </p:cNvPr>
          <p:cNvSpPr txBox="1"/>
          <p:nvPr/>
        </p:nvSpPr>
        <p:spPr>
          <a:xfrm>
            <a:off x="3413017" y="3134080"/>
            <a:ext cx="8764546" cy="3419078"/>
          </a:xfrm>
          <a:prstGeom prst="rect">
            <a:avLst/>
          </a:prstGeom>
          <a:solidFill>
            <a:schemeClr val="bg1"/>
          </a:solidFill>
          <a:ln>
            <a:solidFill>
              <a:srgbClr val="0070C0"/>
            </a:solidFill>
          </a:ln>
        </p:spPr>
        <p:txBody>
          <a:bodyPr wrap="square" rtlCol="0">
            <a:spAutoFit/>
          </a:bodyPr>
          <a:lstStyle/>
          <a:p>
            <a:pPr>
              <a:spcAft>
                <a:spcPts val="1200"/>
              </a:spcAft>
            </a:pPr>
            <a:r>
              <a:rPr lang="en-GB"/>
              <a:t>We shouldn’t assume that Data Consumers know what they’re allowed to do with the data. Yes, they could look this up in the metadata record, but is does no harm to remind them in the notification message itself – at the point of data use </a:t>
            </a:r>
            <a:r>
              <a:rPr lang="en-GB">
                <a:sym typeface="Wingdings" panose="05000000000000000000" pitchFamily="2" charset="2"/>
              </a:rPr>
              <a:t></a:t>
            </a:r>
            <a:endParaRPr lang="en-GB" sz="1600"/>
          </a:p>
          <a:p>
            <a:pPr>
              <a:lnSpc>
                <a:spcPts val="1425"/>
              </a:lnSpc>
              <a:buNone/>
            </a:pPr>
            <a:r>
              <a:rPr lang="en-GB" sz="1600">
                <a:solidFill>
                  <a:srgbClr val="0451A5"/>
                </a:solidFill>
                <a:latin typeface="Consolas" panose="020B0609020204030204" pitchFamily="49" charset="0"/>
              </a:rPr>
              <a:t>"rights"</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"Users are granted free and unrestricted access to this data, without charge and with no conditions on use. Users are requested to attribute the producer of this data. WMO Unified Data Policy (Resolution 1 (Cg-Ext 2021))“</a:t>
            </a:r>
          </a:p>
          <a:p>
            <a:pPr>
              <a:lnSpc>
                <a:spcPts val="1425"/>
              </a:lnSpc>
              <a:buNone/>
            </a:pPr>
            <a:endParaRPr lang="en-GB" sz="1600">
              <a:solidFill>
                <a:srgbClr val="A31515"/>
              </a:solidFill>
              <a:latin typeface="Consolas" panose="020B0609020204030204" pitchFamily="49" charset="0"/>
            </a:endParaRPr>
          </a:p>
          <a:p>
            <a:pPr>
              <a:lnSpc>
                <a:spcPts val="1425"/>
              </a:lnSpc>
              <a:buNone/>
            </a:pPr>
            <a:r>
              <a:rPr lang="en-GB"/>
              <a:t>… and also providing a link to a license … </a:t>
            </a:r>
          </a:p>
          <a:p>
            <a:pPr>
              <a:lnSpc>
                <a:spcPts val="1425"/>
              </a:lnSpc>
              <a:buNone/>
            </a:pPr>
            <a:endParaRPr lang="en-GB" sz="1600">
              <a:solidFill>
                <a:srgbClr val="A31515"/>
              </a:solidFill>
              <a:latin typeface="Consolas" panose="020B0609020204030204" pitchFamily="49" charset="0"/>
            </a:endParaRPr>
          </a:p>
          <a:p>
            <a:pPr>
              <a:lnSpc>
                <a:spcPts val="1425"/>
              </a:lnSpc>
              <a:buNone/>
            </a:pP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rel</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"license"</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"type"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"text/html"</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href</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"https://creativecommons.org/licenses/by/4.0/"</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"title"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"CC BY 4.0 Deed | Attribution 4.0 International | Creative Commo</a:t>
            </a:r>
            <a:endParaRPr lang="en-GB" sz="1600">
              <a:solidFill>
                <a:srgbClr val="3B3B3B"/>
              </a:solidFill>
              <a:latin typeface="Consolas" panose="020B0609020204030204" pitchFamily="49" charset="0"/>
            </a:endParaRPr>
          </a:p>
          <a:p>
            <a:pPr>
              <a:lnSpc>
                <a:spcPts val="1425"/>
              </a:lnSpc>
            </a:pPr>
            <a:r>
              <a:rPr lang="en-GB" sz="1600">
                <a:solidFill>
                  <a:srgbClr val="3B3B3B"/>
                </a:solidFill>
                <a:latin typeface="Consolas" panose="020B0609020204030204" pitchFamily="49" charset="0"/>
              </a:rPr>
              <a:t>}</a:t>
            </a:r>
          </a:p>
        </p:txBody>
      </p:sp>
      <p:sp>
        <p:nvSpPr>
          <p:cNvPr id="14" name="TextBox 13">
            <a:extLst>
              <a:ext uri="{FF2B5EF4-FFF2-40B4-BE49-F238E27FC236}">
                <a16:creationId xmlns:a16="http://schemas.microsoft.com/office/drawing/2014/main" id="{145083B9-79A1-F77A-0671-992A3E1259BE}"/>
              </a:ext>
            </a:extLst>
          </p:cNvPr>
          <p:cNvSpPr txBox="1"/>
          <p:nvPr/>
        </p:nvSpPr>
        <p:spPr>
          <a:xfrm>
            <a:off x="3427454" y="537234"/>
            <a:ext cx="8764546" cy="2372637"/>
          </a:xfrm>
          <a:prstGeom prst="rect">
            <a:avLst/>
          </a:prstGeom>
          <a:solidFill>
            <a:schemeClr val="bg1"/>
          </a:solidFill>
          <a:ln>
            <a:solidFill>
              <a:srgbClr val="0070C0"/>
            </a:solidFill>
          </a:ln>
        </p:spPr>
        <p:txBody>
          <a:bodyPr wrap="square" rtlCol="0">
            <a:spAutoFit/>
          </a:bodyPr>
          <a:lstStyle/>
          <a:p>
            <a:pPr>
              <a:spcAft>
                <a:spcPts val="1200"/>
              </a:spcAft>
            </a:pPr>
            <a:r>
              <a:rPr lang="en-GB" dirty="0"/>
              <a:t>The </a:t>
            </a:r>
            <a:r>
              <a:rPr lang="en-GB" dirty="0">
                <a:latin typeface="Consolas" panose="020B0609020204030204" pitchFamily="49" charset="0"/>
              </a:rPr>
              <a:t>properties</a:t>
            </a:r>
            <a:r>
              <a:rPr lang="en-GB" dirty="0"/>
              <a:t> section in a GeoJSON record can contain anything. Here we’ve added the property </a:t>
            </a:r>
            <a:r>
              <a:rPr lang="en-GB" dirty="0" err="1">
                <a:latin typeface="Consolas" panose="020B0609020204030204" pitchFamily="49" charset="0"/>
              </a:rPr>
              <a:t>wigos_station_identifier</a:t>
            </a:r>
            <a:r>
              <a:rPr lang="en-GB" dirty="0"/>
              <a:t>; given that KNMI’s 10-minute observations dataset contains 10s if not 100s of stations, this is a really easy way to help Data Consumers find the data items they need without them needing to download the data and unpack it to see if it’s what they need. This is called “client-side filtering”. See </a:t>
            </a:r>
            <a:r>
              <a:rPr lang="en-GB" dirty="0">
                <a:hlinkClick r:id="rId5"/>
              </a:rPr>
              <a:t>WIS2 Cookbook §3.6 Advertising client-side filters for data subscriptions in WCMP2 and WNM</a:t>
            </a:r>
            <a:r>
              <a:rPr lang="en-GB" dirty="0"/>
              <a:t> for details on this.</a:t>
            </a:r>
            <a:endParaRPr lang="en-GB" sz="1600" dirty="0"/>
          </a:p>
          <a:p>
            <a:pPr>
              <a:lnSpc>
                <a:spcPts val="1425"/>
              </a:lnSpc>
            </a:pPr>
            <a:r>
              <a:rPr lang="en-GB" sz="1600" dirty="0">
                <a:solidFill>
                  <a:srgbClr val="0451A5"/>
                </a:solidFill>
                <a:latin typeface="Consolas" panose="020B0609020204030204" pitchFamily="49" charset="0"/>
              </a:rPr>
              <a:t>"</a:t>
            </a:r>
            <a:r>
              <a:rPr lang="en-GB" sz="1600" dirty="0" err="1">
                <a:solidFill>
                  <a:srgbClr val="0451A5"/>
                </a:solidFill>
                <a:latin typeface="Consolas" panose="020B0609020204030204" pitchFamily="49" charset="0"/>
              </a:rPr>
              <a:t>wigos_station_identifier</a:t>
            </a:r>
            <a:r>
              <a:rPr lang="en-GB" sz="1600" dirty="0">
                <a:solidFill>
                  <a:srgbClr val="0451A5"/>
                </a:solidFill>
                <a:latin typeface="Consolas" panose="020B0609020204030204" pitchFamily="49" charset="0"/>
              </a:rPr>
              <a:t>"</a:t>
            </a:r>
            <a:r>
              <a:rPr lang="en-GB" sz="1600" dirty="0">
                <a:solidFill>
                  <a:srgbClr val="3B3B3B"/>
                </a:solidFill>
                <a:latin typeface="Consolas" panose="020B0609020204030204" pitchFamily="49" charset="0"/>
              </a:rPr>
              <a:t>: </a:t>
            </a:r>
            <a:r>
              <a:rPr lang="en-GB" sz="1600" dirty="0">
                <a:solidFill>
                  <a:srgbClr val="A31515"/>
                </a:solidFill>
                <a:latin typeface="Consolas" panose="020B0609020204030204" pitchFamily="49" charset="0"/>
              </a:rPr>
              <a:t>"0-20000-0-06344"</a:t>
            </a:r>
            <a:endParaRPr lang="en-GB" sz="1600" dirty="0">
              <a:solidFill>
                <a:srgbClr val="3B3B3B"/>
              </a:solidFill>
              <a:latin typeface="Consolas" panose="020B0609020204030204" pitchFamily="49" charset="0"/>
            </a:endParaRPr>
          </a:p>
        </p:txBody>
      </p:sp>
      <p:pic>
        <p:nvPicPr>
          <p:cNvPr id="4" name="Picture 2" descr="World Meteorological Organization - Wikipedia">
            <a:extLst>
              <a:ext uri="{FF2B5EF4-FFF2-40B4-BE49-F238E27FC236}">
                <a16:creationId xmlns:a16="http://schemas.microsoft.com/office/drawing/2014/main" id="{C9DA6CA5-225E-56CA-D884-7B1293C348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8112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8489E-5949-149B-E13E-37C31B277CA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05C34471-8E3D-85D8-31F0-8C11E64B9F2A}"/>
              </a:ext>
            </a:extLst>
          </p:cNvPr>
          <p:cNvGrpSpPr/>
          <p:nvPr/>
        </p:nvGrpSpPr>
        <p:grpSpPr>
          <a:xfrm>
            <a:off x="-14437" y="-6"/>
            <a:ext cx="12201977" cy="6864890"/>
            <a:chOff x="-14437" y="-6"/>
            <a:chExt cx="12201977" cy="6864890"/>
          </a:xfrm>
        </p:grpSpPr>
        <p:pic>
          <p:nvPicPr>
            <p:cNvPr id="13" name="Picture 12">
              <a:extLst>
                <a:ext uri="{FF2B5EF4-FFF2-40B4-BE49-F238E27FC236}">
                  <a16:creationId xmlns:a16="http://schemas.microsoft.com/office/drawing/2014/main" id="{B4817360-5A7F-C533-3671-171C60006483}"/>
                </a:ext>
              </a:extLst>
            </p:cNvPr>
            <p:cNvPicPr>
              <a:picLocks noChangeAspect="1"/>
            </p:cNvPicPr>
            <p:nvPr/>
          </p:nvPicPr>
          <p:blipFill>
            <a:blip r:embed="rId3"/>
            <a:srcRect t="30541" b="-1643"/>
            <a:stretch/>
          </p:blipFill>
          <p:spPr>
            <a:xfrm>
              <a:off x="-14437" y="-6"/>
              <a:ext cx="12192000" cy="4492313"/>
            </a:xfrm>
            <a:prstGeom prst="rect">
              <a:avLst/>
            </a:prstGeom>
          </p:spPr>
        </p:pic>
        <p:pic>
          <p:nvPicPr>
            <p:cNvPr id="6" name="Picture 5">
              <a:extLst>
                <a:ext uri="{FF2B5EF4-FFF2-40B4-BE49-F238E27FC236}">
                  <a16:creationId xmlns:a16="http://schemas.microsoft.com/office/drawing/2014/main" id="{5CFB426F-0AE3-08B1-4A59-32D8F2E55F9C}"/>
                </a:ext>
              </a:extLst>
            </p:cNvPr>
            <p:cNvPicPr>
              <a:picLocks noChangeAspect="1"/>
            </p:cNvPicPr>
            <p:nvPr/>
          </p:nvPicPr>
          <p:blipFill>
            <a:blip r:embed="rId4"/>
            <a:srcRect b="10856"/>
            <a:stretch/>
          </p:blipFill>
          <p:spPr>
            <a:xfrm>
              <a:off x="-4460" y="4281782"/>
              <a:ext cx="12192000" cy="2583102"/>
            </a:xfrm>
            <a:prstGeom prst="rect">
              <a:avLst/>
            </a:prstGeom>
          </p:spPr>
        </p:pic>
      </p:grpSp>
      <p:sp>
        <p:nvSpPr>
          <p:cNvPr id="169" name="TextBox 168">
            <a:extLst>
              <a:ext uri="{FF2B5EF4-FFF2-40B4-BE49-F238E27FC236}">
                <a16:creationId xmlns:a16="http://schemas.microsoft.com/office/drawing/2014/main" id="{358CC4DA-F0E3-809B-9469-2A9009AEED4F}"/>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11</a:t>
            </a:fld>
            <a:endParaRPr lang="en-GB" sz="1000" dirty="0"/>
          </a:p>
        </p:txBody>
      </p:sp>
      <p:sp>
        <p:nvSpPr>
          <p:cNvPr id="14" name="TextBox 13">
            <a:extLst>
              <a:ext uri="{FF2B5EF4-FFF2-40B4-BE49-F238E27FC236}">
                <a16:creationId xmlns:a16="http://schemas.microsoft.com/office/drawing/2014/main" id="{3F96C632-21F1-A5DA-9909-7CB910DB5E5D}"/>
              </a:ext>
            </a:extLst>
          </p:cNvPr>
          <p:cNvSpPr txBox="1"/>
          <p:nvPr/>
        </p:nvSpPr>
        <p:spPr>
          <a:xfrm>
            <a:off x="3427454" y="537234"/>
            <a:ext cx="8764546" cy="5583773"/>
          </a:xfrm>
          <a:prstGeom prst="rect">
            <a:avLst/>
          </a:prstGeom>
          <a:solidFill>
            <a:schemeClr val="bg1"/>
          </a:solidFill>
          <a:ln>
            <a:solidFill>
              <a:srgbClr val="0070C0"/>
            </a:solidFill>
          </a:ln>
        </p:spPr>
        <p:txBody>
          <a:bodyPr wrap="square" rtlCol="0">
            <a:spAutoFit/>
          </a:bodyPr>
          <a:lstStyle/>
          <a:p>
            <a:pPr>
              <a:spcAft>
                <a:spcPts val="1200"/>
              </a:spcAft>
            </a:pPr>
            <a:r>
              <a:rPr lang="en-GB"/>
              <a:t>Here’s the crucial part of the notification message: the link to the data! Each link follows a similar structure. </a:t>
            </a:r>
            <a:r>
              <a:rPr lang="en-GB" err="1">
                <a:latin typeface="Consolas" panose="020B0609020204030204" pitchFamily="49" charset="0"/>
              </a:rPr>
              <a:t>rel</a:t>
            </a:r>
            <a:r>
              <a:rPr lang="en-GB"/>
              <a:t> is the “link relation” type. A link with </a:t>
            </a:r>
            <a:r>
              <a:rPr lang="en-GB" err="1">
                <a:latin typeface="Consolas" panose="020B0609020204030204" pitchFamily="49" charset="0"/>
              </a:rPr>
              <a:t>rel</a:t>
            </a:r>
            <a:r>
              <a:rPr lang="en-GB">
                <a:latin typeface="Consolas" panose="020B0609020204030204" pitchFamily="49" charset="0"/>
              </a:rPr>
              <a:t>=canonical</a:t>
            </a:r>
            <a:r>
              <a:rPr lang="en-GB"/>
              <a:t> is always the default one to look at. Other link types include </a:t>
            </a:r>
            <a:r>
              <a:rPr lang="en-GB">
                <a:latin typeface="Consolas" panose="020B0609020204030204" pitchFamily="49" charset="0"/>
              </a:rPr>
              <a:t>update</a:t>
            </a:r>
            <a:r>
              <a:rPr lang="en-GB"/>
              <a:t> and </a:t>
            </a:r>
            <a:r>
              <a:rPr lang="en-GB">
                <a:latin typeface="Consolas" panose="020B0609020204030204" pitchFamily="49" charset="0"/>
              </a:rPr>
              <a:t>license</a:t>
            </a:r>
            <a:r>
              <a:rPr lang="en-GB"/>
              <a:t> (mentioned earlier), </a:t>
            </a:r>
            <a:r>
              <a:rPr lang="en-GB">
                <a:latin typeface="Consolas" panose="020B0609020204030204" pitchFamily="49" charset="0"/>
              </a:rPr>
              <a:t>item</a:t>
            </a:r>
            <a:r>
              <a:rPr lang="en-GB"/>
              <a:t> and </a:t>
            </a:r>
            <a:r>
              <a:rPr lang="en-GB">
                <a:latin typeface="Consolas" panose="020B0609020204030204" pitchFamily="49" charset="0"/>
              </a:rPr>
              <a:t>station</a:t>
            </a:r>
            <a:r>
              <a:rPr lang="en-GB"/>
              <a:t> (coming next), and more. A table (albeit incomplete) of link types is provided in the </a:t>
            </a:r>
            <a:r>
              <a:rPr lang="en-GB">
                <a:hlinkClick r:id="rId5"/>
              </a:rPr>
              <a:t>WCMP2 specification</a:t>
            </a:r>
            <a:r>
              <a:rPr lang="en-GB"/>
              <a:t>.</a:t>
            </a:r>
          </a:p>
          <a:p>
            <a:pPr>
              <a:spcAft>
                <a:spcPts val="1200"/>
              </a:spcAft>
            </a:pPr>
            <a:r>
              <a:rPr lang="en-GB">
                <a:latin typeface="Consolas" panose="020B0609020204030204" pitchFamily="49" charset="0"/>
              </a:rPr>
              <a:t>type</a:t>
            </a:r>
            <a:r>
              <a:rPr lang="en-GB"/>
              <a:t> provides the media type (MIME type) of the resource. </a:t>
            </a:r>
            <a:r>
              <a:rPr lang="en-GB">
                <a:latin typeface="Consolas" panose="020B0609020204030204" pitchFamily="49" charset="0"/>
              </a:rPr>
              <a:t>length</a:t>
            </a:r>
            <a:r>
              <a:rPr lang="en-GB"/>
              <a:t> enables a simple integrity check. </a:t>
            </a:r>
            <a:r>
              <a:rPr lang="en-GB" err="1">
                <a:latin typeface="Consolas" panose="020B0609020204030204" pitchFamily="49" charset="0"/>
              </a:rPr>
              <a:t>href</a:t>
            </a:r>
            <a:r>
              <a:rPr lang="en-GB"/>
              <a:t> provides the URL for the resource – in this case an observation for The Hague encoded in BUFR4. For Core data, it’s the URL in the canonical link that Global Caches will download from. For Core data, the URL in the canonical link _must_ be directly resolvable – i.e., no access controls or URL templates!</a:t>
            </a:r>
          </a:p>
          <a:p>
            <a:pPr>
              <a:spcAft>
                <a:spcPts val="1200"/>
              </a:spcAft>
            </a:pPr>
            <a:r>
              <a:rPr lang="en-GB"/>
              <a:t>See the </a:t>
            </a:r>
            <a:r>
              <a:rPr lang="en-GB">
                <a:hlinkClick r:id="rId6"/>
              </a:rPr>
              <a:t>WIS2 Cookbook</a:t>
            </a:r>
            <a:r>
              <a:rPr lang="en-GB"/>
              <a:t> for information on how to embed that data within the message.</a:t>
            </a:r>
          </a:p>
          <a:p>
            <a:pPr>
              <a:lnSpc>
                <a:spcPts val="1425"/>
              </a:lnSpc>
              <a:buNone/>
            </a:pPr>
            <a:r>
              <a:rPr lang="en-GB" sz="1600">
                <a:solidFill>
                  <a:srgbClr val="0451A5"/>
                </a:solidFill>
                <a:latin typeface="Consolas" panose="020B0609020204030204" pitchFamily="49" charset="0"/>
              </a:rPr>
              <a:t>"links"</a:t>
            </a: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rel</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"canonical"</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"type"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"application/x-</a:t>
            </a:r>
            <a:r>
              <a:rPr lang="en-GB" sz="1600" err="1">
                <a:solidFill>
                  <a:srgbClr val="A31515"/>
                </a:solidFill>
                <a:latin typeface="Consolas" panose="020B0609020204030204" pitchFamily="49" charset="0"/>
              </a:rPr>
              <a:t>bufr</a:t>
            </a:r>
            <a:r>
              <a:rPr lang="en-GB" sz="1600">
                <a:solidFill>
                  <a:srgbClr val="A31515"/>
                </a:solidFill>
                <a:latin typeface="Consolas" panose="020B0609020204030204" pitchFamily="49" charset="0"/>
              </a:rPr>
              <a:t>"</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href</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"https://api.dataplatform.knmi.nl/open-data/v1/datasets/Actuele10mindataKNMIstations/versions/2/files/WIGOS_0-20000-0-06344_20240411T130000.bufr4"</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"length"</a:t>
            </a:r>
            <a:r>
              <a:rPr lang="en-GB" sz="1600">
                <a:solidFill>
                  <a:srgbClr val="3B3B3B"/>
                </a:solidFill>
                <a:latin typeface="Consolas" panose="020B0609020204030204" pitchFamily="49" charset="0"/>
              </a:rPr>
              <a:t>: </a:t>
            </a:r>
            <a:r>
              <a:rPr lang="en-GB" sz="1600">
                <a:solidFill>
                  <a:srgbClr val="098658"/>
                </a:solidFill>
                <a:latin typeface="Consolas" panose="020B0609020204030204" pitchFamily="49" charset="0"/>
              </a:rPr>
              <a:t>199</a:t>
            </a:r>
            <a:endParaRPr lang="en-GB" sz="1600">
              <a:solidFill>
                <a:srgbClr val="3B3B3B"/>
              </a:solidFill>
              <a:latin typeface="Consolas" panose="020B0609020204030204" pitchFamily="49" charset="0"/>
            </a:endParaRPr>
          </a:p>
          <a:p>
            <a:pPr>
              <a:lnSpc>
                <a:spcPts val="1425"/>
              </a:lnSpc>
            </a:pPr>
            <a:r>
              <a:rPr lang="en-GB" sz="1600">
                <a:solidFill>
                  <a:srgbClr val="3B3B3B"/>
                </a:solidFill>
                <a:latin typeface="Consolas" panose="020B0609020204030204" pitchFamily="49" charset="0"/>
              </a:rPr>
              <a:t>    },</a:t>
            </a:r>
          </a:p>
          <a:p>
            <a:pPr>
              <a:lnSpc>
                <a:spcPts val="1425"/>
              </a:lnSpc>
            </a:pPr>
            <a:r>
              <a:rPr lang="en-GB" sz="1600">
                <a:solidFill>
                  <a:srgbClr val="3B3B3B"/>
                </a:solidFill>
                <a:latin typeface="Consolas" panose="020B0609020204030204" pitchFamily="49" charset="0"/>
              </a:rPr>
              <a:t>…</a:t>
            </a:r>
          </a:p>
          <a:p>
            <a:pPr>
              <a:lnSpc>
                <a:spcPts val="1425"/>
              </a:lnSpc>
            </a:pPr>
            <a:r>
              <a:rPr lang="en-GB" sz="1600">
                <a:solidFill>
                  <a:srgbClr val="3B3B3B"/>
                </a:solidFill>
                <a:latin typeface="Consolas" panose="020B0609020204030204" pitchFamily="49" charset="0"/>
              </a:rPr>
              <a:t>]</a:t>
            </a:r>
          </a:p>
        </p:txBody>
      </p:sp>
      <p:pic>
        <p:nvPicPr>
          <p:cNvPr id="2" name="Picture 2" descr="World Meteorological Organization - Wikipedia">
            <a:extLst>
              <a:ext uri="{FF2B5EF4-FFF2-40B4-BE49-F238E27FC236}">
                <a16:creationId xmlns:a16="http://schemas.microsoft.com/office/drawing/2014/main" id="{8950FEDB-5A91-8788-BED1-BCCD09EB8B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78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42B3-E4B7-23FE-0F08-1BF9F3E87509}"/>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C9F1A900-7FF4-D1C3-FFE7-64A405AD60C7}"/>
              </a:ext>
            </a:extLst>
          </p:cNvPr>
          <p:cNvGrpSpPr/>
          <p:nvPr/>
        </p:nvGrpSpPr>
        <p:grpSpPr>
          <a:xfrm>
            <a:off x="-14437" y="-6"/>
            <a:ext cx="12201977" cy="6864890"/>
            <a:chOff x="-14437" y="-6"/>
            <a:chExt cx="12201977" cy="6864890"/>
          </a:xfrm>
        </p:grpSpPr>
        <p:pic>
          <p:nvPicPr>
            <p:cNvPr id="13" name="Picture 12">
              <a:extLst>
                <a:ext uri="{FF2B5EF4-FFF2-40B4-BE49-F238E27FC236}">
                  <a16:creationId xmlns:a16="http://schemas.microsoft.com/office/drawing/2014/main" id="{8C2A1AAF-1039-D34D-2373-098CF662451B}"/>
                </a:ext>
              </a:extLst>
            </p:cNvPr>
            <p:cNvPicPr>
              <a:picLocks noChangeAspect="1"/>
            </p:cNvPicPr>
            <p:nvPr/>
          </p:nvPicPr>
          <p:blipFill>
            <a:blip r:embed="rId3"/>
            <a:srcRect t="30541" b="-1643"/>
            <a:stretch/>
          </p:blipFill>
          <p:spPr>
            <a:xfrm>
              <a:off x="-14437" y="-6"/>
              <a:ext cx="12192000" cy="4492313"/>
            </a:xfrm>
            <a:prstGeom prst="rect">
              <a:avLst/>
            </a:prstGeom>
          </p:spPr>
        </p:pic>
        <p:pic>
          <p:nvPicPr>
            <p:cNvPr id="6" name="Picture 5">
              <a:extLst>
                <a:ext uri="{FF2B5EF4-FFF2-40B4-BE49-F238E27FC236}">
                  <a16:creationId xmlns:a16="http://schemas.microsoft.com/office/drawing/2014/main" id="{6C781EBD-2652-065F-CB12-00E4BD2A9155}"/>
                </a:ext>
              </a:extLst>
            </p:cNvPr>
            <p:cNvPicPr>
              <a:picLocks noChangeAspect="1"/>
            </p:cNvPicPr>
            <p:nvPr/>
          </p:nvPicPr>
          <p:blipFill>
            <a:blip r:embed="rId4"/>
            <a:srcRect b="10856"/>
            <a:stretch/>
          </p:blipFill>
          <p:spPr>
            <a:xfrm>
              <a:off x="-4460" y="4281782"/>
              <a:ext cx="12192000" cy="2583102"/>
            </a:xfrm>
            <a:prstGeom prst="rect">
              <a:avLst/>
            </a:prstGeom>
          </p:spPr>
        </p:pic>
      </p:grpSp>
      <p:sp>
        <p:nvSpPr>
          <p:cNvPr id="169" name="TextBox 168">
            <a:extLst>
              <a:ext uri="{FF2B5EF4-FFF2-40B4-BE49-F238E27FC236}">
                <a16:creationId xmlns:a16="http://schemas.microsoft.com/office/drawing/2014/main" id="{BCCB8D88-DB8A-52C4-2F2A-756A435FC1A2}"/>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12</a:t>
            </a:fld>
            <a:endParaRPr lang="en-GB" sz="1000" dirty="0"/>
          </a:p>
        </p:txBody>
      </p:sp>
      <p:sp>
        <p:nvSpPr>
          <p:cNvPr id="14" name="TextBox 13">
            <a:extLst>
              <a:ext uri="{FF2B5EF4-FFF2-40B4-BE49-F238E27FC236}">
                <a16:creationId xmlns:a16="http://schemas.microsoft.com/office/drawing/2014/main" id="{BA9CED65-5CDB-1F7E-3A92-51C811DA1654}"/>
              </a:ext>
            </a:extLst>
          </p:cNvPr>
          <p:cNvSpPr txBox="1"/>
          <p:nvPr/>
        </p:nvSpPr>
        <p:spPr>
          <a:xfrm>
            <a:off x="3427454" y="537234"/>
            <a:ext cx="8764546" cy="5065682"/>
          </a:xfrm>
          <a:prstGeom prst="rect">
            <a:avLst/>
          </a:prstGeom>
          <a:solidFill>
            <a:schemeClr val="bg1"/>
          </a:solidFill>
          <a:ln>
            <a:solidFill>
              <a:srgbClr val="0070C0"/>
            </a:solidFill>
          </a:ln>
        </p:spPr>
        <p:txBody>
          <a:bodyPr wrap="square" rtlCol="0">
            <a:spAutoFit/>
          </a:bodyPr>
          <a:lstStyle/>
          <a:p>
            <a:pPr>
              <a:spcAft>
                <a:spcPts val="1200"/>
              </a:spcAft>
            </a:pPr>
            <a:r>
              <a:rPr lang="en-GB"/>
              <a:t>KNMI also provide access to this data via an OGC-API EDR endpoint that requires an API key to access. The link relation </a:t>
            </a:r>
            <a:r>
              <a:rPr lang="en-GB">
                <a:latin typeface="Consolas" panose="020B0609020204030204" pitchFamily="49" charset="0"/>
              </a:rPr>
              <a:t>item</a:t>
            </a:r>
            <a:r>
              <a:rPr lang="en-GB"/>
              <a:t> is used here to say that this link points to a resource that is a single item within the dataset (i.e., an observation at given place and time). The security block must follow one of the </a:t>
            </a:r>
            <a:r>
              <a:rPr lang="en-GB" err="1">
                <a:hlinkClick r:id="rId5"/>
              </a:rPr>
              <a:t>OpenAPI</a:t>
            </a:r>
            <a:r>
              <a:rPr lang="en-GB">
                <a:hlinkClick r:id="rId5"/>
              </a:rPr>
              <a:t> Security Schemes</a:t>
            </a:r>
            <a:r>
              <a:rPr lang="en-GB"/>
              <a:t>. In this case, we’re indicating the API key must be added to the API call using the query parameter </a:t>
            </a:r>
            <a:r>
              <a:rPr lang="en-GB" err="1">
                <a:latin typeface="Consolas" panose="020B0609020204030204" pitchFamily="49" charset="0"/>
              </a:rPr>
              <a:t>api</a:t>
            </a:r>
            <a:r>
              <a:rPr lang="en-GB">
                <a:latin typeface="Consolas" panose="020B0609020204030204" pitchFamily="49" charset="0"/>
              </a:rPr>
              <a:t>-key</a:t>
            </a:r>
            <a:r>
              <a:rPr lang="en-GB"/>
              <a:t>, and where you can request an API key. More information about providing resources with access control can be found in the </a:t>
            </a:r>
            <a:r>
              <a:rPr lang="en-GB">
                <a:hlinkClick r:id="rId6"/>
              </a:rPr>
              <a:t>WIS2 Cookbook</a:t>
            </a:r>
            <a:r>
              <a:rPr lang="en-GB"/>
              <a:t>.</a:t>
            </a:r>
          </a:p>
          <a:p>
            <a:pPr>
              <a:lnSpc>
                <a:spcPts val="1425"/>
              </a:lnSpc>
              <a:buNone/>
            </a:pP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rel</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"item"</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"type"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"application/</a:t>
            </a:r>
            <a:r>
              <a:rPr lang="en-GB" sz="1600" err="1">
                <a:solidFill>
                  <a:srgbClr val="A31515"/>
                </a:solidFill>
                <a:latin typeface="Consolas" panose="020B0609020204030204" pitchFamily="49" charset="0"/>
              </a:rPr>
              <a:t>prs.coverage+json</a:t>
            </a:r>
            <a:r>
              <a:rPr lang="en-GB" sz="1600">
                <a:solidFill>
                  <a:srgbClr val="A31515"/>
                </a:solidFill>
                <a:latin typeface="Consolas" panose="020B0609020204030204" pitchFamily="49" charset="0"/>
              </a:rPr>
              <a:t>"</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href</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"https://api.dataplatform.knmi.nl/</a:t>
            </a:r>
            <a:r>
              <a:rPr lang="en-GB" sz="1600" err="1">
                <a:solidFill>
                  <a:srgbClr val="A31515"/>
                </a:solidFill>
                <a:latin typeface="Consolas" panose="020B0609020204030204" pitchFamily="49" charset="0"/>
              </a:rPr>
              <a:t>edr</a:t>
            </a:r>
            <a:r>
              <a:rPr lang="en-GB" sz="1600">
                <a:solidFill>
                  <a:srgbClr val="A31515"/>
                </a:solidFill>
                <a:latin typeface="Consolas" panose="020B0609020204030204" pitchFamily="49" charset="0"/>
              </a:rPr>
              <a:t>/v1/collections/observations/instances/unvalidated/locations/06344?datetime=2024-04-11T13%3A00%3A00Z"</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"security"</a:t>
            </a: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"default"</a:t>
            </a: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"type"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a:t>
            </a:r>
            <a:r>
              <a:rPr lang="en-GB" sz="1600" err="1">
                <a:solidFill>
                  <a:srgbClr val="A31515"/>
                </a:solidFill>
                <a:latin typeface="Consolas" panose="020B0609020204030204" pitchFamily="49" charset="0"/>
              </a:rPr>
              <a:t>apiKey</a:t>
            </a:r>
            <a:r>
              <a:rPr lang="en-GB" sz="1600">
                <a:solidFill>
                  <a:srgbClr val="A31515"/>
                </a:solidFill>
                <a:latin typeface="Consolas" panose="020B0609020204030204" pitchFamily="49" charset="0"/>
              </a:rPr>
              <a:t>"</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"name"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"AUTHORIZATION"</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"in"</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“header"</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"description"</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"Please request an API key via https://developer.dataplatform.knmi.nl/open-data-api#token"</a:t>
            </a:r>
            <a:endParaRPr lang="en-GB" sz="1600">
              <a:solidFill>
                <a:srgbClr val="3B3B3B"/>
              </a:solidFill>
              <a:latin typeface="Consolas" panose="020B0609020204030204" pitchFamily="49" charset="0"/>
            </a:endParaRPr>
          </a:p>
          <a:p>
            <a:pPr>
              <a:lnSpc>
                <a:spcPts val="1425"/>
              </a:lnSpc>
              <a:buNone/>
            </a:pPr>
            <a:r>
              <a:rPr lang="en-GB" sz="1600">
                <a:solidFill>
                  <a:srgbClr val="3B3B3B"/>
                </a:solidFill>
                <a:latin typeface="Consolas" panose="020B0609020204030204" pitchFamily="49" charset="0"/>
              </a:rPr>
              <a:t>        }</a:t>
            </a:r>
          </a:p>
          <a:p>
            <a:pPr>
              <a:lnSpc>
                <a:spcPts val="1425"/>
              </a:lnSpc>
              <a:buNone/>
            </a:pPr>
            <a:r>
              <a:rPr lang="en-GB" sz="1600">
                <a:solidFill>
                  <a:srgbClr val="3B3B3B"/>
                </a:solidFill>
                <a:latin typeface="Consolas" panose="020B0609020204030204" pitchFamily="49" charset="0"/>
              </a:rPr>
              <a:t>    }</a:t>
            </a:r>
          </a:p>
          <a:p>
            <a:pPr>
              <a:lnSpc>
                <a:spcPts val="1425"/>
              </a:lnSpc>
            </a:pPr>
            <a:r>
              <a:rPr lang="en-GB" sz="1600">
                <a:solidFill>
                  <a:srgbClr val="3B3B3B"/>
                </a:solidFill>
                <a:latin typeface="Consolas" panose="020B0609020204030204" pitchFamily="49" charset="0"/>
              </a:rPr>
              <a:t>}</a:t>
            </a:r>
          </a:p>
        </p:txBody>
      </p:sp>
      <p:pic>
        <p:nvPicPr>
          <p:cNvPr id="2" name="Picture 2" descr="World Meteorological Organization - Wikipedia">
            <a:extLst>
              <a:ext uri="{FF2B5EF4-FFF2-40B4-BE49-F238E27FC236}">
                <a16:creationId xmlns:a16="http://schemas.microsoft.com/office/drawing/2014/main" id="{A60E66B1-7017-3CC2-9EE5-CD08DD1CEA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0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8F7D-A6C6-9B70-7A9A-4E52E3EB0E68}"/>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0A51CC24-CB22-75CC-5835-9C8CCF23C320}"/>
              </a:ext>
            </a:extLst>
          </p:cNvPr>
          <p:cNvGrpSpPr/>
          <p:nvPr/>
        </p:nvGrpSpPr>
        <p:grpSpPr>
          <a:xfrm>
            <a:off x="-14437" y="-6"/>
            <a:ext cx="12201977" cy="6864890"/>
            <a:chOff x="-14437" y="-6"/>
            <a:chExt cx="12201977" cy="6864890"/>
          </a:xfrm>
        </p:grpSpPr>
        <p:pic>
          <p:nvPicPr>
            <p:cNvPr id="13" name="Picture 12">
              <a:extLst>
                <a:ext uri="{FF2B5EF4-FFF2-40B4-BE49-F238E27FC236}">
                  <a16:creationId xmlns:a16="http://schemas.microsoft.com/office/drawing/2014/main" id="{8EF86417-B3A7-FAD1-7001-3FFA819C4161}"/>
                </a:ext>
              </a:extLst>
            </p:cNvPr>
            <p:cNvPicPr>
              <a:picLocks noChangeAspect="1"/>
            </p:cNvPicPr>
            <p:nvPr/>
          </p:nvPicPr>
          <p:blipFill>
            <a:blip r:embed="rId3"/>
            <a:srcRect t="30541" b="-1643"/>
            <a:stretch/>
          </p:blipFill>
          <p:spPr>
            <a:xfrm>
              <a:off x="-14437" y="-6"/>
              <a:ext cx="12192000" cy="4492313"/>
            </a:xfrm>
            <a:prstGeom prst="rect">
              <a:avLst/>
            </a:prstGeom>
          </p:spPr>
        </p:pic>
        <p:pic>
          <p:nvPicPr>
            <p:cNvPr id="6" name="Picture 5">
              <a:extLst>
                <a:ext uri="{FF2B5EF4-FFF2-40B4-BE49-F238E27FC236}">
                  <a16:creationId xmlns:a16="http://schemas.microsoft.com/office/drawing/2014/main" id="{AD9706C8-5FD7-AC59-6D51-E37EC6FB7635}"/>
                </a:ext>
              </a:extLst>
            </p:cNvPr>
            <p:cNvPicPr>
              <a:picLocks noChangeAspect="1"/>
            </p:cNvPicPr>
            <p:nvPr/>
          </p:nvPicPr>
          <p:blipFill>
            <a:blip r:embed="rId4"/>
            <a:srcRect b="10856"/>
            <a:stretch/>
          </p:blipFill>
          <p:spPr>
            <a:xfrm>
              <a:off x="-4460" y="4281782"/>
              <a:ext cx="12192000" cy="2583102"/>
            </a:xfrm>
            <a:prstGeom prst="rect">
              <a:avLst/>
            </a:prstGeom>
          </p:spPr>
        </p:pic>
      </p:grpSp>
      <p:sp>
        <p:nvSpPr>
          <p:cNvPr id="169" name="TextBox 168">
            <a:extLst>
              <a:ext uri="{FF2B5EF4-FFF2-40B4-BE49-F238E27FC236}">
                <a16:creationId xmlns:a16="http://schemas.microsoft.com/office/drawing/2014/main" id="{C6CF7922-2411-B3FC-1055-9BC2B521E9E3}"/>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13</a:t>
            </a:fld>
            <a:endParaRPr lang="en-GB" sz="1000" dirty="0"/>
          </a:p>
        </p:txBody>
      </p:sp>
      <p:sp>
        <p:nvSpPr>
          <p:cNvPr id="14" name="TextBox 13">
            <a:extLst>
              <a:ext uri="{FF2B5EF4-FFF2-40B4-BE49-F238E27FC236}">
                <a16:creationId xmlns:a16="http://schemas.microsoft.com/office/drawing/2014/main" id="{2C5964F6-2FA8-6EE0-B87F-9E99DA8211C2}"/>
              </a:ext>
            </a:extLst>
          </p:cNvPr>
          <p:cNvSpPr txBox="1"/>
          <p:nvPr/>
        </p:nvSpPr>
        <p:spPr>
          <a:xfrm>
            <a:off x="3427454" y="537234"/>
            <a:ext cx="8764546" cy="2977931"/>
          </a:xfrm>
          <a:prstGeom prst="rect">
            <a:avLst/>
          </a:prstGeom>
          <a:solidFill>
            <a:schemeClr val="bg1"/>
          </a:solidFill>
          <a:ln>
            <a:solidFill>
              <a:srgbClr val="0070C0"/>
            </a:solidFill>
          </a:ln>
        </p:spPr>
        <p:txBody>
          <a:bodyPr wrap="square" rtlCol="0">
            <a:spAutoFit/>
          </a:bodyPr>
          <a:lstStyle/>
          <a:p>
            <a:pPr>
              <a:spcAft>
                <a:spcPts val="1200"/>
              </a:spcAft>
            </a:pPr>
            <a:r>
              <a:rPr lang="en-GB"/>
              <a:t>We can also use </a:t>
            </a:r>
            <a:r>
              <a:rPr lang="en-GB">
                <a:latin typeface="Consolas" panose="020B0609020204030204" pitchFamily="49" charset="0"/>
              </a:rPr>
              <a:t>links</a:t>
            </a:r>
            <a:r>
              <a:rPr lang="en-GB"/>
              <a:t> to point to other useful information – such as a details of the observing platform where the data was collected. Here we use link relation </a:t>
            </a:r>
            <a:r>
              <a:rPr lang="en-GB">
                <a:latin typeface="Consolas" panose="020B0609020204030204" pitchFamily="49" charset="0"/>
              </a:rPr>
              <a:t>station</a:t>
            </a:r>
            <a:r>
              <a:rPr lang="en-GB"/>
              <a:t> to indicate we’re referring to only one station. The resource we’re linking to is the description in OSCAR Surface. </a:t>
            </a:r>
          </a:p>
          <a:p>
            <a:pPr>
              <a:lnSpc>
                <a:spcPts val="1425"/>
              </a:lnSpc>
              <a:buNone/>
            </a:pP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rel</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"station"</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"type"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"text/html"</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a:t>
            </a:r>
            <a:r>
              <a:rPr lang="en-GB" sz="1600" err="1">
                <a:solidFill>
                  <a:srgbClr val="0451A5"/>
                </a:solidFill>
                <a:latin typeface="Consolas" panose="020B0609020204030204" pitchFamily="49" charset="0"/>
              </a:rPr>
              <a:t>href</a:t>
            </a:r>
            <a:r>
              <a:rPr lang="en-GB" sz="1600">
                <a:solidFill>
                  <a:srgbClr val="0451A5"/>
                </a:solidFill>
                <a:latin typeface="Consolas" panose="020B0609020204030204" pitchFamily="49" charset="0"/>
              </a:rPr>
              <a:t>"</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"https://oscar.wmo.int/surface/#/search/station/stationReportDetails/0-20000-0-06344"</a:t>
            </a:r>
            <a:r>
              <a:rPr lang="en-GB" sz="1600">
                <a:solidFill>
                  <a:srgbClr val="3B3B3B"/>
                </a:solidFill>
                <a:latin typeface="Consolas" panose="020B0609020204030204" pitchFamily="49" charset="0"/>
              </a:rPr>
              <a:t>,</a:t>
            </a:r>
          </a:p>
          <a:p>
            <a:pPr>
              <a:lnSpc>
                <a:spcPts val="1425"/>
              </a:lnSpc>
              <a:buNone/>
            </a:pPr>
            <a:r>
              <a:rPr lang="en-GB" sz="1600">
                <a:solidFill>
                  <a:srgbClr val="3B3B3B"/>
                </a:solidFill>
                <a:latin typeface="Consolas" panose="020B0609020204030204" pitchFamily="49" charset="0"/>
              </a:rPr>
              <a:t>    </a:t>
            </a:r>
            <a:r>
              <a:rPr lang="en-GB" sz="1600">
                <a:solidFill>
                  <a:srgbClr val="0451A5"/>
                </a:solidFill>
                <a:latin typeface="Consolas" panose="020B0609020204030204" pitchFamily="49" charset="0"/>
              </a:rPr>
              <a:t>"title"</a:t>
            </a:r>
            <a:r>
              <a:rPr lang="en-GB" sz="1600">
                <a:solidFill>
                  <a:srgbClr val="3B3B3B"/>
                </a:solidFill>
                <a:latin typeface="Consolas" panose="020B0609020204030204" pitchFamily="49" charset="0"/>
              </a:rPr>
              <a:t>: </a:t>
            </a:r>
            <a:r>
              <a:rPr lang="en-GB" sz="1600">
                <a:solidFill>
                  <a:srgbClr val="A31515"/>
                </a:solidFill>
                <a:latin typeface="Consolas" panose="020B0609020204030204" pitchFamily="49" charset="0"/>
              </a:rPr>
              <a:t>"WIGOS Station 0-20000-0-06344, ROTTERDAM THE HAGUE AP (</a:t>
            </a:r>
            <a:r>
              <a:rPr lang="en-GB" sz="1600" err="1">
                <a:solidFill>
                  <a:srgbClr val="A31515"/>
                </a:solidFill>
                <a:latin typeface="Consolas" panose="020B0609020204030204" pitchFamily="49" charset="0"/>
              </a:rPr>
              <a:t>Netherla</a:t>
            </a:r>
            <a:endParaRPr lang="en-GB" sz="1600">
              <a:solidFill>
                <a:srgbClr val="3B3B3B"/>
              </a:solidFill>
              <a:latin typeface="Consolas" panose="020B0609020204030204" pitchFamily="49" charset="0"/>
            </a:endParaRPr>
          </a:p>
          <a:p>
            <a:pPr>
              <a:lnSpc>
                <a:spcPts val="1425"/>
              </a:lnSpc>
            </a:pPr>
            <a:br>
              <a:rPr lang="en-GB" sz="1600">
                <a:solidFill>
                  <a:srgbClr val="3B3B3B"/>
                </a:solidFill>
                <a:latin typeface="Consolas" panose="020B0609020204030204" pitchFamily="49" charset="0"/>
              </a:rPr>
            </a:br>
            <a:r>
              <a:rPr lang="en-GB" sz="1600">
                <a:solidFill>
                  <a:srgbClr val="3B3B3B"/>
                </a:solidFill>
                <a:latin typeface="Consolas" panose="020B0609020204030204" pitchFamily="49" charset="0"/>
              </a:rPr>
              <a:t>}</a:t>
            </a:r>
          </a:p>
        </p:txBody>
      </p:sp>
      <p:pic>
        <p:nvPicPr>
          <p:cNvPr id="2" name="Picture 2" descr="World Meteorological Organization - Wikipedia">
            <a:extLst>
              <a:ext uri="{FF2B5EF4-FFF2-40B4-BE49-F238E27FC236}">
                <a16:creationId xmlns:a16="http://schemas.microsoft.com/office/drawing/2014/main" id="{B7F0DAB3-DB94-BBC7-A9E1-92A30C47FD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09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E650C-5E25-B9F4-1F75-365436DD6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8BF4D-767D-B8D8-4D7C-719CE12D5E26}"/>
              </a:ext>
            </a:extLst>
          </p:cNvPr>
          <p:cNvSpPr>
            <a:spLocks noGrp="1"/>
          </p:cNvSpPr>
          <p:nvPr>
            <p:ph type="ctrTitle"/>
          </p:nvPr>
        </p:nvSpPr>
        <p:spPr/>
        <p:txBody>
          <a:bodyPr/>
          <a:lstStyle/>
          <a:p>
            <a:r>
              <a:rPr lang="en-GB"/>
              <a:t>Questions?</a:t>
            </a:r>
          </a:p>
        </p:txBody>
      </p:sp>
      <p:sp>
        <p:nvSpPr>
          <p:cNvPr id="8" name="TextBox 7">
            <a:extLst>
              <a:ext uri="{FF2B5EF4-FFF2-40B4-BE49-F238E27FC236}">
                <a16:creationId xmlns:a16="http://schemas.microsoft.com/office/drawing/2014/main" id="{9F85A2C2-72BA-C7E3-5C87-F24E5735532D}"/>
              </a:ext>
            </a:extLst>
          </p:cNvPr>
          <p:cNvSpPr txBox="1"/>
          <p:nvPr/>
        </p:nvSpPr>
        <p:spPr>
          <a:xfrm>
            <a:off x="9444411" y="6618663"/>
            <a:ext cx="2743200" cy="230832"/>
          </a:xfrm>
          <a:prstGeom prst="rect">
            <a:avLst/>
          </a:prstGeom>
          <a:noFill/>
        </p:spPr>
        <p:txBody>
          <a:bodyPr wrap="square">
            <a:spAutoFit/>
          </a:bodyPr>
          <a:lstStyle/>
          <a:p>
            <a:pPr algn="r"/>
            <a:fld id="{3CC13ADF-2E82-439F-8371-D288CD6B0554}" type="slidenum">
              <a:rPr lang="en-GB" sz="900" smtClean="0"/>
              <a:pPr algn="r"/>
              <a:t>14</a:t>
            </a:fld>
            <a:endParaRPr lang="en-GB" sz="1000" dirty="0"/>
          </a:p>
        </p:txBody>
      </p:sp>
      <p:pic>
        <p:nvPicPr>
          <p:cNvPr id="3" name="Picture 2" descr="World Meteorological Organization - Wikipedia">
            <a:extLst>
              <a:ext uri="{FF2B5EF4-FFF2-40B4-BE49-F238E27FC236}">
                <a16:creationId xmlns:a16="http://schemas.microsoft.com/office/drawing/2014/main" id="{B781C45F-6BBF-6E13-23F7-4BDAAB88D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6625" y="0"/>
            <a:ext cx="1740986" cy="584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135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7f18161-20d7-4746-87fd-50fe3e3b6619}" enabled="0" method="" siteId="{17f18161-20d7-4746-87fd-50fe3e3b6619}" removed="1"/>
</clbl:labelList>
</file>

<file path=docProps/app.xml><?xml version="1.0" encoding="utf-8"?>
<Properties xmlns="http://schemas.openxmlformats.org/officeDocument/2006/extended-properties" xmlns:vt="http://schemas.openxmlformats.org/officeDocument/2006/docPropsVTypes">
  <TotalTime>6</TotalTime>
  <Words>4627</Words>
  <Application>Microsoft Office PowerPoint</Application>
  <PresentationFormat>Widescreen</PresentationFormat>
  <Paragraphs>461</Paragraphs>
  <Slides>14</Slides>
  <Notes>12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vt:i4>
      </vt:variant>
    </vt:vector>
  </HeadingPairs>
  <TitlesOfParts>
    <vt:vector size="25" baseType="lpstr">
      <vt:lpstr>Aptos</vt:lpstr>
      <vt:lpstr>Aptos Display</vt:lpstr>
      <vt:lpstr>Arial</vt:lpstr>
      <vt:lpstr>Calibri</vt:lpstr>
      <vt:lpstr>Calibri Light</vt:lpstr>
      <vt:lpstr>Consolas</vt:lpstr>
      <vt:lpstr>Google Sans</vt:lpstr>
      <vt:lpstr>Montserrat</vt:lpstr>
      <vt:lpstr>Wingdings</vt:lpstr>
      <vt:lpstr>Office Theme</vt:lpstr>
      <vt:lpstr>1_Office Theme</vt:lpstr>
      <vt:lpstr>Publishing real-time data notifications in MeteoGate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Met 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Publishing real-time data notifications in MeteoGate</dc:title>
  <dc:creator>Jeremy Tandy</dc:creator>
  <cp:lastModifiedBy>Jeremy Tandy</cp:lastModifiedBy>
  <cp:revision>2</cp:revision>
  <dcterms:created xsi:type="dcterms:W3CDTF">2025-06-06T13:10:32Z</dcterms:created>
  <dcterms:modified xsi:type="dcterms:W3CDTF">2025-12-19T16:08:37Z</dcterms:modified>
</cp:coreProperties>
</file>