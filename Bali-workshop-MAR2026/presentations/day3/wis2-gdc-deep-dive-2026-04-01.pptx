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theme/theme3.xml" ContentType="application/vnd.openxmlformats-officedocument.theme+xml"/>
  <Override PartName="/ppt/slideLayouts/slideLayout20.xml" ContentType="application/vnd.openxmlformats-officedocument.presentationml.slideLayout+xml"/>
  <Override PartName="/ppt/theme/theme4.xml" ContentType="application/vnd.openxmlformats-officedocument.theme+xml"/>
  <Override PartName="/ppt/theme/theme5.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03" r:id="rId4"/>
    <p:sldMasterId id="2147483694" r:id="rId5"/>
    <p:sldMasterId id="2147483659" r:id="rId6"/>
    <p:sldMasterId id="2147483648" r:id="rId7"/>
  </p:sldMasterIdLst>
  <p:notesMasterIdLst>
    <p:notesMasterId r:id="rId39"/>
  </p:notesMasterIdLst>
  <p:sldIdLst>
    <p:sldId id="4211" r:id="rId8"/>
    <p:sldId id="4219" r:id="rId9"/>
    <p:sldId id="4212" r:id="rId10"/>
    <p:sldId id="4228" r:id="rId11"/>
    <p:sldId id="4203" r:id="rId12"/>
    <p:sldId id="4364" r:id="rId13"/>
    <p:sldId id="284" r:id="rId14"/>
    <p:sldId id="4365" r:id="rId15"/>
    <p:sldId id="281" r:id="rId16"/>
    <p:sldId id="285" r:id="rId17"/>
    <p:sldId id="283" r:id="rId18"/>
    <p:sldId id="4367" r:id="rId19"/>
    <p:sldId id="4377" r:id="rId20"/>
    <p:sldId id="4382" r:id="rId21"/>
    <p:sldId id="4371" r:id="rId22"/>
    <p:sldId id="4372" r:id="rId23"/>
    <p:sldId id="4373" r:id="rId24"/>
    <p:sldId id="4374" r:id="rId25"/>
    <p:sldId id="4375" r:id="rId26"/>
    <p:sldId id="324" r:id="rId27"/>
    <p:sldId id="648" r:id="rId28"/>
    <p:sldId id="4368" r:id="rId29"/>
    <p:sldId id="4370" r:id="rId30"/>
    <p:sldId id="4383" r:id="rId31"/>
    <p:sldId id="4369" r:id="rId32"/>
    <p:sldId id="4376" r:id="rId33"/>
    <p:sldId id="641" r:id="rId34"/>
    <p:sldId id="4381" r:id="rId35"/>
    <p:sldId id="4379" r:id="rId36"/>
    <p:sldId id="4378" r:id="rId37"/>
    <p:sldId id="4218" r:id="rId3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AEE40853-C355-F2E0-FF05-AB4063C97370}" name="Maaike Limper" initials="ML" userId="Maaike Limper" providerId="None"/>
  <p188:author id="{50BD7B73-A170-0646-8CC3-43A5E9F4E12B}" name="Timo" initials="T" userId="Timo" providerId="None"/>
  <p188:author id="{F26AE4BC-29DD-A7DC-2F00-36E2C26F6EE3}" name="Maaike Limper" initials="ML" userId="S::mlimper@wmo.int::01addef8-b35f-4ca1-a408-d2e3bf1de0ea"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042D3"/>
    <a:srgbClr val="FFFFFF"/>
    <a:srgbClr val="007A37"/>
    <a:srgbClr val="004F9F"/>
    <a:srgbClr val="D5E3F0"/>
    <a:srgbClr val="E6B9B8"/>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0313"/>
    <p:restoredTop sz="94690"/>
  </p:normalViewPr>
  <p:slideViewPr>
    <p:cSldViewPr snapToGrid="0">
      <p:cViewPr varScale="1">
        <p:scale>
          <a:sx n="119" d="100"/>
          <a:sy n="119" d="100"/>
        </p:scale>
        <p:origin x="840" y="192"/>
      </p:cViewPr>
      <p:guideLst>
        <p:guide orient="horz" pos="2160"/>
        <p:guide pos="3840"/>
      </p:guideLst>
    </p:cSldViewPr>
  </p:slideViewPr>
  <p:notesTextViewPr>
    <p:cViewPr>
      <p:scale>
        <a:sx n="3" d="2"/>
        <a:sy n="3" d="2"/>
      </p:scale>
      <p:origin x="0" y="0"/>
    </p:cViewPr>
  </p:notesTextViewPr>
  <p:sorterViewPr>
    <p:cViewPr>
      <p:scale>
        <a:sx n="1" d="1"/>
        <a:sy n="1" d="1"/>
      </p:scale>
      <p:origin x="0" y="-465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6.xml"/><Relationship Id="rId18" Type="http://schemas.openxmlformats.org/officeDocument/2006/relationships/slide" Target="slides/slide11.xml"/><Relationship Id="rId26" Type="http://schemas.openxmlformats.org/officeDocument/2006/relationships/slide" Target="slides/slide19.xml"/><Relationship Id="rId39" Type="http://schemas.openxmlformats.org/officeDocument/2006/relationships/notesMaster" Target="notesMasters/notesMaster1.xml"/><Relationship Id="rId21" Type="http://schemas.openxmlformats.org/officeDocument/2006/relationships/slide" Target="slides/slide14.xml"/><Relationship Id="rId34" Type="http://schemas.openxmlformats.org/officeDocument/2006/relationships/slide" Target="slides/slide27.xml"/><Relationship Id="rId42" Type="http://schemas.openxmlformats.org/officeDocument/2006/relationships/theme" Target="theme/theme1.xml"/><Relationship Id="rId7" Type="http://schemas.openxmlformats.org/officeDocument/2006/relationships/slideMaster" Target="slideMasters/slideMaster4.xml"/><Relationship Id="rId2" Type="http://schemas.openxmlformats.org/officeDocument/2006/relationships/customXml" Target="../customXml/item2.xml"/><Relationship Id="rId16" Type="http://schemas.openxmlformats.org/officeDocument/2006/relationships/slide" Target="slides/slide9.xml"/><Relationship Id="rId20" Type="http://schemas.openxmlformats.org/officeDocument/2006/relationships/slide" Target="slides/slide13.xml"/><Relationship Id="rId29" Type="http://schemas.openxmlformats.org/officeDocument/2006/relationships/slide" Target="slides/slide22.xml"/><Relationship Id="rId41"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Master" Target="slideMasters/slideMaster3.xml"/><Relationship Id="rId11" Type="http://schemas.openxmlformats.org/officeDocument/2006/relationships/slide" Target="slides/slide4.xml"/><Relationship Id="rId24" Type="http://schemas.openxmlformats.org/officeDocument/2006/relationships/slide" Target="slides/slide17.xml"/><Relationship Id="rId32" Type="http://schemas.openxmlformats.org/officeDocument/2006/relationships/slide" Target="slides/slide25.xml"/><Relationship Id="rId37" Type="http://schemas.openxmlformats.org/officeDocument/2006/relationships/slide" Target="slides/slide30.xml"/><Relationship Id="rId40" Type="http://schemas.openxmlformats.org/officeDocument/2006/relationships/presProps" Target="presProps.xml"/><Relationship Id="rId5" Type="http://schemas.openxmlformats.org/officeDocument/2006/relationships/slideMaster" Target="slideMasters/slideMaster2.xml"/><Relationship Id="rId15" Type="http://schemas.openxmlformats.org/officeDocument/2006/relationships/slide" Target="slides/slide8.xml"/><Relationship Id="rId23" Type="http://schemas.openxmlformats.org/officeDocument/2006/relationships/slide" Target="slides/slide16.xml"/><Relationship Id="rId28" Type="http://schemas.openxmlformats.org/officeDocument/2006/relationships/slide" Target="slides/slide21.xml"/><Relationship Id="rId36" Type="http://schemas.openxmlformats.org/officeDocument/2006/relationships/slide" Target="slides/slide29.xml"/><Relationship Id="rId10" Type="http://schemas.openxmlformats.org/officeDocument/2006/relationships/slide" Target="slides/slide3.xml"/><Relationship Id="rId19" Type="http://schemas.openxmlformats.org/officeDocument/2006/relationships/slide" Target="slides/slide12.xml"/><Relationship Id="rId31" Type="http://schemas.openxmlformats.org/officeDocument/2006/relationships/slide" Target="slides/slide24.xml"/><Relationship Id="rId44" Type="http://schemas.microsoft.com/office/2018/10/relationships/authors" Target="authors.xml"/><Relationship Id="rId4" Type="http://schemas.openxmlformats.org/officeDocument/2006/relationships/slideMaster" Target="slideMasters/slideMaster1.xml"/><Relationship Id="rId9" Type="http://schemas.openxmlformats.org/officeDocument/2006/relationships/slide" Target="slides/slide2.xml"/><Relationship Id="rId14" Type="http://schemas.openxmlformats.org/officeDocument/2006/relationships/slide" Target="slides/slide7.xml"/><Relationship Id="rId22" Type="http://schemas.openxmlformats.org/officeDocument/2006/relationships/slide" Target="slides/slide15.xml"/><Relationship Id="rId27" Type="http://schemas.openxmlformats.org/officeDocument/2006/relationships/slide" Target="slides/slide20.xml"/><Relationship Id="rId30" Type="http://schemas.openxmlformats.org/officeDocument/2006/relationships/slide" Target="slides/slide23.xml"/><Relationship Id="rId35" Type="http://schemas.openxmlformats.org/officeDocument/2006/relationships/slide" Target="slides/slide28.xml"/><Relationship Id="rId43" Type="http://schemas.openxmlformats.org/officeDocument/2006/relationships/tableStyles" Target="tableStyles.xml"/><Relationship Id="rId8" Type="http://schemas.openxmlformats.org/officeDocument/2006/relationships/slide" Target="slides/slide1.xml"/><Relationship Id="rId3" Type="http://schemas.openxmlformats.org/officeDocument/2006/relationships/customXml" Target="../customXml/item3.xml"/><Relationship Id="rId12" Type="http://schemas.openxmlformats.org/officeDocument/2006/relationships/slide" Target="slides/slide5.xml"/><Relationship Id="rId17" Type="http://schemas.openxmlformats.org/officeDocument/2006/relationships/slide" Target="slides/slide10.xml"/><Relationship Id="rId25" Type="http://schemas.openxmlformats.org/officeDocument/2006/relationships/slide" Target="slides/slide18.xml"/><Relationship Id="rId33" Type="http://schemas.openxmlformats.org/officeDocument/2006/relationships/slide" Target="slides/slide26.xml"/><Relationship Id="rId38" Type="http://schemas.openxmlformats.org/officeDocument/2006/relationships/slide" Target="slides/slide3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CH"/>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54ED003-2672-4CB3-8B17-1510E98960D4}" type="datetimeFigureOut">
              <a:rPr lang="en-CH" smtClean="0"/>
              <a:t>3/31/26</a:t>
            </a:fld>
            <a:endParaRPr lang="en-CH"/>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CH"/>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H"/>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CH"/>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8BD07EC-6360-493B-A5C5-7E3237A65453}" type="slidenum">
              <a:rPr lang="en-CH" smtClean="0"/>
              <a:t>‹#›</a:t>
            </a:fld>
            <a:endParaRPr lang="en-CH"/>
          </a:p>
        </p:txBody>
      </p:sp>
    </p:spTree>
    <p:extLst>
      <p:ext uri="{BB962C8B-B14F-4D97-AF65-F5344CB8AC3E}">
        <p14:creationId xmlns:p14="http://schemas.microsoft.com/office/powerpoint/2010/main" val="3078956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dirty="0"/>
          </a:p>
        </p:txBody>
      </p:sp>
      <p:sp>
        <p:nvSpPr>
          <p:cNvPr id="4" name="Slide Number Placeholder 3"/>
          <p:cNvSpPr>
            <a:spLocks noGrp="1"/>
          </p:cNvSpPr>
          <p:nvPr>
            <p:ph type="sldNum" sz="quarter" idx="5"/>
          </p:nvPr>
        </p:nvSpPr>
        <p:spPr/>
        <p:txBody>
          <a:bodyPr/>
          <a:lstStyle/>
          <a:p>
            <a:fld id="{08BD07EC-6360-493B-A5C5-7E3237A65453}" type="slidenum">
              <a:rPr lang="en-CH" smtClean="0"/>
              <a:t>1</a:t>
            </a:fld>
            <a:endParaRPr lang="en-CH"/>
          </a:p>
        </p:txBody>
      </p:sp>
    </p:spTree>
    <p:extLst>
      <p:ext uri="{BB962C8B-B14F-4D97-AF65-F5344CB8AC3E}">
        <p14:creationId xmlns:p14="http://schemas.microsoft.com/office/powerpoint/2010/main" val="378050244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Tx/>
              <a:buChar char="-"/>
            </a:pPr>
            <a:r>
              <a:rPr lang="en-US" dirty="0"/>
              <a:t>https://</a:t>
            </a:r>
            <a:r>
              <a:rPr lang="en-US" dirty="0" err="1"/>
              <a:t>www.independent.co.uk</a:t>
            </a:r>
            <a:r>
              <a:rPr lang="en-US" dirty="0"/>
              <a:t>/life-style/food-and-drink/features/tips-on-how-to-transform-a-humble-tin-can-of-food-a9432041.html</a:t>
            </a:r>
          </a:p>
          <a:p>
            <a:pPr marL="171450" indent="-171450">
              <a:buFontTx/>
              <a:buChar char="-"/>
            </a:pPr>
            <a:r>
              <a:rPr lang="en-US" dirty="0"/>
              <a:t>https://</a:t>
            </a:r>
            <a:r>
              <a:rPr lang="en-US" dirty="0" err="1"/>
              <a:t>www.madeeveryday.com</a:t>
            </a:r>
            <a:r>
              <a:rPr lang="en-US" dirty="0"/>
              <a:t>/tutorial-tin-can-caddy-for-earth-day-and-mothers-day</a:t>
            </a:r>
          </a:p>
        </p:txBody>
      </p:sp>
      <p:sp>
        <p:nvSpPr>
          <p:cNvPr id="4" name="Slide Number Placeholder 3"/>
          <p:cNvSpPr>
            <a:spLocks noGrp="1"/>
          </p:cNvSpPr>
          <p:nvPr>
            <p:ph type="sldNum" sz="quarter" idx="5"/>
          </p:nvPr>
        </p:nvSpPr>
        <p:spPr/>
        <p:txBody>
          <a:bodyPr/>
          <a:lstStyle/>
          <a:p>
            <a:fld id="{E97C1290-4516-ED42-966E-BC4F5D247E1F}" type="slidenum">
              <a:rPr lang="en-US" smtClean="0"/>
              <a:t>6</a:t>
            </a:fld>
            <a:endParaRPr lang="en-US"/>
          </a:p>
        </p:txBody>
      </p:sp>
    </p:spTree>
    <p:extLst>
      <p:ext uri="{BB962C8B-B14F-4D97-AF65-F5344CB8AC3E}">
        <p14:creationId xmlns:p14="http://schemas.microsoft.com/office/powerpoint/2010/main" val="58535609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7FB6A0-65C1-9CB3-9252-235CD44AF65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8977C81-9FF6-FFA7-E361-10174FBC20B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3C7FE50-EF13-BBDB-5F73-FDBBA8EE4FC1}"/>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endParaRPr lang="en-GB" sz="1200" i="0" dirty="0">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878417AD-2F1D-DC9B-3C0B-C9CBFEABCABA}"/>
              </a:ext>
            </a:extLst>
          </p:cNvPr>
          <p:cNvSpPr>
            <a:spLocks noGrp="1"/>
          </p:cNvSpPr>
          <p:nvPr>
            <p:ph type="sldNum" sz="quarter" idx="5"/>
          </p:nvPr>
        </p:nvSpPr>
        <p:spPr/>
        <p:txBody>
          <a:bodyPr/>
          <a:lstStyle/>
          <a:p>
            <a:fld id="{F5D8832E-42BB-44E8-8D92-A8404C7B069D}" type="slidenum">
              <a:rPr lang="en-GB" smtClean="0"/>
              <a:t>13</a:t>
            </a:fld>
            <a:endParaRPr lang="en-GB"/>
          </a:p>
        </p:txBody>
      </p:sp>
    </p:spTree>
    <p:extLst>
      <p:ext uri="{BB962C8B-B14F-4D97-AF65-F5344CB8AC3E}">
        <p14:creationId xmlns:p14="http://schemas.microsoft.com/office/powerpoint/2010/main" val="189699013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AFBE79-3915-A130-BFD3-B62F2C39E3F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B10DF81-E5D0-190C-78EE-098D046AB05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CAA6D99-6EA3-75ED-54A3-BC2D6D3461F3}"/>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endParaRPr lang="en-GB" sz="1200" i="0" dirty="0">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A0C4E115-E471-34E5-6D7E-4F8863214CDB}"/>
              </a:ext>
            </a:extLst>
          </p:cNvPr>
          <p:cNvSpPr>
            <a:spLocks noGrp="1"/>
          </p:cNvSpPr>
          <p:nvPr>
            <p:ph type="sldNum" sz="quarter" idx="5"/>
          </p:nvPr>
        </p:nvSpPr>
        <p:spPr/>
        <p:txBody>
          <a:bodyPr/>
          <a:lstStyle/>
          <a:p>
            <a:fld id="{F5D8832E-42BB-44E8-8D92-A8404C7B069D}" type="slidenum">
              <a:rPr lang="en-GB" smtClean="0"/>
              <a:t>14</a:t>
            </a:fld>
            <a:endParaRPr lang="en-GB"/>
          </a:p>
        </p:txBody>
      </p:sp>
    </p:spTree>
    <p:extLst>
      <p:ext uri="{BB962C8B-B14F-4D97-AF65-F5344CB8AC3E}">
        <p14:creationId xmlns:p14="http://schemas.microsoft.com/office/powerpoint/2010/main" val="246342269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0171E2-7382-FD4A-FEE3-A35E33F787D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2966954-04B6-4BDE-23A7-BB0E7C7A749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FAA659A-BBA5-060D-5D5C-4B75FD482E21}"/>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endParaRPr lang="en-GB" sz="1200" i="0" dirty="0">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F518CDB4-9766-C326-CBE4-902A9F92E209}"/>
              </a:ext>
            </a:extLst>
          </p:cNvPr>
          <p:cNvSpPr>
            <a:spLocks noGrp="1"/>
          </p:cNvSpPr>
          <p:nvPr>
            <p:ph type="sldNum" sz="quarter" idx="5"/>
          </p:nvPr>
        </p:nvSpPr>
        <p:spPr/>
        <p:txBody>
          <a:bodyPr/>
          <a:lstStyle/>
          <a:p>
            <a:fld id="{F5D8832E-42BB-44E8-8D92-A8404C7B069D}" type="slidenum">
              <a:rPr lang="en-GB" smtClean="0"/>
              <a:t>15</a:t>
            </a:fld>
            <a:endParaRPr lang="en-GB"/>
          </a:p>
        </p:txBody>
      </p:sp>
    </p:spTree>
    <p:extLst>
      <p:ext uri="{BB962C8B-B14F-4D97-AF65-F5344CB8AC3E}">
        <p14:creationId xmlns:p14="http://schemas.microsoft.com/office/powerpoint/2010/main" val="81487247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883E4A-B6D5-46B1-2A73-1EDFDD133F5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0544979-6ABF-97DE-389D-53D234D3FE7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D1636CE-29ED-D0B9-69C5-785AA39B6714}"/>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endParaRPr lang="en-GB" sz="1200" i="0" dirty="0">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AAB33964-1406-477E-5C63-F63CC1365798}"/>
              </a:ext>
            </a:extLst>
          </p:cNvPr>
          <p:cNvSpPr>
            <a:spLocks noGrp="1"/>
          </p:cNvSpPr>
          <p:nvPr>
            <p:ph type="sldNum" sz="quarter" idx="5"/>
          </p:nvPr>
        </p:nvSpPr>
        <p:spPr/>
        <p:txBody>
          <a:bodyPr/>
          <a:lstStyle/>
          <a:p>
            <a:fld id="{F5D8832E-42BB-44E8-8D92-A8404C7B069D}" type="slidenum">
              <a:rPr lang="en-GB" smtClean="0"/>
              <a:t>16</a:t>
            </a:fld>
            <a:endParaRPr lang="en-GB"/>
          </a:p>
        </p:txBody>
      </p:sp>
    </p:spTree>
    <p:extLst>
      <p:ext uri="{BB962C8B-B14F-4D97-AF65-F5344CB8AC3E}">
        <p14:creationId xmlns:p14="http://schemas.microsoft.com/office/powerpoint/2010/main" val="106905103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0F8334-7FC4-75FF-D968-7BE575C558C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0A38478-70F3-AA04-2D7E-F5877A30BCF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FE4D347-FB65-4F94-DD3F-1AF93CACAE21}"/>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endParaRPr lang="en-GB" sz="1200" i="0" dirty="0">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C61BD56C-815F-AAB9-663B-8F10C02BB0E8}"/>
              </a:ext>
            </a:extLst>
          </p:cNvPr>
          <p:cNvSpPr>
            <a:spLocks noGrp="1"/>
          </p:cNvSpPr>
          <p:nvPr>
            <p:ph type="sldNum" sz="quarter" idx="5"/>
          </p:nvPr>
        </p:nvSpPr>
        <p:spPr/>
        <p:txBody>
          <a:bodyPr/>
          <a:lstStyle/>
          <a:p>
            <a:fld id="{F5D8832E-42BB-44E8-8D92-A8404C7B069D}" type="slidenum">
              <a:rPr lang="en-GB" smtClean="0"/>
              <a:t>17</a:t>
            </a:fld>
            <a:endParaRPr lang="en-GB"/>
          </a:p>
        </p:txBody>
      </p:sp>
    </p:spTree>
    <p:extLst>
      <p:ext uri="{BB962C8B-B14F-4D97-AF65-F5344CB8AC3E}">
        <p14:creationId xmlns:p14="http://schemas.microsoft.com/office/powerpoint/2010/main" val="368627297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C5F465-D42C-8DFA-DA18-D3998BB026C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5F973A6-97DD-E1A4-67CE-ED784BF889A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28E92D4-49C3-B45F-A386-8F843F6789B6}"/>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endParaRPr lang="en-GB" sz="1200" i="0" dirty="0">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53EDC3BB-D660-AB7D-A93C-8FF28F460710}"/>
              </a:ext>
            </a:extLst>
          </p:cNvPr>
          <p:cNvSpPr>
            <a:spLocks noGrp="1"/>
          </p:cNvSpPr>
          <p:nvPr>
            <p:ph type="sldNum" sz="quarter" idx="5"/>
          </p:nvPr>
        </p:nvSpPr>
        <p:spPr/>
        <p:txBody>
          <a:bodyPr/>
          <a:lstStyle/>
          <a:p>
            <a:fld id="{F5D8832E-42BB-44E8-8D92-A8404C7B069D}" type="slidenum">
              <a:rPr lang="en-GB" smtClean="0"/>
              <a:t>18</a:t>
            </a:fld>
            <a:endParaRPr lang="en-GB"/>
          </a:p>
        </p:txBody>
      </p:sp>
    </p:spTree>
    <p:extLst>
      <p:ext uri="{BB962C8B-B14F-4D97-AF65-F5344CB8AC3E}">
        <p14:creationId xmlns:p14="http://schemas.microsoft.com/office/powerpoint/2010/main" val="73640680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D1A210-E0EF-E386-F810-8CB3360874F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034A7D7-516C-006D-14C6-77FB28CBE31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27793E3-C5C2-F07E-843E-B0CD6468A4E0}"/>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endParaRPr lang="en-GB" sz="1200" i="0" dirty="0">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53EF4252-3926-E230-0064-C95146262785}"/>
              </a:ext>
            </a:extLst>
          </p:cNvPr>
          <p:cNvSpPr>
            <a:spLocks noGrp="1"/>
          </p:cNvSpPr>
          <p:nvPr>
            <p:ph type="sldNum" sz="quarter" idx="5"/>
          </p:nvPr>
        </p:nvSpPr>
        <p:spPr/>
        <p:txBody>
          <a:bodyPr/>
          <a:lstStyle/>
          <a:p>
            <a:fld id="{F5D8832E-42BB-44E8-8D92-A8404C7B069D}" type="slidenum">
              <a:rPr lang="en-GB" smtClean="0"/>
              <a:t>19</a:t>
            </a:fld>
            <a:endParaRPr lang="en-GB"/>
          </a:p>
        </p:txBody>
      </p:sp>
    </p:spTree>
    <p:extLst>
      <p:ext uri="{BB962C8B-B14F-4D97-AF65-F5344CB8AC3E}">
        <p14:creationId xmlns:p14="http://schemas.microsoft.com/office/powerpoint/2010/main" val="100703000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dirty="0"/>
          </a:p>
        </p:txBody>
      </p:sp>
      <p:sp>
        <p:nvSpPr>
          <p:cNvPr id="4" name="Slide Number Placeholder 3"/>
          <p:cNvSpPr>
            <a:spLocks noGrp="1"/>
          </p:cNvSpPr>
          <p:nvPr>
            <p:ph type="sldNum" sz="quarter" idx="10"/>
          </p:nvPr>
        </p:nvSpPr>
        <p:spPr/>
        <p:txBody>
          <a:bodyPr/>
          <a:lstStyle/>
          <a:p>
            <a:fld id="{74081A41-DD35-4672-8B86-B930A877D763}" type="slidenum">
              <a:rPr lang="en-CA" smtClean="0"/>
              <a:t>20</a:t>
            </a:fld>
            <a:endParaRPr lang="en-CA" dirty="0"/>
          </a:p>
        </p:txBody>
      </p:sp>
    </p:spTree>
    <p:extLst>
      <p:ext uri="{BB962C8B-B14F-4D97-AF65-F5344CB8AC3E}">
        <p14:creationId xmlns:p14="http://schemas.microsoft.com/office/powerpoint/2010/main" val="353290365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14EEC3-B009-139F-6F77-EADEA8A2B0D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C786EEC-440C-027B-51EE-BE1FC6B37C1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BC610A0-07C0-BD5E-85F2-58BBAD154364}"/>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endParaRPr lang="en-GB" sz="1200" i="0" dirty="0">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97BB3006-88B3-99D0-13C7-4957322D90EB}"/>
              </a:ext>
            </a:extLst>
          </p:cNvPr>
          <p:cNvSpPr>
            <a:spLocks noGrp="1"/>
          </p:cNvSpPr>
          <p:nvPr>
            <p:ph type="sldNum" sz="quarter" idx="5"/>
          </p:nvPr>
        </p:nvSpPr>
        <p:spPr/>
        <p:txBody>
          <a:bodyPr/>
          <a:lstStyle/>
          <a:p>
            <a:fld id="{F5D8832E-42BB-44E8-8D92-A8404C7B069D}" type="slidenum">
              <a:rPr lang="en-GB" smtClean="0"/>
              <a:t>24</a:t>
            </a:fld>
            <a:endParaRPr lang="en-GB"/>
          </a:p>
        </p:txBody>
      </p:sp>
    </p:spTree>
    <p:extLst>
      <p:ext uri="{BB962C8B-B14F-4D97-AF65-F5344CB8AC3E}">
        <p14:creationId xmlns:p14="http://schemas.microsoft.com/office/powerpoint/2010/main" val="82132786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endParaRPr lang="en-GB" sz="1200" i="0" dirty="0">
              <a:latin typeface="Arial" panose="020B0604020202020204" pitchFamily="34" charset="0"/>
              <a:cs typeface="Arial" panose="020B0604020202020204" pitchFamily="34" charset="0"/>
            </a:endParaRPr>
          </a:p>
        </p:txBody>
      </p:sp>
      <p:sp>
        <p:nvSpPr>
          <p:cNvPr id="4" name="Slide Number Placeholder 3"/>
          <p:cNvSpPr>
            <a:spLocks noGrp="1"/>
          </p:cNvSpPr>
          <p:nvPr>
            <p:ph type="sldNum" sz="quarter" idx="5"/>
          </p:nvPr>
        </p:nvSpPr>
        <p:spPr/>
        <p:txBody>
          <a:bodyPr/>
          <a:lstStyle/>
          <a:p>
            <a:fld id="{F5D8832E-42BB-44E8-8D92-A8404C7B069D}" type="slidenum">
              <a:rPr lang="en-GB" smtClean="0"/>
              <a:t>27</a:t>
            </a:fld>
            <a:endParaRPr lang="en-GB"/>
          </a:p>
        </p:txBody>
      </p:sp>
    </p:spTree>
    <p:extLst>
      <p:ext uri="{BB962C8B-B14F-4D97-AF65-F5344CB8AC3E}">
        <p14:creationId xmlns:p14="http://schemas.microsoft.com/office/powerpoint/2010/main" val="182562545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8"/>
            <a:ext cx="10972800" cy="1143000"/>
          </a:xfrm>
          <a:prstGeom prst="rect">
            <a:avLst/>
          </a:prstGeom>
        </p:spPr>
        <p:txBody>
          <a:bodyPr/>
          <a:lstStyle/>
          <a:p>
            <a:r>
              <a:rPr lang="en-US"/>
              <a:t>Click to edit Master title style</a:t>
            </a:r>
          </a:p>
        </p:txBody>
      </p:sp>
      <p:sp>
        <p:nvSpPr>
          <p:cNvPr id="3" name="Content Placeholder 2"/>
          <p:cNvSpPr>
            <a:spLocks noGrp="1"/>
          </p:cNvSpPr>
          <p:nvPr>
            <p:ph idx="1"/>
          </p:nvPr>
        </p:nvSpPr>
        <p:spPr>
          <a:xfrm>
            <a:off x="609600" y="1600201"/>
            <a:ext cx="10972800" cy="4525963"/>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Slide Number Placeholder 5"/>
          <p:cNvSpPr>
            <a:spLocks noGrp="1"/>
          </p:cNvSpPr>
          <p:nvPr>
            <p:ph type="sldNum" sz="quarter" idx="12"/>
          </p:nvPr>
        </p:nvSpPr>
        <p:spPr/>
        <p:txBody>
          <a:bodyPr/>
          <a:lstStyle/>
          <a:p>
            <a:fld id="{9259AF2F-52C6-9B46-B8B2-0579234AE62E}" type="slidenum">
              <a:rPr lang="en-US" smtClean="0"/>
              <a:t>‹#›</a:t>
            </a:fld>
            <a:endParaRPr lang="en-US"/>
          </a:p>
        </p:txBody>
      </p:sp>
    </p:spTree>
    <p:extLst>
      <p:ext uri="{BB962C8B-B14F-4D97-AF65-F5344CB8AC3E}">
        <p14:creationId xmlns:p14="http://schemas.microsoft.com/office/powerpoint/2010/main" val="299423445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1"/>
            <a:ext cx="10363200" cy="1362075"/>
          </a:xfrm>
          <a:prstGeom prst="rect">
            <a:avLst/>
          </a:prstGeo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963084" y="2906713"/>
            <a:ext cx="10363200" cy="1500187"/>
          </a:xfrm>
          <a:prstGeom prst="rect">
            <a:avLst/>
          </a:prstGeo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6" name="Slide Number Placeholder 5"/>
          <p:cNvSpPr>
            <a:spLocks noGrp="1"/>
          </p:cNvSpPr>
          <p:nvPr>
            <p:ph type="sldNum" sz="quarter" idx="12"/>
          </p:nvPr>
        </p:nvSpPr>
        <p:spPr/>
        <p:txBody>
          <a:bodyPr/>
          <a:lstStyle/>
          <a:p>
            <a:fld id="{9259AF2F-52C6-9B46-B8B2-0579234AE62E}" type="slidenum">
              <a:rPr lang="en-US" smtClean="0"/>
              <a:t>‹#›</a:t>
            </a:fld>
            <a:endParaRPr lang="en-US"/>
          </a:p>
        </p:txBody>
      </p:sp>
    </p:spTree>
    <p:extLst>
      <p:ext uri="{BB962C8B-B14F-4D97-AF65-F5344CB8AC3E}">
        <p14:creationId xmlns:p14="http://schemas.microsoft.com/office/powerpoint/2010/main" val="400398735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8"/>
            <a:ext cx="10972800" cy="1143000"/>
          </a:xfrm>
          <a:prstGeom prst="rect">
            <a:avLst/>
          </a:prstGeom>
        </p:spPr>
        <p:txBody>
          <a:bodyPr/>
          <a:lstStyle/>
          <a:p>
            <a:r>
              <a:rPr lang="en-US"/>
              <a:t>Click to edit Master title style</a:t>
            </a:r>
          </a:p>
        </p:txBody>
      </p:sp>
      <p:sp>
        <p:nvSpPr>
          <p:cNvPr id="3" name="Content Placeholder 2"/>
          <p:cNvSpPr>
            <a:spLocks noGrp="1"/>
          </p:cNvSpPr>
          <p:nvPr>
            <p:ph sz="half" idx="1"/>
          </p:nvPr>
        </p:nvSpPr>
        <p:spPr>
          <a:xfrm>
            <a:off x="609600" y="1600201"/>
            <a:ext cx="53848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7600" y="1600201"/>
            <a:ext cx="53848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Slide Number Placeholder 6"/>
          <p:cNvSpPr>
            <a:spLocks noGrp="1"/>
          </p:cNvSpPr>
          <p:nvPr>
            <p:ph type="sldNum" sz="quarter" idx="12"/>
          </p:nvPr>
        </p:nvSpPr>
        <p:spPr/>
        <p:txBody>
          <a:bodyPr/>
          <a:lstStyle/>
          <a:p>
            <a:fld id="{9259AF2F-52C6-9B46-B8B2-0579234AE62E}" type="slidenum">
              <a:rPr lang="en-US" smtClean="0"/>
              <a:t>‹#›</a:t>
            </a:fld>
            <a:endParaRPr lang="en-US"/>
          </a:p>
        </p:txBody>
      </p:sp>
    </p:spTree>
    <p:extLst>
      <p:ext uri="{BB962C8B-B14F-4D97-AF65-F5344CB8AC3E}">
        <p14:creationId xmlns:p14="http://schemas.microsoft.com/office/powerpoint/2010/main" val="370718715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8"/>
            <a:ext cx="10972800" cy="1143000"/>
          </a:xfrm>
          <a:prstGeom prst="rect">
            <a:avLst/>
          </a:prstGeo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609600" y="1535113"/>
            <a:ext cx="5386917"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2174875"/>
            <a:ext cx="5386917"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93368" y="1535113"/>
            <a:ext cx="5389033"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3368" y="2174875"/>
            <a:ext cx="5389033"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Slide Number Placeholder 8"/>
          <p:cNvSpPr>
            <a:spLocks noGrp="1"/>
          </p:cNvSpPr>
          <p:nvPr>
            <p:ph type="sldNum" sz="quarter" idx="12"/>
          </p:nvPr>
        </p:nvSpPr>
        <p:spPr/>
        <p:txBody>
          <a:bodyPr/>
          <a:lstStyle/>
          <a:p>
            <a:fld id="{9259AF2F-52C6-9B46-B8B2-0579234AE62E}" type="slidenum">
              <a:rPr lang="en-US" smtClean="0"/>
              <a:t>‹#›</a:t>
            </a:fld>
            <a:endParaRPr lang="en-US"/>
          </a:p>
        </p:txBody>
      </p:sp>
    </p:spTree>
    <p:extLst>
      <p:ext uri="{BB962C8B-B14F-4D97-AF65-F5344CB8AC3E}">
        <p14:creationId xmlns:p14="http://schemas.microsoft.com/office/powerpoint/2010/main" val="375616074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8"/>
            <a:ext cx="10972800" cy="1143000"/>
          </a:xfrm>
          <a:prstGeom prst="rect">
            <a:avLst/>
          </a:prstGeom>
        </p:spPr>
        <p:txBody>
          <a:bodyPr/>
          <a:lstStyle/>
          <a:p>
            <a:r>
              <a:rPr lang="en-US"/>
              <a:t>Click to edit Master title style</a:t>
            </a:r>
          </a:p>
        </p:txBody>
      </p:sp>
      <p:sp>
        <p:nvSpPr>
          <p:cNvPr id="5" name="Slide Number Placeholder 4"/>
          <p:cNvSpPr>
            <a:spLocks noGrp="1"/>
          </p:cNvSpPr>
          <p:nvPr>
            <p:ph type="sldNum" sz="quarter" idx="12"/>
          </p:nvPr>
        </p:nvSpPr>
        <p:spPr/>
        <p:txBody>
          <a:bodyPr/>
          <a:lstStyle/>
          <a:p>
            <a:fld id="{9259AF2F-52C6-9B46-B8B2-0579234AE62E}" type="slidenum">
              <a:rPr lang="en-US" smtClean="0"/>
              <a:t>‹#›</a:t>
            </a:fld>
            <a:endParaRPr lang="en-US"/>
          </a:p>
        </p:txBody>
      </p:sp>
    </p:spTree>
    <p:extLst>
      <p:ext uri="{BB962C8B-B14F-4D97-AF65-F5344CB8AC3E}">
        <p14:creationId xmlns:p14="http://schemas.microsoft.com/office/powerpoint/2010/main" val="150577766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976234-1E8D-5144-AE8B-C6949DF3D173}"/>
              </a:ext>
            </a:extLst>
          </p:cNvPr>
          <p:cNvSpPr>
            <a:spLocks noGrp="1"/>
          </p:cNvSpPr>
          <p:nvPr>
            <p:ph type="title"/>
          </p:nvPr>
        </p:nvSpPr>
        <p:spPr>
          <a:xfrm>
            <a:off x="609600" y="274638"/>
            <a:ext cx="10972800" cy="1143000"/>
          </a:xfrm>
          <a:prstGeom prst="rect">
            <a:avLst/>
          </a:prstGeom>
        </p:spPr>
        <p:txBody>
          <a:bodyPr/>
          <a:lstStyle/>
          <a:p>
            <a:r>
              <a:rPr lang="en-US"/>
              <a:t>Click to edit Master title style</a:t>
            </a:r>
            <a:endParaRPr lang="en-CH"/>
          </a:p>
        </p:txBody>
      </p:sp>
      <p:sp>
        <p:nvSpPr>
          <p:cNvPr id="3" name="Slide Number Placeholder 2">
            <a:extLst>
              <a:ext uri="{FF2B5EF4-FFF2-40B4-BE49-F238E27FC236}">
                <a16:creationId xmlns:a16="http://schemas.microsoft.com/office/drawing/2014/main" id="{1BA2F6C6-939D-C949-96E0-93D82AC99527}"/>
              </a:ext>
            </a:extLst>
          </p:cNvPr>
          <p:cNvSpPr>
            <a:spLocks noGrp="1"/>
          </p:cNvSpPr>
          <p:nvPr>
            <p:ph type="sldNum" sz="quarter" idx="10"/>
          </p:nvPr>
        </p:nvSpPr>
        <p:spPr/>
        <p:txBody>
          <a:bodyPr/>
          <a:lstStyle/>
          <a:p>
            <a:fld id="{9259AF2F-52C6-9B46-B8B2-0579234AE62E}" type="slidenum">
              <a:rPr lang="en-US" smtClean="0"/>
              <a:t>‹#›</a:t>
            </a:fld>
            <a:endParaRPr lang="en-US"/>
          </a:p>
        </p:txBody>
      </p:sp>
    </p:spTree>
    <p:extLst>
      <p:ext uri="{BB962C8B-B14F-4D97-AF65-F5344CB8AC3E}">
        <p14:creationId xmlns:p14="http://schemas.microsoft.com/office/powerpoint/2010/main" val="137375176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9259AF2F-52C6-9B46-B8B2-0579234AE62E}" type="slidenum">
              <a:rPr lang="en-US" smtClean="0"/>
              <a:t>‹#›</a:t>
            </a:fld>
            <a:endParaRPr lang="en-US"/>
          </a:p>
        </p:txBody>
      </p:sp>
    </p:spTree>
    <p:extLst>
      <p:ext uri="{BB962C8B-B14F-4D97-AF65-F5344CB8AC3E}">
        <p14:creationId xmlns:p14="http://schemas.microsoft.com/office/powerpoint/2010/main" val="162026154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1" y="273050"/>
            <a:ext cx="4011084" cy="1162050"/>
          </a:xfrm>
          <a:prstGeom prst="rect">
            <a:avLst/>
          </a:prstGeo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4766733" y="273051"/>
            <a:ext cx="6815667" cy="5853113"/>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09601" y="1435101"/>
            <a:ext cx="4011084" cy="4691063"/>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7" name="Slide Number Placeholder 6"/>
          <p:cNvSpPr>
            <a:spLocks noGrp="1"/>
          </p:cNvSpPr>
          <p:nvPr>
            <p:ph type="sldNum" sz="quarter" idx="12"/>
          </p:nvPr>
        </p:nvSpPr>
        <p:spPr/>
        <p:txBody>
          <a:bodyPr/>
          <a:lstStyle/>
          <a:p>
            <a:fld id="{9259AF2F-52C6-9B46-B8B2-0579234AE62E}" type="slidenum">
              <a:rPr lang="en-US" smtClean="0"/>
              <a:t>‹#›</a:t>
            </a:fld>
            <a:endParaRPr lang="en-US"/>
          </a:p>
        </p:txBody>
      </p:sp>
    </p:spTree>
    <p:extLst>
      <p:ext uri="{BB962C8B-B14F-4D97-AF65-F5344CB8AC3E}">
        <p14:creationId xmlns:p14="http://schemas.microsoft.com/office/powerpoint/2010/main" val="146094595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a:prstGeom prst="rect">
            <a:avLst/>
          </a:prstGeo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2389717" y="612775"/>
            <a:ext cx="7315200" cy="4114800"/>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p:cNvSpPr>
            <a:spLocks noGrp="1"/>
          </p:cNvSpPr>
          <p:nvPr>
            <p:ph type="body" sz="half" idx="2"/>
          </p:nvPr>
        </p:nvSpPr>
        <p:spPr>
          <a:xfrm>
            <a:off x="2389717" y="5367338"/>
            <a:ext cx="7315200" cy="804862"/>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7" name="Slide Number Placeholder 6"/>
          <p:cNvSpPr>
            <a:spLocks noGrp="1"/>
          </p:cNvSpPr>
          <p:nvPr>
            <p:ph type="sldNum" sz="quarter" idx="12"/>
          </p:nvPr>
        </p:nvSpPr>
        <p:spPr/>
        <p:txBody>
          <a:bodyPr/>
          <a:lstStyle/>
          <a:p>
            <a:fld id="{9259AF2F-52C6-9B46-B8B2-0579234AE62E}" type="slidenum">
              <a:rPr lang="en-US" smtClean="0"/>
              <a:t>‹#›</a:t>
            </a:fld>
            <a:endParaRPr lang="en-US" dirty="0"/>
          </a:p>
        </p:txBody>
      </p:sp>
    </p:spTree>
    <p:extLst>
      <p:ext uri="{BB962C8B-B14F-4D97-AF65-F5344CB8AC3E}">
        <p14:creationId xmlns:p14="http://schemas.microsoft.com/office/powerpoint/2010/main" val="266410085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1_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976234-1E8D-5144-AE8B-C6949DF3D173}"/>
              </a:ext>
            </a:extLst>
          </p:cNvPr>
          <p:cNvSpPr>
            <a:spLocks noGrp="1"/>
          </p:cNvSpPr>
          <p:nvPr>
            <p:ph type="title"/>
          </p:nvPr>
        </p:nvSpPr>
        <p:spPr>
          <a:xfrm>
            <a:off x="609600" y="274638"/>
            <a:ext cx="10972800" cy="1143000"/>
          </a:xfrm>
          <a:prstGeom prst="rect">
            <a:avLst/>
          </a:prstGeom>
        </p:spPr>
        <p:txBody>
          <a:bodyPr/>
          <a:lstStyle/>
          <a:p>
            <a:r>
              <a:rPr lang="en-US"/>
              <a:t>Click to edit Master title style</a:t>
            </a:r>
            <a:endParaRPr lang="en-CH"/>
          </a:p>
        </p:txBody>
      </p:sp>
      <p:sp>
        <p:nvSpPr>
          <p:cNvPr id="3" name="Slide Number Placeholder 2">
            <a:extLst>
              <a:ext uri="{FF2B5EF4-FFF2-40B4-BE49-F238E27FC236}">
                <a16:creationId xmlns:a16="http://schemas.microsoft.com/office/drawing/2014/main" id="{1BA2F6C6-939D-C949-96E0-93D82AC99527}"/>
              </a:ext>
            </a:extLst>
          </p:cNvPr>
          <p:cNvSpPr>
            <a:spLocks noGrp="1"/>
          </p:cNvSpPr>
          <p:nvPr>
            <p:ph type="sldNum" sz="quarter" idx="10"/>
          </p:nvPr>
        </p:nvSpPr>
        <p:spPr/>
        <p:txBody>
          <a:bodyPr/>
          <a:lstStyle/>
          <a:p>
            <a:fld id="{9259AF2F-52C6-9B46-B8B2-0579234AE62E}" type="slidenum">
              <a:rPr lang="en-US" smtClean="0"/>
              <a:t>‹#›</a:t>
            </a:fld>
            <a:endParaRPr lang="en-US"/>
          </a:p>
        </p:txBody>
      </p:sp>
    </p:spTree>
    <p:extLst>
      <p:ext uri="{BB962C8B-B14F-4D97-AF65-F5344CB8AC3E}">
        <p14:creationId xmlns:p14="http://schemas.microsoft.com/office/powerpoint/2010/main" val="37722872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Cover/Title Slide">
    <p:spTree>
      <p:nvGrpSpPr>
        <p:cNvPr id="1" name=""/>
        <p:cNvGrpSpPr/>
        <p:nvPr/>
      </p:nvGrpSpPr>
      <p:grpSpPr>
        <a:xfrm>
          <a:off x="0" y="0"/>
          <a:ext cx="0" cy="0"/>
          <a:chOff x="0" y="0"/>
          <a:chExt cx="0" cy="0"/>
        </a:xfrm>
      </p:grpSpPr>
      <p:sp>
        <p:nvSpPr>
          <p:cNvPr id="4" name="Title Placeholder 1">
            <a:extLst>
              <a:ext uri="{FF2B5EF4-FFF2-40B4-BE49-F238E27FC236}">
                <a16:creationId xmlns:a16="http://schemas.microsoft.com/office/drawing/2014/main" id="{1B796776-E13E-EE70-1024-61D0E54893B0}"/>
              </a:ext>
            </a:extLst>
          </p:cNvPr>
          <p:cNvSpPr>
            <a:spLocks noGrp="1"/>
          </p:cNvSpPr>
          <p:nvPr>
            <p:ph type="title"/>
          </p:nvPr>
        </p:nvSpPr>
        <p:spPr>
          <a:xfrm>
            <a:off x="838200" y="755543"/>
            <a:ext cx="10515600" cy="1325563"/>
          </a:xfrm>
          <a:prstGeom prst="rect">
            <a:avLst/>
          </a:prstGeom>
        </p:spPr>
        <p:txBody>
          <a:bodyPr vert="horz" lIns="91440" tIns="45720" rIns="91440" bIns="45720" rtlCol="0" anchor="ctr">
            <a:normAutofit/>
          </a:bodyPr>
          <a:lstStyle>
            <a:lvl1pPr>
              <a:defRPr b="1">
                <a:solidFill>
                  <a:schemeClr val="bg1"/>
                </a:solidFill>
              </a:defRPr>
            </a:lvl1pPr>
          </a:lstStyle>
          <a:p>
            <a:r>
              <a:rPr lang="en-GB" dirty="0"/>
              <a:t>Cover – Insert title</a:t>
            </a:r>
            <a:endParaRPr lang="en-FR" dirty="0"/>
          </a:p>
        </p:txBody>
      </p:sp>
      <p:sp>
        <p:nvSpPr>
          <p:cNvPr id="5" name="Text Placeholder 2">
            <a:extLst>
              <a:ext uri="{FF2B5EF4-FFF2-40B4-BE49-F238E27FC236}">
                <a16:creationId xmlns:a16="http://schemas.microsoft.com/office/drawing/2014/main" id="{93A33BDE-5827-B978-8782-68D8565EB7BF}"/>
              </a:ext>
            </a:extLst>
          </p:cNvPr>
          <p:cNvSpPr>
            <a:spLocks noGrp="1"/>
          </p:cNvSpPr>
          <p:nvPr>
            <p:ph idx="1"/>
          </p:nvPr>
        </p:nvSpPr>
        <p:spPr>
          <a:xfrm>
            <a:off x="838200" y="2216043"/>
            <a:ext cx="10515600" cy="4351338"/>
          </a:xfrm>
          <a:prstGeom prst="rect">
            <a:avLst/>
          </a:prstGeom>
        </p:spPr>
        <p:txBody>
          <a:bodyPr vert="horz" lIns="91440" tIns="45720" rIns="91440" bIns="45720" rtlCol="0">
            <a:normAutofit/>
          </a:bodyPr>
          <a:lstStyle>
            <a:lvl1pPr algn="ctr">
              <a:defRPr sz="2800">
                <a:solidFill>
                  <a:schemeClr val="bg1"/>
                </a:solidFill>
              </a:defRPr>
            </a:lvl1pPr>
            <a:lvl2pPr algn="ctr">
              <a:defRPr sz="2800">
                <a:solidFill>
                  <a:schemeClr val="bg1"/>
                </a:solidFill>
              </a:defRPr>
            </a:lvl2pPr>
          </a:lstStyle>
          <a:p>
            <a:pPr lvl="0"/>
            <a:r>
              <a:rPr lang="en-GB" dirty="0"/>
              <a:t>Click to edit Master text styles</a:t>
            </a:r>
          </a:p>
          <a:p>
            <a:pPr lvl="1"/>
            <a:r>
              <a:rPr lang="en-GB" dirty="0"/>
              <a:t>Second level</a:t>
            </a:r>
          </a:p>
        </p:txBody>
      </p:sp>
    </p:spTree>
    <p:extLst>
      <p:ext uri="{BB962C8B-B14F-4D97-AF65-F5344CB8AC3E}">
        <p14:creationId xmlns:p14="http://schemas.microsoft.com/office/powerpoint/2010/main" val="293127094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Content Slide">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773637AC-ADC8-93B9-85DF-F33A355184CA}"/>
              </a:ext>
            </a:extLst>
          </p:cNvPr>
          <p:cNvSpPr>
            <a:spLocks noGrp="1"/>
          </p:cNvSpPr>
          <p:nvPr>
            <p:ph type="ctrTitle" hasCustomPrompt="1"/>
          </p:nvPr>
        </p:nvSpPr>
        <p:spPr>
          <a:xfrm>
            <a:off x="1524000" y="1122363"/>
            <a:ext cx="9144000" cy="685172"/>
          </a:xfrm>
          <a:prstGeom prst="rect">
            <a:avLst/>
          </a:prstGeom>
        </p:spPr>
        <p:txBody>
          <a:bodyPr anchor="b">
            <a:noAutofit/>
          </a:bodyPr>
          <a:lstStyle>
            <a:lvl1pPr algn="l">
              <a:defRPr sz="4400" b="1">
                <a:solidFill>
                  <a:schemeClr val="bg1"/>
                </a:solidFill>
              </a:defRPr>
            </a:lvl1pPr>
          </a:lstStyle>
          <a:p>
            <a:r>
              <a:rPr lang="en-GB" dirty="0"/>
              <a:t>Content</a:t>
            </a:r>
            <a:endParaRPr lang="en-FR" dirty="0"/>
          </a:p>
        </p:txBody>
      </p:sp>
      <p:sp>
        <p:nvSpPr>
          <p:cNvPr id="5" name="Subtitle 2">
            <a:extLst>
              <a:ext uri="{FF2B5EF4-FFF2-40B4-BE49-F238E27FC236}">
                <a16:creationId xmlns:a16="http://schemas.microsoft.com/office/drawing/2014/main" id="{7BA7D7FA-A6C1-15E9-248F-222403659FBB}"/>
              </a:ext>
            </a:extLst>
          </p:cNvPr>
          <p:cNvSpPr>
            <a:spLocks noGrp="1"/>
          </p:cNvSpPr>
          <p:nvPr>
            <p:ph type="subTitle" idx="1"/>
          </p:nvPr>
        </p:nvSpPr>
        <p:spPr>
          <a:xfrm>
            <a:off x="1524000" y="2041451"/>
            <a:ext cx="9144000" cy="3226981"/>
          </a:xfrm>
          <a:prstGeom prst="rect">
            <a:avLst/>
          </a:prstGeom>
        </p:spPr>
        <p:txBody>
          <a:bodyPr/>
          <a:lstStyle>
            <a:lvl1pPr marL="0" indent="0" algn="l">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endParaRPr lang="en-GB" dirty="0"/>
          </a:p>
        </p:txBody>
      </p:sp>
    </p:spTree>
    <p:extLst>
      <p:ext uri="{BB962C8B-B14F-4D97-AF65-F5344CB8AC3E}">
        <p14:creationId xmlns:p14="http://schemas.microsoft.com/office/powerpoint/2010/main" val="89400419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ext with bullet points slide">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03590D3C-988E-2567-60EB-0A4602CD3C1B}"/>
              </a:ext>
            </a:extLst>
          </p:cNvPr>
          <p:cNvSpPr>
            <a:spLocks noGrp="1"/>
          </p:cNvSpPr>
          <p:nvPr>
            <p:ph type="title" hasCustomPrompt="1"/>
          </p:nvPr>
        </p:nvSpPr>
        <p:spPr>
          <a:xfrm>
            <a:off x="838200" y="660902"/>
            <a:ext cx="10515600" cy="1325563"/>
          </a:xfrm>
          <a:prstGeom prst="rect">
            <a:avLst/>
          </a:prstGeom>
        </p:spPr>
        <p:txBody>
          <a:bodyPr/>
          <a:lstStyle>
            <a:lvl1pPr algn="l">
              <a:defRPr b="1"/>
            </a:lvl1pPr>
          </a:lstStyle>
          <a:p>
            <a:r>
              <a:rPr lang="en-GB" dirty="0"/>
              <a:t>Lorem Ipsum</a:t>
            </a:r>
            <a:endParaRPr lang="en-FR" dirty="0"/>
          </a:p>
        </p:txBody>
      </p:sp>
      <p:sp>
        <p:nvSpPr>
          <p:cNvPr id="9" name="Text Placeholder 2">
            <a:extLst>
              <a:ext uri="{FF2B5EF4-FFF2-40B4-BE49-F238E27FC236}">
                <a16:creationId xmlns:a16="http://schemas.microsoft.com/office/drawing/2014/main" id="{40E4EEFA-0995-9CCD-6D7F-70B9EBD45C0E}"/>
              </a:ext>
            </a:extLst>
          </p:cNvPr>
          <p:cNvSpPr>
            <a:spLocks noGrp="1"/>
          </p:cNvSpPr>
          <p:nvPr>
            <p:ph type="body" idx="1"/>
          </p:nvPr>
        </p:nvSpPr>
        <p:spPr>
          <a:xfrm>
            <a:off x="838200" y="2195584"/>
            <a:ext cx="10515600" cy="1500187"/>
          </a:xfrm>
          <a:prstGeom prst="rect">
            <a:avLst/>
          </a:prstGeom>
        </p:spPr>
        <p:txBody>
          <a:bodyPr/>
          <a:lstStyle>
            <a:lvl1pPr marL="0" indent="0" algn="l">
              <a:buNone/>
              <a:defRPr sz="2200">
                <a:solidFill>
                  <a:schemeClr val="bg1"/>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GB" dirty="0"/>
              <a:t>Click to edit Master text styles</a:t>
            </a:r>
          </a:p>
        </p:txBody>
      </p:sp>
    </p:spTree>
    <p:extLst>
      <p:ext uri="{BB962C8B-B14F-4D97-AF65-F5344CB8AC3E}">
        <p14:creationId xmlns:p14="http://schemas.microsoft.com/office/powerpoint/2010/main" val="100095484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Scientific Slide with Graph/Image">
    <p:spTree>
      <p:nvGrpSpPr>
        <p:cNvPr id="1" name=""/>
        <p:cNvGrpSpPr/>
        <p:nvPr/>
      </p:nvGrpSpPr>
      <p:grpSpPr>
        <a:xfrm>
          <a:off x="0" y="0"/>
          <a:ext cx="0" cy="0"/>
          <a:chOff x="0" y="0"/>
          <a:chExt cx="0" cy="0"/>
        </a:xfrm>
      </p:grpSpPr>
      <p:sp>
        <p:nvSpPr>
          <p:cNvPr id="8" name="Picture Placeholder 2">
            <a:extLst>
              <a:ext uri="{FF2B5EF4-FFF2-40B4-BE49-F238E27FC236}">
                <a16:creationId xmlns:a16="http://schemas.microsoft.com/office/drawing/2014/main" id="{BCD4D1A9-9F6B-C561-7AC4-05C86FF1A42B}"/>
              </a:ext>
            </a:extLst>
          </p:cNvPr>
          <p:cNvSpPr>
            <a:spLocks noGrp="1"/>
          </p:cNvSpPr>
          <p:nvPr>
            <p:ph type="pic" idx="1"/>
          </p:nvPr>
        </p:nvSpPr>
        <p:spPr>
          <a:xfrm>
            <a:off x="6250112" y="1059400"/>
            <a:ext cx="5664915" cy="4560994"/>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FR"/>
          </a:p>
        </p:txBody>
      </p:sp>
      <p:sp>
        <p:nvSpPr>
          <p:cNvPr id="9" name="Text Placeholder 2">
            <a:extLst>
              <a:ext uri="{FF2B5EF4-FFF2-40B4-BE49-F238E27FC236}">
                <a16:creationId xmlns:a16="http://schemas.microsoft.com/office/drawing/2014/main" id="{F7FCF368-AB64-5FEB-A4ED-1837EE8E806B}"/>
              </a:ext>
            </a:extLst>
          </p:cNvPr>
          <p:cNvSpPr>
            <a:spLocks noGrp="1"/>
          </p:cNvSpPr>
          <p:nvPr>
            <p:ph type="body" idx="10"/>
          </p:nvPr>
        </p:nvSpPr>
        <p:spPr>
          <a:xfrm>
            <a:off x="585197" y="1460093"/>
            <a:ext cx="5240250" cy="835650"/>
          </a:xfrm>
          <a:prstGeom prst="rect">
            <a:avLst/>
          </a:prstGeom>
        </p:spPr>
        <p:txBody>
          <a:bodyPr anchor="b">
            <a:noAutofit/>
          </a:bodyPr>
          <a:lstStyle>
            <a:lvl1pPr marL="0" indent="0">
              <a:buNone/>
              <a:defRPr sz="4400" b="1">
                <a:solidFill>
                  <a:schemeClr val="bg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dirty="0"/>
              <a:t>Click to edit Master text styles</a:t>
            </a:r>
          </a:p>
        </p:txBody>
      </p:sp>
      <p:sp>
        <p:nvSpPr>
          <p:cNvPr id="10" name="Content Placeholder 3">
            <a:extLst>
              <a:ext uri="{FF2B5EF4-FFF2-40B4-BE49-F238E27FC236}">
                <a16:creationId xmlns:a16="http://schemas.microsoft.com/office/drawing/2014/main" id="{633C1AC0-3A73-603A-A859-24A89A5E3991}"/>
              </a:ext>
            </a:extLst>
          </p:cNvPr>
          <p:cNvSpPr>
            <a:spLocks noGrp="1"/>
          </p:cNvSpPr>
          <p:nvPr>
            <p:ph sz="half" idx="2"/>
          </p:nvPr>
        </p:nvSpPr>
        <p:spPr>
          <a:xfrm>
            <a:off x="585197" y="2434976"/>
            <a:ext cx="5240250" cy="3185418"/>
          </a:xfrm>
          <a:prstGeom prst="rect">
            <a:avLst/>
          </a:prstGeom>
        </p:spPr>
        <p:txBody>
          <a:bodyPr/>
          <a:lstStyle>
            <a:lvl1pPr>
              <a:defRPr sz="2200"/>
            </a:lvl1pPr>
            <a:lvl2pPr>
              <a:defRPr sz="2200"/>
            </a:lvl2pPr>
            <a:lvl3pPr>
              <a:defRPr sz="2200"/>
            </a:lvl3pPr>
            <a:lvl4pPr>
              <a:defRPr sz="2200"/>
            </a:lvl4pPr>
            <a:lvl5pPr>
              <a:defRPr sz="2200"/>
            </a:lvl5pPr>
          </a:lstStyle>
          <a:p>
            <a:pPr lvl="0"/>
            <a:r>
              <a:rPr lang="en-GB" dirty="0"/>
              <a:t>Click to edit Master text styles</a:t>
            </a:r>
          </a:p>
        </p:txBody>
      </p:sp>
    </p:spTree>
    <p:extLst>
      <p:ext uri="{BB962C8B-B14F-4D97-AF65-F5344CB8AC3E}">
        <p14:creationId xmlns:p14="http://schemas.microsoft.com/office/powerpoint/2010/main" val="349781656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TxTwoObj" preserve="1">
  <p:cSld name="Comparison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2D452C-9105-195E-DD50-B85571BF7F99}"/>
              </a:ext>
            </a:extLst>
          </p:cNvPr>
          <p:cNvSpPr>
            <a:spLocks noGrp="1"/>
          </p:cNvSpPr>
          <p:nvPr>
            <p:ph type="title"/>
          </p:nvPr>
        </p:nvSpPr>
        <p:spPr>
          <a:xfrm>
            <a:off x="839788" y="365125"/>
            <a:ext cx="10515600" cy="1325563"/>
          </a:xfrm>
          <a:prstGeom prst="rect">
            <a:avLst/>
          </a:prstGeom>
        </p:spPr>
        <p:txBody>
          <a:bodyPr/>
          <a:lstStyle>
            <a:lvl1pPr>
              <a:defRPr b="1"/>
            </a:lvl1pPr>
          </a:lstStyle>
          <a:p>
            <a:r>
              <a:rPr lang="en-GB" dirty="0"/>
              <a:t>Click to edit Master title style</a:t>
            </a:r>
            <a:endParaRPr lang="en-FR" dirty="0"/>
          </a:p>
        </p:txBody>
      </p:sp>
      <p:sp>
        <p:nvSpPr>
          <p:cNvPr id="3" name="Text Placeholder 2">
            <a:extLst>
              <a:ext uri="{FF2B5EF4-FFF2-40B4-BE49-F238E27FC236}">
                <a16:creationId xmlns:a16="http://schemas.microsoft.com/office/drawing/2014/main" id="{327CA40B-4ECB-51F3-7BA4-D0C43996D651}"/>
              </a:ext>
            </a:extLst>
          </p:cNvPr>
          <p:cNvSpPr>
            <a:spLocks noGrp="1"/>
          </p:cNvSpPr>
          <p:nvPr>
            <p:ph type="body" idx="1"/>
          </p:nvPr>
        </p:nvSpPr>
        <p:spPr>
          <a:xfrm>
            <a:off x="839788" y="1681163"/>
            <a:ext cx="5157787" cy="823912"/>
          </a:xfrm>
          <a:prstGeom prst="rect">
            <a:avLst/>
          </a:prstGeom>
        </p:spPr>
        <p:txBody>
          <a:bodyPr anchor="b">
            <a:noAutofit/>
          </a:bodyPr>
          <a:lstStyle>
            <a:lvl1pPr marL="0" indent="0">
              <a:buNone/>
              <a:defRPr sz="28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dirty="0"/>
              <a:t>Click to edit Master text styles</a:t>
            </a:r>
          </a:p>
        </p:txBody>
      </p:sp>
      <p:sp>
        <p:nvSpPr>
          <p:cNvPr id="4" name="Content Placeholder 3">
            <a:extLst>
              <a:ext uri="{FF2B5EF4-FFF2-40B4-BE49-F238E27FC236}">
                <a16:creationId xmlns:a16="http://schemas.microsoft.com/office/drawing/2014/main" id="{F7BCB4D9-3A4B-1F8B-5219-5EE058F878CC}"/>
              </a:ext>
            </a:extLst>
          </p:cNvPr>
          <p:cNvSpPr>
            <a:spLocks noGrp="1"/>
          </p:cNvSpPr>
          <p:nvPr>
            <p:ph sz="half" idx="2"/>
          </p:nvPr>
        </p:nvSpPr>
        <p:spPr>
          <a:xfrm>
            <a:off x="839788" y="2505075"/>
            <a:ext cx="5157787" cy="3684588"/>
          </a:xfrm>
          <a:prstGeom prst="rect">
            <a:avLst/>
          </a:prstGeom>
        </p:spPr>
        <p:txBody>
          <a:bodyPr>
            <a:normAutofit/>
          </a:bodyPr>
          <a:lstStyle>
            <a:lvl1pPr marL="0" indent="0" algn="l">
              <a:buNone/>
              <a:defRPr sz="2200"/>
            </a:lvl1pPr>
            <a:lvl2pPr marL="457200" indent="0" algn="l">
              <a:buNone/>
              <a:defRPr sz="2200"/>
            </a:lvl2pPr>
            <a:lvl3pPr marL="914400" indent="0" algn="l">
              <a:buNone/>
              <a:defRPr sz="2200"/>
            </a:lvl3pPr>
            <a:lvl4pPr marL="1371600" indent="0" algn="l">
              <a:buNone/>
              <a:defRPr sz="2200"/>
            </a:lvl4pPr>
            <a:lvl5pPr marL="1828800" indent="0" algn="l">
              <a:buNone/>
              <a:defRPr sz="2200"/>
            </a:lvl5pPr>
          </a:lstStyle>
          <a:p>
            <a:pPr lvl="0"/>
            <a:r>
              <a:rPr lang="en-GB" dirty="0"/>
              <a:t>Click to edit Master text styles</a:t>
            </a:r>
          </a:p>
        </p:txBody>
      </p:sp>
      <p:sp>
        <p:nvSpPr>
          <p:cNvPr id="5" name="Text Placeholder 4">
            <a:extLst>
              <a:ext uri="{FF2B5EF4-FFF2-40B4-BE49-F238E27FC236}">
                <a16:creationId xmlns:a16="http://schemas.microsoft.com/office/drawing/2014/main" id="{65B03604-72C3-D5CE-C09C-E05C72BFC95E}"/>
              </a:ext>
            </a:extLst>
          </p:cNvPr>
          <p:cNvSpPr>
            <a:spLocks noGrp="1"/>
          </p:cNvSpPr>
          <p:nvPr>
            <p:ph type="body" sz="quarter" idx="3"/>
          </p:nvPr>
        </p:nvSpPr>
        <p:spPr>
          <a:xfrm>
            <a:off x="6172200" y="1681163"/>
            <a:ext cx="5183188" cy="823912"/>
          </a:xfrm>
          <a:prstGeom prst="rect">
            <a:avLst/>
          </a:prstGeom>
        </p:spPr>
        <p:txBody>
          <a:bodyPr anchor="b">
            <a:noAutofit/>
          </a:bodyPr>
          <a:lstStyle>
            <a:lvl1pPr marL="0" indent="0">
              <a:buNone/>
              <a:defRPr sz="28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dirty="0"/>
              <a:t>Click to edit Master text styles</a:t>
            </a:r>
          </a:p>
        </p:txBody>
      </p:sp>
      <p:sp>
        <p:nvSpPr>
          <p:cNvPr id="6" name="Content Placeholder 5">
            <a:extLst>
              <a:ext uri="{FF2B5EF4-FFF2-40B4-BE49-F238E27FC236}">
                <a16:creationId xmlns:a16="http://schemas.microsoft.com/office/drawing/2014/main" id="{F6A53E66-3D7A-FC9C-DAAB-7750C481258E}"/>
              </a:ext>
            </a:extLst>
          </p:cNvPr>
          <p:cNvSpPr>
            <a:spLocks noGrp="1"/>
          </p:cNvSpPr>
          <p:nvPr>
            <p:ph sz="quarter" idx="4"/>
          </p:nvPr>
        </p:nvSpPr>
        <p:spPr>
          <a:xfrm>
            <a:off x="6172200" y="2505075"/>
            <a:ext cx="5183188" cy="3684588"/>
          </a:xfrm>
          <a:prstGeom prst="rect">
            <a:avLst/>
          </a:prstGeom>
        </p:spPr>
        <p:txBody>
          <a:bodyPr/>
          <a:lstStyle>
            <a:lvl1pPr marL="0" indent="0" algn="l">
              <a:buNone/>
              <a:defRPr sz="2200"/>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GB" dirty="0"/>
              <a:t>Click to edit Master text styles</a:t>
            </a:r>
          </a:p>
          <a:p>
            <a:pPr lvl="0"/>
            <a:endParaRPr lang="en-FR" dirty="0"/>
          </a:p>
        </p:txBody>
      </p:sp>
    </p:spTree>
    <p:extLst>
      <p:ext uri="{BB962C8B-B14F-4D97-AF65-F5344CB8AC3E}">
        <p14:creationId xmlns:p14="http://schemas.microsoft.com/office/powerpoint/2010/main" val="62868996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Thank you Slide">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FBC293F6-E8B6-92CA-8DD3-F46267F22654}"/>
              </a:ext>
            </a:extLst>
          </p:cNvPr>
          <p:cNvSpPr>
            <a:spLocks noGrp="1"/>
          </p:cNvSpPr>
          <p:nvPr>
            <p:ph type="title" hasCustomPrompt="1"/>
          </p:nvPr>
        </p:nvSpPr>
        <p:spPr>
          <a:xfrm>
            <a:off x="133564" y="2103437"/>
            <a:ext cx="12192000" cy="1325563"/>
          </a:xfrm>
          <a:prstGeom prst="rect">
            <a:avLst/>
          </a:prstGeom>
        </p:spPr>
        <p:txBody>
          <a:bodyPr/>
          <a:lstStyle>
            <a:lvl1pPr>
              <a:defRPr b="1">
                <a:solidFill>
                  <a:schemeClr val="bg1"/>
                </a:solidFill>
              </a:defRPr>
            </a:lvl1pPr>
          </a:lstStyle>
          <a:p>
            <a:r>
              <a:rPr lang="en-GB" dirty="0"/>
              <a:t>Thank you</a:t>
            </a:r>
            <a:br>
              <a:rPr lang="en-GB" dirty="0"/>
            </a:br>
            <a:r>
              <a:rPr lang="ar-AE" dirty="0"/>
              <a:t>شكرًا لك</a:t>
            </a:r>
            <a:endParaRPr lang="en-FR" dirty="0"/>
          </a:p>
        </p:txBody>
      </p:sp>
      <p:sp>
        <p:nvSpPr>
          <p:cNvPr id="8" name="CuadroTexto 3">
            <a:extLst>
              <a:ext uri="{FF2B5EF4-FFF2-40B4-BE49-F238E27FC236}">
                <a16:creationId xmlns:a16="http://schemas.microsoft.com/office/drawing/2014/main" id="{85E8BFE3-BE3F-06D0-2E51-B1A3E835A55D}"/>
              </a:ext>
            </a:extLst>
          </p:cNvPr>
          <p:cNvSpPr txBox="1"/>
          <p:nvPr userDrawn="1"/>
        </p:nvSpPr>
        <p:spPr>
          <a:xfrm>
            <a:off x="3958443" y="4346049"/>
            <a:ext cx="4542242" cy="523926"/>
          </a:xfrm>
          <a:prstGeom prst="rect">
            <a:avLst/>
          </a:prstGeom>
          <a:noFill/>
        </p:spPr>
        <p:txBody>
          <a:bodyPr wrap="square" rtlCol="0">
            <a:spAutoFit/>
          </a:bodyPr>
          <a:lstStyle/>
          <a:p>
            <a:pPr marR="0" algn="ctr" rtl="0">
              <a:lnSpc>
                <a:spcPct val="150000"/>
              </a:lnSpc>
            </a:pPr>
            <a:r>
              <a:rPr lang="en-US" sz="3200" b="0" i="0" u="none" strike="noStrike" baseline="30000" dirty="0">
                <a:solidFill>
                  <a:schemeClr val="bg1"/>
                </a:solidFill>
                <a:latin typeface="Arial" panose="020B0604020202020204" pitchFamily="34" charset="0"/>
                <a:ea typeface="Verdana" panose="020B0604030504040204" pitchFamily="34" charset="0"/>
                <a:cs typeface="Arial" panose="020B0604020202020204" pitchFamily="34" charset="0"/>
              </a:rPr>
              <a:t>wmo.int</a:t>
            </a:r>
          </a:p>
        </p:txBody>
      </p:sp>
    </p:spTree>
    <p:extLst>
      <p:ext uri="{BB962C8B-B14F-4D97-AF65-F5344CB8AC3E}">
        <p14:creationId xmlns:p14="http://schemas.microsoft.com/office/powerpoint/2010/main" val="102985207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Blank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1153190322"/>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2A14A7-5367-6641-89B3-ED5206D45470}"/>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ED1EACD7-D93B-FE43-8595-62E80F9C1294}"/>
              </a:ext>
            </a:extLst>
          </p:cNvPr>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6FCB0E1-F717-8543-8276-E0FF351BF154}"/>
              </a:ext>
            </a:extLst>
          </p:cNvPr>
          <p:cNvSpPr>
            <a:spLocks noGrp="1"/>
          </p:cNvSpPr>
          <p:nvPr>
            <p:ph type="dt" sz="half" idx="10"/>
          </p:nvPr>
        </p:nvSpPr>
        <p:spPr/>
        <p:txBody>
          <a:bodyPr/>
          <a:lstStyle/>
          <a:p>
            <a:fld id="{242EED87-2C30-6C46-8CD5-5737BBF046EB}" type="datetimeFigureOut">
              <a:rPr lang="en-US" smtClean="0"/>
              <a:t>3/31/26</a:t>
            </a:fld>
            <a:endParaRPr lang="en-US"/>
          </a:p>
        </p:txBody>
      </p:sp>
      <p:sp>
        <p:nvSpPr>
          <p:cNvPr id="5" name="Footer Placeholder 4">
            <a:extLst>
              <a:ext uri="{FF2B5EF4-FFF2-40B4-BE49-F238E27FC236}">
                <a16:creationId xmlns:a16="http://schemas.microsoft.com/office/drawing/2014/main" id="{DC7C43B9-2296-0545-AA12-2E6E3353624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8C8FCBA-5B72-1847-A4B5-B5B6FBAE9F56}"/>
              </a:ext>
            </a:extLst>
          </p:cNvPr>
          <p:cNvSpPr>
            <a:spLocks noGrp="1"/>
          </p:cNvSpPr>
          <p:nvPr>
            <p:ph type="sldNum" sz="quarter" idx="12"/>
          </p:nvPr>
        </p:nvSpPr>
        <p:spPr/>
        <p:txBody>
          <a:bodyPr/>
          <a:lstStyle/>
          <a:p>
            <a:fld id="{0071B117-5D75-FF4D-911A-5C226444051F}" type="slidenum">
              <a:rPr lang="en-US" smtClean="0"/>
              <a:t>‹#›</a:t>
            </a:fld>
            <a:endParaRPr lang="en-US"/>
          </a:p>
        </p:txBody>
      </p:sp>
    </p:spTree>
    <p:extLst>
      <p:ext uri="{BB962C8B-B14F-4D97-AF65-F5344CB8AC3E}">
        <p14:creationId xmlns:p14="http://schemas.microsoft.com/office/powerpoint/2010/main" val="1415672375"/>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4EC799-4231-2346-88CD-50EB4F7D6D01}"/>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C87A7F83-D93D-B848-B8B4-C00862A7B962}"/>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84910179-53D6-2541-984B-2302772D1EB0}"/>
              </a:ext>
            </a:extLst>
          </p:cNvPr>
          <p:cNvSpPr>
            <a:spLocks noGrp="1"/>
          </p:cNvSpPr>
          <p:nvPr>
            <p:ph type="dt" sz="half" idx="10"/>
          </p:nvPr>
        </p:nvSpPr>
        <p:spPr/>
        <p:txBody>
          <a:bodyPr/>
          <a:lstStyle/>
          <a:p>
            <a:fld id="{242EED87-2C30-6C46-8CD5-5737BBF046EB}" type="datetimeFigureOut">
              <a:rPr lang="en-US" smtClean="0"/>
              <a:t>3/31/26</a:t>
            </a:fld>
            <a:endParaRPr lang="en-US"/>
          </a:p>
        </p:txBody>
      </p:sp>
      <p:sp>
        <p:nvSpPr>
          <p:cNvPr id="5" name="Footer Placeholder 4">
            <a:extLst>
              <a:ext uri="{FF2B5EF4-FFF2-40B4-BE49-F238E27FC236}">
                <a16:creationId xmlns:a16="http://schemas.microsoft.com/office/drawing/2014/main" id="{0D6A9576-B9E5-EC45-822F-70872F479DB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247FFFE-58EC-AD47-BCC4-79F7901ED450}"/>
              </a:ext>
            </a:extLst>
          </p:cNvPr>
          <p:cNvSpPr>
            <a:spLocks noGrp="1"/>
          </p:cNvSpPr>
          <p:nvPr>
            <p:ph type="sldNum" sz="quarter" idx="12"/>
          </p:nvPr>
        </p:nvSpPr>
        <p:spPr/>
        <p:txBody>
          <a:bodyPr/>
          <a:lstStyle/>
          <a:p>
            <a:fld id="{0071B117-5D75-FF4D-911A-5C226444051F}" type="slidenum">
              <a:rPr lang="en-US" smtClean="0"/>
              <a:t>‹#›</a:t>
            </a:fld>
            <a:endParaRPr lang="en-US"/>
          </a:p>
        </p:txBody>
      </p:sp>
    </p:spTree>
    <p:extLst>
      <p:ext uri="{BB962C8B-B14F-4D97-AF65-F5344CB8AC3E}">
        <p14:creationId xmlns:p14="http://schemas.microsoft.com/office/powerpoint/2010/main" val="3196358479"/>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Cover/Title Slide">
    <p:spTree>
      <p:nvGrpSpPr>
        <p:cNvPr id="1" name=""/>
        <p:cNvGrpSpPr/>
        <p:nvPr/>
      </p:nvGrpSpPr>
      <p:grpSpPr>
        <a:xfrm>
          <a:off x="0" y="0"/>
          <a:ext cx="0" cy="0"/>
          <a:chOff x="0" y="0"/>
          <a:chExt cx="0" cy="0"/>
        </a:xfrm>
      </p:grpSpPr>
      <p:sp>
        <p:nvSpPr>
          <p:cNvPr id="4" name="Title Placeholder 1">
            <a:extLst>
              <a:ext uri="{FF2B5EF4-FFF2-40B4-BE49-F238E27FC236}">
                <a16:creationId xmlns:a16="http://schemas.microsoft.com/office/drawing/2014/main" id="{1B796776-E13E-EE70-1024-61D0E54893B0}"/>
              </a:ext>
            </a:extLst>
          </p:cNvPr>
          <p:cNvSpPr>
            <a:spLocks noGrp="1"/>
          </p:cNvSpPr>
          <p:nvPr>
            <p:ph type="title"/>
          </p:nvPr>
        </p:nvSpPr>
        <p:spPr>
          <a:xfrm>
            <a:off x="838200" y="755543"/>
            <a:ext cx="10515600" cy="1325563"/>
          </a:xfrm>
          <a:prstGeom prst="rect">
            <a:avLst/>
          </a:prstGeom>
        </p:spPr>
        <p:txBody>
          <a:bodyPr vert="horz" lIns="91440" tIns="45720" rIns="91440" bIns="45720" rtlCol="0" anchor="ctr">
            <a:normAutofit/>
          </a:bodyPr>
          <a:lstStyle>
            <a:lvl1pPr>
              <a:defRPr b="1">
                <a:solidFill>
                  <a:schemeClr val="bg1"/>
                </a:solidFill>
              </a:defRPr>
            </a:lvl1pPr>
          </a:lstStyle>
          <a:p>
            <a:r>
              <a:rPr lang="en-GB" dirty="0"/>
              <a:t>Cover – Insert title</a:t>
            </a:r>
            <a:endParaRPr lang="en-FR" dirty="0"/>
          </a:p>
        </p:txBody>
      </p:sp>
      <p:sp>
        <p:nvSpPr>
          <p:cNvPr id="5" name="Text Placeholder 2">
            <a:extLst>
              <a:ext uri="{FF2B5EF4-FFF2-40B4-BE49-F238E27FC236}">
                <a16:creationId xmlns:a16="http://schemas.microsoft.com/office/drawing/2014/main" id="{93A33BDE-5827-B978-8782-68D8565EB7BF}"/>
              </a:ext>
            </a:extLst>
          </p:cNvPr>
          <p:cNvSpPr>
            <a:spLocks noGrp="1"/>
          </p:cNvSpPr>
          <p:nvPr>
            <p:ph idx="1"/>
          </p:nvPr>
        </p:nvSpPr>
        <p:spPr>
          <a:xfrm>
            <a:off x="838200" y="2216043"/>
            <a:ext cx="10515600" cy="4351338"/>
          </a:xfrm>
          <a:prstGeom prst="rect">
            <a:avLst/>
          </a:prstGeom>
        </p:spPr>
        <p:txBody>
          <a:bodyPr vert="horz" lIns="91440" tIns="45720" rIns="91440" bIns="45720" rtlCol="0">
            <a:normAutofit/>
          </a:bodyPr>
          <a:lstStyle>
            <a:lvl1pPr algn="ctr">
              <a:defRPr sz="2800">
                <a:solidFill>
                  <a:schemeClr val="bg1"/>
                </a:solidFill>
              </a:defRPr>
            </a:lvl1pPr>
            <a:lvl2pPr algn="ctr">
              <a:defRPr sz="2800">
                <a:solidFill>
                  <a:schemeClr val="bg1"/>
                </a:solidFill>
              </a:defRPr>
            </a:lvl2pPr>
          </a:lstStyle>
          <a:p>
            <a:pPr lvl="0"/>
            <a:r>
              <a:rPr lang="en-GB" dirty="0"/>
              <a:t>Click to edit Master text styles</a:t>
            </a:r>
          </a:p>
          <a:p>
            <a:pPr lvl="1"/>
            <a:r>
              <a:rPr lang="en-GB" dirty="0"/>
              <a:t>Second level</a:t>
            </a:r>
          </a:p>
        </p:txBody>
      </p:sp>
    </p:spTree>
    <p:extLst>
      <p:ext uri="{BB962C8B-B14F-4D97-AF65-F5344CB8AC3E}">
        <p14:creationId xmlns:p14="http://schemas.microsoft.com/office/powerpoint/2010/main" val="44470195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theme" Target="../theme/theme2.xml"/><Relationship Id="rId3" Type="http://schemas.openxmlformats.org/officeDocument/2006/relationships/slideLayout" Target="../slideLayouts/slideLayout13.xml"/><Relationship Id="rId7" Type="http://schemas.openxmlformats.org/officeDocument/2006/relationships/slideLayout" Target="../slideLayouts/slideLayout17.xml"/><Relationship Id="rId2" Type="http://schemas.openxmlformats.org/officeDocument/2006/relationships/slideLayout" Target="../slideLayouts/slideLayout12.xml"/><Relationship Id="rId1" Type="http://schemas.openxmlformats.org/officeDocument/2006/relationships/slideLayout" Target="../slideLayouts/slideLayout11.xml"/><Relationship Id="rId6" Type="http://schemas.openxmlformats.org/officeDocument/2006/relationships/slideLayout" Target="../slideLayouts/slideLayout16.xml"/><Relationship Id="rId5" Type="http://schemas.openxmlformats.org/officeDocument/2006/relationships/slideLayout" Target="../slideLayouts/slideLayout15.xml"/><Relationship Id="rId4" Type="http://schemas.openxmlformats.org/officeDocument/2006/relationships/slideLayout" Target="../slideLayouts/slideLayout14.xml"/><Relationship Id="rId9" Type="http://schemas.openxmlformats.org/officeDocument/2006/relationships/image" Target="../media/image2.png"/></Relationships>
</file>

<file path=ppt/slideMasters/_rels/slideMaster3.xml.rels><?xml version="1.0" encoding="UTF-8" standalone="yes"?>
<Relationships xmlns="http://schemas.openxmlformats.org/package/2006/relationships"><Relationship Id="rId3" Type="http://schemas.openxmlformats.org/officeDocument/2006/relationships/theme" Target="../theme/theme3.xml"/><Relationship Id="rId2" Type="http://schemas.openxmlformats.org/officeDocument/2006/relationships/slideLayout" Target="../slideLayouts/slideLayout19.xml"/><Relationship Id="rId1" Type="http://schemas.openxmlformats.org/officeDocument/2006/relationships/slideLayout" Target="../slideLayouts/slideLayout18.xml"/></Relationships>
</file>

<file path=ppt/slideMasters/_rels/slideMaster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theme" Target="../theme/theme4.xml"/><Relationship Id="rId1"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6" name="Slide Number Placeholder 5"/>
          <p:cNvSpPr>
            <a:spLocks noGrp="1"/>
          </p:cNvSpPr>
          <p:nvPr>
            <p:ph type="sldNum" sz="quarter" idx="4"/>
          </p:nvPr>
        </p:nvSpPr>
        <p:spPr>
          <a:xfrm>
            <a:off x="8737600" y="6356351"/>
            <a:ext cx="28448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259AF2F-52C6-9B46-B8B2-0579234AE62E}" type="slidenum">
              <a:rPr lang="en-US" smtClean="0"/>
              <a:t>‹#›</a:t>
            </a:fld>
            <a:endParaRPr lang="en-US"/>
          </a:p>
        </p:txBody>
      </p:sp>
      <p:pic>
        <p:nvPicPr>
          <p:cNvPr id="4" name="Picture 3">
            <a:extLst>
              <a:ext uri="{FF2B5EF4-FFF2-40B4-BE49-F238E27FC236}">
                <a16:creationId xmlns:a16="http://schemas.microsoft.com/office/drawing/2014/main" id="{23F57D95-4D65-F719-C191-5DE6FF188BEA}"/>
              </a:ext>
            </a:extLst>
          </p:cNvPr>
          <p:cNvPicPr>
            <a:picLocks noChangeAspect="1"/>
          </p:cNvPicPr>
          <p:nvPr userDrawn="1"/>
        </p:nvPicPr>
        <p:blipFill>
          <a:blip r:embed="rId12"/>
          <a:srcRect/>
          <a:stretch/>
        </p:blipFill>
        <p:spPr>
          <a:xfrm>
            <a:off x="0" y="3477952"/>
            <a:ext cx="12192000" cy="3380048"/>
          </a:xfrm>
          <a:prstGeom prst="rect">
            <a:avLst/>
          </a:prstGeom>
        </p:spPr>
      </p:pic>
    </p:spTree>
    <p:extLst>
      <p:ext uri="{BB962C8B-B14F-4D97-AF65-F5344CB8AC3E}">
        <p14:creationId xmlns:p14="http://schemas.microsoft.com/office/powerpoint/2010/main" val="2171397915"/>
      </p:ext>
    </p:extLst>
  </p:cSld>
  <p:clrMap bg1="lt1" tx1="dk1" bg2="lt2" tx2="dk2" accent1="accent1" accent2="accent2" accent3="accent3" accent4="accent4" accent5="accent5" accent6="accent6" hlink="hlink" folHlink="folHlink"/>
  <p:sldLayoutIdLst>
    <p:sldLayoutId id="2147483704" r:id="rId1"/>
    <p:sldLayoutId id="2147483685" r:id="rId2"/>
    <p:sldLayoutId id="2147483686" r:id="rId3"/>
    <p:sldLayoutId id="2147483687" r:id="rId4"/>
    <p:sldLayoutId id="2147483688" r:id="rId5"/>
    <p:sldLayoutId id="2147483689" r:id="rId6"/>
    <p:sldLayoutId id="2147483690" r:id="rId7"/>
    <p:sldLayoutId id="2147483691" r:id="rId8"/>
    <p:sldLayoutId id="2147483692" r:id="rId9"/>
    <p:sldLayoutId id="2147483658" r:id="rId10"/>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5E43E974-FF92-2065-59B5-7198AC9AFE00}"/>
              </a:ext>
            </a:extLst>
          </p:cNvPr>
          <p:cNvPicPr>
            <a:picLocks noChangeAspect="1"/>
          </p:cNvPicPr>
          <p:nvPr userDrawn="1"/>
        </p:nvPicPr>
        <p:blipFill>
          <a:blip r:embed="rId9"/>
          <a:srcRect/>
          <a:stretch/>
        </p:blipFill>
        <p:spPr>
          <a:xfrm>
            <a:off x="337" y="0"/>
            <a:ext cx="12474857" cy="7017488"/>
          </a:xfrm>
          <a:prstGeom prst="rect">
            <a:avLst/>
          </a:prstGeom>
        </p:spPr>
      </p:pic>
      <p:sp>
        <p:nvSpPr>
          <p:cNvPr id="4" name="Title Placeholder 1">
            <a:extLst>
              <a:ext uri="{FF2B5EF4-FFF2-40B4-BE49-F238E27FC236}">
                <a16:creationId xmlns:a16="http://schemas.microsoft.com/office/drawing/2014/main" id="{1AAFC96D-DE28-DCBB-6A7D-6E7FC08F83B2}"/>
              </a:ext>
            </a:extLst>
          </p:cNvPr>
          <p:cNvSpPr>
            <a:spLocks noGrp="1"/>
          </p:cNvSpPr>
          <p:nvPr>
            <p:ph type="title"/>
          </p:nvPr>
        </p:nvSpPr>
        <p:spPr>
          <a:xfrm>
            <a:off x="836690" y="2204199"/>
            <a:ext cx="10515600" cy="1325563"/>
          </a:xfrm>
          <a:prstGeom prst="rect">
            <a:avLst/>
          </a:prstGeom>
        </p:spPr>
        <p:txBody>
          <a:bodyPr vert="horz" lIns="91440" tIns="45720" rIns="91440" bIns="45720" rtlCol="0" anchor="ctr">
            <a:normAutofit/>
          </a:bodyPr>
          <a:lstStyle/>
          <a:p>
            <a:r>
              <a:rPr lang="en-GB" dirty="0"/>
              <a:t>WMO PPT Style #1</a:t>
            </a:r>
            <a:endParaRPr lang="en-FR" dirty="0"/>
          </a:p>
        </p:txBody>
      </p:sp>
    </p:spTree>
    <p:extLst>
      <p:ext uri="{BB962C8B-B14F-4D97-AF65-F5344CB8AC3E}">
        <p14:creationId xmlns:p14="http://schemas.microsoft.com/office/powerpoint/2010/main" val="3077432577"/>
      </p:ext>
    </p:extLst>
  </p:cSld>
  <p:clrMap bg1="lt1" tx1="dk1" bg2="lt2" tx2="dk2" accent1="accent1" accent2="accent2" accent3="accent3" accent4="accent4" accent5="accent5" accent6="accent6" hlink="hlink" folHlink="folHlink"/>
  <p:sldLayoutIdLst>
    <p:sldLayoutId id="2147483695" r:id="rId1"/>
    <p:sldLayoutId id="2147483696" r:id="rId2"/>
    <p:sldLayoutId id="2147483697" r:id="rId3"/>
    <p:sldLayoutId id="2147483698" r:id="rId4"/>
    <p:sldLayoutId id="2147483699" r:id="rId5"/>
    <p:sldLayoutId id="2147483700" r:id="rId6"/>
    <p:sldLayoutId id="2147483701" r:id="rId7"/>
  </p:sldLayoutIdLst>
  <p:txStyles>
    <p:titleStyle>
      <a:lvl1pPr algn="ctr" defTabSz="914400" rtl="0" eaLnBrk="1" latinLnBrk="0" hangingPunct="1">
        <a:lnSpc>
          <a:spcPct val="90000"/>
        </a:lnSpc>
        <a:spcBef>
          <a:spcPct val="0"/>
        </a:spcBef>
        <a:buNone/>
        <a:defRPr sz="4400" kern="1200">
          <a:solidFill>
            <a:schemeClr val="bg1"/>
          </a:solidFill>
          <a:latin typeface="Arial" panose="020B0604020202020204" pitchFamily="34" charset="0"/>
          <a:ea typeface="+mj-ea"/>
          <a:cs typeface="Arial" panose="020B0604020202020204" pitchFamily="34" charset="0"/>
        </a:defRPr>
      </a:lvl1pPr>
    </p:titleStyle>
    <p:bodyStyle>
      <a:lvl1pPr marL="228600" indent="-228600" algn="ctr" defTabSz="914400" rtl="0" eaLnBrk="1" latinLnBrk="0" hangingPunct="1">
        <a:lnSpc>
          <a:spcPct val="90000"/>
        </a:lnSpc>
        <a:spcBef>
          <a:spcPts val="1000"/>
        </a:spcBef>
        <a:buFont typeface="Arial" panose="020B0604020202020204" pitchFamily="34" charset="0"/>
        <a:buChar char="•"/>
        <a:defRPr sz="2800" kern="1200">
          <a:solidFill>
            <a:schemeClr val="bg1"/>
          </a:solidFill>
          <a:latin typeface="Arial" panose="020B0604020202020204" pitchFamily="34" charset="0"/>
          <a:ea typeface="+mn-ea"/>
          <a:cs typeface="Arial" panose="020B0604020202020204" pitchFamily="34" charset="0"/>
        </a:defRPr>
      </a:lvl1pPr>
      <a:lvl2pPr marL="685800" indent="-228600" algn="ctr" defTabSz="914400" rtl="0" eaLnBrk="1" latinLnBrk="0" hangingPunct="1">
        <a:lnSpc>
          <a:spcPct val="90000"/>
        </a:lnSpc>
        <a:spcBef>
          <a:spcPts val="500"/>
        </a:spcBef>
        <a:buFont typeface="Arial" panose="020B0604020202020204" pitchFamily="34" charset="0"/>
        <a:buChar char="•"/>
        <a:defRPr sz="2400" kern="1200">
          <a:solidFill>
            <a:schemeClr val="bg1"/>
          </a:solidFill>
          <a:latin typeface="Arial" panose="020B0604020202020204" pitchFamily="34" charset="0"/>
          <a:ea typeface="+mn-ea"/>
          <a:cs typeface="Arial" panose="020B0604020202020204" pitchFamily="34" charset="0"/>
        </a:defRPr>
      </a:lvl2pPr>
      <a:lvl3pPr marL="1143000" indent="-228600" algn="ctr" defTabSz="914400" rtl="0" eaLnBrk="1" latinLnBrk="0" hangingPunct="1">
        <a:lnSpc>
          <a:spcPct val="90000"/>
        </a:lnSpc>
        <a:spcBef>
          <a:spcPts val="500"/>
        </a:spcBef>
        <a:buFont typeface="Arial" panose="020B0604020202020204" pitchFamily="34" charset="0"/>
        <a:buChar char="•"/>
        <a:defRPr sz="2000" kern="1200">
          <a:solidFill>
            <a:schemeClr val="bg1"/>
          </a:solidFill>
          <a:latin typeface="Arial" panose="020B0604020202020204" pitchFamily="34" charset="0"/>
          <a:ea typeface="+mn-ea"/>
          <a:cs typeface="Arial" panose="020B0604020202020204" pitchFamily="34" charset="0"/>
        </a:defRPr>
      </a:lvl3pPr>
      <a:lvl4pPr marL="1600200" indent="-228600" algn="ctr"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Arial" panose="020B0604020202020204" pitchFamily="34" charset="0"/>
          <a:ea typeface="+mn-ea"/>
          <a:cs typeface="Arial" panose="020B0604020202020204" pitchFamily="34" charset="0"/>
        </a:defRPr>
      </a:lvl4pPr>
      <a:lvl5pPr marL="2057400" indent="-228600" algn="ctr"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66E42707-DAB0-9642-AB96-BCDAFE10AF78}"/>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B33C5FAD-B53E-A44E-ACCE-FA8671073BE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A0C309E-16C9-9949-AF70-5ED12581027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42EED87-2C30-6C46-8CD5-5737BBF046EB}" type="datetimeFigureOut">
              <a:rPr lang="en-US" smtClean="0"/>
              <a:t>3/31/26</a:t>
            </a:fld>
            <a:endParaRPr lang="en-US"/>
          </a:p>
        </p:txBody>
      </p:sp>
      <p:sp>
        <p:nvSpPr>
          <p:cNvPr id="5" name="Footer Placeholder 4">
            <a:extLst>
              <a:ext uri="{FF2B5EF4-FFF2-40B4-BE49-F238E27FC236}">
                <a16:creationId xmlns:a16="http://schemas.microsoft.com/office/drawing/2014/main" id="{AC45BAAE-3D1C-F24D-97C2-A7BE90B756C0}"/>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DF600EC8-E292-F447-B047-35F0458B261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071B117-5D75-FF4D-911A-5C226444051F}" type="slidenum">
              <a:rPr lang="en-US" smtClean="0"/>
              <a:t>‹#›</a:t>
            </a:fld>
            <a:endParaRPr lang="en-US"/>
          </a:p>
        </p:txBody>
      </p:sp>
    </p:spTree>
    <p:extLst>
      <p:ext uri="{BB962C8B-B14F-4D97-AF65-F5344CB8AC3E}">
        <p14:creationId xmlns:p14="http://schemas.microsoft.com/office/powerpoint/2010/main" val="1087390169"/>
      </p:ext>
    </p:extLst>
  </p:cSld>
  <p:clrMap bg1="lt1" tx1="dk1" bg2="lt2" tx2="dk2" accent1="accent1" accent2="accent2" accent3="accent3" accent4="accent4" accent5="accent5" accent6="accent6" hlink="hlink" folHlink="folHlink"/>
  <p:sldLayoutIdLst>
    <p:sldLayoutId id="2147483662" r:id="rId1"/>
    <p:sldLayoutId id="2147483660" r:id="rId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5E43E974-FF92-2065-59B5-7198AC9AFE00}"/>
              </a:ext>
            </a:extLst>
          </p:cNvPr>
          <p:cNvPicPr>
            <a:picLocks noChangeAspect="1"/>
          </p:cNvPicPr>
          <p:nvPr userDrawn="1"/>
        </p:nvPicPr>
        <p:blipFill>
          <a:blip r:embed="rId3"/>
          <a:srcRect/>
          <a:stretch/>
        </p:blipFill>
        <p:spPr>
          <a:xfrm>
            <a:off x="337" y="0"/>
            <a:ext cx="12474857" cy="7017488"/>
          </a:xfrm>
          <a:prstGeom prst="rect">
            <a:avLst/>
          </a:prstGeom>
        </p:spPr>
      </p:pic>
      <p:sp>
        <p:nvSpPr>
          <p:cNvPr id="4" name="Title Placeholder 1">
            <a:extLst>
              <a:ext uri="{FF2B5EF4-FFF2-40B4-BE49-F238E27FC236}">
                <a16:creationId xmlns:a16="http://schemas.microsoft.com/office/drawing/2014/main" id="{1AAFC96D-DE28-DCBB-6A7D-6E7FC08F83B2}"/>
              </a:ext>
            </a:extLst>
          </p:cNvPr>
          <p:cNvSpPr>
            <a:spLocks noGrp="1"/>
          </p:cNvSpPr>
          <p:nvPr>
            <p:ph type="title"/>
          </p:nvPr>
        </p:nvSpPr>
        <p:spPr>
          <a:xfrm>
            <a:off x="836690" y="2204199"/>
            <a:ext cx="10515600" cy="1325563"/>
          </a:xfrm>
          <a:prstGeom prst="rect">
            <a:avLst/>
          </a:prstGeom>
        </p:spPr>
        <p:txBody>
          <a:bodyPr vert="horz" lIns="91440" tIns="45720" rIns="91440" bIns="45720" rtlCol="0" anchor="ctr">
            <a:normAutofit/>
          </a:bodyPr>
          <a:lstStyle/>
          <a:p>
            <a:r>
              <a:rPr lang="en-GB" dirty="0"/>
              <a:t>WMO PPT Style #1</a:t>
            </a:r>
            <a:endParaRPr lang="en-FR" dirty="0"/>
          </a:p>
        </p:txBody>
      </p:sp>
    </p:spTree>
    <p:extLst>
      <p:ext uri="{BB962C8B-B14F-4D97-AF65-F5344CB8AC3E}">
        <p14:creationId xmlns:p14="http://schemas.microsoft.com/office/powerpoint/2010/main" val="2580343866"/>
      </p:ext>
    </p:extLst>
  </p:cSld>
  <p:clrMap bg1="lt1" tx1="dk1" bg2="lt2" tx2="dk2" accent1="accent1" accent2="accent2" accent3="accent3" accent4="accent4" accent5="accent5" accent6="accent6" hlink="hlink" folHlink="folHlink"/>
  <p:sldLayoutIdLst>
    <p:sldLayoutId id="2147483649" r:id="rId1"/>
  </p:sldLayoutIdLst>
  <p:txStyles>
    <p:titleStyle>
      <a:lvl1pPr algn="ctr" defTabSz="914400" rtl="0" eaLnBrk="1" latinLnBrk="0" hangingPunct="1">
        <a:lnSpc>
          <a:spcPct val="90000"/>
        </a:lnSpc>
        <a:spcBef>
          <a:spcPct val="0"/>
        </a:spcBef>
        <a:buNone/>
        <a:defRPr sz="4400" kern="1200">
          <a:solidFill>
            <a:schemeClr val="bg1"/>
          </a:solidFill>
          <a:latin typeface="Arial" panose="020B0604020202020204" pitchFamily="34" charset="0"/>
          <a:ea typeface="+mj-ea"/>
          <a:cs typeface="Arial" panose="020B0604020202020204" pitchFamily="34" charset="0"/>
        </a:defRPr>
      </a:lvl1pPr>
    </p:titleStyle>
    <p:bodyStyle>
      <a:lvl1pPr marL="228600" indent="-228600" algn="ctr" defTabSz="914400" rtl="0" eaLnBrk="1" latinLnBrk="0" hangingPunct="1">
        <a:lnSpc>
          <a:spcPct val="90000"/>
        </a:lnSpc>
        <a:spcBef>
          <a:spcPts val="1000"/>
        </a:spcBef>
        <a:buFont typeface="Arial" panose="020B0604020202020204" pitchFamily="34" charset="0"/>
        <a:buChar char="•"/>
        <a:defRPr sz="2800" kern="1200">
          <a:solidFill>
            <a:schemeClr val="bg1"/>
          </a:solidFill>
          <a:latin typeface="Arial" panose="020B0604020202020204" pitchFamily="34" charset="0"/>
          <a:ea typeface="+mn-ea"/>
          <a:cs typeface="Arial" panose="020B0604020202020204" pitchFamily="34" charset="0"/>
        </a:defRPr>
      </a:lvl1pPr>
      <a:lvl2pPr marL="685800" indent="-228600" algn="ctr" defTabSz="914400" rtl="0" eaLnBrk="1" latinLnBrk="0" hangingPunct="1">
        <a:lnSpc>
          <a:spcPct val="90000"/>
        </a:lnSpc>
        <a:spcBef>
          <a:spcPts val="500"/>
        </a:spcBef>
        <a:buFont typeface="Arial" panose="020B0604020202020204" pitchFamily="34" charset="0"/>
        <a:buChar char="•"/>
        <a:defRPr sz="2400" kern="1200">
          <a:solidFill>
            <a:schemeClr val="bg1"/>
          </a:solidFill>
          <a:latin typeface="Arial" panose="020B0604020202020204" pitchFamily="34" charset="0"/>
          <a:ea typeface="+mn-ea"/>
          <a:cs typeface="Arial" panose="020B0604020202020204" pitchFamily="34" charset="0"/>
        </a:defRPr>
      </a:lvl2pPr>
      <a:lvl3pPr marL="1143000" indent="-228600" algn="ctr" defTabSz="914400" rtl="0" eaLnBrk="1" latinLnBrk="0" hangingPunct="1">
        <a:lnSpc>
          <a:spcPct val="90000"/>
        </a:lnSpc>
        <a:spcBef>
          <a:spcPts val="500"/>
        </a:spcBef>
        <a:buFont typeface="Arial" panose="020B0604020202020204" pitchFamily="34" charset="0"/>
        <a:buChar char="•"/>
        <a:defRPr sz="2000" kern="1200">
          <a:solidFill>
            <a:schemeClr val="bg1"/>
          </a:solidFill>
          <a:latin typeface="Arial" panose="020B0604020202020204" pitchFamily="34" charset="0"/>
          <a:ea typeface="+mn-ea"/>
          <a:cs typeface="Arial" panose="020B0604020202020204" pitchFamily="34" charset="0"/>
        </a:defRPr>
      </a:lvl3pPr>
      <a:lvl4pPr marL="1600200" indent="-228600" algn="ctr"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Arial" panose="020B0604020202020204" pitchFamily="34" charset="0"/>
          <a:ea typeface="+mn-ea"/>
          <a:cs typeface="Arial" panose="020B0604020202020204" pitchFamily="34" charset="0"/>
        </a:defRPr>
      </a:lvl4pPr>
      <a:lvl5pPr marL="2057400" indent="-228600" algn="ctr"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0.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8.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7" Type="http://schemas.openxmlformats.org/officeDocument/2006/relationships/image" Target="../media/image9.png"/><Relationship Id="rId2" Type="http://schemas.openxmlformats.org/officeDocument/2006/relationships/image" Target="../media/image4.png"/><Relationship Id="rId1" Type="http://schemas.openxmlformats.org/officeDocument/2006/relationships/slideLayout" Target="../slideLayouts/slideLayout1.xml"/><Relationship Id="rId6" Type="http://schemas.openxmlformats.org/officeDocument/2006/relationships/image" Target="../media/image8.svg"/><Relationship Id="rId5" Type="http://schemas.openxmlformats.org/officeDocument/2006/relationships/image" Target="../media/image7.svg"/><Relationship Id="rId4" Type="http://schemas.openxmlformats.org/officeDocument/2006/relationships/image" Target="../media/image6.svg"/></Relationships>
</file>

<file path=ppt/slides/_rels/slide6.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2.xml"/><Relationship Id="rId1" Type="http://schemas.openxmlformats.org/officeDocument/2006/relationships/slideLayout" Target="../slideLayouts/slideLayout1.xml"/><Relationship Id="rId4" Type="http://schemas.openxmlformats.org/officeDocument/2006/relationships/image" Target="../media/image11.jpeg"/></Relationships>
</file>

<file path=ppt/slides/_rels/slide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hyperlink" Target="https://wmo-im.github.io/wis2-guide/guide/wis2-guide-APPROVED.html#_1_1_4_why_are_datasets_so_important" TargetMode="External"/><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8" Type="http://schemas.openxmlformats.org/officeDocument/2006/relationships/image" Target="../media/image5.png"/><Relationship Id="rId3" Type="http://schemas.openxmlformats.org/officeDocument/2006/relationships/image" Target="../media/image7.svg"/><Relationship Id="rId7" Type="http://schemas.openxmlformats.org/officeDocument/2006/relationships/image" Target="../media/image6.svg"/><Relationship Id="rId2" Type="http://schemas.openxmlformats.org/officeDocument/2006/relationships/hyperlink" Target="https://wmo-im.github.io/wis2-guide/guide/wis2-guide-APPROVED.html#_1_1_4_why_are_datasets_so_important" TargetMode="External"/><Relationship Id="rId1" Type="http://schemas.openxmlformats.org/officeDocument/2006/relationships/slideLayout" Target="../slideLayouts/slideLayout5.xml"/><Relationship Id="rId6" Type="http://schemas.openxmlformats.org/officeDocument/2006/relationships/image" Target="../media/image8.svg"/><Relationship Id="rId5" Type="http://schemas.microsoft.com/office/2007/relationships/hdphoto" Target="../media/hdphoto1.wdp"/><Relationship Id="rId10" Type="http://schemas.openxmlformats.org/officeDocument/2006/relationships/image" Target="../media/image9.png"/><Relationship Id="rId4" Type="http://schemas.openxmlformats.org/officeDocument/2006/relationships/image" Target="../media/image13.png"/><Relationship Id="rId9" Type="http://schemas.openxmlformats.org/officeDocument/2006/relationships/image" Target="../media/image14.png"/></Relationships>
</file>

<file path=ppt/slides/_rels/slide9.xml.rels><?xml version="1.0" encoding="UTF-8" standalone="yes"?>
<Relationships xmlns="http://schemas.openxmlformats.org/package/2006/relationships"><Relationship Id="rId8" Type="http://schemas.openxmlformats.org/officeDocument/2006/relationships/image" Target="../media/image19.png"/><Relationship Id="rId3" Type="http://schemas.openxmlformats.org/officeDocument/2006/relationships/image" Target="../media/image16.png"/><Relationship Id="rId7" Type="http://schemas.openxmlformats.org/officeDocument/2006/relationships/image" Target="../media/image5.png"/><Relationship Id="rId2" Type="http://schemas.openxmlformats.org/officeDocument/2006/relationships/image" Target="../media/image15.jpeg"/><Relationship Id="rId1" Type="http://schemas.openxmlformats.org/officeDocument/2006/relationships/slideLayout" Target="../slideLayouts/slideLayout5.xml"/><Relationship Id="rId6" Type="http://schemas.openxmlformats.org/officeDocument/2006/relationships/image" Target="../media/image18.png"/><Relationship Id="rId5" Type="http://schemas.openxmlformats.org/officeDocument/2006/relationships/image" Target="../media/image4.png"/><Relationship Id="rId4" Type="http://schemas.openxmlformats.org/officeDocument/2006/relationships/image" Target="../media/image17.svg"/></Relationships>
</file>

<file path=ppt/slides/_rels/slide10.xml.rels><?xml version="1.0" encoding="UTF-8" standalone="yes"?>
<Relationships xmlns="http://schemas.openxmlformats.org/package/2006/relationships"><Relationship Id="rId8" Type="http://schemas.openxmlformats.org/officeDocument/2006/relationships/image" Target="../media/image22.png"/><Relationship Id="rId13" Type="http://schemas.openxmlformats.org/officeDocument/2006/relationships/image" Target="../media/image23.png"/><Relationship Id="rId3" Type="http://schemas.openxmlformats.org/officeDocument/2006/relationships/image" Target="../media/image4.png"/><Relationship Id="rId7" Type="http://schemas.openxmlformats.org/officeDocument/2006/relationships/image" Target="../media/image21.png"/><Relationship Id="rId12" Type="http://schemas.openxmlformats.org/officeDocument/2006/relationships/hyperlink" Target="https://wmo-im.github.io/wis2-topic-hierarchy/standard/wis2-topic-hierarchy-DRAFT.html" TargetMode="External"/><Relationship Id="rId2" Type="http://schemas.openxmlformats.org/officeDocument/2006/relationships/image" Target="../media/image20.png"/><Relationship Id="rId1" Type="http://schemas.openxmlformats.org/officeDocument/2006/relationships/slideLayout" Target="../slideLayouts/slideLayout5.xml"/><Relationship Id="rId6" Type="http://schemas.openxmlformats.org/officeDocument/2006/relationships/image" Target="../media/image15.jpeg"/><Relationship Id="rId11" Type="http://schemas.openxmlformats.org/officeDocument/2006/relationships/hyperlink" Target="https://wmo-im.github.io/wis2-notification-message/standard/wis2-notification-message-DRAFT.html" TargetMode="External"/><Relationship Id="rId5" Type="http://schemas.openxmlformats.org/officeDocument/2006/relationships/image" Target="../media/image5.png"/><Relationship Id="rId10" Type="http://schemas.openxmlformats.org/officeDocument/2006/relationships/hyperlink" Target="https://wmo-im.github.io/wis2-guide/guide/wis2-guide-DRAFT.html#_how_to_get_started" TargetMode="External"/><Relationship Id="rId4" Type="http://schemas.openxmlformats.org/officeDocument/2006/relationships/image" Target="../media/image18.png"/><Relationship Id="rId9" Type="http://schemas.openxmlformats.org/officeDocument/2006/relationships/hyperlink" Target="https://wmo-im.github.io/wis2-guide/guide/wis2-guide-DRAFT.html#_why_are_datasets_so_important" TargetMode="External"/><Relationship Id="rId14" Type="http://schemas.openxmlformats.org/officeDocument/2006/relationships/image" Target="../media/image24.png"/></Relationships>
</file>

<file path=ppt/slides/_rels/slide11.xml.rels><?xml version="1.0" encoding="UTF-8" standalone="yes"?>
<Relationships xmlns="http://schemas.openxmlformats.org/package/2006/relationships"><Relationship Id="rId8" Type="http://schemas.openxmlformats.org/officeDocument/2006/relationships/image" Target="../media/image26.png"/><Relationship Id="rId13" Type="http://schemas.openxmlformats.org/officeDocument/2006/relationships/image" Target="../media/image21.png"/><Relationship Id="rId3" Type="http://schemas.openxmlformats.org/officeDocument/2006/relationships/hyperlink" Target="https://wmo-im.github.io/wcmp2/standard/wcmp2-STABLE.html" TargetMode="External"/><Relationship Id="rId7" Type="http://schemas.openxmlformats.org/officeDocument/2006/relationships/image" Target="../media/image25.png"/><Relationship Id="rId12" Type="http://schemas.openxmlformats.org/officeDocument/2006/relationships/image" Target="../media/image23.png"/><Relationship Id="rId2" Type="http://schemas.openxmlformats.org/officeDocument/2006/relationships/hyperlink" Target="https://wmo-im.github.io/wis2-guide/guide/wis2-guide-APPROVED.html#_1_3_2_how_to_provide_discovery_metadata_to_wis2" TargetMode="External"/><Relationship Id="rId1" Type="http://schemas.openxmlformats.org/officeDocument/2006/relationships/slideLayout" Target="../slideLayouts/slideLayout5.xml"/><Relationship Id="rId6" Type="http://schemas.openxmlformats.org/officeDocument/2006/relationships/image" Target="../media/image20.png"/><Relationship Id="rId11" Type="http://schemas.openxmlformats.org/officeDocument/2006/relationships/image" Target="../media/image22.png"/><Relationship Id="rId5" Type="http://schemas.openxmlformats.org/officeDocument/2006/relationships/image" Target="../media/image18.png"/><Relationship Id="rId15" Type="http://schemas.openxmlformats.org/officeDocument/2006/relationships/image" Target="../media/image27.jpeg"/><Relationship Id="rId10" Type="http://schemas.openxmlformats.org/officeDocument/2006/relationships/image" Target="../media/image6.svg"/><Relationship Id="rId4" Type="http://schemas.openxmlformats.org/officeDocument/2006/relationships/image" Target="../media/image4.png"/><Relationship Id="rId9" Type="http://schemas.openxmlformats.org/officeDocument/2006/relationships/image" Target="../media/image5.png"/><Relationship Id="rId14" Type="http://schemas.openxmlformats.org/officeDocument/2006/relationships/image" Target="../media/image24.png"/></Relationships>
</file>

<file path=ppt/slides/_rels/slide12.xml.rels><?xml version="1.0" encoding="UTF-8" standalone="yes"?>
<Relationships xmlns="http://schemas.openxmlformats.org/package/2006/relationships"><Relationship Id="rId8" Type="http://schemas.openxmlformats.org/officeDocument/2006/relationships/image" Target="../media/image8.svg"/><Relationship Id="rId13" Type="http://schemas.openxmlformats.org/officeDocument/2006/relationships/image" Target="../media/image18.png"/><Relationship Id="rId3" Type="http://schemas.openxmlformats.org/officeDocument/2006/relationships/hyperlink" Target="https://wis2.dwd.de/gdc/collections/wis2-discovery-metadata/items" TargetMode="External"/><Relationship Id="rId7" Type="http://schemas.microsoft.com/office/2007/relationships/hdphoto" Target="../media/hdphoto1.wdp"/><Relationship Id="rId12" Type="http://schemas.openxmlformats.org/officeDocument/2006/relationships/image" Target="../media/image9.png"/><Relationship Id="rId2" Type="http://schemas.openxmlformats.org/officeDocument/2006/relationships/hyperlink" Target="https://wis2-gdc.weather.gc.ca/collections/wis2-discovery-metadata/items" TargetMode="External"/><Relationship Id="rId1" Type="http://schemas.openxmlformats.org/officeDocument/2006/relationships/slideLayout" Target="../slideLayouts/slideLayout1.xml"/><Relationship Id="rId6" Type="http://schemas.openxmlformats.org/officeDocument/2006/relationships/image" Target="../media/image13.png"/><Relationship Id="rId11" Type="http://schemas.openxmlformats.org/officeDocument/2006/relationships/image" Target="../media/image14.png"/><Relationship Id="rId5" Type="http://schemas.openxmlformats.org/officeDocument/2006/relationships/image" Target="../media/image7.svg"/><Relationship Id="rId10" Type="http://schemas.openxmlformats.org/officeDocument/2006/relationships/image" Target="../media/image5.png"/><Relationship Id="rId4" Type="http://schemas.openxmlformats.org/officeDocument/2006/relationships/hyperlink" Target="https://gdc.wis.cma.cn/collections/wis2-discovery-metadata/items" TargetMode="External"/><Relationship Id="rId9" Type="http://schemas.openxmlformats.org/officeDocument/2006/relationships/image" Target="../media/image6.svg"/></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hyperlink" Target="https://wmo-im.github.io/wis2-guide/guide/wis2-guide-APPROVED.html#_2_4_4_global_discovery_catalogue" TargetMode="External"/><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hyperlink" Target="https://wmo-im.github.io/wis2-guide/guide/wis2-guide-APPROVED.html#_footnotedef_49" TargetMode="External"/><Relationship Id="rId2" Type="http://schemas.openxmlformats.org/officeDocument/2006/relationships/notesSlide" Target="../notesSlides/notesSlide6.xml"/><Relationship Id="rId1" Type="http://schemas.openxmlformats.org/officeDocument/2006/relationships/slideLayout" Target="../slideLayouts/slideLayout7.xml"/><Relationship Id="rId4" Type="http://schemas.openxmlformats.org/officeDocument/2006/relationships/hyperlink" Target="https://wmo-im.github.io/wis2-guide/guide/wis2-guide-APPROVED.html#_2_7_5_global_discovery_catalogue" TargetMode="External"/></Relationships>
</file>

<file path=ppt/slides/_rels/slide17.xml.rels><?xml version="1.0" encoding="UTF-8" standalone="yes"?>
<Relationships xmlns="http://schemas.openxmlformats.org/package/2006/relationships"><Relationship Id="rId3" Type="http://schemas.openxmlformats.org/officeDocument/2006/relationships/hyperlink" Target="https://wmo-im.github.io/wis2-guide/guide/wis2-guide-APPROVED.html#_2_7_5_global_discovery_catalogue" TargetMode="External"/><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hyperlink" Target="https://wmo-im.github.io/wis2-guide/guide/wis2-guide-APPROVED.html#_2_7_5_global_discovery_catalogue" TargetMode="External"/><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hyperlink" Target="https://wmo-im.github.io/wis2-guide/guide/wis2-guide-APPROVED.html#_2_7_5_global_discovery_catalogue" TargetMode="External"/><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5.xml"/></Relationships>
</file>

<file path=ppt/slides/_rels/slide23.xml.rels><?xml version="1.0" encoding="UTF-8" standalone="yes"?>
<Relationships xmlns="http://schemas.openxmlformats.org/package/2006/relationships"><Relationship Id="rId3" Type="http://schemas.openxmlformats.org/officeDocument/2006/relationships/image" Target="../media/image5.png"/><Relationship Id="rId7" Type="http://schemas.openxmlformats.org/officeDocument/2006/relationships/image" Target="../media/image9.png"/><Relationship Id="rId2" Type="http://schemas.openxmlformats.org/officeDocument/2006/relationships/image" Target="../media/image4.png"/><Relationship Id="rId1" Type="http://schemas.openxmlformats.org/officeDocument/2006/relationships/slideLayout" Target="../slideLayouts/slideLayout1.xml"/><Relationship Id="rId6" Type="http://schemas.openxmlformats.org/officeDocument/2006/relationships/image" Target="../media/image8.svg"/><Relationship Id="rId5" Type="http://schemas.openxmlformats.org/officeDocument/2006/relationships/image" Target="../media/image7.svg"/><Relationship Id="rId4" Type="http://schemas.openxmlformats.org/officeDocument/2006/relationships/image" Target="../media/image6.svg"/></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hyperlink" Target="https://wmo-im.github.io/wis2-guide/guide/wis2-guide-APPROVED.html#_1_1_4_why_are_datasets_so_important" TargetMode="External"/><Relationship Id="rId1" Type="http://schemas.openxmlformats.org/officeDocument/2006/relationships/slideLayout" Target="../slideLayouts/slideLayout5.xml"/></Relationships>
</file>

<file path=ppt/slides/_rels/slide26.xml.rels><?xml version="1.0" encoding="UTF-8" standalone="yes"?>
<Relationships xmlns="http://schemas.openxmlformats.org/package/2006/relationships"><Relationship Id="rId3" Type="http://schemas.openxmlformats.org/officeDocument/2006/relationships/hyperlink" Target="https://wmo-im.github.io/wis2-guide/guide/wis2-guide-APPROVED.html#_1_1_4_why_are_datasets_so_important" TargetMode="External"/><Relationship Id="rId2" Type="http://schemas.openxmlformats.org/officeDocument/2006/relationships/hyperlink" Target="https://github.com/wmo-im/wis2-gdc" TargetMode="External"/><Relationship Id="rId1" Type="http://schemas.openxmlformats.org/officeDocument/2006/relationships/slideLayout" Target="../slideLayouts/slideLayout5.xml"/></Relationships>
</file>

<file path=ppt/slides/_rels/slide27.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3" Type="http://schemas.openxmlformats.org/officeDocument/2006/relationships/hyperlink" Target="https://github.com/wmo-im/pywiscat?tab=readme-ov-file#running" TargetMode="External"/><Relationship Id="rId2" Type="http://schemas.openxmlformats.org/officeDocument/2006/relationships/hyperlink" Target="https://github.com/wmo-im/wis2-guide/blob/INFCOM-4/guide/sections/part3/sensor-centres.adoc#3341-technical-considerations" TargetMode="External"/><Relationship Id="rId1" Type="http://schemas.openxmlformats.org/officeDocument/2006/relationships/slideLayout" Target="../slideLayouts/slideLayout5.xml"/><Relationship Id="rId4" Type="http://schemas.openxmlformats.org/officeDocument/2006/relationships/hyperlink" Target="https://wmo-im.github.io/wis2-guide/guide/wis2-guide-APPROVED.html#_1_1_4_why_are_datasets_so_important" TargetMode="External"/></Relationships>
</file>

<file path=ppt/slides/_rels/slide29.xml.rels><?xml version="1.0" encoding="UTF-8" standalone="yes"?>
<Relationships xmlns="http://schemas.openxmlformats.org/package/2006/relationships"><Relationship Id="rId2" Type="http://schemas.openxmlformats.org/officeDocument/2006/relationships/hyperlink" Target="https://github.com/wmo-im/wis2-champions/blob/main/Bali-workshop-MAR2026/presentations/day3/wis2-gdc-exercise.md" TargetMode="External"/><Relationship Id="rId1" Type="http://schemas.openxmlformats.org/officeDocument/2006/relationships/slideLayout" Target="../slideLayouts/slideLayout5.xml"/></Relationships>
</file>

<file path=ppt/slides/_rels/slide30.xml.rels><?xml version="1.0" encoding="UTF-8" standalone="yes"?>
<Relationships xmlns="http://schemas.openxmlformats.org/package/2006/relationships"><Relationship Id="rId3" Type="http://schemas.openxmlformats.org/officeDocument/2006/relationships/hyperlink" Target="https://wmo-im.github.io/wis2-guide/guide/wis2-guide-APPROVED.html#_1_1_4_why_are_datasets_so_important" TargetMode="External"/><Relationship Id="rId2" Type="http://schemas.openxmlformats.org/officeDocument/2006/relationships/hyperlink" Target="https://github.com/wmo-im/pywiscat" TargetMode="External"/><Relationship Id="rId1" Type="http://schemas.openxmlformats.org/officeDocument/2006/relationships/slideLayout" Target="../slideLayouts/slideLayout5.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C0F41481-C6BF-C213-3477-846899AA2513}"/>
              </a:ext>
            </a:extLst>
          </p:cNvPr>
          <p:cNvSpPr>
            <a:spLocks noGrp="1"/>
          </p:cNvSpPr>
          <p:nvPr>
            <p:ph type="title"/>
          </p:nvPr>
        </p:nvSpPr>
        <p:spPr>
          <a:xfrm>
            <a:off x="944217" y="2573798"/>
            <a:ext cx="10515600" cy="1710404"/>
          </a:xfrm>
        </p:spPr>
        <p:txBody>
          <a:bodyPr>
            <a:normAutofit fontScale="90000"/>
          </a:bodyPr>
          <a:lstStyle/>
          <a:p>
            <a:pPr>
              <a:lnSpc>
                <a:spcPct val="150000"/>
              </a:lnSpc>
            </a:pPr>
            <a:r>
              <a:rPr lang="en-US" dirty="0">
                <a:latin typeface="Arial" panose="020B0604020202020204" pitchFamily="34" charset="0"/>
                <a:cs typeface="Arial" panose="020B0604020202020204" pitchFamily="34" charset="0"/>
              </a:rPr>
              <a:t>WIS2 Metadata and Global Discovery Catalogue</a:t>
            </a:r>
            <a:br>
              <a:rPr lang="en-US" dirty="0">
                <a:latin typeface="Arial" panose="020B0604020202020204" pitchFamily="34" charset="0"/>
                <a:cs typeface="Arial" panose="020B0604020202020204" pitchFamily="34" charset="0"/>
              </a:rPr>
            </a:br>
            <a:r>
              <a:rPr lang="en-US" dirty="0">
                <a:latin typeface="Arial" panose="020B0604020202020204" pitchFamily="34" charset="0"/>
                <a:cs typeface="Arial" panose="020B0604020202020204" pitchFamily="34" charset="0"/>
              </a:rPr>
              <a:t>Deep Dive</a:t>
            </a:r>
            <a:br>
              <a:rPr lang="en-US" sz="4400" dirty="0">
                <a:solidFill>
                  <a:schemeClr val="bg1"/>
                </a:solidFill>
              </a:rPr>
            </a:br>
            <a:br>
              <a:rPr lang="en-US" dirty="0">
                <a:solidFill>
                  <a:schemeClr val="bg1"/>
                </a:solidFill>
              </a:rPr>
            </a:br>
            <a:br>
              <a:rPr lang="en-US" sz="1800" dirty="0"/>
            </a:br>
            <a:br>
              <a:rPr lang="en-US" sz="1800" dirty="0"/>
            </a:br>
            <a:br>
              <a:rPr lang="en-US" sz="1800" dirty="0"/>
            </a:br>
            <a:br>
              <a:rPr lang="en-US" sz="1800" dirty="0"/>
            </a:br>
            <a:r>
              <a:rPr lang="en-US" sz="1800" dirty="0"/>
              <a:t>2026-04-01</a:t>
            </a:r>
            <a:endParaRPr lang="fr-FR" sz="1800" dirty="0"/>
          </a:p>
        </p:txBody>
      </p:sp>
      <p:sp>
        <p:nvSpPr>
          <p:cNvPr id="3" name="TextBox 2">
            <a:extLst>
              <a:ext uri="{FF2B5EF4-FFF2-40B4-BE49-F238E27FC236}">
                <a16:creationId xmlns:a16="http://schemas.microsoft.com/office/drawing/2014/main" id="{3BCB0E0F-8211-0250-7AA3-68D9023CFF33}"/>
              </a:ext>
            </a:extLst>
          </p:cNvPr>
          <p:cNvSpPr txBox="1"/>
          <p:nvPr/>
        </p:nvSpPr>
        <p:spPr>
          <a:xfrm>
            <a:off x="4328465" y="3469341"/>
            <a:ext cx="3535070" cy="1015663"/>
          </a:xfrm>
          <a:prstGeom prst="rect">
            <a:avLst/>
          </a:prstGeom>
          <a:noFill/>
        </p:spPr>
        <p:txBody>
          <a:bodyPr wrap="none" rtlCol="0">
            <a:spAutoFit/>
          </a:bodyPr>
          <a:lstStyle/>
          <a:p>
            <a:pPr algn="ctr"/>
            <a:r>
              <a:rPr lang="en-US" sz="2000" b="1" dirty="0">
                <a:solidFill>
                  <a:schemeClr val="bg1"/>
                </a:solidFill>
                <a:latin typeface="Arial" panose="020B0604020202020204" pitchFamily="34" charset="0"/>
                <a:cs typeface="Arial" panose="020B0604020202020204" pitchFamily="34" charset="0"/>
              </a:rPr>
              <a:t>Tom Kralidis</a:t>
            </a:r>
            <a:br>
              <a:rPr lang="en-US" sz="2000" b="1" dirty="0">
                <a:solidFill>
                  <a:schemeClr val="bg1"/>
                </a:solidFill>
                <a:latin typeface="Arial" panose="020B0604020202020204" pitchFamily="34" charset="0"/>
                <a:cs typeface="Arial" panose="020B0604020202020204" pitchFamily="34" charset="0"/>
              </a:rPr>
            </a:br>
            <a:r>
              <a:rPr lang="en-US" sz="2000" b="1" dirty="0">
                <a:solidFill>
                  <a:schemeClr val="bg1"/>
                </a:solidFill>
                <a:latin typeface="Arial" panose="020B0604020202020204" pitchFamily="34" charset="0"/>
                <a:cs typeface="Arial" panose="020B0604020202020204" pitchFamily="34" charset="0"/>
              </a:rPr>
              <a:t>Senior Geospatial Architect</a:t>
            </a:r>
            <a:br>
              <a:rPr lang="en-US" sz="2000" b="1" dirty="0">
                <a:solidFill>
                  <a:schemeClr val="bg1"/>
                </a:solidFill>
                <a:latin typeface="Arial" panose="020B0604020202020204" pitchFamily="34" charset="0"/>
                <a:cs typeface="Arial" panose="020B0604020202020204" pitchFamily="34" charset="0"/>
              </a:rPr>
            </a:br>
            <a:r>
              <a:rPr lang="en-US" sz="2000" b="1" dirty="0">
                <a:solidFill>
                  <a:schemeClr val="bg1"/>
                </a:solidFill>
                <a:latin typeface="Arial" panose="020B0604020202020204" pitchFamily="34" charset="0"/>
                <a:cs typeface="Arial" panose="020B0604020202020204" pitchFamily="34" charset="0"/>
              </a:rPr>
              <a:t>WIS 2.0, WIS 2.0 in a box</a:t>
            </a:r>
            <a:endParaRPr lang="en-CA" sz="2000" b="1" dirty="0">
              <a:solidFill>
                <a:schemeClr val="bg1"/>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83559714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4817E5C0-A3E8-AB2F-35B6-149191E4B540}"/>
              </a:ext>
            </a:extLst>
          </p:cNvPr>
          <p:cNvSpPr>
            <a:spLocks noGrp="1"/>
          </p:cNvSpPr>
          <p:nvPr>
            <p:ph type="subTitle" idx="1"/>
          </p:nvPr>
        </p:nvSpPr>
        <p:spPr>
          <a:xfrm>
            <a:off x="914400" y="1305889"/>
            <a:ext cx="9144000" cy="4488359"/>
          </a:xfrm>
        </p:spPr>
        <p:txBody>
          <a:bodyPr>
            <a:normAutofit/>
          </a:bodyPr>
          <a:lstStyle/>
          <a:p>
            <a:pPr marL="342900" indent="-342900" algn="l">
              <a:buFont typeface="Arial" panose="020B0604020202020204" pitchFamily="34" charset="0"/>
              <a:buChar char="•"/>
            </a:pPr>
            <a:r>
              <a:rPr lang="en-US" sz="4000" dirty="0"/>
              <a:t>Recaps</a:t>
            </a:r>
          </a:p>
          <a:p>
            <a:pPr marL="800100" lvl="1" indent="-342900" algn="l">
              <a:buFont typeface="Arial" panose="020B0604020202020204" pitchFamily="34" charset="0"/>
              <a:buChar char="•"/>
            </a:pPr>
            <a:r>
              <a:rPr lang="en-US" sz="3600" dirty="0"/>
              <a:t>WCMP2</a:t>
            </a:r>
          </a:p>
          <a:p>
            <a:pPr marL="800100" lvl="1" indent="-342900" algn="l">
              <a:buFont typeface="Arial" panose="020B0604020202020204" pitchFamily="34" charset="0"/>
              <a:buChar char="•"/>
            </a:pPr>
            <a:r>
              <a:rPr lang="en-US" sz="3600" dirty="0"/>
              <a:t>GDC</a:t>
            </a:r>
          </a:p>
          <a:p>
            <a:pPr marL="342900" indent="-342900" algn="l">
              <a:buFont typeface="Arial" panose="020B0604020202020204" pitchFamily="34" charset="0"/>
              <a:buChar char="•"/>
            </a:pPr>
            <a:r>
              <a:rPr lang="en-US" sz="4000" dirty="0"/>
              <a:t>wis2-gdc RI</a:t>
            </a:r>
          </a:p>
          <a:p>
            <a:pPr marL="342900" indent="-342900" algn="l">
              <a:buFont typeface="Arial" panose="020B0604020202020204" pitchFamily="34" charset="0"/>
              <a:buChar char="•"/>
            </a:pPr>
            <a:r>
              <a:rPr lang="en-US" sz="4000" dirty="0" err="1"/>
              <a:t>pywiscat</a:t>
            </a:r>
            <a:endParaRPr lang="en-US" sz="4000" dirty="0"/>
          </a:p>
          <a:p>
            <a:pPr marL="342900" indent="-342900" algn="l">
              <a:buFont typeface="Arial" panose="020B0604020202020204" pitchFamily="34" charset="0"/>
              <a:buChar char="•"/>
            </a:pPr>
            <a:r>
              <a:rPr lang="en-US" sz="4000" dirty="0"/>
              <a:t>Sensor </a:t>
            </a:r>
            <a:r>
              <a:rPr lang="en-US" sz="4000" dirty="0" err="1"/>
              <a:t>Centres</a:t>
            </a:r>
            <a:r>
              <a:rPr lang="en-US" sz="4000" dirty="0"/>
              <a:t> for GDC</a:t>
            </a:r>
          </a:p>
        </p:txBody>
      </p:sp>
      <p:sp>
        <p:nvSpPr>
          <p:cNvPr id="4" name="TextBox 3">
            <a:extLst>
              <a:ext uri="{FF2B5EF4-FFF2-40B4-BE49-F238E27FC236}">
                <a16:creationId xmlns:a16="http://schemas.microsoft.com/office/drawing/2014/main" id="{45C9A2B5-535B-28FC-FA4F-2C55F68A095B}"/>
              </a:ext>
            </a:extLst>
          </p:cNvPr>
          <p:cNvSpPr txBox="1"/>
          <p:nvPr/>
        </p:nvSpPr>
        <p:spPr>
          <a:xfrm>
            <a:off x="1721020" y="0"/>
            <a:ext cx="9066249" cy="769441"/>
          </a:xfrm>
          <a:prstGeom prst="rect">
            <a:avLst/>
          </a:prstGeom>
          <a:noFill/>
        </p:spPr>
        <p:txBody>
          <a:bodyPr wrap="square">
            <a:spAutoFit/>
          </a:bodyPr>
          <a:lstStyle/>
          <a:p>
            <a:r>
              <a:rPr lang="en-US" sz="4400" b="1" dirty="0">
                <a:solidFill>
                  <a:schemeClr val="tx2">
                    <a:lumMod val="75000"/>
                  </a:schemeClr>
                </a:solidFill>
                <a:latin typeface="+mj-lt"/>
                <a:ea typeface="+mj-ea"/>
                <a:cs typeface="+mj-cs"/>
              </a:rPr>
              <a:t>Outline</a:t>
            </a:r>
            <a:endParaRPr lang="en-CH" sz="4400" b="1" dirty="0">
              <a:solidFill>
                <a:schemeClr val="tx2">
                  <a:lumMod val="75000"/>
                </a:schemeClr>
              </a:solidFill>
              <a:latin typeface="+mj-lt"/>
              <a:ea typeface="+mj-ea"/>
              <a:cs typeface="+mj-cs"/>
            </a:endParaRPr>
          </a:p>
        </p:txBody>
      </p:sp>
    </p:spTree>
    <p:extLst>
      <p:ext uri="{BB962C8B-B14F-4D97-AF65-F5344CB8AC3E}">
        <p14:creationId xmlns:p14="http://schemas.microsoft.com/office/powerpoint/2010/main" val="370430008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a:extLst>
              <a:ext uri="{FF2B5EF4-FFF2-40B4-BE49-F238E27FC236}">
                <a16:creationId xmlns:a16="http://schemas.microsoft.com/office/drawing/2014/main" id="{037B1538-CA7C-EC61-6F3A-EBEBD332895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30313" y="0"/>
            <a:ext cx="9731375" cy="6858000"/>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8E38B59A-F26B-4380-C436-72D2712971B4}"/>
              </a:ext>
            </a:extLst>
          </p:cNvPr>
          <p:cNvSpPr txBox="1"/>
          <p:nvPr/>
        </p:nvSpPr>
        <p:spPr>
          <a:xfrm>
            <a:off x="3791131" y="1978007"/>
            <a:ext cx="2627086" cy="1785257"/>
          </a:xfrm>
          <a:prstGeom prst="rect">
            <a:avLst/>
          </a:prstGeom>
          <a:solidFill>
            <a:srgbClr val="00B050">
              <a:alpha val="30000"/>
            </a:srgbClr>
          </a:solidFill>
        </p:spPr>
        <p:txBody>
          <a:bodyPr wrap="square" rtlCol="0">
            <a:spAutoFit/>
          </a:bodyPr>
          <a:lstStyle/>
          <a:p>
            <a:endParaRPr lang="en-US" dirty="0"/>
          </a:p>
        </p:txBody>
      </p:sp>
    </p:spTree>
    <p:extLst>
      <p:ext uri="{BB962C8B-B14F-4D97-AF65-F5344CB8AC3E}">
        <p14:creationId xmlns:p14="http://schemas.microsoft.com/office/powerpoint/2010/main" val="25336696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DE7718-6A47-9E96-72EA-B71EE1ADB8E0}"/>
            </a:ext>
          </a:extLst>
        </p:cNvPr>
        <p:cNvGrpSpPr/>
        <p:nvPr/>
      </p:nvGrpSpPr>
      <p:grpSpPr>
        <a:xfrm>
          <a:off x="0" y="0"/>
          <a:ext cx="0" cy="0"/>
          <a:chOff x="0" y="0"/>
          <a:chExt cx="0" cy="0"/>
        </a:xfrm>
      </p:grpSpPr>
      <p:sp>
        <p:nvSpPr>
          <p:cNvPr id="3" name="Subtitle 2">
            <a:extLst>
              <a:ext uri="{FF2B5EF4-FFF2-40B4-BE49-F238E27FC236}">
                <a16:creationId xmlns:a16="http://schemas.microsoft.com/office/drawing/2014/main" id="{52C38003-626F-450A-18EA-720BBAA6EA4B}"/>
              </a:ext>
            </a:extLst>
          </p:cNvPr>
          <p:cNvSpPr>
            <a:spLocks noGrp="1"/>
          </p:cNvSpPr>
          <p:nvPr>
            <p:ph type="subTitle" idx="1"/>
          </p:nvPr>
        </p:nvSpPr>
        <p:spPr>
          <a:xfrm>
            <a:off x="914400" y="1305889"/>
            <a:ext cx="9144000" cy="4488359"/>
          </a:xfrm>
        </p:spPr>
        <p:txBody>
          <a:bodyPr>
            <a:normAutofit fontScale="70000" lnSpcReduction="20000"/>
          </a:bodyPr>
          <a:lstStyle/>
          <a:p>
            <a:pPr marL="342900" indent="-342900" algn="l">
              <a:buFont typeface="Arial" panose="020B0604020202020204" pitchFamily="34" charset="0"/>
              <a:buChar char="•"/>
            </a:pPr>
            <a:r>
              <a:rPr lang="en-US" sz="4000" dirty="0"/>
              <a:t>Built on formal international standards</a:t>
            </a:r>
          </a:p>
          <a:p>
            <a:pPr marL="800100" lvl="1" indent="-342900" algn="l">
              <a:buFont typeface="Arial" panose="020B0604020202020204" pitchFamily="34" charset="0"/>
              <a:buChar char="•"/>
            </a:pPr>
            <a:r>
              <a:rPr lang="en-US" sz="3600" dirty="0"/>
              <a:t>OGC, ISO, etc.</a:t>
            </a:r>
          </a:p>
          <a:p>
            <a:pPr marL="800100" lvl="1" indent="-342900" algn="l">
              <a:buFont typeface="Arial" panose="020B0604020202020204" pitchFamily="34" charset="0"/>
              <a:buChar char="•"/>
            </a:pPr>
            <a:r>
              <a:rPr lang="en-US" sz="3600" dirty="0"/>
              <a:t>WIS2 standards defined by exception</a:t>
            </a:r>
          </a:p>
          <a:p>
            <a:pPr marL="342900" indent="-342900" algn="l">
              <a:buFont typeface="Arial" panose="020B0604020202020204" pitchFamily="34" charset="0"/>
              <a:buChar char="•"/>
            </a:pPr>
            <a:r>
              <a:rPr lang="en-US" sz="4000" dirty="0"/>
              <a:t>Low barrier data exchange</a:t>
            </a:r>
          </a:p>
          <a:p>
            <a:pPr marL="800100" lvl="1" indent="-342900" algn="l">
              <a:buFont typeface="Arial" panose="020B0604020202020204" pitchFamily="34" charset="0"/>
              <a:buChar char="•"/>
            </a:pPr>
            <a:r>
              <a:rPr lang="en-US" sz="3200" dirty="0"/>
              <a:t>Publishing metadata</a:t>
            </a:r>
          </a:p>
          <a:p>
            <a:pPr marL="800100" lvl="1" indent="-342900" algn="l">
              <a:buFont typeface="Arial" panose="020B0604020202020204" pitchFamily="34" charset="0"/>
              <a:buChar char="•"/>
            </a:pPr>
            <a:r>
              <a:rPr lang="en-US" sz="3200" dirty="0"/>
              <a:t>Publishing data</a:t>
            </a:r>
          </a:p>
          <a:p>
            <a:pPr marL="342900" indent="-342900" algn="l">
              <a:buFont typeface="Arial" panose="020B0604020202020204" pitchFamily="34" charset="0"/>
              <a:buChar char="•"/>
            </a:pPr>
            <a:r>
              <a:rPr lang="en-US" sz="3600" dirty="0"/>
              <a:t>Easy access to any weather/climate/water data</a:t>
            </a:r>
          </a:p>
          <a:p>
            <a:pPr marL="800100" lvl="1" indent="-342900" algn="l">
              <a:buFont typeface="Arial" panose="020B0604020202020204" pitchFamily="34" charset="0"/>
              <a:buChar char="•"/>
            </a:pPr>
            <a:r>
              <a:rPr lang="en-US" sz="3200" dirty="0"/>
              <a:t>Real-time</a:t>
            </a:r>
          </a:p>
          <a:p>
            <a:pPr marL="800100" lvl="1" indent="-342900" algn="l">
              <a:buFont typeface="Arial" panose="020B0604020202020204" pitchFamily="34" charset="0"/>
              <a:buChar char="•"/>
            </a:pPr>
            <a:r>
              <a:rPr lang="en-US" sz="3200" dirty="0"/>
              <a:t>Delayed mode</a:t>
            </a:r>
          </a:p>
          <a:p>
            <a:pPr marL="800100" lvl="1" indent="-342900" algn="l">
              <a:buFont typeface="Arial" panose="020B0604020202020204" pitchFamily="34" charset="0"/>
              <a:buChar char="•"/>
            </a:pPr>
            <a:r>
              <a:rPr lang="en-US" sz="3200" dirty="0"/>
              <a:t>Archive</a:t>
            </a:r>
          </a:p>
          <a:p>
            <a:pPr marL="800100" lvl="1" indent="-342900" algn="l">
              <a:buFont typeface="Arial" panose="020B0604020202020204" pitchFamily="34" charset="0"/>
              <a:buChar char="•"/>
            </a:pPr>
            <a:r>
              <a:rPr lang="en-US" sz="3200" dirty="0"/>
              <a:t>GTS data is available on WIS2 as a transitionary measure</a:t>
            </a:r>
          </a:p>
          <a:p>
            <a:pPr marL="342900" indent="-342900" algn="l">
              <a:buFont typeface="Arial" panose="020B0604020202020204" pitchFamily="34" charset="0"/>
              <a:buChar char="•"/>
            </a:pPr>
            <a:r>
              <a:rPr lang="en-US" sz="3600" dirty="0"/>
              <a:t>Supports the Earth system data approach</a:t>
            </a:r>
          </a:p>
          <a:p>
            <a:pPr marL="342900" indent="-342900" algn="l">
              <a:buFont typeface="Arial" panose="020B0604020202020204" pitchFamily="34" charset="0"/>
              <a:buChar char="•"/>
            </a:pPr>
            <a:r>
              <a:rPr lang="en-US" sz="3600" dirty="0"/>
              <a:t>Cloud capable “at scale”</a:t>
            </a:r>
          </a:p>
          <a:p>
            <a:pPr marL="800100" lvl="1" indent="-342900" algn="l">
              <a:buFont typeface="Arial" panose="020B0604020202020204" pitchFamily="34" charset="0"/>
              <a:buChar char="•"/>
            </a:pPr>
            <a:endParaRPr lang="en-US" sz="3200" dirty="0"/>
          </a:p>
        </p:txBody>
      </p:sp>
      <p:sp>
        <p:nvSpPr>
          <p:cNvPr id="4" name="TextBox 3">
            <a:extLst>
              <a:ext uri="{FF2B5EF4-FFF2-40B4-BE49-F238E27FC236}">
                <a16:creationId xmlns:a16="http://schemas.microsoft.com/office/drawing/2014/main" id="{DD53CCE3-1971-D52A-936B-3DB6D25F7D43}"/>
              </a:ext>
            </a:extLst>
          </p:cNvPr>
          <p:cNvSpPr txBox="1"/>
          <p:nvPr/>
        </p:nvSpPr>
        <p:spPr>
          <a:xfrm>
            <a:off x="1721020" y="0"/>
            <a:ext cx="9066249" cy="769441"/>
          </a:xfrm>
          <a:prstGeom prst="rect">
            <a:avLst/>
          </a:prstGeom>
          <a:noFill/>
        </p:spPr>
        <p:txBody>
          <a:bodyPr wrap="square">
            <a:spAutoFit/>
          </a:bodyPr>
          <a:lstStyle/>
          <a:p>
            <a:r>
              <a:rPr lang="en-US" sz="4400" dirty="0">
                <a:solidFill>
                  <a:schemeClr val="tx2">
                    <a:lumMod val="75000"/>
                  </a:schemeClr>
                </a:solidFill>
                <a:latin typeface="+mj-lt"/>
                <a:ea typeface="+mj-ea"/>
                <a:cs typeface="+mj-cs"/>
              </a:rPr>
              <a:t>WIS 2.0 Value Proposition</a:t>
            </a:r>
            <a:endParaRPr lang="en-CH" sz="4400" dirty="0">
              <a:solidFill>
                <a:schemeClr val="tx2">
                  <a:lumMod val="75000"/>
                </a:schemeClr>
              </a:solidFill>
              <a:latin typeface="+mj-lt"/>
              <a:ea typeface="+mj-ea"/>
              <a:cs typeface="+mj-cs"/>
            </a:endParaRPr>
          </a:p>
        </p:txBody>
      </p:sp>
    </p:spTree>
    <p:extLst>
      <p:ext uri="{BB962C8B-B14F-4D97-AF65-F5344CB8AC3E}">
        <p14:creationId xmlns:p14="http://schemas.microsoft.com/office/powerpoint/2010/main" val="314606741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Cloud 16">
            <a:extLst>
              <a:ext uri="{FF2B5EF4-FFF2-40B4-BE49-F238E27FC236}">
                <a16:creationId xmlns:a16="http://schemas.microsoft.com/office/drawing/2014/main" id="{05AE10B9-8254-9150-CCAB-21DE42407EF0}"/>
              </a:ext>
            </a:extLst>
          </p:cNvPr>
          <p:cNvSpPr/>
          <p:nvPr/>
        </p:nvSpPr>
        <p:spPr>
          <a:xfrm>
            <a:off x="1761566" y="1059776"/>
            <a:ext cx="8444752" cy="5384156"/>
          </a:xfrm>
          <a:prstGeom prst="cloud">
            <a:avLst/>
          </a:prstGeom>
          <a:solidFill>
            <a:schemeClr val="accent1">
              <a:alpha val="5000"/>
            </a:schemeClr>
          </a:solidFill>
          <a:ln>
            <a:solidFill>
              <a:schemeClr val="accent1">
                <a:shade val="95000"/>
                <a:satMod val="105000"/>
                <a:alpha val="151"/>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21" name="Rectangle 20">
            <a:extLst>
              <a:ext uri="{FF2B5EF4-FFF2-40B4-BE49-F238E27FC236}">
                <a16:creationId xmlns:a16="http://schemas.microsoft.com/office/drawing/2014/main" id="{552191A3-8A5E-41C0-4EDB-5C3180B59D7C}"/>
              </a:ext>
            </a:extLst>
          </p:cNvPr>
          <p:cNvSpPr/>
          <p:nvPr/>
        </p:nvSpPr>
        <p:spPr>
          <a:xfrm>
            <a:off x="-53788" y="0"/>
            <a:ext cx="12245788" cy="734218"/>
          </a:xfrm>
          <a:prstGeom prst="rect">
            <a:avLst/>
          </a:prstGeom>
          <a:solidFill>
            <a:srgbClr val="034D9E"/>
          </a:solidFill>
        </p:spPr>
        <p:style>
          <a:lnRef idx="1">
            <a:schemeClr val="accent1"/>
          </a:lnRef>
          <a:fillRef idx="3">
            <a:schemeClr val="accent1"/>
          </a:fillRef>
          <a:effectRef idx="2">
            <a:schemeClr val="accent1"/>
          </a:effectRef>
          <a:fontRef idx="minor">
            <a:schemeClr val="lt1"/>
          </a:fontRef>
        </p:style>
        <p:txBody>
          <a:bodyPr rtlCol="0" anchor="ctr"/>
          <a:lstStyle/>
          <a:p>
            <a:pPr algn="ctr"/>
            <a:r>
              <a:rPr lang="en-CA" sz="3200" b="1" dirty="0"/>
              <a:t>Publish, Find, Subscribe, Download</a:t>
            </a:r>
            <a:endParaRPr lang="en-CH" sz="3200" b="1" dirty="0"/>
          </a:p>
        </p:txBody>
      </p:sp>
      <p:cxnSp>
        <p:nvCxnSpPr>
          <p:cNvPr id="18" name="Straight Arrow Connector 17">
            <a:extLst>
              <a:ext uri="{FF2B5EF4-FFF2-40B4-BE49-F238E27FC236}">
                <a16:creationId xmlns:a16="http://schemas.microsoft.com/office/drawing/2014/main" id="{8593B46B-3354-7E83-F708-D64244DB44DB}"/>
              </a:ext>
            </a:extLst>
          </p:cNvPr>
          <p:cNvCxnSpPr>
            <a:cxnSpLocks/>
            <a:stCxn id="54" idx="2"/>
            <a:endCxn id="59" idx="0"/>
          </p:cNvCxnSpPr>
          <p:nvPr/>
        </p:nvCxnSpPr>
        <p:spPr>
          <a:xfrm>
            <a:off x="7117600" y="2466420"/>
            <a:ext cx="7467" cy="2393322"/>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grpSp>
        <p:nvGrpSpPr>
          <p:cNvPr id="30" name="Group 29">
            <a:extLst>
              <a:ext uri="{FF2B5EF4-FFF2-40B4-BE49-F238E27FC236}">
                <a16:creationId xmlns:a16="http://schemas.microsoft.com/office/drawing/2014/main" id="{F979AA04-354F-87E6-389E-DC96BBA92F57}"/>
              </a:ext>
            </a:extLst>
          </p:cNvPr>
          <p:cNvGrpSpPr/>
          <p:nvPr/>
        </p:nvGrpSpPr>
        <p:grpSpPr>
          <a:xfrm>
            <a:off x="1172178" y="3043051"/>
            <a:ext cx="3203882" cy="510900"/>
            <a:chOff x="1172178" y="3043051"/>
            <a:chExt cx="3203882" cy="510900"/>
          </a:xfrm>
        </p:grpSpPr>
        <p:cxnSp>
          <p:nvCxnSpPr>
            <p:cNvPr id="10" name="Straight Arrow Connector 9">
              <a:extLst>
                <a:ext uri="{FF2B5EF4-FFF2-40B4-BE49-F238E27FC236}">
                  <a16:creationId xmlns:a16="http://schemas.microsoft.com/office/drawing/2014/main" id="{D44D626E-3EA3-8713-7C70-E6D70181295F}"/>
                </a:ext>
              </a:extLst>
            </p:cNvPr>
            <p:cNvCxnSpPr>
              <a:cxnSpLocks/>
              <a:stCxn id="4" idx="3"/>
              <a:endCxn id="52" idx="1"/>
            </p:cNvCxnSpPr>
            <p:nvPr/>
          </p:nvCxnSpPr>
          <p:spPr>
            <a:xfrm flipV="1">
              <a:off x="1172178" y="3361286"/>
              <a:ext cx="3203882" cy="192665"/>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26" name="TextBox 25">
              <a:extLst>
                <a:ext uri="{FF2B5EF4-FFF2-40B4-BE49-F238E27FC236}">
                  <a16:creationId xmlns:a16="http://schemas.microsoft.com/office/drawing/2014/main" id="{64305111-F905-CCB4-5303-8AD872CCBE96}"/>
                </a:ext>
              </a:extLst>
            </p:cNvPr>
            <p:cNvSpPr txBox="1"/>
            <p:nvPr/>
          </p:nvSpPr>
          <p:spPr>
            <a:xfrm>
              <a:off x="2876191" y="3043051"/>
              <a:ext cx="587020" cy="369332"/>
            </a:xfrm>
            <a:prstGeom prst="rect">
              <a:avLst/>
            </a:prstGeom>
            <a:noFill/>
          </p:spPr>
          <p:txBody>
            <a:bodyPr wrap="none" rtlCol="0">
              <a:spAutoFit/>
            </a:bodyPr>
            <a:lstStyle/>
            <a:p>
              <a:r>
                <a:rPr lang="en-US" dirty="0"/>
                <a:t>Find</a:t>
              </a:r>
            </a:p>
          </p:txBody>
        </p:sp>
      </p:grpSp>
      <p:grpSp>
        <p:nvGrpSpPr>
          <p:cNvPr id="29" name="Group 28">
            <a:extLst>
              <a:ext uri="{FF2B5EF4-FFF2-40B4-BE49-F238E27FC236}">
                <a16:creationId xmlns:a16="http://schemas.microsoft.com/office/drawing/2014/main" id="{63F635F0-5132-2BB7-31F6-C1565CD085DF}"/>
              </a:ext>
            </a:extLst>
          </p:cNvPr>
          <p:cNvGrpSpPr/>
          <p:nvPr/>
        </p:nvGrpSpPr>
        <p:grpSpPr>
          <a:xfrm>
            <a:off x="670812" y="1872867"/>
            <a:ext cx="5240429" cy="1590587"/>
            <a:chOff x="670812" y="1872867"/>
            <a:chExt cx="5240429" cy="1590587"/>
          </a:xfrm>
        </p:grpSpPr>
        <p:cxnSp>
          <p:nvCxnSpPr>
            <p:cNvPr id="13" name="Straight Arrow Connector 12">
              <a:extLst>
                <a:ext uri="{FF2B5EF4-FFF2-40B4-BE49-F238E27FC236}">
                  <a16:creationId xmlns:a16="http://schemas.microsoft.com/office/drawing/2014/main" id="{A0C521B7-B2F2-7B38-E42F-1D30577E1866}"/>
                </a:ext>
              </a:extLst>
            </p:cNvPr>
            <p:cNvCxnSpPr>
              <a:cxnSpLocks/>
              <a:endCxn id="54" idx="1"/>
            </p:cNvCxnSpPr>
            <p:nvPr/>
          </p:nvCxnSpPr>
          <p:spPr>
            <a:xfrm flipV="1">
              <a:off x="670812" y="2075853"/>
              <a:ext cx="5240429" cy="1387601"/>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27" name="TextBox 26">
              <a:extLst>
                <a:ext uri="{FF2B5EF4-FFF2-40B4-BE49-F238E27FC236}">
                  <a16:creationId xmlns:a16="http://schemas.microsoft.com/office/drawing/2014/main" id="{35AD0D8C-5D00-566E-6BE9-18B1D59FB40C}"/>
                </a:ext>
              </a:extLst>
            </p:cNvPr>
            <p:cNvSpPr txBox="1"/>
            <p:nvPr/>
          </p:nvSpPr>
          <p:spPr>
            <a:xfrm>
              <a:off x="2945977" y="1872867"/>
              <a:ext cx="1090811" cy="369332"/>
            </a:xfrm>
            <a:prstGeom prst="rect">
              <a:avLst/>
            </a:prstGeom>
            <a:noFill/>
          </p:spPr>
          <p:txBody>
            <a:bodyPr wrap="none" rtlCol="0">
              <a:spAutoFit/>
            </a:bodyPr>
            <a:lstStyle/>
            <a:p>
              <a:r>
                <a:rPr lang="en-US" dirty="0"/>
                <a:t>Subscribe</a:t>
              </a:r>
            </a:p>
          </p:txBody>
        </p:sp>
      </p:grpSp>
      <p:grpSp>
        <p:nvGrpSpPr>
          <p:cNvPr id="31" name="Group 30">
            <a:extLst>
              <a:ext uri="{FF2B5EF4-FFF2-40B4-BE49-F238E27FC236}">
                <a16:creationId xmlns:a16="http://schemas.microsoft.com/office/drawing/2014/main" id="{5D3681F7-372C-D8DC-3D3D-24CC8DA7D115}"/>
              </a:ext>
            </a:extLst>
          </p:cNvPr>
          <p:cNvGrpSpPr/>
          <p:nvPr/>
        </p:nvGrpSpPr>
        <p:grpSpPr>
          <a:xfrm>
            <a:off x="531094" y="3578770"/>
            <a:ext cx="5380147" cy="1671539"/>
            <a:chOff x="531094" y="3578770"/>
            <a:chExt cx="5380147" cy="1671539"/>
          </a:xfrm>
        </p:grpSpPr>
        <p:cxnSp>
          <p:nvCxnSpPr>
            <p:cNvPr id="22" name="Straight Arrow Connector 21">
              <a:extLst>
                <a:ext uri="{FF2B5EF4-FFF2-40B4-BE49-F238E27FC236}">
                  <a16:creationId xmlns:a16="http://schemas.microsoft.com/office/drawing/2014/main" id="{88A2E3B9-9ADD-8A5F-1B25-1E1550086353}"/>
                </a:ext>
              </a:extLst>
            </p:cNvPr>
            <p:cNvCxnSpPr>
              <a:cxnSpLocks/>
              <a:stCxn id="59" idx="1"/>
            </p:cNvCxnSpPr>
            <p:nvPr/>
          </p:nvCxnSpPr>
          <p:spPr>
            <a:xfrm flipH="1" flipV="1">
              <a:off x="531094" y="3578770"/>
              <a:ext cx="5380147" cy="1671539"/>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28" name="TextBox 27">
              <a:extLst>
                <a:ext uri="{FF2B5EF4-FFF2-40B4-BE49-F238E27FC236}">
                  <a16:creationId xmlns:a16="http://schemas.microsoft.com/office/drawing/2014/main" id="{2BDAF64B-523C-8285-B8DE-2F3F3F359B50}"/>
                </a:ext>
              </a:extLst>
            </p:cNvPr>
            <p:cNvSpPr txBox="1"/>
            <p:nvPr/>
          </p:nvSpPr>
          <p:spPr>
            <a:xfrm>
              <a:off x="2595888" y="4483187"/>
              <a:ext cx="1142364" cy="646331"/>
            </a:xfrm>
            <a:prstGeom prst="rect">
              <a:avLst/>
            </a:prstGeom>
            <a:noFill/>
          </p:spPr>
          <p:txBody>
            <a:bodyPr wrap="none" rtlCol="0">
              <a:spAutoFit/>
            </a:bodyPr>
            <a:lstStyle/>
            <a:p>
              <a:r>
                <a:rPr lang="en-US" dirty="0"/>
                <a:t>Download</a:t>
              </a:r>
            </a:p>
            <a:p>
              <a:r>
                <a:rPr lang="en-US" dirty="0"/>
                <a:t>core data</a:t>
              </a:r>
            </a:p>
          </p:txBody>
        </p:sp>
      </p:grpSp>
      <p:pic>
        <p:nvPicPr>
          <p:cNvPr id="4" name="Picture 3">
            <a:extLst>
              <a:ext uri="{FF2B5EF4-FFF2-40B4-BE49-F238E27FC236}">
                <a16:creationId xmlns:a16="http://schemas.microsoft.com/office/drawing/2014/main" id="{7255038E-799E-05EC-0225-54268F75E202}"/>
              </a:ext>
            </a:extLst>
          </p:cNvPr>
          <p:cNvPicPr>
            <a:picLocks noChangeAspect="1"/>
          </p:cNvPicPr>
          <p:nvPr/>
        </p:nvPicPr>
        <p:blipFill>
          <a:blip r:embed="rId2"/>
          <a:stretch>
            <a:fillRect/>
          </a:stretch>
        </p:blipFill>
        <p:spPr>
          <a:xfrm>
            <a:off x="437206" y="2956785"/>
            <a:ext cx="734972" cy="1194331"/>
          </a:xfrm>
          <a:prstGeom prst="rect">
            <a:avLst/>
          </a:prstGeom>
        </p:spPr>
      </p:pic>
      <p:pic>
        <p:nvPicPr>
          <p:cNvPr id="5" name="Picture 4">
            <a:extLst>
              <a:ext uri="{FF2B5EF4-FFF2-40B4-BE49-F238E27FC236}">
                <a16:creationId xmlns:a16="http://schemas.microsoft.com/office/drawing/2014/main" id="{0937E564-8CEC-1563-BD16-1DF105353FFF}"/>
              </a:ext>
            </a:extLst>
          </p:cNvPr>
          <p:cNvPicPr>
            <a:picLocks noChangeAspect="1"/>
          </p:cNvPicPr>
          <p:nvPr/>
        </p:nvPicPr>
        <p:blipFill>
          <a:blip r:embed="rId3"/>
          <a:stretch>
            <a:fillRect/>
          </a:stretch>
        </p:blipFill>
        <p:spPr>
          <a:xfrm>
            <a:off x="10292687" y="1903979"/>
            <a:ext cx="970364" cy="1164438"/>
          </a:xfrm>
          <a:prstGeom prst="rect">
            <a:avLst/>
          </a:prstGeom>
        </p:spPr>
      </p:pic>
      <p:grpSp>
        <p:nvGrpSpPr>
          <p:cNvPr id="2" name="Group 1">
            <a:extLst>
              <a:ext uri="{FF2B5EF4-FFF2-40B4-BE49-F238E27FC236}">
                <a16:creationId xmlns:a16="http://schemas.microsoft.com/office/drawing/2014/main" id="{82F08314-C517-17BE-6735-AE251821723E}"/>
              </a:ext>
            </a:extLst>
          </p:cNvPr>
          <p:cNvGrpSpPr/>
          <p:nvPr/>
        </p:nvGrpSpPr>
        <p:grpSpPr>
          <a:xfrm>
            <a:off x="8402007" y="3227717"/>
            <a:ext cx="1468493" cy="675211"/>
            <a:chOff x="8402007" y="3227717"/>
            <a:chExt cx="1468493" cy="675211"/>
          </a:xfrm>
        </p:grpSpPr>
        <p:cxnSp>
          <p:nvCxnSpPr>
            <p:cNvPr id="25" name="Straight Arrow Connector 24">
              <a:extLst>
                <a:ext uri="{FF2B5EF4-FFF2-40B4-BE49-F238E27FC236}">
                  <a16:creationId xmlns:a16="http://schemas.microsoft.com/office/drawing/2014/main" id="{A6EF6960-E713-B425-DE68-D6D9CDA5D6A7}"/>
                </a:ext>
              </a:extLst>
            </p:cNvPr>
            <p:cNvCxnSpPr>
              <a:cxnSpLocks/>
              <a:stCxn id="72" idx="1"/>
            </p:cNvCxnSpPr>
            <p:nvPr/>
          </p:nvCxnSpPr>
          <p:spPr>
            <a:xfrm flipH="1" flipV="1">
              <a:off x="8402007" y="3597049"/>
              <a:ext cx="1468493" cy="305879"/>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34" name="TextBox 33">
              <a:extLst>
                <a:ext uri="{FF2B5EF4-FFF2-40B4-BE49-F238E27FC236}">
                  <a16:creationId xmlns:a16="http://schemas.microsoft.com/office/drawing/2014/main" id="{A78AC3E5-F74D-58B9-3BAC-FB49CD749D4F}"/>
                </a:ext>
              </a:extLst>
            </p:cNvPr>
            <p:cNvSpPr txBox="1"/>
            <p:nvPr/>
          </p:nvSpPr>
          <p:spPr>
            <a:xfrm>
              <a:off x="8830290" y="3227717"/>
              <a:ext cx="864339" cy="369332"/>
            </a:xfrm>
            <a:prstGeom prst="rect">
              <a:avLst/>
            </a:prstGeom>
            <a:noFill/>
          </p:spPr>
          <p:txBody>
            <a:bodyPr wrap="none" rtlCol="0">
              <a:spAutoFit/>
            </a:bodyPr>
            <a:lstStyle/>
            <a:p>
              <a:r>
                <a:rPr lang="en-US" dirty="0"/>
                <a:t>Publish</a:t>
              </a:r>
            </a:p>
          </p:txBody>
        </p:sp>
      </p:grpSp>
      <p:sp>
        <p:nvSpPr>
          <p:cNvPr id="45" name="Rectangle 44">
            <a:extLst>
              <a:ext uri="{FF2B5EF4-FFF2-40B4-BE49-F238E27FC236}">
                <a16:creationId xmlns:a16="http://schemas.microsoft.com/office/drawing/2014/main" id="{D7953611-B9FA-5ED5-75A0-6FB643BA1C0B}"/>
              </a:ext>
            </a:extLst>
          </p:cNvPr>
          <p:cNvSpPr/>
          <p:nvPr/>
        </p:nvSpPr>
        <p:spPr>
          <a:xfrm>
            <a:off x="4181355" y="965986"/>
            <a:ext cx="4220652" cy="5571735"/>
          </a:xfrm>
          <a:prstGeom prst="rect">
            <a:avLst/>
          </a:prstGeom>
          <a:solidFill>
            <a:schemeClr val="accent1">
              <a:alpha val="12000"/>
            </a:schemeClr>
          </a:solidFill>
          <a:ln w="22225">
            <a:solidFill>
              <a:schemeClr val="tx1"/>
            </a:solidFill>
          </a:ln>
        </p:spPr>
        <p:style>
          <a:lnRef idx="1">
            <a:schemeClr val="accent1"/>
          </a:lnRef>
          <a:fillRef idx="3">
            <a:schemeClr val="accent1"/>
          </a:fillRef>
          <a:effectRef idx="2">
            <a:schemeClr val="accent1"/>
          </a:effectRef>
          <a:fontRef idx="minor">
            <a:schemeClr val="lt1"/>
          </a:fontRef>
        </p:style>
        <p:txBody>
          <a:bodyPr rtlCol="0" anchor="t"/>
          <a:lstStyle/>
          <a:p>
            <a:r>
              <a:rPr lang="en-US" sz="2400" dirty="0">
                <a:solidFill>
                  <a:schemeClr val="tx1"/>
                </a:solidFill>
              </a:rPr>
              <a:t>WIS2 Global Services</a:t>
            </a:r>
          </a:p>
        </p:txBody>
      </p:sp>
      <p:sp>
        <p:nvSpPr>
          <p:cNvPr id="52" name="Rectangle 51">
            <a:extLst>
              <a:ext uri="{FF2B5EF4-FFF2-40B4-BE49-F238E27FC236}">
                <a16:creationId xmlns:a16="http://schemas.microsoft.com/office/drawing/2014/main" id="{13BED218-7CB9-28E5-AE80-5C99F6DA3988}"/>
              </a:ext>
            </a:extLst>
          </p:cNvPr>
          <p:cNvSpPr/>
          <p:nvPr/>
        </p:nvSpPr>
        <p:spPr>
          <a:xfrm>
            <a:off x="4376060" y="2970718"/>
            <a:ext cx="2585019" cy="781135"/>
          </a:xfrm>
          <a:prstGeom prst="rect">
            <a:avLst/>
          </a:prstGeom>
          <a:solidFill>
            <a:srgbClr val="00B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r"/>
            <a:r>
              <a:rPr lang="en-US" sz="1400" b="1" dirty="0">
                <a:solidFill>
                  <a:schemeClr val="tx1"/>
                </a:solidFill>
              </a:rPr>
              <a:t>Global Discovery Catalogue</a:t>
            </a:r>
            <a:endParaRPr lang="en-CH" sz="1400" b="1" dirty="0">
              <a:solidFill>
                <a:schemeClr val="tx1"/>
              </a:solidFill>
            </a:endParaRPr>
          </a:p>
        </p:txBody>
      </p:sp>
      <p:sp>
        <p:nvSpPr>
          <p:cNvPr id="54" name="Rectangle 53">
            <a:extLst>
              <a:ext uri="{FF2B5EF4-FFF2-40B4-BE49-F238E27FC236}">
                <a16:creationId xmlns:a16="http://schemas.microsoft.com/office/drawing/2014/main" id="{908CE9B3-D039-4D31-4D69-CFF879091A7F}"/>
              </a:ext>
            </a:extLst>
          </p:cNvPr>
          <p:cNvSpPr/>
          <p:nvPr/>
        </p:nvSpPr>
        <p:spPr>
          <a:xfrm>
            <a:off x="5911241" y="1685286"/>
            <a:ext cx="2412717" cy="781134"/>
          </a:xfrm>
          <a:prstGeom prst="rect">
            <a:avLst/>
          </a:prstGeom>
          <a:solidFill>
            <a:schemeClr val="accent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b="1" dirty="0">
                <a:solidFill>
                  <a:schemeClr val="tx1"/>
                </a:solidFill>
              </a:rPr>
              <a:t>Global Broker</a:t>
            </a:r>
            <a:endParaRPr lang="en-CH" sz="1600" b="1" dirty="0">
              <a:solidFill>
                <a:schemeClr val="tx1"/>
              </a:solidFill>
            </a:endParaRPr>
          </a:p>
        </p:txBody>
      </p:sp>
      <p:sp>
        <p:nvSpPr>
          <p:cNvPr id="59" name="Rectangle 58">
            <a:extLst>
              <a:ext uri="{FF2B5EF4-FFF2-40B4-BE49-F238E27FC236}">
                <a16:creationId xmlns:a16="http://schemas.microsoft.com/office/drawing/2014/main" id="{4B583489-756C-FAAF-F4C3-E9F059C810F1}"/>
              </a:ext>
            </a:extLst>
          </p:cNvPr>
          <p:cNvSpPr/>
          <p:nvPr/>
        </p:nvSpPr>
        <p:spPr>
          <a:xfrm>
            <a:off x="5911241" y="4859742"/>
            <a:ext cx="2427652" cy="781134"/>
          </a:xfrm>
          <a:prstGeom prst="rect">
            <a:avLst/>
          </a:prstGeom>
          <a:solidFill>
            <a:schemeClr val="tx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b="1" dirty="0">
                <a:solidFill>
                  <a:schemeClr val="tx1"/>
                </a:solidFill>
              </a:rPr>
              <a:t>Global Cache</a:t>
            </a:r>
            <a:endParaRPr lang="en-CH" sz="1600" b="1">
              <a:solidFill>
                <a:schemeClr val="tx1"/>
              </a:solidFill>
            </a:endParaRPr>
          </a:p>
        </p:txBody>
      </p:sp>
      <p:sp>
        <p:nvSpPr>
          <p:cNvPr id="72" name="Rectangle 71">
            <a:extLst>
              <a:ext uri="{FF2B5EF4-FFF2-40B4-BE49-F238E27FC236}">
                <a16:creationId xmlns:a16="http://schemas.microsoft.com/office/drawing/2014/main" id="{B53CC347-7189-9A32-41FD-D0FEB4CF37CB}"/>
              </a:ext>
            </a:extLst>
          </p:cNvPr>
          <p:cNvSpPr/>
          <p:nvPr/>
        </p:nvSpPr>
        <p:spPr>
          <a:xfrm>
            <a:off x="9870500" y="3499841"/>
            <a:ext cx="1927870" cy="806174"/>
          </a:xfrm>
          <a:prstGeom prst="rect">
            <a:avLst/>
          </a:prstGeom>
          <a:solidFill>
            <a:schemeClr val="bg1"/>
          </a:solidFill>
          <a:ln cap="flat">
            <a:solidFill>
              <a:srgbClr val="1042D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r"/>
            <a:r>
              <a:rPr lang="en-US" b="1" dirty="0">
                <a:solidFill>
                  <a:srgbClr val="1042D3"/>
                </a:solidFill>
              </a:rPr>
              <a:t>WIS2 Node</a:t>
            </a:r>
            <a:endParaRPr lang="en-CH" b="1">
              <a:solidFill>
                <a:srgbClr val="1042D3"/>
              </a:solidFill>
            </a:endParaRPr>
          </a:p>
        </p:txBody>
      </p:sp>
      <p:grpSp>
        <p:nvGrpSpPr>
          <p:cNvPr id="3" name="Group 2">
            <a:extLst>
              <a:ext uri="{FF2B5EF4-FFF2-40B4-BE49-F238E27FC236}">
                <a16:creationId xmlns:a16="http://schemas.microsoft.com/office/drawing/2014/main" id="{30CA2B89-96E7-C66C-1104-88CDD03E0753}"/>
              </a:ext>
            </a:extLst>
          </p:cNvPr>
          <p:cNvGrpSpPr/>
          <p:nvPr/>
        </p:nvGrpSpPr>
        <p:grpSpPr>
          <a:xfrm>
            <a:off x="1172178" y="3663082"/>
            <a:ext cx="9426698" cy="1113255"/>
            <a:chOff x="1172178" y="3663082"/>
            <a:chExt cx="9426698" cy="1113255"/>
          </a:xfrm>
        </p:grpSpPr>
        <p:cxnSp>
          <p:nvCxnSpPr>
            <p:cNvPr id="75" name="Straight Arrow Connector 74">
              <a:extLst>
                <a:ext uri="{FF2B5EF4-FFF2-40B4-BE49-F238E27FC236}">
                  <a16:creationId xmlns:a16="http://schemas.microsoft.com/office/drawing/2014/main" id="{FBD26904-3C85-E20C-0B32-A2DC5045C618}"/>
                </a:ext>
              </a:extLst>
            </p:cNvPr>
            <p:cNvCxnSpPr>
              <a:cxnSpLocks/>
            </p:cNvCxnSpPr>
            <p:nvPr/>
          </p:nvCxnSpPr>
          <p:spPr>
            <a:xfrm>
              <a:off x="1172178" y="3663082"/>
              <a:ext cx="8698322" cy="439388"/>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80" name="TextBox 79">
              <a:extLst>
                <a:ext uri="{FF2B5EF4-FFF2-40B4-BE49-F238E27FC236}">
                  <a16:creationId xmlns:a16="http://schemas.microsoft.com/office/drawing/2014/main" id="{496C0A5E-06C0-7559-00FB-98685667684F}"/>
                </a:ext>
              </a:extLst>
            </p:cNvPr>
            <p:cNvSpPr txBox="1"/>
            <p:nvPr/>
          </p:nvSpPr>
          <p:spPr>
            <a:xfrm>
              <a:off x="8571013" y="4130006"/>
              <a:ext cx="2027863" cy="646331"/>
            </a:xfrm>
            <a:prstGeom prst="rect">
              <a:avLst/>
            </a:prstGeom>
            <a:noFill/>
          </p:spPr>
          <p:txBody>
            <a:bodyPr wrap="none" rtlCol="0">
              <a:spAutoFit/>
            </a:bodyPr>
            <a:lstStyle/>
            <a:p>
              <a:r>
                <a:rPr lang="en-US" dirty="0"/>
                <a:t>Download</a:t>
              </a:r>
            </a:p>
            <a:p>
              <a:r>
                <a:rPr lang="en-US" dirty="0"/>
                <a:t>recommended data</a:t>
              </a:r>
            </a:p>
          </p:txBody>
        </p:sp>
      </p:grpSp>
      <p:pic>
        <p:nvPicPr>
          <p:cNvPr id="84" name="Graphic 83" descr="Books outline">
            <a:extLst>
              <a:ext uri="{FF2B5EF4-FFF2-40B4-BE49-F238E27FC236}">
                <a16:creationId xmlns:a16="http://schemas.microsoft.com/office/drawing/2014/main" id="{ADB327FD-021B-6772-BAF5-8D875D2EC161}"/>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4416978" y="3257865"/>
            <a:ext cx="385091" cy="385091"/>
          </a:xfrm>
          <a:prstGeom prst="rect">
            <a:avLst/>
          </a:prstGeom>
        </p:spPr>
      </p:pic>
      <p:pic>
        <p:nvPicPr>
          <p:cNvPr id="86" name="Graphic 85" descr="Network with solid fill">
            <a:extLst>
              <a:ext uri="{FF2B5EF4-FFF2-40B4-BE49-F238E27FC236}">
                <a16:creationId xmlns:a16="http://schemas.microsoft.com/office/drawing/2014/main" id="{5FA93031-3156-B081-F11B-09FB5FEE9023}"/>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5974910" y="1884561"/>
            <a:ext cx="357638" cy="357638"/>
          </a:xfrm>
          <a:prstGeom prst="rect">
            <a:avLst/>
          </a:prstGeom>
        </p:spPr>
      </p:pic>
      <p:pic>
        <p:nvPicPr>
          <p:cNvPr id="88" name="Graphic 87" descr="Database with solid fill">
            <a:extLst>
              <a:ext uri="{FF2B5EF4-FFF2-40B4-BE49-F238E27FC236}">
                <a16:creationId xmlns:a16="http://schemas.microsoft.com/office/drawing/2014/main" id="{AF29D30C-8100-8C36-CFA2-42D29F896DEB}"/>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5972397" y="5042544"/>
            <a:ext cx="390784" cy="403751"/>
          </a:xfrm>
          <a:prstGeom prst="rect">
            <a:avLst/>
          </a:prstGeom>
        </p:spPr>
      </p:pic>
      <p:pic>
        <p:nvPicPr>
          <p:cNvPr id="94" name="Picture 93">
            <a:extLst>
              <a:ext uri="{FF2B5EF4-FFF2-40B4-BE49-F238E27FC236}">
                <a16:creationId xmlns:a16="http://schemas.microsoft.com/office/drawing/2014/main" id="{40913159-8F0B-0C55-B0AB-77351E5B074A}"/>
              </a:ext>
            </a:extLst>
          </p:cNvPr>
          <p:cNvPicPr>
            <a:picLocks noChangeAspect="1"/>
          </p:cNvPicPr>
          <p:nvPr/>
        </p:nvPicPr>
        <p:blipFill>
          <a:blip r:embed="rId7"/>
          <a:stretch>
            <a:fillRect/>
          </a:stretch>
        </p:blipFill>
        <p:spPr>
          <a:xfrm>
            <a:off x="10027021" y="3663082"/>
            <a:ext cx="541241" cy="495178"/>
          </a:xfrm>
          <a:prstGeom prst="rect">
            <a:avLst/>
          </a:prstGeom>
        </p:spPr>
      </p:pic>
    </p:spTree>
    <p:extLst>
      <p:ext uri="{BB962C8B-B14F-4D97-AF65-F5344CB8AC3E}">
        <p14:creationId xmlns:p14="http://schemas.microsoft.com/office/powerpoint/2010/main" val="29046356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0"/>
                                        </p:tgtEl>
                                        <p:attrNameLst>
                                          <p:attrName>style.visibility</p:attrName>
                                        </p:attrNameLst>
                                      </p:cBhvr>
                                      <p:to>
                                        <p:strVal val="visible"/>
                                      </p:to>
                                    </p:set>
                                    <p:animEffect transition="in" filter="fade">
                                      <p:cBhvr>
                                        <p:cTn id="12" dur="500"/>
                                        <p:tgtEl>
                                          <p:spTgt spid="30"/>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9"/>
                                        </p:tgtEl>
                                        <p:attrNameLst>
                                          <p:attrName>style.visibility</p:attrName>
                                        </p:attrNameLst>
                                      </p:cBhvr>
                                      <p:to>
                                        <p:strVal val="visible"/>
                                      </p:to>
                                    </p:set>
                                    <p:animEffect transition="in" filter="fade">
                                      <p:cBhvr>
                                        <p:cTn id="17" dur="500"/>
                                        <p:tgtEl>
                                          <p:spTgt spid="29"/>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18"/>
                                        </p:tgtEl>
                                        <p:attrNameLst>
                                          <p:attrName>style.visibility</p:attrName>
                                        </p:attrNameLst>
                                      </p:cBhvr>
                                      <p:to>
                                        <p:strVal val="visible"/>
                                      </p:to>
                                    </p:set>
                                    <p:animEffect transition="in" filter="fade">
                                      <p:cBhvr>
                                        <p:cTn id="22" dur="500"/>
                                        <p:tgtEl>
                                          <p:spTgt spid="18"/>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31"/>
                                        </p:tgtEl>
                                        <p:attrNameLst>
                                          <p:attrName>style.visibility</p:attrName>
                                        </p:attrNameLst>
                                      </p:cBhvr>
                                      <p:to>
                                        <p:strVal val="visible"/>
                                      </p:to>
                                    </p:set>
                                    <p:animEffect transition="in" filter="fade">
                                      <p:cBhvr>
                                        <p:cTn id="27" dur="500"/>
                                        <p:tgtEl>
                                          <p:spTgt spid="31"/>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3"/>
                                        </p:tgtEl>
                                        <p:attrNameLst>
                                          <p:attrName>style.visibility</p:attrName>
                                        </p:attrNameLst>
                                      </p:cBhvr>
                                      <p:to>
                                        <p:strVal val="visible"/>
                                      </p:to>
                                    </p:set>
                                    <p:animEffect transition="in" filter="fade">
                                      <p:cBhvr>
                                        <p:cTn id="32"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4A5531-3C90-A22F-D2CB-CB02D1BDC120}"/>
              </a:ext>
            </a:extLst>
          </p:cNvPr>
          <p:cNvSpPr>
            <a:spLocks noGrp="1"/>
          </p:cNvSpPr>
          <p:nvPr>
            <p:ph type="title"/>
          </p:nvPr>
        </p:nvSpPr>
        <p:spPr>
          <a:xfrm>
            <a:off x="5830662" y="-1235397"/>
            <a:ext cx="4245571" cy="662782"/>
          </a:xfrm>
        </p:spPr>
        <p:txBody>
          <a:bodyPr>
            <a:normAutofit fontScale="90000"/>
          </a:bodyPr>
          <a:lstStyle/>
          <a:p>
            <a:endParaRPr lang="en-US" dirty="0"/>
          </a:p>
        </p:txBody>
      </p:sp>
      <p:sp>
        <p:nvSpPr>
          <p:cNvPr id="3" name="Content Placeholder 2">
            <a:extLst>
              <a:ext uri="{FF2B5EF4-FFF2-40B4-BE49-F238E27FC236}">
                <a16:creationId xmlns:a16="http://schemas.microsoft.com/office/drawing/2014/main" id="{64F6DFE8-990B-FA23-29DD-4C3E811A1117}"/>
              </a:ext>
            </a:extLst>
          </p:cNvPr>
          <p:cNvSpPr>
            <a:spLocks noGrp="1"/>
          </p:cNvSpPr>
          <p:nvPr>
            <p:ph idx="1"/>
          </p:nvPr>
        </p:nvSpPr>
        <p:spPr>
          <a:xfrm>
            <a:off x="1285336" y="1600201"/>
            <a:ext cx="5993770" cy="4525963"/>
          </a:xfrm>
        </p:spPr>
        <p:txBody>
          <a:bodyPr/>
          <a:lstStyle/>
          <a:p>
            <a:r>
              <a:rPr lang="en-US" sz="2000" dirty="0">
                <a:latin typeface="Aptos" panose="020B0004020202020204" pitchFamily="34" charset="0"/>
              </a:rPr>
              <a:t>Description/documentation</a:t>
            </a:r>
          </a:p>
          <a:p>
            <a:r>
              <a:rPr lang="en-US" sz="2000" dirty="0">
                <a:latin typeface="Aptos" panose="020B0004020202020204" pitchFamily="34" charset="0"/>
              </a:rPr>
              <a:t>Identification</a:t>
            </a:r>
          </a:p>
          <a:p>
            <a:r>
              <a:rPr lang="en-US" sz="2000" dirty="0">
                <a:latin typeface="Aptos" panose="020B0004020202020204" pitchFamily="34" charset="0"/>
              </a:rPr>
              <a:t>Key words</a:t>
            </a:r>
          </a:p>
          <a:p>
            <a:r>
              <a:rPr lang="en-US" sz="2000" dirty="0">
                <a:latin typeface="Aptos" panose="020B0004020202020204" pitchFamily="34" charset="0"/>
              </a:rPr>
              <a:t>Temporal/Spatial Extents</a:t>
            </a:r>
          </a:p>
          <a:p>
            <a:r>
              <a:rPr lang="en-US" sz="2000" dirty="0">
                <a:latin typeface="Aptos" panose="020B0004020202020204" pitchFamily="34" charset="0"/>
              </a:rPr>
              <a:t>Data Provider Contact(s)</a:t>
            </a:r>
          </a:p>
          <a:p>
            <a:r>
              <a:rPr lang="en-US" sz="2000" dirty="0">
                <a:latin typeface="Aptos" panose="020B0004020202020204" pitchFamily="34" charset="0"/>
              </a:rPr>
              <a:t>Access control mechanism</a:t>
            </a:r>
          </a:p>
          <a:p>
            <a:r>
              <a:rPr lang="en-US" sz="2000" dirty="0">
                <a:latin typeface="Aptos" panose="020B0004020202020204" pitchFamily="34" charset="0"/>
              </a:rPr>
              <a:t>Rights and License</a:t>
            </a:r>
          </a:p>
          <a:p>
            <a:endParaRPr lang="en-US" dirty="0"/>
          </a:p>
        </p:txBody>
      </p:sp>
      <p:sp>
        <p:nvSpPr>
          <p:cNvPr id="5" name="Title 1">
            <a:extLst>
              <a:ext uri="{FF2B5EF4-FFF2-40B4-BE49-F238E27FC236}">
                <a16:creationId xmlns:a16="http://schemas.microsoft.com/office/drawing/2014/main" id="{BFEC7443-5985-42BD-DD3F-DA8F137BC837}"/>
              </a:ext>
            </a:extLst>
          </p:cNvPr>
          <p:cNvSpPr txBox="1">
            <a:spLocks/>
          </p:cNvSpPr>
          <p:nvPr/>
        </p:nvSpPr>
        <p:spPr>
          <a:xfrm>
            <a:off x="0" y="0"/>
            <a:ext cx="12192000" cy="791852"/>
          </a:xfrm>
          <a:prstGeom prst="rect">
            <a:avLst/>
          </a:prstGeom>
          <a:solidFill>
            <a:srgbClr val="004F9F"/>
          </a:solidFill>
        </p:spPr>
        <p:txBody>
          <a:bodyPr>
            <a:norm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r>
              <a:rPr lang="en-US" dirty="0">
                <a:solidFill>
                  <a:schemeClr val="bg1"/>
                </a:solidFill>
              </a:rPr>
              <a:t>Datasets need metadata</a:t>
            </a:r>
          </a:p>
        </p:txBody>
      </p:sp>
      <p:sp>
        <p:nvSpPr>
          <p:cNvPr id="7" name="TextBox 6">
            <a:extLst>
              <a:ext uri="{FF2B5EF4-FFF2-40B4-BE49-F238E27FC236}">
                <a16:creationId xmlns:a16="http://schemas.microsoft.com/office/drawing/2014/main" id="{412D80DD-BE70-9914-883D-120AD9094E5E}"/>
              </a:ext>
            </a:extLst>
          </p:cNvPr>
          <p:cNvSpPr txBox="1"/>
          <p:nvPr/>
        </p:nvSpPr>
        <p:spPr>
          <a:xfrm>
            <a:off x="401216" y="4671531"/>
            <a:ext cx="11790784" cy="830997"/>
          </a:xfrm>
          <a:prstGeom prst="rect">
            <a:avLst/>
          </a:prstGeom>
          <a:noFill/>
        </p:spPr>
        <p:txBody>
          <a:bodyPr wrap="square">
            <a:spAutoFit/>
          </a:bodyPr>
          <a:lstStyle/>
          <a:p>
            <a:r>
              <a:rPr lang="en-US" sz="2400" b="1" dirty="0">
                <a:solidFill>
                  <a:srgbClr val="004F9F"/>
                </a:solidFill>
                <a:latin typeface="Aptos" panose="020B0004020202020204" pitchFamily="34" charset="0"/>
                <a:ea typeface="Verdana" panose="020B0604030504040204" pitchFamily="34" charset="0"/>
              </a:rPr>
              <a:t>Discovery Metadata in WIS2 is defined by the </a:t>
            </a:r>
            <a:br>
              <a:rPr lang="en-US" sz="2400" b="1" dirty="0">
                <a:solidFill>
                  <a:srgbClr val="004F9F"/>
                </a:solidFill>
                <a:latin typeface="Aptos" panose="020B0004020202020204" pitchFamily="34" charset="0"/>
                <a:ea typeface="Verdana" panose="020B0604030504040204" pitchFamily="34" charset="0"/>
              </a:rPr>
            </a:br>
            <a:r>
              <a:rPr lang="en-US" sz="2400" b="1" dirty="0">
                <a:solidFill>
                  <a:srgbClr val="004F9F"/>
                </a:solidFill>
                <a:latin typeface="Aptos" panose="020B0004020202020204" pitchFamily="34" charset="0"/>
                <a:ea typeface="Verdana" panose="020B0604030504040204" pitchFamily="34" charset="0"/>
              </a:rPr>
              <a:t>WMO Core Metadata Profile 2 (WCMP2</a:t>
            </a:r>
            <a:r>
              <a:rPr lang="en-US" sz="1800" b="1" dirty="0">
                <a:solidFill>
                  <a:srgbClr val="004F9F"/>
                </a:solidFill>
                <a:latin typeface="Aptos" panose="020B0004020202020204" pitchFamily="34" charset="0"/>
                <a:ea typeface="Verdana" panose="020B0604030504040204" pitchFamily="34" charset="0"/>
              </a:rPr>
              <a:t>)</a:t>
            </a:r>
            <a:endParaRPr lang="en-US" sz="1800" dirty="0">
              <a:solidFill>
                <a:srgbClr val="004F9F"/>
              </a:solidFill>
              <a:latin typeface="Aptos" panose="020B0004020202020204" pitchFamily="34" charset="0"/>
              <a:ea typeface="Verdana" panose="020B0604030504040204" pitchFamily="34" charset="0"/>
            </a:endParaRPr>
          </a:p>
        </p:txBody>
      </p:sp>
      <p:pic>
        <p:nvPicPr>
          <p:cNvPr id="4" name="Picture 4" descr="Choose from peas or sweetcorn to take centre stage">
            <a:extLst>
              <a:ext uri="{FF2B5EF4-FFF2-40B4-BE49-F238E27FC236}">
                <a16:creationId xmlns:a16="http://schemas.microsoft.com/office/drawing/2014/main" id="{505C1ACF-4B45-C2C9-18A9-27246F1B20E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880537" y="3616328"/>
            <a:ext cx="3710032" cy="2782524"/>
          </a:xfrm>
          <a:prstGeom prst="rect">
            <a:avLst/>
          </a:prstGeom>
          <a:noFill/>
          <a:extLst>
            <a:ext uri="{909E8E84-426E-40DD-AFC4-6F175D3DCCD1}">
              <a14:hiddenFill xmlns:a14="http://schemas.microsoft.com/office/drawing/2010/main">
                <a:solidFill>
                  <a:srgbClr val="FFFFFF"/>
                </a:solidFill>
              </a14:hiddenFill>
            </a:ext>
          </a:extLst>
        </p:spPr>
      </p:pic>
      <p:pic>
        <p:nvPicPr>
          <p:cNvPr id="12" name="Picture 6" descr="Tin Can Caddy - MADE EVERYDAY">
            <a:extLst>
              <a:ext uri="{FF2B5EF4-FFF2-40B4-BE49-F238E27FC236}">
                <a16:creationId xmlns:a16="http://schemas.microsoft.com/office/drawing/2014/main" id="{3AFD032E-DFE8-EEB7-484A-303ED5172B00}"/>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549603" y="1035203"/>
            <a:ext cx="3866609" cy="237067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361127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fade">
                                      <p:cBhvr>
                                        <p:cTn id="7" dur="500"/>
                                        <p:tgtEl>
                                          <p:spTgt spid="1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 name="Rectangle 45">
            <a:extLst>
              <a:ext uri="{FF2B5EF4-FFF2-40B4-BE49-F238E27FC236}">
                <a16:creationId xmlns:a16="http://schemas.microsoft.com/office/drawing/2014/main" id="{5E82329F-72D5-5777-749D-43F67F59CB17}"/>
              </a:ext>
            </a:extLst>
          </p:cNvPr>
          <p:cNvSpPr/>
          <p:nvPr/>
        </p:nvSpPr>
        <p:spPr>
          <a:xfrm>
            <a:off x="251382" y="1987567"/>
            <a:ext cx="11940618" cy="4870433"/>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CH"/>
          </a:p>
        </p:txBody>
      </p:sp>
      <p:sp>
        <p:nvSpPr>
          <p:cNvPr id="2" name="Title 1"/>
          <p:cNvSpPr>
            <a:spLocks noGrp="1"/>
          </p:cNvSpPr>
          <p:nvPr>
            <p:ph type="title"/>
          </p:nvPr>
        </p:nvSpPr>
        <p:spPr>
          <a:xfrm>
            <a:off x="-75414" y="0"/>
            <a:ext cx="12267414" cy="791852"/>
          </a:xfrm>
          <a:solidFill>
            <a:srgbClr val="004F9F"/>
          </a:solidFill>
        </p:spPr>
        <p:txBody>
          <a:bodyPr>
            <a:normAutofit/>
          </a:bodyPr>
          <a:lstStyle/>
          <a:p>
            <a:r>
              <a:rPr lang="en-US" dirty="0">
                <a:solidFill>
                  <a:schemeClr val="bg1"/>
                </a:solidFill>
              </a:rPr>
              <a:t>Datasets in WIS2</a:t>
            </a:r>
          </a:p>
        </p:txBody>
      </p:sp>
      <p:sp>
        <p:nvSpPr>
          <p:cNvPr id="3" name="TextBox 2">
            <a:extLst>
              <a:ext uri="{FF2B5EF4-FFF2-40B4-BE49-F238E27FC236}">
                <a16:creationId xmlns:a16="http://schemas.microsoft.com/office/drawing/2014/main" id="{967310BB-297D-38E3-DBEE-E0574C4CBE13}"/>
              </a:ext>
            </a:extLst>
          </p:cNvPr>
          <p:cNvSpPr txBox="1"/>
          <p:nvPr/>
        </p:nvSpPr>
        <p:spPr>
          <a:xfrm>
            <a:off x="450195" y="1214754"/>
            <a:ext cx="11216196" cy="1569660"/>
          </a:xfrm>
          <a:prstGeom prst="rect">
            <a:avLst/>
          </a:prstGeom>
          <a:noFill/>
        </p:spPr>
        <p:txBody>
          <a:bodyPr wrap="square" rtlCol="0">
            <a:spAutoFit/>
          </a:bodyPr>
          <a:lstStyle/>
          <a:p>
            <a:r>
              <a:rPr lang="en-US" sz="2400" b="1" dirty="0">
                <a:solidFill>
                  <a:srgbClr val="004F9F"/>
                </a:solidFill>
                <a:latin typeface="Aptos" panose="020B0004020202020204" pitchFamily="34" charset="0"/>
                <a:ea typeface="Verdana" panose="020B0604030504040204" pitchFamily="34" charset="0"/>
              </a:rPr>
              <a:t>A Dataset groups data items into a single, conceptual resource (collection):</a:t>
            </a:r>
          </a:p>
          <a:p>
            <a:pPr marL="342900" indent="-342900">
              <a:buFont typeface="Arial" panose="020B0604020202020204" pitchFamily="34" charset="0"/>
              <a:buChar char="•"/>
            </a:pPr>
            <a:r>
              <a:rPr lang="en-US" sz="2400" dirty="0">
                <a:solidFill>
                  <a:srgbClr val="004F9F"/>
                </a:solidFill>
                <a:latin typeface="Aptos" panose="020B0004020202020204" pitchFamily="34" charset="0"/>
                <a:ea typeface="Verdana" panose="020B0604030504040204" pitchFamily="34" charset="0"/>
              </a:rPr>
              <a:t>Helps to categorize and make easier to analyze</a:t>
            </a:r>
          </a:p>
          <a:p>
            <a:pPr marL="342900" indent="-342900">
              <a:buFont typeface="Arial" panose="020B0604020202020204" pitchFamily="34" charset="0"/>
              <a:buChar char="•"/>
            </a:pPr>
            <a:r>
              <a:rPr lang="en-US" sz="2400" dirty="0">
                <a:solidFill>
                  <a:srgbClr val="004F9F"/>
                </a:solidFill>
                <a:latin typeface="Aptos" panose="020B0004020202020204" pitchFamily="34" charset="0"/>
                <a:ea typeface="Verdana" panose="020B0604030504040204" pitchFamily="34" charset="0"/>
              </a:rPr>
              <a:t>Statements about the Dataset (metadata) apply to the entire collection</a:t>
            </a:r>
          </a:p>
          <a:p>
            <a:pPr marL="342900" indent="-342900">
              <a:buFont typeface="Arial" panose="020B0604020202020204" pitchFamily="34" charset="0"/>
              <a:buChar char="•"/>
            </a:pPr>
            <a:r>
              <a:rPr lang="en-US" sz="2400" dirty="0">
                <a:solidFill>
                  <a:srgbClr val="004F9F"/>
                </a:solidFill>
                <a:latin typeface="Aptos" panose="020B0004020202020204" pitchFamily="34" charset="0"/>
                <a:ea typeface="Verdana" panose="020B0604030504040204" pitchFamily="34" charset="0"/>
              </a:rPr>
              <a:t>The dataset has an identifier (metadata-id) associated to all data items</a:t>
            </a:r>
          </a:p>
        </p:txBody>
      </p:sp>
      <p:sp>
        <p:nvSpPr>
          <p:cNvPr id="47" name="AutoShape 4">
            <a:extLst>
              <a:ext uri="{FF2B5EF4-FFF2-40B4-BE49-F238E27FC236}">
                <a16:creationId xmlns:a16="http://schemas.microsoft.com/office/drawing/2014/main" id="{37899D14-80AD-158B-FBEA-4778BED53EC2}"/>
              </a:ext>
            </a:extLst>
          </p:cNvPr>
          <p:cNvSpPr>
            <a:spLocks noChangeAspect="1" noChangeArrowheads="1"/>
          </p:cNvSpPr>
          <p:nvPr/>
        </p:nvSpPr>
        <p:spPr bwMode="auto">
          <a:xfrm>
            <a:off x="3786326" y="3214456"/>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CH"/>
          </a:p>
        </p:txBody>
      </p:sp>
      <p:sp>
        <p:nvSpPr>
          <p:cNvPr id="49" name="AutoShape 4">
            <a:extLst>
              <a:ext uri="{FF2B5EF4-FFF2-40B4-BE49-F238E27FC236}">
                <a16:creationId xmlns:a16="http://schemas.microsoft.com/office/drawing/2014/main" id="{58850381-F7DA-FF7D-7087-C966066523A9}"/>
              </a:ext>
            </a:extLst>
          </p:cNvPr>
          <p:cNvSpPr>
            <a:spLocks noChangeAspect="1" noChangeArrowheads="1"/>
          </p:cNvSpPr>
          <p:nvPr/>
        </p:nvSpPr>
        <p:spPr bwMode="auto">
          <a:xfrm>
            <a:off x="816793" y="3219634"/>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CH"/>
          </a:p>
        </p:txBody>
      </p:sp>
      <p:sp>
        <p:nvSpPr>
          <p:cNvPr id="4" name="TextBox 3">
            <a:extLst>
              <a:ext uri="{FF2B5EF4-FFF2-40B4-BE49-F238E27FC236}">
                <a16:creationId xmlns:a16="http://schemas.microsoft.com/office/drawing/2014/main" id="{B6F9AFE8-E3AC-CF35-F846-36827F2C3C59}"/>
              </a:ext>
            </a:extLst>
          </p:cNvPr>
          <p:cNvSpPr txBox="1"/>
          <p:nvPr/>
        </p:nvSpPr>
        <p:spPr>
          <a:xfrm>
            <a:off x="8066780" y="6511418"/>
            <a:ext cx="4336444" cy="246221"/>
          </a:xfrm>
          <a:prstGeom prst="rect">
            <a:avLst/>
          </a:prstGeom>
          <a:noFill/>
        </p:spPr>
        <p:txBody>
          <a:bodyPr wrap="none" rtlCol="0">
            <a:spAutoFit/>
          </a:bodyPr>
          <a:lstStyle/>
          <a:p>
            <a:r>
              <a:rPr lang="en-GB" sz="1000" baseline="30000" dirty="0"/>
              <a:t>1</a:t>
            </a:r>
            <a:r>
              <a:rPr lang="en-GB" sz="1000" dirty="0"/>
              <a:t> Guide to WIS (WMO No. 1061), Vol II, </a:t>
            </a:r>
            <a:r>
              <a:rPr lang="en-GB" sz="1000" b="0" i="0" dirty="0">
                <a:solidFill>
                  <a:srgbClr val="1F1F1F"/>
                </a:solidFill>
                <a:effectLst/>
                <a:latin typeface="Google Sans"/>
              </a:rPr>
              <a:t>§1.1.4 </a:t>
            </a:r>
            <a:r>
              <a:rPr lang="en-GB" sz="1000" b="0" i="0" dirty="0">
                <a:solidFill>
                  <a:srgbClr val="1F1F1F"/>
                </a:solidFill>
                <a:effectLst/>
                <a:latin typeface="Google Sans"/>
                <a:hlinkClick r:id="rId2"/>
              </a:rPr>
              <a:t>Why are datasets so important</a:t>
            </a:r>
            <a:endParaRPr lang="en-GB" sz="1000" dirty="0"/>
          </a:p>
        </p:txBody>
      </p:sp>
      <p:pic>
        <p:nvPicPr>
          <p:cNvPr id="6" name="Picture 5">
            <a:extLst>
              <a:ext uri="{FF2B5EF4-FFF2-40B4-BE49-F238E27FC236}">
                <a16:creationId xmlns:a16="http://schemas.microsoft.com/office/drawing/2014/main" id="{88E16E75-B2E4-454F-E56A-B829BFC9D000}"/>
              </a:ext>
            </a:extLst>
          </p:cNvPr>
          <p:cNvPicPr>
            <a:picLocks noChangeAspect="1"/>
          </p:cNvPicPr>
          <p:nvPr/>
        </p:nvPicPr>
        <p:blipFill>
          <a:blip r:embed="rId3"/>
          <a:stretch>
            <a:fillRect/>
          </a:stretch>
        </p:blipFill>
        <p:spPr>
          <a:xfrm>
            <a:off x="251382" y="3401714"/>
            <a:ext cx="6677883" cy="3232814"/>
          </a:xfrm>
          <a:prstGeom prst="rect">
            <a:avLst/>
          </a:prstGeom>
          <a:ln>
            <a:solidFill>
              <a:schemeClr val="tx2"/>
            </a:solidFill>
          </a:ln>
        </p:spPr>
      </p:pic>
      <p:sp>
        <p:nvSpPr>
          <p:cNvPr id="8" name="TextBox 7">
            <a:extLst>
              <a:ext uri="{FF2B5EF4-FFF2-40B4-BE49-F238E27FC236}">
                <a16:creationId xmlns:a16="http://schemas.microsoft.com/office/drawing/2014/main" id="{5137385F-5F8D-0D66-E97F-67AA998DA7B7}"/>
              </a:ext>
            </a:extLst>
          </p:cNvPr>
          <p:cNvSpPr txBox="1"/>
          <p:nvPr/>
        </p:nvSpPr>
        <p:spPr>
          <a:xfrm>
            <a:off x="6929265" y="4036377"/>
            <a:ext cx="5262735" cy="1323439"/>
          </a:xfrm>
          <a:prstGeom prst="rect">
            <a:avLst/>
          </a:prstGeom>
          <a:solidFill>
            <a:schemeClr val="accent3">
              <a:lumMod val="20000"/>
              <a:lumOff val="80000"/>
            </a:schemeClr>
          </a:solidFill>
        </p:spPr>
        <p:txBody>
          <a:bodyPr wrap="square" rtlCol="0">
            <a:spAutoFit/>
          </a:bodyPr>
          <a:lstStyle/>
          <a:p>
            <a:r>
              <a:rPr lang="en-US" sz="1600" b="1" dirty="0">
                <a:solidFill>
                  <a:srgbClr val="004F9F"/>
                </a:solidFill>
                <a:latin typeface="Verdana" panose="020B0604030504040204" pitchFamily="34" charset="0"/>
                <a:ea typeface="Verdana" panose="020B0604030504040204" pitchFamily="34" charset="0"/>
              </a:rPr>
              <a:t>Examples of datasets</a:t>
            </a:r>
          </a:p>
          <a:p>
            <a:pPr marL="285750" indent="-285750">
              <a:buFont typeface="Arial" panose="020B0604020202020204" pitchFamily="34" charset="0"/>
              <a:buChar char="•"/>
            </a:pPr>
            <a:r>
              <a:rPr lang="en-US" sz="1600" dirty="0">
                <a:solidFill>
                  <a:srgbClr val="004F9F"/>
                </a:solidFill>
                <a:latin typeface="Verdana" panose="020B0604030504040204" pitchFamily="34" charset="0"/>
                <a:ea typeface="Verdana" panose="020B0604030504040204" pitchFamily="34" charset="0"/>
              </a:rPr>
              <a:t>Synoptic observations from fixed-land stations</a:t>
            </a:r>
          </a:p>
          <a:p>
            <a:pPr marL="285750" indent="-285750">
              <a:buFont typeface="Arial" panose="020B0604020202020204" pitchFamily="34" charset="0"/>
              <a:buChar char="•"/>
            </a:pPr>
            <a:r>
              <a:rPr lang="en-US" sz="1600" dirty="0">
                <a:solidFill>
                  <a:srgbClr val="004F9F"/>
                </a:solidFill>
                <a:latin typeface="Verdana" panose="020B0604030504040204" pitchFamily="34" charset="0"/>
                <a:ea typeface="Verdana" panose="020B0604030504040204" pitchFamily="34" charset="0"/>
              </a:rPr>
              <a:t>Predictions from NWP models</a:t>
            </a:r>
          </a:p>
          <a:p>
            <a:pPr marL="285750" indent="-285750">
              <a:buFont typeface="Arial" panose="020B0604020202020204" pitchFamily="34" charset="0"/>
              <a:buChar char="•"/>
            </a:pPr>
            <a:r>
              <a:rPr lang="en-US" sz="1600" dirty="0">
                <a:solidFill>
                  <a:srgbClr val="004F9F"/>
                </a:solidFill>
                <a:latin typeface="Verdana" panose="020B0604030504040204" pitchFamily="34" charset="0"/>
                <a:ea typeface="Verdana" panose="020B0604030504040204" pitchFamily="34" charset="0"/>
              </a:rPr>
              <a:t>Archive of daily climate observations</a:t>
            </a:r>
          </a:p>
          <a:p>
            <a:pPr marL="285750" indent="-285750">
              <a:buFont typeface="Arial" panose="020B0604020202020204" pitchFamily="34" charset="0"/>
              <a:buChar char="•"/>
            </a:pPr>
            <a:r>
              <a:rPr lang="en-US" sz="1600" dirty="0">
                <a:solidFill>
                  <a:srgbClr val="004F9F"/>
                </a:solidFill>
                <a:latin typeface="Verdana" panose="020B0604030504040204" pitchFamily="34" charset="0"/>
                <a:ea typeface="Verdana" panose="020B0604030504040204" pitchFamily="34" charset="0"/>
              </a:rPr>
              <a:t>Real-time water levels and flow (discharge)</a:t>
            </a:r>
          </a:p>
        </p:txBody>
      </p:sp>
    </p:spTree>
    <p:extLst>
      <p:ext uri="{BB962C8B-B14F-4D97-AF65-F5344CB8AC3E}">
        <p14:creationId xmlns:p14="http://schemas.microsoft.com/office/powerpoint/2010/main" val="376228560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94278A-9824-CB69-137A-08F54B7709CD}"/>
            </a:ext>
          </a:extLst>
        </p:cNvPr>
        <p:cNvGrpSpPr/>
        <p:nvPr/>
      </p:nvGrpSpPr>
      <p:grpSpPr>
        <a:xfrm>
          <a:off x="0" y="0"/>
          <a:ext cx="0" cy="0"/>
          <a:chOff x="0" y="0"/>
          <a:chExt cx="0" cy="0"/>
        </a:xfrm>
      </p:grpSpPr>
      <p:sp>
        <p:nvSpPr>
          <p:cNvPr id="46" name="Rectangle 45">
            <a:extLst>
              <a:ext uri="{FF2B5EF4-FFF2-40B4-BE49-F238E27FC236}">
                <a16:creationId xmlns:a16="http://schemas.microsoft.com/office/drawing/2014/main" id="{0B44C8D8-7A06-46EA-0EE8-EA1BFBADCBED}"/>
              </a:ext>
            </a:extLst>
          </p:cNvPr>
          <p:cNvSpPr/>
          <p:nvPr/>
        </p:nvSpPr>
        <p:spPr>
          <a:xfrm>
            <a:off x="251382" y="1987567"/>
            <a:ext cx="11940618" cy="4870433"/>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CH"/>
          </a:p>
        </p:txBody>
      </p:sp>
      <p:sp>
        <p:nvSpPr>
          <p:cNvPr id="2" name="Title 1">
            <a:extLst>
              <a:ext uri="{FF2B5EF4-FFF2-40B4-BE49-F238E27FC236}">
                <a16:creationId xmlns:a16="http://schemas.microsoft.com/office/drawing/2014/main" id="{2C2859B4-6B62-718B-80F0-AB7CF9088E7D}"/>
              </a:ext>
            </a:extLst>
          </p:cNvPr>
          <p:cNvSpPr>
            <a:spLocks noGrp="1"/>
          </p:cNvSpPr>
          <p:nvPr>
            <p:ph type="title"/>
          </p:nvPr>
        </p:nvSpPr>
        <p:spPr>
          <a:xfrm>
            <a:off x="-75414" y="0"/>
            <a:ext cx="12267414" cy="791852"/>
          </a:xfrm>
          <a:solidFill>
            <a:srgbClr val="004F9F"/>
          </a:solidFill>
        </p:spPr>
        <p:txBody>
          <a:bodyPr>
            <a:normAutofit/>
          </a:bodyPr>
          <a:lstStyle/>
          <a:p>
            <a:r>
              <a:rPr lang="en-US" dirty="0">
                <a:solidFill>
                  <a:schemeClr val="bg1"/>
                </a:solidFill>
              </a:rPr>
              <a:t>The Dataset concept</a:t>
            </a:r>
          </a:p>
        </p:txBody>
      </p:sp>
      <p:sp>
        <p:nvSpPr>
          <p:cNvPr id="3" name="TextBox 2">
            <a:extLst>
              <a:ext uri="{FF2B5EF4-FFF2-40B4-BE49-F238E27FC236}">
                <a16:creationId xmlns:a16="http://schemas.microsoft.com/office/drawing/2014/main" id="{9BE1EA25-116C-7895-4A5F-7261CE5BD83D}"/>
              </a:ext>
            </a:extLst>
          </p:cNvPr>
          <p:cNvSpPr txBox="1"/>
          <p:nvPr/>
        </p:nvSpPr>
        <p:spPr>
          <a:xfrm>
            <a:off x="522513" y="1077101"/>
            <a:ext cx="11644055" cy="1692771"/>
          </a:xfrm>
          <a:prstGeom prst="rect">
            <a:avLst/>
          </a:prstGeom>
          <a:noFill/>
        </p:spPr>
        <p:txBody>
          <a:bodyPr wrap="square" rtlCol="0">
            <a:spAutoFit/>
          </a:bodyPr>
          <a:lstStyle/>
          <a:p>
            <a:r>
              <a:rPr lang="en-US" sz="2400" b="1" dirty="0">
                <a:solidFill>
                  <a:srgbClr val="004F9F"/>
                </a:solidFill>
                <a:latin typeface="Aptos" panose="020B0004020202020204" pitchFamily="34" charset="0"/>
                <a:ea typeface="Verdana" panose="020B0604030504040204" pitchFamily="34" charset="0"/>
              </a:rPr>
              <a:t>The Dataset concept is central for WIS 2.0:</a:t>
            </a:r>
          </a:p>
          <a:p>
            <a:pPr marL="342900" indent="-342900">
              <a:buFont typeface="Arial" panose="020B0604020202020204" pitchFamily="34" charset="0"/>
              <a:buChar char="•"/>
            </a:pPr>
            <a:r>
              <a:rPr lang="en-US" sz="2000" dirty="0">
                <a:solidFill>
                  <a:srgbClr val="004F9F"/>
                </a:solidFill>
                <a:latin typeface="Aptos" panose="020B0004020202020204" pitchFamily="34" charset="0"/>
                <a:ea typeface="Verdana" panose="020B0604030504040204" pitchFamily="34" charset="0"/>
              </a:rPr>
              <a:t>Dataset properties provided by </a:t>
            </a:r>
            <a:r>
              <a:rPr lang="en-US" sz="2000" b="1" i="1" dirty="0">
                <a:solidFill>
                  <a:srgbClr val="004F9F"/>
                </a:solidFill>
                <a:latin typeface="Aptos" panose="020B0004020202020204" pitchFamily="34" charset="0"/>
                <a:ea typeface="Verdana" panose="020B0604030504040204" pitchFamily="34" charset="0"/>
              </a:rPr>
              <a:t>Discovery Metadata </a:t>
            </a:r>
            <a:r>
              <a:rPr lang="en-US" sz="2000" dirty="0">
                <a:solidFill>
                  <a:srgbClr val="004F9F"/>
                </a:solidFill>
                <a:latin typeface="Aptos" panose="020B0004020202020204" pitchFamily="34" charset="0"/>
                <a:ea typeface="Verdana" panose="020B0604030504040204" pitchFamily="34" charset="0"/>
              </a:rPr>
              <a:t>using </a:t>
            </a:r>
            <a:r>
              <a:rPr lang="en-US" sz="2000" b="1" dirty="0">
                <a:solidFill>
                  <a:srgbClr val="004F9F"/>
                </a:solidFill>
                <a:latin typeface="Aptos" panose="020B0004020202020204" pitchFamily="34" charset="0"/>
                <a:ea typeface="Verdana" panose="020B0604030504040204" pitchFamily="34" charset="0"/>
              </a:rPr>
              <a:t>WMO Core Metadata Profile 2 (WCMP2)</a:t>
            </a:r>
            <a:endParaRPr lang="en-US" sz="2000" dirty="0">
              <a:solidFill>
                <a:srgbClr val="004F9F"/>
              </a:solidFill>
              <a:latin typeface="Aptos" panose="020B0004020202020204" pitchFamily="34" charset="0"/>
              <a:ea typeface="Verdana" panose="020B0604030504040204" pitchFamily="34" charset="0"/>
            </a:endParaRPr>
          </a:p>
          <a:p>
            <a:pPr marL="342900" indent="-342900">
              <a:buFont typeface="Arial" panose="020B0604020202020204" pitchFamily="34" charset="0"/>
              <a:buChar char="•"/>
            </a:pPr>
            <a:r>
              <a:rPr lang="en-US" sz="2000" dirty="0">
                <a:solidFill>
                  <a:srgbClr val="004F9F"/>
                </a:solidFill>
                <a:latin typeface="Aptos" panose="020B0004020202020204" pitchFamily="34" charset="0"/>
                <a:ea typeface="Verdana" panose="020B0604030504040204" pitchFamily="34" charset="0"/>
              </a:rPr>
              <a:t>Search for Datasets that using the </a:t>
            </a:r>
            <a:r>
              <a:rPr lang="en-US" sz="2000" b="1" dirty="0">
                <a:solidFill>
                  <a:srgbClr val="004F9F"/>
                </a:solidFill>
                <a:latin typeface="Aptos" panose="020B0004020202020204" pitchFamily="34" charset="0"/>
                <a:ea typeface="Verdana" panose="020B0604030504040204" pitchFamily="34" charset="0"/>
              </a:rPr>
              <a:t>Global Discovery Catalogue (GDC)</a:t>
            </a:r>
          </a:p>
          <a:p>
            <a:pPr marL="342900" indent="-342900">
              <a:buFont typeface="Arial" panose="020B0604020202020204" pitchFamily="34" charset="0"/>
              <a:buChar char="•"/>
            </a:pPr>
            <a:r>
              <a:rPr lang="en-US" sz="2000" b="1" dirty="0">
                <a:solidFill>
                  <a:srgbClr val="004F9F"/>
                </a:solidFill>
                <a:latin typeface="Aptos" panose="020B0004020202020204" pitchFamily="34" charset="0"/>
                <a:ea typeface="Verdana" panose="020B0604030504040204" pitchFamily="34" charset="0"/>
              </a:rPr>
              <a:t>Subscribe </a:t>
            </a:r>
            <a:r>
              <a:rPr lang="en-US" sz="2000" dirty="0">
                <a:solidFill>
                  <a:srgbClr val="004F9F"/>
                </a:solidFill>
                <a:latin typeface="Aptos" panose="020B0004020202020204" pitchFamily="34" charset="0"/>
                <a:ea typeface="Verdana" panose="020B0604030504040204" pitchFamily="34" charset="0"/>
              </a:rPr>
              <a:t>to notifications about </a:t>
            </a:r>
            <a:r>
              <a:rPr lang="en-US" sz="2000" b="1" dirty="0">
                <a:solidFill>
                  <a:srgbClr val="004F9F"/>
                </a:solidFill>
                <a:latin typeface="Aptos" panose="020B0004020202020204" pitchFamily="34" charset="0"/>
                <a:ea typeface="Verdana" panose="020B0604030504040204" pitchFamily="34" charset="0"/>
              </a:rPr>
              <a:t>updates for a Dataset </a:t>
            </a:r>
            <a:r>
              <a:rPr lang="en-US" sz="2000" dirty="0">
                <a:solidFill>
                  <a:srgbClr val="004F9F"/>
                </a:solidFill>
                <a:latin typeface="Aptos" panose="020B0004020202020204" pitchFamily="34" charset="0"/>
                <a:ea typeface="Verdana" panose="020B0604030504040204" pitchFamily="34" charset="0"/>
              </a:rPr>
              <a:t>via a </a:t>
            </a:r>
            <a:r>
              <a:rPr lang="en-US" sz="2000" b="1" dirty="0">
                <a:solidFill>
                  <a:srgbClr val="004F9F"/>
                </a:solidFill>
                <a:latin typeface="Aptos" panose="020B0004020202020204" pitchFamily="34" charset="0"/>
                <a:ea typeface="Verdana" panose="020B0604030504040204" pitchFamily="34" charset="0"/>
              </a:rPr>
              <a:t>Global Broker (GB)</a:t>
            </a:r>
          </a:p>
          <a:p>
            <a:pPr marL="342900" indent="-342900">
              <a:buFont typeface="Arial" panose="020B0604020202020204" pitchFamily="34" charset="0"/>
              <a:buChar char="•"/>
            </a:pPr>
            <a:r>
              <a:rPr lang="en-US" sz="2000" b="1" dirty="0">
                <a:solidFill>
                  <a:srgbClr val="004F9F"/>
                </a:solidFill>
                <a:latin typeface="Aptos" panose="020B0004020202020204" pitchFamily="34" charset="0"/>
                <a:ea typeface="Verdana" panose="020B0604030504040204" pitchFamily="34" charset="0"/>
              </a:rPr>
              <a:t>Access the data </a:t>
            </a:r>
            <a:r>
              <a:rPr lang="en-US" sz="2000" dirty="0">
                <a:solidFill>
                  <a:srgbClr val="004F9F"/>
                </a:solidFill>
                <a:latin typeface="Aptos" panose="020B0004020202020204" pitchFamily="34" charset="0"/>
                <a:ea typeface="Verdana" panose="020B0604030504040204" pitchFamily="34" charset="0"/>
              </a:rPr>
              <a:t>that comprises a Dataset using </a:t>
            </a:r>
            <a:r>
              <a:rPr lang="en-US" sz="2000" b="1" dirty="0">
                <a:solidFill>
                  <a:srgbClr val="004F9F"/>
                </a:solidFill>
                <a:latin typeface="Aptos" panose="020B0004020202020204" pitchFamily="34" charset="0"/>
                <a:ea typeface="Verdana" panose="020B0604030504040204" pitchFamily="34" charset="0"/>
              </a:rPr>
              <a:t>HTTP/HTTPS</a:t>
            </a:r>
          </a:p>
        </p:txBody>
      </p:sp>
      <p:sp>
        <p:nvSpPr>
          <p:cNvPr id="47" name="AutoShape 4">
            <a:extLst>
              <a:ext uri="{FF2B5EF4-FFF2-40B4-BE49-F238E27FC236}">
                <a16:creationId xmlns:a16="http://schemas.microsoft.com/office/drawing/2014/main" id="{D17FC481-4636-65B3-B7DF-86E79458ECA8}"/>
              </a:ext>
            </a:extLst>
          </p:cNvPr>
          <p:cNvSpPr>
            <a:spLocks noChangeAspect="1" noChangeArrowheads="1"/>
          </p:cNvSpPr>
          <p:nvPr/>
        </p:nvSpPr>
        <p:spPr bwMode="auto">
          <a:xfrm>
            <a:off x="3786326" y="3033979"/>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CH"/>
          </a:p>
        </p:txBody>
      </p:sp>
      <p:sp>
        <p:nvSpPr>
          <p:cNvPr id="4" name="TextBox 3">
            <a:extLst>
              <a:ext uri="{FF2B5EF4-FFF2-40B4-BE49-F238E27FC236}">
                <a16:creationId xmlns:a16="http://schemas.microsoft.com/office/drawing/2014/main" id="{5D219572-259D-029D-9AB2-C4BD9907D8AC}"/>
              </a:ext>
            </a:extLst>
          </p:cNvPr>
          <p:cNvSpPr txBox="1"/>
          <p:nvPr/>
        </p:nvSpPr>
        <p:spPr>
          <a:xfrm>
            <a:off x="8066780" y="857245"/>
            <a:ext cx="4336444" cy="246221"/>
          </a:xfrm>
          <a:prstGeom prst="rect">
            <a:avLst/>
          </a:prstGeom>
          <a:noFill/>
        </p:spPr>
        <p:txBody>
          <a:bodyPr wrap="none" rtlCol="0">
            <a:spAutoFit/>
          </a:bodyPr>
          <a:lstStyle/>
          <a:p>
            <a:r>
              <a:rPr lang="en-GB" sz="1000" baseline="30000" dirty="0"/>
              <a:t>1</a:t>
            </a:r>
            <a:r>
              <a:rPr lang="en-GB" sz="1000" dirty="0"/>
              <a:t> Guide to WIS (WMO No. 1061), Vol II, </a:t>
            </a:r>
            <a:r>
              <a:rPr lang="en-GB" sz="1000" b="0" i="0" dirty="0">
                <a:solidFill>
                  <a:srgbClr val="1F1F1F"/>
                </a:solidFill>
                <a:effectLst/>
                <a:latin typeface="Google Sans"/>
              </a:rPr>
              <a:t>§1.1.4 </a:t>
            </a:r>
            <a:r>
              <a:rPr lang="en-GB" sz="1000" b="0" i="0" dirty="0">
                <a:solidFill>
                  <a:srgbClr val="1F1F1F"/>
                </a:solidFill>
                <a:effectLst/>
                <a:latin typeface="Google Sans"/>
                <a:hlinkClick r:id="rId2"/>
              </a:rPr>
              <a:t>Why are datasets so important</a:t>
            </a:r>
            <a:endParaRPr lang="en-GB" sz="1000" dirty="0"/>
          </a:p>
        </p:txBody>
      </p:sp>
      <p:sp>
        <p:nvSpPr>
          <p:cNvPr id="5" name="Rectangle 4">
            <a:extLst>
              <a:ext uri="{FF2B5EF4-FFF2-40B4-BE49-F238E27FC236}">
                <a16:creationId xmlns:a16="http://schemas.microsoft.com/office/drawing/2014/main" id="{22043604-A9A4-8F08-7126-265F8EE6443E}"/>
              </a:ext>
            </a:extLst>
          </p:cNvPr>
          <p:cNvSpPr/>
          <p:nvPr/>
        </p:nvSpPr>
        <p:spPr>
          <a:xfrm>
            <a:off x="1789941" y="3556208"/>
            <a:ext cx="3951201" cy="3290602"/>
          </a:xfrm>
          <a:prstGeom prst="rect">
            <a:avLst/>
          </a:prstGeom>
          <a:solidFill>
            <a:schemeClr val="tx2">
              <a:lumMod val="10000"/>
              <a:lumOff val="9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88900" marR="0" indent="0" algn="r" defTabSz="914400" rtl="0" eaLnBrk="1" fontAlgn="auto" latinLnBrk="0" hangingPunct="1">
              <a:lnSpc>
                <a:spcPct val="90000"/>
              </a:lnSpc>
              <a:spcBef>
                <a:spcPts val="0"/>
              </a:spcBef>
              <a:spcAft>
                <a:spcPts val="0"/>
              </a:spcAft>
              <a:buClrTx/>
              <a:buSzTx/>
              <a:buFontTx/>
              <a:buNone/>
              <a:tabLst/>
            </a:pPr>
            <a:r>
              <a:rPr kumimoji="0" lang="en-US" sz="1400" b="1" i="1" u="none" strike="noStrike" kern="1200" cap="none" spc="0" normalizeH="0" baseline="0" noProof="0" dirty="0">
                <a:ln>
                  <a:noFill/>
                </a:ln>
                <a:solidFill>
                  <a:srgbClr val="1F497D">
                    <a:lumMod val="50000"/>
                  </a:srgbClr>
                </a:solidFill>
                <a:effectLst/>
                <a:uLnTx/>
                <a:uFillTx/>
                <a:latin typeface="Calibri"/>
                <a:ea typeface="+mn-ea"/>
                <a:cs typeface="+mn-cs"/>
              </a:rPr>
              <a:t>WIS 2.0</a:t>
            </a:r>
          </a:p>
          <a:p>
            <a:pPr marL="88900" marR="0" indent="0" algn="r" defTabSz="914400" rtl="0" eaLnBrk="1" fontAlgn="auto" latinLnBrk="0" hangingPunct="1">
              <a:lnSpc>
                <a:spcPct val="90000"/>
              </a:lnSpc>
              <a:spcBef>
                <a:spcPts val="0"/>
              </a:spcBef>
              <a:spcAft>
                <a:spcPts val="0"/>
              </a:spcAft>
              <a:buClrTx/>
              <a:buSzTx/>
              <a:buFontTx/>
              <a:buNone/>
              <a:tabLst/>
            </a:pPr>
            <a:r>
              <a:rPr kumimoji="0" lang="en-US" sz="1400" b="1" i="1" u="none" strike="noStrike" kern="1200" cap="none" spc="0" normalizeH="0" baseline="0" noProof="0" dirty="0">
                <a:ln>
                  <a:noFill/>
                </a:ln>
                <a:solidFill>
                  <a:srgbClr val="1F497D">
                    <a:lumMod val="50000"/>
                  </a:srgbClr>
                </a:solidFill>
                <a:effectLst/>
                <a:uLnTx/>
                <a:uFillTx/>
                <a:latin typeface="Calibri"/>
                <a:ea typeface="+mn-ea"/>
                <a:cs typeface="+mn-cs"/>
              </a:rPr>
              <a:t>  </a:t>
            </a:r>
          </a:p>
          <a:p>
            <a:pPr marL="88900" marR="0" indent="0" algn="r" defTabSz="914400" rtl="0" eaLnBrk="1" fontAlgn="auto" latinLnBrk="0" hangingPunct="1">
              <a:lnSpc>
                <a:spcPct val="90000"/>
              </a:lnSpc>
              <a:spcBef>
                <a:spcPts val="0"/>
              </a:spcBef>
              <a:spcAft>
                <a:spcPts val="0"/>
              </a:spcAft>
              <a:buClrTx/>
              <a:buSzTx/>
              <a:buFontTx/>
              <a:buNone/>
              <a:tabLst/>
            </a:pPr>
            <a:endParaRPr lang="en-US" b="1" dirty="0">
              <a:solidFill>
                <a:srgbClr val="1F497D">
                  <a:lumMod val="50000"/>
                </a:srgbClr>
              </a:solidFill>
              <a:latin typeface="Calibri"/>
            </a:endParaRPr>
          </a:p>
          <a:p>
            <a:pPr marL="88900" marR="0" indent="0" algn="r" defTabSz="914400" rtl="0" eaLnBrk="1" fontAlgn="auto" latinLnBrk="0" hangingPunct="1">
              <a:lnSpc>
                <a:spcPct val="90000"/>
              </a:lnSpc>
              <a:spcBef>
                <a:spcPts val="0"/>
              </a:spcBef>
              <a:spcAft>
                <a:spcPts val="0"/>
              </a:spcAft>
              <a:buClrTx/>
              <a:buSzTx/>
              <a:buFontTx/>
              <a:buNone/>
              <a:tabLst/>
            </a:pPr>
            <a:endParaRPr kumimoji="0" lang="en-US" b="1" i="0" u="none" strike="noStrike" kern="1200" cap="none" spc="0" normalizeH="0" baseline="0" noProof="0" dirty="0">
              <a:ln>
                <a:noFill/>
              </a:ln>
              <a:solidFill>
                <a:srgbClr val="1F497D">
                  <a:lumMod val="50000"/>
                </a:srgbClr>
              </a:solidFill>
              <a:effectLst/>
              <a:uLnTx/>
              <a:uFillTx/>
              <a:latin typeface="Calibri"/>
              <a:ea typeface="+mn-ea"/>
              <a:cs typeface="+mn-cs"/>
            </a:endParaRPr>
          </a:p>
          <a:p>
            <a:pPr marL="88900" marR="0" indent="0" algn="r" defTabSz="914400" rtl="0" eaLnBrk="1" fontAlgn="auto" latinLnBrk="0" hangingPunct="1">
              <a:lnSpc>
                <a:spcPct val="90000"/>
              </a:lnSpc>
              <a:spcBef>
                <a:spcPts val="0"/>
              </a:spcBef>
              <a:spcAft>
                <a:spcPts val="0"/>
              </a:spcAft>
              <a:buClrTx/>
              <a:buSzTx/>
              <a:buFontTx/>
              <a:buNone/>
              <a:tabLst/>
            </a:pPr>
            <a:endParaRPr lang="en-US" b="1" dirty="0">
              <a:solidFill>
                <a:srgbClr val="1F497D">
                  <a:lumMod val="50000"/>
                </a:srgbClr>
              </a:solidFill>
              <a:latin typeface="Calibri"/>
            </a:endParaRPr>
          </a:p>
          <a:p>
            <a:pPr marL="88900" marR="0" indent="0" algn="r" defTabSz="914400" rtl="0" eaLnBrk="1" fontAlgn="auto" latinLnBrk="0" hangingPunct="1">
              <a:lnSpc>
                <a:spcPct val="90000"/>
              </a:lnSpc>
              <a:spcBef>
                <a:spcPts val="0"/>
              </a:spcBef>
              <a:spcAft>
                <a:spcPts val="0"/>
              </a:spcAft>
              <a:buClrTx/>
              <a:buSzTx/>
              <a:buFontTx/>
              <a:buNone/>
              <a:tabLst/>
            </a:pPr>
            <a:endParaRPr kumimoji="0" lang="en-US" b="1" i="0" u="none" strike="noStrike" kern="1200" cap="none" spc="0" normalizeH="0" baseline="0" noProof="0" dirty="0">
              <a:ln>
                <a:noFill/>
              </a:ln>
              <a:solidFill>
                <a:srgbClr val="1F497D">
                  <a:lumMod val="50000"/>
                </a:srgbClr>
              </a:solidFill>
              <a:effectLst/>
              <a:uLnTx/>
              <a:uFillTx/>
              <a:latin typeface="Calibri"/>
              <a:ea typeface="+mn-ea"/>
              <a:cs typeface="+mn-cs"/>
            </a:endParaRPr>
          </a:p>
          <a:p>
            <a:pPr marL="88900" marR="0" indent="0" algn="r" defTabSz="914400" rtl="0" eaLnBrk="1" fontAlgn="auto" latinLnBrk="0" hangingPunct="1">
              <a:lnSpc>
                <a:spcPct val="90000"/>
              </a:lnSpc>
              <a:spcBef>
                <a:spcPts val="0"/>
              </a:spcBef>
              <a:spcAft>
                <a:spcPts val="0"/>
              </a:spcAft>
              <a:buClrTx/>
              <a:buSzTx/>
              <a:buFontTx/>
              <a:buNone/>
              <a:tabLst/>
            </a:pPr>
            <a:endParaRPr lang="en-US" b="1" dirty="0">
              <a:solidFill>
                <a:srgbClr val="1F497D">
                  <a:lumMod val="50000"/>
                </a:srgbClr>
              </a:solidFill>
              <a:latin typeface="Calibri"/>
            </a:endParaRPr>
          </a:p>
          <a:p>
            <a:pPr marL="88900" marR="0" indent="0" algn="r" defTabSz="914400" rtl="0" eaLnBrk="1" fontAlgn="auto" latinLnBrk="0" hangingPunct="1">
              <a:lnSpc>
                <a:spcPct val="90000"/>
              </a:lnSpc>
              <a:spcBef>
                <a:spcPts val="0"/>
              </a:spcBef>
              <a:spcAft>
                <a:spcPts val="0"/>
              </a:spcAft>
              <a:buClrTx/>
              <a:buSzTx/>
              <a:buFontTx/>
              <a:buNone/>
              <a:tabLst/>
            </a:pPr>
            <a:endParaRPr kumimoji="0" lang="en-US" b="1" i="0" u="none" strike="noStrike" kern="1200" cap="none" spc="0" normalizeH="0" baseline="0" noProof="0" dirty="0">
              <a:ln>
                <a:noFill/>
              </a:ln>
              <a:solidFill>
                <a:srgbClr val="1F497D">
                  <a:lumMod val="50000"/>
                </a:srgbClr>
              </a:solidFill>
              <a:effectLst/>
              <a:uLnTx/>
              <a:uFillTx/>
              <a:latin typeface="Calibri"/>
              <a:ea typeface="+mn-ea"/>
              <a:cs typeface="+mn-cs"/>
            </a:endParaRPr>
          </a:p>
          <a:p>
            <a:pPr marL="88900" marR="0" indent="0" algn="l" defTabSz="914400" rtl="0" eaLnBrk="1" fontAlgn="auto" latinLnBrk="0" hangingPunct="1">
              <a:lnSpc>
                <a:spcPct val="90000"/>
              </a:lnSpc>
              <a:spcBef>
                <a:spcPts val="0"/>
              </a:spcBef>
              <a:spcAft>
                <a:spcPts val="0"/>
              </a:spcAft>
              <a:buClrTx/>
              <a:buSzTx/>
              <a:buFontTx/>
              <a:buNone/>
              <a:tabLst/>
            </a:pPr>
            <a:endParaRPr lang="en-US" sz="1300" b="1" dirty="0">
              <a:solidFill>
                <a:srgbClr val="1F497D">
                  <a:lumMod val="50000"/>
                </a:srgbClr>
              </a:solidFill>
              <a:latin typeface="Calibri"/>
            </a:endParaRPr>
          </a:p>
          <a:p>
            <a:pPr marL="88900" marR="0" indent="0" algn="l" defTabSz="914400" rtl="0" eaLnBrk="1" fontAlgn="auto" latinLnBrk="0" hangingPunct="1">
              <a:lnSpc>
                <a:spcPct val="90000"/>
              </a:lnSpc>
              <a:spcBef>
                <a:spcPts val="0"/>
              </a:spcBef>
              <a:spcAft>
                <a:spcPts val="0"/>
              </a:spcAft>
              <a:buClrTx/>
              <a:buSzTx/>
              <a:buFontTx/>
              <a:buNone/>
              <a:tabLst/>
            </a:pPr>
            <a:endParaRPr kumimoji="0" lang="en-US" sz="1300" b="1" i="0" u="none" strike="noStrike" kern="1200" cap="none" spc="0" normalizeH="0" baseline="0" noProof="0" dirty="0">
              <a:ln>
                <a:noFill/>
              </a:ln>
              <a:solidFill>
                <a:srgbClr val="1F497D">
                  <a:lumMod val="50000"/>
                </a:srgbClr>
              </a:solidFill>
              <a:effectLst/>
              <a:uLnTx/>
              <a:uFillTx/>
              <a:latin typeface="Calibri"/>
              <a:ea typeface="+mn-ea"/>
              <a:cs typeface="+mn-cs"/>
            </a:endParaRPr>
          </a:p>
          <a:p>
            <a:pPr marL="88900" marR="0" indent="0" algn="l" defTabSz="914400" rtl="0" eaLnBrk="1" fontAlgn="auto" latinLnBrk="0" hangingPunct="1">
              <a:lnSpc>
                <a:spcPct val="90000"/>
              </a:lnSpc>
              <a:spcBef>
                <a:spcPts val="0"/>
              </a:spcBef>
              <a:spcAft>
                <a:spcPts val="0"/>
              </a:spcAft>
              <a:buClrTx/>
              <a:buSzTx/>
              <a:buFontTx/>
              <a:buNone/>
              <a:tabLst/>
            </a:pPr>
            <a:endParaRPr lang="en-US" sz="1300" b="1" dirty="0">
              <a:solidFill>
                <a:srgbClr val="1F497D">
                  <a:lumMod val="50000"/>
                </a:srgbClr>
              </a:solidFill>
              <a:latin typeface="Calibri"/>
            </a:endParaRPr>
          </a:p>
          <a:p>
            <a:pPr marL="88900" marR="0" indent="0" algn="l" defTabSz="914400" rtl="0" eaLnBrk="1" fontAlgn="auto" latinLnBrk="0" hangingPunct="1">
              <a:lnSpc>
                <a:spcPct val="90000"/>
              </a:lnSpc>
              <a:spcBef>
                <a:spcPts val="0"/>
              </a:spcBef>
              <a:spcAft>
                <a:spcPts val="0"/>
              </a:spcAft>
              <a:buClrTx/>
              <a:buSzTx/>
              <a:buFontTx/>
              <a:buNone/>
              <a:tabLst/>
            </a:pPr>
            <a:endParaRPr kumimoji="0" lang="en-US" sz="1300" b="1" i="0" u="none" strike="noStrike" kern="1200" cap="none" spc="0" normalizeH="0" baseline="0" noProof="0" dirty="0">
              <a:ln>
                <a:noFill/>
              </a:ln>
              <a:solidFill>
                <a:srgbClr val="1F497D">
                  <a:lumMod val="50000"/>
                </a:srgbClr>
              </a:solidFill>
              <a:effectLst/>
              <a:uLnTx/>
              <a:uFillTx/>
              <a:latin typeface="Calibri"/>
              <a:ea typeface="+mn-ea"/>
              <a:cs typeface="+mn-cs"/>
            </a:endParaRPr>
          </a:p>
          <a:p>
            <a:pPr marL="88900" marR="0" indent="0" algn="l" defTabSz="914400" rtl="0" eaLnBrk="1" fontAlgn="auto" latinLnBrk="0" hangingPunct="1">
              <a:lnSpc>
                <a:spcPct val="90000"/>
              </a:lnSpc>
              <a:spcBef>
                <a:spcPts val="0"/>
              </a:spcBef>
              <a:spcAft>
                <a:spcPts val="0"/>
              </a:spcAft>
              <a:buClrTx/>
              <a:buSzTx/>
              <a:buFontTx/>
              <a:buNone/>
              <a:tabLst/>
            </a:pPr>
            <a:endParaRPr lang="en-US" sz="1300" b="1" dirty="0">
              <a:solidFill>
                <a:srgbClr val="1F497D">
                  <a:lumMod val="50000"/>
                </a:srgbClr>
              </a:solidFill>
              <a:latin typeface="Calibri"/>
            </a:endParaRPr>
          </a:p>
          <a:p>
            <a:pPr marL="88900" marR="0" indent="0" algn="l" defTabSz="914400" rtl="0" eaLnBrk="1" fontAlgn="auto" latinLnBrk="0" hangingPunct="1">
              <a:lnSpc>
                <a:spcPct val="90000"/>
              </a:lnSpc>
              <a:spcBef>
                <a:spcPts val="0"/>
              </a:spcBef>
              <a:spcAft>
                <a:spcPts val="0"/>
              </a:spcAft>
              <a:buClrTx/>
              <a:buSzTx/>
              <a:buFontTx/>
              <a:buNone/>
              <a:tabLst/>
            </a:pPr>
            <a:endParaRPr kumimoji="0" lang="en-US" sz="1300" b="1" i="0" u="none" strike="noStrike" kern="1200" cap="none" spc="0" normalizeH="0" baseline="0" noProof="0" dirty="0">
              <a:ln>
                <a:noFill/>
              </a:ln>
              <a:solidFill>
                <a:srgbClr val="1F497D">
                  <a:lumMod val="50000"/>
                </a:srgbClr>
              </a:solidFill>
              <a:effectLst/>
              <a:uLnTx/>
              <a:uFillTx/>
              <a:latin typeface="Calibri"/>
              <a:ea typeface="+mn-ea"/>
              <a:cs typeface="+mn-cs"/>
            </a:endParaRPr>
          </a:p>
          <a:p>
            <a:pPr marL="88900" marR="0" indent="0" algn="l" defTabSz="914400" rtl="0" eaLnBrk="1" fontAlgn="auto" latinLnBrk="0" hangingPunct="1">
              <a:lnSpc>
                <a:spcPct val="90000"/>
              </a:lnSpc>
              <a:spcBef>
                <a:spcPts val="0"/>
              </a:spcBef>
              <a:spcAft>
                <a:spcPts val="0"/>
              </a:spcAft>
              <a:buClrTx/>
              <a:buSzTx/>
              <a:buFontTx/>
              <a:buNone/>
              <a:tabLst/>
            </a:pPr>
            <a:endParaRPr kumimoji="0" lang="en-CH" sz="1300" b="1" i="0" u="none" strike="noStrike" kern="1200" cap="none" spc="0" normalizeH="0" baseline="0" noProof="0">
              <a:ln>
                <a:noFill/>
              </a:ln>
              <a:solidFill>
                <a:srgbClr val="1F497D">
                  <a:lumMod val="50000"/>
                </a:srgbClr>
              </a:solidFill>
              <a:effectLst/>
              <a:uLnTx/>
              <a:uFillTx/>
              <a:latin typeface="Calibri"/>
              <a:ea typeface="+mn-ea"/>
              <a:cs typeface="+mn-cs"/>
            </a:endParaRPr>
          </a:p>
        </p:txBody>
      </p:sp>
      <p:cxnSp>
        <p:nvCxnSpPr>
          <p:cNvPr id="6" name="Straight Arrow Connector 5">
            <a:extLst>
              <a:ext uri="{FF2B5EF4-FFF2-40B4-BE49-F238E27FC236}">
                <a16:creationId xmlns:a16="http://schemas.microsoft.com/office/drawing/2014/main" id="{B6AA78C3-CEB9-5153-4BEF-3C2986FF7290}"/>
              </a:ext>
            </a:extLst>
          </p:cNvPr>
          <p:cNvCxnSpPr>
            <a:cxnSpLocks/>
            <a:endCxn id="12" idx="3"/>
          </p:cNvCxnSpPr>
          <p:nvPr/>
        </p:nvCxnSpPr>
        <p:spPr>
          <a:xfrm flipH="1">
            <a:off x="5623121" y="4340585"/>
            <a:ext cx="1169009" cy="0"/>
          </a:xfrm>
          <a:prstGeom prst="straightConnector1">
            <a:avLst/>
          </a:prstGeom>
          <a:ln>
            <a:solidFill>
              <a:schemeClr val="accent3"/>
            </a:solidFill>
            <a:tailEnd type="triangle"/>
          </a:ln>
        </p:spPr>
        <p:style>
          <a:lnRef idx="2">
            <a:schemeClr val="accent1"/>
          </a:lnRef>
          <a:fillRef idx="0">
            <a:schemeClr val="accent1"/>
          </a:fillRef>
          <a:effectRef idx="1">
            <a:schemeClr val="accent1"/>
          </a:effectRef>
          <a:fontRef idx="minor">
            <a:schemeClr val="tx1"/>
          </a:fontRef>
        </p:style>
      </p:cxnSp>
      <p:grpSp>
        <p:nvGrpSpPr>
          <p:cNvPr id="35" name="Group 34">
            <a:extLst>
              <a:ext uri="{FF2B5EF4-FFF2-40B4-BE49-F238E27FC236}">
                <a16:creationId xmlns:a16="http://schemas.microsoft.com/office/drawing/2014/main" id="{22A7F7D3-6526-856D-00B3-51AEBEDED44E}"/>
              </a:ext>
            </a:extLst>
          </p:cNvPr>
          <p:cNvGrpSpPr/>
          <p:nvPr/>
        </p:nvGrpSpPr>
        <p:grpSpPr>
          <a:xfrm>
            <a:off x="3484725" y="4959874"/>
            <a:ext cx="2127020" cy="453178"/>
            <a:chOff x="3484725" y="4959874"/>
            <a:chExt cx="2127020" cy="453178"/>
          </a:xfrm>
        </p:grpSpPr>
        <p:sp>
          <p:nvSpPr>
            <p:cNvPr id="8" name="Rectangle 7">
              <a:extLst>
                <a:ext uri="{FF2B5EF4-FFF2-40B4-BE49-F238E27FC236}">
                  <a16:creationId xmlns:a16="http://schemas.microsoft.com/office/drawing/2014/main" id="{393B1976-F356-BAF2-727A-1E20C7E98EDF}"/>
                </a:ext>
              </a:extLst>
            </p:cNvPr>
            <p:cNvSpPr/>
            <p:nvPr/>
          </p:nvSpPr>
          <p:spPr>
            <a:xfrm>
              <a:off x="3484725" y="4959874"/>
              <a:ext cx="2127020" cy="453178"/>
            </a:xfrm>
            <a:prstGeom prst="rect">
              <a:avLst/>
            </a:prstGeom>
            <a:solidFill>
              <a:schemeClr val="accent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r"/>
              <a:r>
                <a:rPr lang="en-US" sz="1600" b="1">
                  <a:solidFill>
                    <a:schemeClr val="tx1"/>
                  </a:solidFill>
                </a:rPr>
                <a:t>Global Broker</a:t>
              </a:r>
              <a:endParaRPr lang="en-CH" sz="1600" b="1">
                <a:solidFill>
                  <a:schemeClr val="tx1"/>
                </a:solidFill>
              </a:endParaRPr>
            </a:p>
          </p:txBody>
        </p:sp>
        <p:pic>
          <p:nvPicPr>
            <p:cNvPr id="9" name="Graphic 8" descr="Network with solid fill">
              <a:extLst>
                <a:ext uri="{FF2B5EF4-FFF2-40B4-BE49-F238E27FC236}">
                  <a16:creationId xmlns:a16="http://schemas.microsoft.com/office/drawing/2014/main" id="{9A2BE1EF-3E2C-C2C5-1469-0D8F4A7C35EE}"/>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555907" y="5013158"/>
              <a:ext cx="357638" cy="357638"/>
            </a:xfrm>
            <a:prstGeom prst="rect">
              <a:avLst/>
            </a:prstGeom>
          </p:spPr>
        </p:pic>
      </p:grpSp>
      <p:pic>
        <p:nvPicPr>
          <p:cNvPr id="10" name="Picture 9" descr="A picture containing text, balloon, transport, aircraft&#10;&#10;Description automatically generated">
            <a:extLst>
              <a:ext uri="{FF2B5EF4-FFF2-40B4-BE49-F238E27FC236}">
                <a16:creationId xmlns:a16="http://schemas.microsoft.com/office/drawing/2014/main" id="{58E1E79C-631E-BB07-03B2-3A4E790F40A8}"/>
              </a:ext>
            </a:extLst>
          </p:cNvPr>
          <p:cNvPicPr>
            <a:picLocks noChangeAspect="1"/>
          </p:cNvPicPr>
          <p:nvPr/>
        </p:nvPicPr>
        <p:blipFill>
          <a:blip r:embed="rId4">
            <a:clrChange>
              <a:clrFrom>
                <a:srgbClr val="FFFFFF"/>
              </a:clrFrom>
              <a:clrTo>
                <a:srgbClr val="FFFFFF">
                  <a:alpha val="0"/>
                </a:srgbClr>
              </a:clrTo>
            </a:clrChange>
            <a:alphaModFix/>
            <a:extLst>
              <a:ext uri="{BEBA8EAE-BF5A-486C-A8C5-ECC9F3942E4B}">
                <a14:imgProps xmlns:a14="http://schemas.microsoft.com/office/drawing/2010/main">
                  <a14:imgLayer r:embed="rId5">
                    <a14:imgEffect>
                      <a14:sharpenSoften amount="-26000"/>
                    </a14:imgEffect>
                    <a14:imgEffect>
                      <a14:colorTemperature colorTemp="5686"/>
                    </a14:imgEffect>
                    <a14:imgEffect>
                      <a14:saturation sat="47000"/>
                    </a14:imgEffect>
                    <a14:imgEffect>
                      <a14:brightnessContrast contrast="-23000"/>
                    </a14:imgEffect>
                  </a14:imgLayer>
                </a14:imgProps>
              </a:ext>
            </a:extLst>
          </a:blip>
          <a:stretch>
            <a:fillRect/>
          </a:stretch>
        </p:blipFill>
        <p:spPr>
          <a:xfrm>
            <a:off x="1848232" y="3597076"/>
            <a:ext cx="708548" cy="708548"/>
          </a:xfrm>
          <a:prstGeom prst="rect">
            <a:avLst/>
          </a:prstGeom>
        </p:spPr>
      </p:pic>
      <p:grpSp>
        <p:nvGrpSpPr>
          <p:cNvPr id="36" name="Group 35">
            <a:extLst>
              <a:ext uri="{FF2B5EF4-FFF2-40B4-BE49-F238E27FC236}">
                <a16:creationId xmlns:a16="http://schemas.microsoft.com/office/drawing/2014/main" id="{5C21461F-1BEE-5D64-D795-85108DBE3E8F}"/>
              </a:ext>
            </a:extLst>
          </p:cNvPr>
          <p:cNvGrpSpPr/>
          <p:nvPr/>
        </p:nvGrpSpPr>
        <p:grpSpPr>
          <a:xfrm>
            <a:off x="3488947" y="5826819"/>
            <a:ext cx="2122797" cy="452601"/>
            <a:chOff x="3488947" y="5826819"/>
            <a:chExt cx="2122797" cy="452601"/>
          </a:xfrm>
        </p:grpSpPr>
        <p:sp>
          <p:nvSpPr>
            <p:cNvPr id="7" name="Rectangle 6">
              <a:extLst>
                <a:ext uri="{FF2B5EF4-FFF2-40B4-BE49-F238E27FC236}">
                  <a16:creationId xmlns:a16="http://schemas.microsoft.com/office/drawing/2014/main" id="{DF3284AB-627F-D0F2-6C18-DF7DA6767F05}"/>
                </a:ext>
              </a:extLst>
            </p:cNvPr>
            <p:cNvSpPr/>
            <p:nvPr/>
          </p:nvSpPr>
          <p:spPr>
            <a:xfrm>
              <a:off x="3488947" y="5826819"/>
              <a:ext cx="2122797" cy="452601"/>
            </a:xfrm>
            <a:prstGeom prst="rect">
              <a:avLst/>
            </a:prstGeom>
            <a:solidFill>
              <a:schemeClr val="tx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r"/>
              <a:r>
                <a:rPr lang="en-US" sz="1600" b="1">
                  <a:solidFill>
                    <a:schemeClr val="tx1"/>
                  </a:solidFill>
                </a:rPr>
                <a:t>Global Cache</a:t>
              </a:r>
              <a:endParaRPr lang="en-CH" sz="1600" b="1">
                <a:solidFill>
                  <a:schemeClr val="tx1"/>
                </a:solidFill>
              </a:endParaRPr>
            </a:p>
          </p:txBody>
        </p:sp>
        <p:pic>
          <p:nvPicPr>
            <p:cNvPr id="11" name="Graphic 10" descr="Database with solid fill">
              <a:extLst>
                <a:ext uri="{FF2B5EF4-FFF2-40B4-BE49-F238E27FC236}">
                  <a16:creationId xmlns:a16="http://schemas.microsoft.com/office/drawing/2014/main" id="{970698C1-3ED9-F117-E057-50159796658B}"/>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3539334" y="5851243"/>
              <a:ext cx="390784" cy="403751"/>
            </a:xfrm>
            <a:prstGeom prst="rect">
              <a:avLst/>
            </a:prstGeom>
          </p:spPr>
        </p:pic>
      </p:grpSp>
      <p:sp>
        <p:nvSpPr>
          <p:cNvPr id="12" name="Rectangle 11">
            <a:extLst>
              <a:ext uri="{FF2B5EF4-FFF2-40B4-BE49-F238E27FC236}">
                <a16:creationId xmlns:a16="http://schemas.microsoft.com/office/drawing/2014/main" id="{4BD52727-51FB-953C-3F10-E60E972F0991}"/>
              </a:ext>
            </a:extLst>
          </p:cNvPr>
          <p:cNvSpPr/>
          <p:nvPr/>
        </p:nvSpPr>
        <p:spPr>
          <a:xfrm>
            <a:off x="3500325" y="4113996"/>
            <a:ext cx="2122796" cy="453178"/>
          </a:xfrm>
          <a:prstGeom prst="rect">
            <a:avLst/>
          </a:prstGeom>
          <a:solidFill>
            <a:schemeClr val="accent3">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r"/>
            <a:r>
              <a:rPr lang="en-US" sz="1600" b="1" dirty="0">
                <a:solidFill>
                  <a:schemeClr val="tx1"/>
                </a:solidFill>
              </a:rPr>
              <a:t>Global Discovery Catalogue</a:t>
            </a:r>
            <a:endParaRPr lang="en-CH" sz="1600" b="1">
              <a:solidFill>
                <a:schemeClr val="tx1"/>
              </a:solidFill>
            </a:endParaRPr>
          </a:p>
        </p:txBody>
      </p:sp>
      <p:pic>
        <p:nvPicPr>
          <p:cNvPr id="13" name="Graphic 12" descr="Books outline">
            <a:extLst>
              <a:ext uri="{FF2B5EF4-FFF2-40B4-BE49-F238E27FC236}">
                <a16:creationId xmlns:a16="http://schemas.microsoft.com/office/drawing/2014/main" id="{9276B5D3-9AEE-F7F5-7427-E198B1ABB19A}"/>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3559880" y="4153310"/>
            <a:ext cx="385091" cy="385091"/>
          </a:xfrm>
          <a:prstGeom prst="rect">
            <a:avLst/>
          </a:prstGeom>
        </p:spPr>
      </p:pic>
      <p:cxnSp>
        <p:nvCxnSpPr>
          <p:cNvPr id="14" name="Straight Arrow Connector 13">
            <a:extLst>
              <a:ext uri="{FF2B5EF4-FFF2-40B4-BE49-F238E27FC236}">
                <a16:creationId xmlns:a16="http://schemas.microsoft.com/office/drawing/2014/main" id="{C5193FFC-A871-2E55-B6DC-B31ECBC35696}"/>
              </a:ext>
            </a:extLst>
          </p:cNvPr>
          <p:cNvCxnSpPr>
            <a:cxnSpLocks/>
            <a:stCxn id="7" idx="0"/>
            <a:endCxn id="8" idx="2"/>
          </p:cNvCxnSpPr>
          <p:nvPr/>
        </p:nvCxnSpPr>
        <p:spPr>
          <a:xfrm flipH="1" flipV="1">
            <a:off x="4548235" y="5413052"/>
            <a:ext cx="2111" cy="413767"/>
          </a:xfrm>
          <a:prstGeom prst="straightConnector1">
            <a:avLst/>
          </a:prstGeom>
          <a:ln>
            <a:solidFill>
              <a:schemeClr val="accent2">
                <a:lumMod val="60000"/>
                <a:lumOff val="40000"/>
              </a:schemeClr>
            </a:solidFill>
            <a:tailEnd type="triangle"/>
          </a:ln>
        </p:spPr>
        <p:style>
          <a:lnRef idx="2">
            <a:schemeClr val="accent1"/>
          </a:lnRef>
          <a:fillRef idx="0">
            <a:schemeClr val="accent1"/>
          </a:fillRef>
          <a:effectRef idx="1">
            <a:schemeClr val="accent1"/>
          </a:effectRef>
          <a:fontRef idx="minor">
            <a:schemeClr val="tx1"/>
          </a:fontRef>
        </p:style>
      </p:cxnSp>
      <p:cxnSp>
        <p:nvCxnSpPr>
          <p:cNvPr id="15" name="Straight Arrow Connector 14">
            <a:extLst>
              <a:ext uri="{FF2B5EF4-FFF2-40B4-BE49-F238E27FC236}">
                <a16:creationId xmlns:a16="http://schemas.microsoft.com/office/drawing/2014/main" id="{0D77632B-BB19-84B5-1361-3EE5BF06761D}"/>
              </a:ext>
            </a:extLst>
          </p:cNvPr>
          <p:cNvCxnSpPr>
            <a:cxnSpLocks/>
            <a:stCxn id="12" idx="2"/>
            <a:endCxn id="8" idx="0"/>
          </p:cNvCxnSpPr>
          <p:nvPr/>
        </p:nvCxnSpPr>
        <p:spPr>
          <a:xfrm flipH="1">
            <a:off x="4548235" y="4567174"/>
            <a:ext cx="13488" cy="392700"/>
          </a:xfrm>
          <a:prstGeom prst="straightConnector1">
            <a:avLst/>
          </a:prstGeom>
          <a:ln>
            <a:solidFill>
              <a:schemeClr val="accent2">
                <a:lumMod val="60000"/>
                <a:lumOff val="40000"/>
              </a:schemeClr>
            </a:solidFill>
            <a:tailEnd type="triangle"/>
          </a:ln>
        </p:spPr>
        <p:style>
          <a:lnRef idx="2">
            <a:schemeClr val="accent1"/>
          </a:lnRef>
          <a:fillRef idx="0">
            <a:schemeClr val="accent1"/>
          </a:fillRef>
          <a:effectRef idx="1">
            <a:schemeClr val="accent1"/>
          </a:effectRef>
          <a:fontRef idx="minor">
            <a:schemeClr val="tx1"/>
          </a:fontRef>
        </p:style>
      </p:cxnSp>
      <p:cxnSp>
        <p:nvCxnSpPr>
          <p:cNvPr id="16" name="Straight Arrow Connector 15">
            <a:extLst>
              <a:ext uri="{FF2B5EF4-FFF2-40B4-BE49-F238E27FC236}">
                <a16:creationId xmlns:a16="http://schemas.microsoft.com/office/drawing/2014/main" id="{799EE50C-537A-7FC2-C201-7BF5C0AD4E65}"/>
              </a:ext>
            </a:extLst>
          </p:cNvPr>
          <p:cNvCxnSpPr>
            <a:cxnSpLocks/>
            <a:stCxn id="12" idx="1"/>
          </p:cNvCxnSpPr>
          <p:nvPr/>
        </p:nvCxnSpPr>
        <p:spPr>
          <a:xfrm flipH="1">
            <a:off x="2544377" y="4340585"/>
            <a:ext cx="955948" cy="854610"/>
          </a:xfrm>
          <a:prstGeom prst="straightConnector1">
            <a:avLst/>
          </a:prstGeom>
          <a:ln>
            <a:solidFill>
              <a:schemeClr val="accent3">
                <a:lumMod val="75000"/>
              </a:schemeClr>
            </a:solidFill>
            <a:tailEnd type="triangle"/>
          </a:ln>
        </p:spPr>
        <p:style>
          <a:lnRef idx="2">
            <a:schemeClr val="accent1"/>
          </a:lnRef>
          <a:fillRef idx="0">
            <a:schemeClr val="accent1"/>
          </a:fillRef>
          <a:effectRef idx="1">
            <a:schemeClr val="accent1"/>
          </a:effectRef>
          <a:fontRef idx="minor">
            <a:schemeClr val="tx1"/>
          </a:fontRef>
        </p:style>
      </p:cxnSp>
      <p:cxnSp>
        <p:nvCxnSpPr>
          <p:cNvPr id="17" name="Straight Arrow Connector 16">
            <a:extLst>
              <a:ext uri="{FF2B5EF4-FFF2-40B4-BE49-F238E27FC236}">
                <a16:creationId xmlns:a16="http://schemas.microsoft.com/office/drawing/2014/main" id="{3D615C4F-4166-7A9A-877B-0F0895A1C026}"/>
              </a:ext>
            </a:extLst>
          </p:cNvPr>
          <p:cNvCxnSpPr>
            <a:cxnSpLocks/>
            <a:stCxn id="7" idx="1"/>
          </p:cNvCxnSpPr>
          <p:nvPr/>
        </p:nvCxnSpPr>
        <p:spPr>
          <a:xfrm flipH="1" flipV="1">
            <a:off x="2533001" y="5185607"/>
            <a:ext cx="955946" cy="867513"/>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18" name="TextBox 17">
            <a:extLst>
              <a:ext uri="{FF2B5EF4-FFF2-40B4-BE49-F238E27FC236}">
                <a16:creationId xmlns:a16="http://schemas.microsoft.com/office/drawing/2014/main" id="{804FECB9-9083-5542-580B-7587F55CBD4D}"/>
              </a:ext>
            </a:extLst>
          </p:cNvPr>
          <p:cNvSpPr txBox="1"/>
          <p:nvPr/>
        </p:nvSpPr>
        <p:spPr>
          <a:xfrm>
            <a:off x="2888998" y="4971493"/>
            <a:ext cx="545342" cy="261610"/>
          </a:xfrm>
          <a:prstGeom prst="rect">
            <a:avLst/>
          </a:prstGeom>
          <a:noFill/>
        </p:spPr>
        <p:txBody>
          <a:bodyPr wrap="none" rtlCol="0">
            <a:spAutoFit/>
          </a:bodyPr>
          <a:lstStyle/>
          <a:p>
            <a:r>
              <a:rPr lang="en-US" sz="1100" b="1">
                <a:solidFill>
                  <a:schemeClr val="accent2">
                    <a:lumMod val="75000"/>
                  </a:schemeClr>
                </a:solidFill>
              </a:rPr>
              <a:t>MQTT</a:t>
            </a:r>
            <a:endParaRPr lang="en-CH" sz="1100" b="1">
              <a:solidFill>
                <a:schemeClr val="accent2">
                  <a:lumMod val="75000"/>
                </a:schemeClr>
              </a:solidFill>
            </a:endParaRPr>
          </a:p>
        </p:txBody>
      </p:sp>
      <p:sp>
        <p:nvSpPr>
          <p:cNvPr id="19" name="TextBox 18">
            <a:extLst>
              <a:ext uri="{FF2B5EF4-FFF2-40B4-BE49-F238E27FC236}">
                <a16:creationId xmlns:a16="http://schemas.microsoft.com/office/drawing/2014/main" id="{5772C6B4-59B4-C83E-9ECF-6CEED470C079}"/>
              </a:ext>
            </a:extLst>
          </p:cNvPr>
          <p:cNvSpPr txBox="1"/>
          <p:nvPr/>
        </p:nvSpPr>
        <p:spPr>
          <a:xfrm rot="18900058">
            <a:off x="2684582" y="4569863"/>
            <a:ext cx="490840" cy="261610"/>
          </a:xfrm>
          <a:prstGeom prst="rect">
            <a:avLst/>
          </a:prstGeom>
          <a:noFill/>
        </p:spPr>
        <p:txBody>
          <a:bodyPr wrap="none" rtlCol="0">
            <a:spAutoFit/>
          </a:bodyPr>
          <a:lstStyle/>
          <a:p>
            <a:r>
              <a:rPr lang="en-US" sz="1100" b="1">
                <a:solidFill>
                  <a:schemeClr val="accent3">
                    <a:lumMod val="50000"/>
                  </a:schemeClr>
                </a:solidFill>
              </a:rPr>
              <a:t>HTTP</a:t>
            </a:r>
            <a:endParaRPr lang="en-CH" sz="1100" b="1">
              <a:solidFill>
                <a:schemeClr val="accent3">
                  <a:lumMod val="50000"/>
                </a:schemeClr>
              </a:solidFill>
            </a:endParaRPr>
          </a:p>
        </p:txBody>
      </p:sp>
      <p:sp>
        <p:nvSpPr>
          <p:cNvPr id="20" name="TextBox 19">
            <a:extLst>
              <a:ext uri="{FF2B5EF4-FFF2-40B4-BE49-F238E27FC236}">
                <a16:creationId xmlns:a16="http://schemas.microsoft.com/office/drawing/2014/main" id="{725ACAC1-136A-B208-4A48-67407BC627D8}"/>
              </a:ext>
            </a:extLst>
          </p:cNvPr>
          <p:cNvSpPr txBox="1"/>
          <p:nvPr/>
        </p:nvSpPr>
        <p:spPr>
          <a:xfrm rot="5400000">
            <a:off x="8636988" y="6003519"/>
            <a:ext cx="490840" cy="261610"/>
          </a:xfrm>
          <a:prstGeom prst="rect">
            <a:avLst/>
          </a:prstGeom>
          <a:noFill/>
        </p:spPr>
        <p:txBody>
          <a:bodyPr wrap="none" rtlCol="0">
            <a:spAutoFit/>
          </a:bodyPr>
          <a:lstStyle/>
          <a:p>
            <a:r>
              <a:rPr lang="en-US" sz="1100" b="1">
                <a:solidFill>
                  <a:schemeClr val="accent1">
                    <a:lumMod val="50000"/>
                  </a:schemeClr>
                </a:solidFill>
              </a:rPr>
              <a:t>HTTP</a:t>
            </a:r>
            <a:endParaRPr lang="en-CH" sz="1100" b="1">
              <a:solidFill>
                <a:schemeClr val="accent1">
                  <a:lumMod val="50000"/>
                </a:schemeClr>
              </a:solidFill>
            </a:endParaRPr>
          </a:p>
        </p:txBody>
      </p:sp>
      <p:cxnSp>
        <p:nvCxnSpPr>
          <p:cNvPr id="21" name="Straight Arrow Connector 20">
            <a:extLst>
              <a:ext uri="{FF2B5EF4-FFF2-40B4-BE49-F238E27FC236}">
                <a16:creationId xmlns:a16="http://schemas.microsoft.com/office/drawing/2014/main" id="{A79FE48A-4ECD-91EC-5960-5522AD180043}"/>
              </a:ext>
            </a:extLst>
          </p:cNvPr>
          <p:cNvCxnSpPr>
            <a:cxnSpLocks/>
          </p:cNvCxnSpPr>
          <p:nvPr/>
        </p:nvCxnSpPr>
        <p:spPr>
          <a:xfrm flipH="1">
            <a:off x="4843272" y="5416409"/>
            <a:ext cx="2112" cy="402288"/>
          </a:xfrm>
          <a:prstGeom prst="straightConnector1">
            <a:avLst/>
          </a:prstGeom>
          <a:ln>
            <a:solidFill>
              <a:schemeClr val="accent1">
                <a:lumMod val="75000"/>
              </a:schemeClr>
            </a:solidFill>
            <a:tailEnd type="triangle"/>
          </a:ln>
        </p:spPr>
        <p:style>
          <a:lnRef idx="2">
            <a:schemeClr val="accent1"/>
          </a:lnRef>
          <a:fillRef idx="0">
            <a:schemeClr val="accent1"/>
          </a:fillRef>
          <a:effectRef idx="1">
            <a:schemeClr val="accent1"/>
          </a:effectRef>
          <a:fontRef idx="minor">
            <a:schemeClr val="tx1"/>
          </a:fontRef>
        </p:style>
      </p:cxnSp>
      <p:cxnSp>
        <p:nvCxnSpPr>
          <p:cNvPr id="22" name="Straight Arrow Connector 21">
            <a:extLst>
              <a:ext uri="{FF2B5EF4-FFF2-40B4-BE49-F238E27FC236}">
                <a16:creationId xmlns:a16="http://schemas.microsoft.com/office/drawing/2014/main" id="{D86796DD-1D09-ADE3-9740-75829951F54F}"/>
              </a:ext>
            </a:extLst>
          </p:cNvPr>
          <p:cNvCxnSpPr>
            <a:cxnSpLocks/>
          </p:cNvCxnSpPr>
          <p:nvPr/>
        </p:nvCxnSpPr>
        <p:spPr>
          <a:xfrm flipV="1">
            <a:off x="4827490" y="4536622"/>
            <a:ext cx="0" cy="428297"/>
          </a:xfrm>
          <a:prstGeom prst="straightConnector1">
            <a:avLst/>
          </a:prstGeom>
          <a:ln>
            <a:solidFill>
              <a:schemeClr val="accent3">
                <a:lumMod val="75000"/>
              </a:schemeClr>
            </a:solidFill>
            <a:tailEnd type="triangle"/>
          </a:ln>
        </p:spPr>
        <p:style>
          <a:lnRef idx="2">
            <a:schemeClr val="accent1"/>
          </a:lnRef>
          <a:fillRef idx="0">
            <a:schemeClr val="accent1"/>
          </a:fillRef>
          <a:effectRef idx="1">
            <a:schemeClr val="accent1"/>
          </a:effectRef>
          <a:fontRef idx="minor">
            <a:schemeClr val="tx1"/>
          </a:fontRef>
        </p:style>
      </p:cxnSp>
      <p:cxnSp>
        <p:nvCxnSpPr>
          <p:cNvPr id="23" name="Straight Arrow Connector 22">
            <a:extLst>
              <a:ext uri="{FF2B5EF4-FFF2-40B4-BE49-F238E27FC236}">
                <a16:creationId xmlns:a16="http://schemas.microsoft.com/office/drawing/2014/main" id="{873FBFD5-36F9-E3E2-9CD8-5DBB6F9B6BF6}"/>
              </a:ext>
            </a:extLst>
          </p:cNvPr>
          <p:cNvCxnSpPr>
            <a:cxnSpLocks/>
            <a:stCxn id="8" idx="3"/>
            <a:endCxn id="27" idx="1"/>
          </p:cNvCxnSpPr>
          <p:nvPr/>
        </p:nvCxnSpPr>
        <p:spPr>
          <a:xfrm>
            <a:off x="5611745" y="5186463"/>
            <a:ext cx="2767938" cy="15046"/>
          </a:xfrm>
          <a:prstGeom prst="straightConnector1">
            <a:avLst/>
          </a:prstGeom>
          <a:ln>
            <a:solidFill>
              <a:schemeClr val="accent2">
                <a:lumMod val="60000"/>
                <a:lumOff val="40000"/>
              </a:schemeClr>
            </a:solidFill>
            <a:tailEnd type="triangle"/>
          </a:ln>
        </p:spPr>
        <p:style>
          <a:lnRef idx="2">
            <a:schemeClr val="accent1"/>
          </a:lnRef>
          <a:fillRef idx="0">
            <a:schemeClr val="accent1"/>
          </a:fillRef>
          <a:effectRef idx="1">
            <a:schemeClr val="accent1"/>
          </a:effectRef>
          <a:fontRef idx="minor">
            <a:schemeClr val="tx1"/>
          </a:fontRef>
        </p:style>
      </p:cxnSp>
      <p:cxnSp>
        <p:nvCxnSpPr>
          <p:cNvPr id="24" name="Straight Arrow Connector 23">
            <a:extLst>
              <a:ext uri="{FF2B5EF4-FFF2-40B4-BE49-F238E27FC236}">
                <a16:creationId xmlns:a16="http://schemas.microsoft.com/office/drawing/2014/main" id="{69EA29DD-8F74-BC7A-14DB-9D7071B38369}"/>
              </a:ext>
            </a:extLst>
          </p:cNvPr>
          <p:cNvCxnSpPr>
            <a:cxnSpLocks/>
            <a:stCxn id="8" idx="1"/>
          </p:cNvCxnSpPr>
          <p:nvPr/>
        </p:nvCxnSpPr>
        <p:spPr>
          <a:xfrm flipH="1" flipV="1">
            <a:off x="2533001" y="5185607"/>
            <a:ext cx="951724" cy="856"/>
          </a:xfrm>
          <a:prstGeom prst="straightConnector1">
            <a:avLst/>
          </a:prstGeom>
          <a:ln>
            <a:solidFill>
              <a:schemeClr val="accent2">
                <a:lumMod val="60000"/>
                <a:lumOff val="40000"/>
              </a:schemeClr>
            </a:solidFill>
            <a:tailEnd type="triangle"/>
          </a:ln>
        </p:spPr>
        <p:style>
          <a:lnRef idx="2">
            <a:schemeClr val="accent1"/>
          </a:lnRef>
          <a:fillRef idx="0">
            <a:schemeClr val="accent1"/>
          </a:fillRef>
          <a:effectRef idx="1">
            <a:schemeClr val="accent1"/>
          </a:effectRef>
          <a:fontRef idx="minor">
            <a:schemeClr val="tx1"/>
          </a:fontRef>
        </p:style>
      </p:cxnSp>
      <p:pic>
        <p:nvPicPr>
          <p:cNvPr id="25" name="Picture 24">
            <a:extLst>
              <a:ext uri="{FF2B5EF4-FFF2-40B4-BE49-F238E27FC236}">
                <a16:creationId xmlns:a16="http://schemas.microsoft.com/office/drawing/2014/main" id="{A50358DC-E49B-6614-A773-2DCD55257356}"/>
              </a:ext>
            </a:extLst>
          </p:cNvPr>
          <p:cNvPicPr>
            <a:picLocks noChangeAspect="1"/>
          </p:cNvPicPr>
          <p:nvPr/>
        </p:nvPicPr>
        <p:blipFill>
          <a:blip r:embed="rId8"/>
          <a:stretch>
            <a:fillRect/>
          </a:stretch>
        </p:blipFill>
        <p:spPr>
          <a:xfrm>
            <a:off x="6780754" y="3607323"/>
            <a:ext cx="828473" cy="994169"/>
          </a:xfrm>
          <a:prstGeom prst="rect">
            <a:avLst/>
          </a:prstGeom>
        </p:spPr>
      </p:pic>
      <p:sp>
        <p:nvSpPr>
          <p:cNvPr id="26" name="TextBox 25">
            <a:extLst>
              <a:ext uri="{FF2B5EF4-FFF2-40B4-BE49-F238E27FC236}">
                <a16:creationId xmlns:a16="http://schemas.microsoft.com/office/drawing/2014/main" id="{17E42FFC-3086-D895-AB07-347F2C025E99}"/>
              </a:ext>
            </a:extLst>
          </p:cNvPr>
          <p:cNvSpPr txBox="1"/>
          <p:nvPr/>
        </p:nvSpPr>
        <p:spPr>
          <a:xfrm>
            <a:off x="5971584" y="4113552"/>
            <a:ext cx="902811" cy="261610"/>
          </a:xfrm>
          <a:prstGeom prst="rect">
            <a:avLst/>
          </a:prstGeom>
          <a:noFill/>
        </p:spPr>
        <p:txBody>
          <a:bodyPr wrap="none" rtlCol="0">
            <a:spAutoFit/>
          </a:bodyPr>
          <a:lstStyle/>
          <a:p>
            <a:r>
              <a:rPr lang="en-US" sz="1100" b="1">
                <a:solidFill>
                  <a:schemeClr val="accent3">
                    <a:lumMod val="50000"/>
                  </a:schemeClr>
                </a:solidFill>
              </a:rPr>
              <a:t>HTTP search</a:t>
            </a:r>
            <a:endParaRPr lang="en-CH" sz="1100" b="1">
              <a:solidFill>
                <a:schemeClr val="accent3">
                  <a:lumMod val="50000"/>
                </a:schemeClr>
              </a:solidFill>
            </a:endParaRPr>
          </a:p>
        </p:txBody>
      </p:sp>
      <p:pic>
        <p:nvPicPr>
          <p:cNvPr id="27" name="Picture 26">
            <a:extLst>
              <a:ext uri="{FF2B5EF4-FFF2-40B4-BE49-F238E27FC236}">
                <a16:creationId xmlns:a16="http://schemas.microsoft.com/office/drawing/2014/main" id="{FEFB871D-FB9A-A60E-36FC-FE1335F9753D}"/>
              </a:ext>
            </a:extLst>
          </p:cNvPr>
          <p:cNvPicPr>
            <a:picLocks noChangeAspect="1"/>
          </p:cNvPicPr>
          <p:nvPr/>
        </p:nvPicPr>
        <p:blipFill>
          <a:blip r:embed="rId9"/>
          <a:stretch>
            <a:fillRect/>
          </a:stretch>
        </p:blipFill>
        <p:spPr>
          <a:xfrm>
            <a:off x="8379683" y="4829588"/>
            <a:ext cx="743841" cy="743841"/>
          </a:xfrm>
          <a:prstGeom prst="rect">
            <a:avLst/>
          </a:prstGeom>
        </p:spPr>
      </p:pic>
      <p:sp>
        <p:nvSpPr>
          <p:cNvPr id="28" name="Rectangle 27">
            <a:extLst>
              <a:ext uri="{FF2B5EF4-FFF2-40B4-BE49-F238E27FC236}">
                <a16:creationId xmlns:a16="http://schemas.microsoft.com/office/drawing/2014/main" id="{47CA5333-60A6-F3C0-019A-D3006183A95E}"/>
              </a:ext>
            </a:extLst>
          </p:cNvPr>
          <p:cNvSpPr/>
          <p:nvPr/>
        </p:nvSpPr>
        <p:spPr>
          <a:xfrm>
            <a:off x="780399" y="4980729"/>
            <a:ext cx="1752602" cy="409755"/>
          </a:xfrm>
          <a:prstGeom prst="rect">
            <a:avLst/>
          </a:prstGeom>
          <a:solidFill>
            <a:schemeClr val="bg1"/>
          </a:solidFill>
          <a:ln cap="flat">
            <a:solidFill>
              <a:srgbClr val="1042D3"/>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r"/>
            <a:r>
              <a:rPr lang="en-US" b="1">
                <a:solidFill>
                  <a:srgbClr val="1042D3"/>
                </a:solidFill>
              </a:rPr>
              <a:t>WIS2 Node</a:t>
            </a:r>
            <a:endParaRPr lang="en-CH" b="1">
              <a:solidFill>
                <a:srgbClr val="1042D3"/>
              </a:solidFill>
            </a:endParaRPr>
          </a:p>
        </p:txBody>
      </p:sp>
      <p:pic>
        <p:nvPicPr>
          <p:cNvPr id="29" name="Picture 28">
            <a:extLst>
              <a:ext uri="{FF2B5EF4-FFF2-40B4-BE49-F238E27FC236}">
                <a16:creationId xmlns:a16="http://schemas.microsoft.com/office/drawing/2014/main" id="{AE2AF671-6367-22B0-15F1-9A3F796A6396}"/>
              </a:ext>
            </a:extLst>
          </p:cNvPr>
          <p:cNvPicPr>
            <a:picLocks noChangeAspect="1"/>
          </p:cNvPicPr>
          <p:nvPr/>
        </p:nvPicPr>
        <p:blipFill>
          <a:blip r:embed="rId10"/>
          <a:stretch>
            <a:fillRect/>
          </a:stretch>
        </p:blipFill>
        <p:spPr>
          <a:xfrm>
            <a:off x="861393" y="5018999"/>
            <a:ext cx="389556" cy="356402"/>
          </a:xfrm>
          <a:prstGeom prst="rect">
            <a:avLst/>
          </a:prstGeom>
        </p:spPr>
      </p:pic>
      <p:cxnSp>
        <p:nvCxnSpPr>
          <p:cNvPr id="30" name="Connector: Elbow 29">
            <a:extLst>
              <a:ext uri="{FF2B5EF4-FFF2-40B4-BE49-F238E27FC236}">
                <a16:creationId xmlns:a16="http://schemas.microsoft.com/office/drawing/2014/main" id="{7977D6E5-C1F7-7484-ADA1-031602442458}"/>
              </a:ext>
            </a:extLst>
          </p:cNvPr>
          <p:cNvCxnSpPr>
            <a:cxnSpLocks/>
            <a:stCxn id="28" idx="2"/>
            <a:endCxn id="27" idx="2"/>
          </p:cNvCxnSpPr>
          <p:nvPr/>
        </p:nvCxnSpPr>
        <p:spPr>
          <a:xfrm rot="16200000" flipH="1">
            <a:off x="5112680" y="1934504"/>
            <a:ext cx="182945" cy="7094904"/>
          </a:xfrm>
          <a:prstGeom prst="bentConnector3">
            <a:avLst>
              <a:gd name="adj1" fmla="val 664194"/>
            </a:avLst>
          </a:prstGeom>
          <a:ln>
            <a:headEnd type="triangle"/>
            <a:tailEnd type="none"/>
          </a:ln>
        </p:spPr>
        <p:style>
          <a:lnRef idx="2">
            <a:schemeClr val="accent1"/>
          </a:lnRef>
          <a:fillRef idx="0">
            <a:schemeClr val="accent1"/>
          </a:fillRef>
          <a:effectRef idx="1">
            <a:schemeClr val="accent1"/>
          </a:effectRef>
          <a:fontRef idx="minor">
            <a:schemeClr val="tx1"/>
          </a:fontRef>
        </p:style>
      </p:cxnSp>
      <p:cxnSp>
        <p:nvCxnSpPr>
          <p:cNvPr id="31" name="Connector: Elbow 30">
            <a:extLst>
              <a:ext uri="{FF2B5EF4-FFF2-40B4-BE49-F238E27FC236}">
                <a16:creationId xmlns:a16="http://schemas.microsoft.com/office/drawing/2014/main" id="{56819C04-544B-5F68-C24A-68ABD5D25A87}"/>
              </a:ext>
            </a:extLst>
          </p:cNvPr>
          <p:cNvCxnSpPr>
            <a:cxnSpLocks/>
            <a:stCxn id="27" idx="2"/>
            <a:endCxn id="7" idx="3"/>
          </p:cNvCxnSpPr>
          <p:nvPr/>
        </p:nvCxnSpPr>
        <p:spPr>
          <a:xfrm rot="5400000">
            <a:off x="6941829" y="4243344"/>
            <a:ext cx="479691" cy="3139860"/>
          </a:xfrm>
          <a:prstGeom prst="bentConnector2">
            <a:avLst/>
          </a:prstGeom>
          <a:ln>
            <a:tailEnd type="triangle"/>
          </a:ln>
        </p:spPr>
        <p:style>
          <a:lnRef idx="2">
            <a:schemeClr val="accent1"/>
          </a:lnRef>
          <a:fillRef idx="0">
            <a:schemeClr val="accent1"/>
          </a:fillRef>
          <a:effectRef idx="1">
            <a:schemeClr val="accent1"/>
          </a:effectRef>
          <a:fontRef idx="minor">
            <a:schemeClr val="tx1"/>
          </a:fontRef>
        </p:style>
      </p:cxnSp>
      <p:sp>
        <p:nvSpPr>
          <p:cNvPr id="33" name="TextBox 32">
            <a:extLst>
              <a:ext uri="{FF2B5EF4-FFF2-40B4-BE49-F238E27FC236}">
                <a16:creationId xmlns:a16="http://schemas.microsoft.com/office/drawing/2014/main" id="{3A490DAF-2934-3E45-BA6D-CD8950CA778C}"/>
              </a:ext>
            </a:extLst>
          </p:cNvPr>
          <p:cNvSpPr txBox="1"/>
          <p:nvPr/>
        </p:nvSpPr>
        <p:spPr>
          <a:xfrm rot="2590689">
            <a:off x="2879442" y="5457118"/>
            <a:ext cx="490840" cy="261610"/>
          </a:xfrm>
          <a:prstGeom prst="rect">
            <a:avLst/>
          </a:prstGeom>
          <a:noFill/>
        </p:spPr>
        <p:txBody>
          <a:bodyPr wrap="none" rtlCol="0">
            <a:spAutoFit/>
          </a:bodyPr>
          <a:lstStyle/>
          <a:p>
            <a:r>
              <a:rPr lang="en-US" sz="1100" b="1">
                <a:solidFill>
                  <a:schemeClr val="accent1">
                    <a:lumMod val="50000"/>
                  </a:schemeClr>
                </a:solidFill>
              </a:rPr>
              <a:t>HTTP</a:t>
            </a:r>
            <a:endParaRPr lang="en-CH" sz="1100" b="1">
              <a:solidFill>
                <a:schemeClr val="accent1">
                  <a:lumMod val="50000"/>
                </a:schemeClr>
              </a:solidFill>
            </a:endParaRPr>
          </a:p>
        </p:txBody>
      </p:sp>
    </p:spTree>
    <p:extLst>
      <p:ext uri="{BB962C8B-B14F-4D97-AF65-F5344CB8AC3E}">
        <p14:creationId xmlns:p14="http://schemas.microsoft.com/office/powerpoint/2010/main" val="49913108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 name="Rectangle 45">
            <a:extLst>
              <a:ext uri="{FF2B5EF4-FFF2-40B4-BE49-F238E27FC236}">
                <a16:creationId xmlns:a16="http://schemas.microsoft.com/office/drawing/2014/main" id="{5E82329F-72D5-5777-749D-43F67F59CB17}"/>
              </a:ext>
            </a:extLst>
          </p:cNvPr>
          <p:cNvSpPr/>
          <p:nvPr/>
        </p:nvSpPr>
        <p:spPr>
          <a:xfrm>
            <a:off x="251382" y="1987567"/>
            <a:ext cx="11940618" cy="4870433"/>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CH"/>
          </a:p>
        </p:txBody>
      </p:sp>
      <p:sp>
        <p:nvSpPr>
          <p:cNvPr id="2" name="Title 1"/>
          <p:cNvSpPr>
            <a:spLocks noGrp="1"/>
          </p:cNvSpPr>
          <p:nvPr>
            <p:ph type="title"/>
          </p:nvPr>
        </p:nvSpPr>
        <p:spPr>
          <a:xfrm>
            <a:off x="-75414" y="0"/>
            <a:ext cx="12267414" cy="791852"/>
          </a:xfrm>
          <a:solidFill>
            <a:srgbClr val="004F9F"/>
          </a:solidFill>
        </p:spPr>
        <p:txBody>
          <a:bodyPr>
            <a:normAutofit/>
          </a:bodyPr>
          <a:lstStyle/>
          <a:p>
            <a:r>
              <a:rPr lang="en-US" dirty="0">
                <a:solidFill>
                  <a:schemeClr val="bg1"/>
                </a:solidFill>
              </a:rPr>
              <a:t>Sharing data in WIS 2.0</a:t>
            </a:r>
          </a:p>
        </p:txBody>
      </p:sp>
      <p:sp>
        <p:nvSpPr>
          <p:cNvPr id="47" name="AutoShape 4">
            <a:extLst>
              <a:ext uri="{FF2B5EF4-FFF2-40B4-BE49-F238E27FC236}">
                <a16:creationId xmlns:a16="http://schemas.microsoft.com/office/drawing/2014/main" id="{37899D14-80AD-158B-FBEA-4778BED53EC2}"/>
              </a:ext>
            </a:extLst>
          </p:cNvPr>
          <p:cNvSpPr>
            <a:spLocks noChangeAspect="1" noChangeArrowheads="1"/>
          </p:cNvSpPr>
          <p:nvPr/>
        </p:nvSpPr>
        <p:spPr bwMode="auto">
          <a:xfrm>
            <a:off x="3786326" y="3214456"/>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CH"/>
          </a:p>
        </p:txBody>
      </p:sp>
      <p:sp>
        <p:nvSpPr>
          <p:cNvPr id="49" name="AutoShape 4">
            <a:extLst>
              <a:ext uri="{FF2B5EF4-FFF2-40B4-BE49-F238E27FC236}">
                <a16:creationId xmlns:a16="http://schemas.microsoft.com/office/drawing/2014/main" id="{58850381-F7DA-FF7D-7087-C966066523A9}"/>
              </a:ext>
            </a:extLst>
          </p:cNvPr>
          <p:cNvSpPr>
            <a:spLocks noChangeAspect="1" noChangeArrowheads="1"/>
          </p:cNvSpPr>
          <p:nvPr/>
        </p:nvSpPr>
        <p:spPr bwMode="auto">
          <a:xfrm>
            <a:off x="816793" y="3219634"/>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CH"/>
          </a:p>
        </p:txBody>
      </p:sp>
      <p:grpSp>
        <p:nvGrpSpPr>
          <p:cNvPr id="4" name="Group 3">
            <a:extLst>
              <a:ext uri="{FF2B5EF4-FFF2-40B4-BE49-F238E27FC236}">
                <a16:creationId xmlns:a16="http://schemas.microsoft.com/office/drawing/2014/main" id="{96A8F4A3-07CA-0D74-9794-C99BCEC56EB4}"/>
              </a:ext>
            </a:extLst>
          </p:cNvPr>
          <p:cNvGrpSpPr/>
          <p:nvPr/>
        </p:nvGrpSpPr>
        <p:grpSpPr>
          <a:xfrm>
            <a:off x="1168769" y="1458870"/>
            <a:ext cx="3863471" cy="3783991"/>
            <a:chOff x="216847" y="101060"/>
            <a:chExt cx="4657956" cy="4573874"/>
          </a:xfrm>
        </p:grpSpPr>
        <p:grpSp>
          <p:nvGrpSpPr>
            <p:cNvPr id="5" name="Group 4">
              <a:extLst>
                <a:ext uri="{FF2B5EF4-FFF2-40B4-BE49-F238E27FC236}">
                  <a16:creationId xmlns:a16="http://schemas.microsoft.com/office/drawing/2014/main" id="{555B88D9-D25B-2FB0-0925-3AC093E05C57}"/>
                </a:ext>
              </a:extLst>
            </p:cNvPr>
            <p:cNvGrpSpPr/>
            <p:nvPr/>
          </p:nvGrpSpPr>
          <p:grpSpPr>
            <a:xfrm>
              <a:off x="1167120" y="101060"/>
              <a:ext cx="3707683" cy="3185700"/>
              <a:chOff x="2345635" y="1640300"/>
              <a:chExt cx="3707683" cy="3185700"/>
            </a:xfrm>
          </p:grpSpPr>
          <p:grpSp>
            <p:nvGrpSpPr>
              <p:cNvPr id="10" name="Group 9">
                <a:extLst>
                  <a:ext uri="{FF2B5EF4-FFF2-40B4-BE49-F238E27FC236}">
                    <a16:creationId xmlns:a16="http://schemas.microsoft.com/office/drawing/2014/main" id="{228E6E95-3089-6AB4-553C-AF1D753F3BAE}"/>
                  </a:ext>
                </a:extLst>
              </p:cNvPr>
              <p:cNvGrpSpPr/>
              <p:nvPr/>
            </p:nvGrpSpPr>
            <p:grpSpPr>
              <a:xfrm>
                <a:off x="2345635" y="1640300"/>
                <a:ext cx="3707683" cy="3097210"/>
                <a:chOff x="2345635" y="1640300"/>
                <a:chExt cx="3707683" cy="3097210"/>
              </a:xfrm>
            </p:grpSpPr>
            <p:pic>
              <p:nvPicPr>
                <p:cNvPr id="12" name="Picture 11" descr="A black and white symbol&#10;&#10;Description automatically generated">
                  <a:extLst>
                    <a:ext uri="{FF2B5EF4-FFF2-40B4-BE49-F238E27FC236}">
                      <a16:creationId xmlns:a16="http://schemas.microsoft.com/office/drawing/2014/main" id="{226DDF1B-ABFE-330C-4A94-7B254192453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000362" y="1907649"/>
                  <a:ext cx="398228" cy="398228"/>
                </a:xfrm>
                <a:prstGeom prst="rect">
                  <a:avLst/>
                </a:prstGeom>
              </p:spPr>
            </p:pic>
            <p:pic>
              <p:nvPicPr>
                <p:cNvPr id="13" name="Picture 12" descr="A black background with a black square&#10;&#10;Description automatically generated with medium confidence">
                  <a:extLst>
                    <a:ext uri="{FF2B5EF4-FFF2-40B4-BE49-F238E27FC236}">
                      <a16:creationId xmlns:a16="http://schemas.microsoft.com/office/drawing/2014/main" id="{9B78C463-42B1-86A3-EFC8-2FEDEE1143D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780563" y="2136655"/>
                  <a:ext cx="1399712" cy="1399712"/>
                </a:xfrm>
                <a:prstGeom prst="rect">
                  <a:avLst/>
                </a:prstGeom>
              </p:spPr>
            </p:pic>
            <p:pic>
              <p:nvPicPr>
                <p:cNvPr id="14" name="Graphic 4" descr="Thought bubble outline">
                  <a:extLst>
                    <a:ext uri="{FF2B5EF4-FFF2-40B4-BE49-F238E27FC236}">
                      <a16:creationId xmlns:a16="http://schemas.microsoft.com/office/drawing/2014/main" id="{DB83383F-B2F8-6053-A072-E92AA7A9CE1C}"/>
                    </a:ext>
                  </a:extLst>
                </p:cNvPr>
                <p:cNvPicPr>
                  <a:picLocks noChangeAspect="1"/>
                </p:cNvPicPr>
                <p:nvPr/>
              </p:nvPicPr>
              <p:blipFill rotWithShape="1">
                <a:blip>
                  <a:extLst>
                    <a:ext uri="{96DAC541-7B7A-43D3-8B79-37D633B846F1}">
                      <asvg:svgBlip xmlns:asvg="http://schemas.microsoft.com/office/drawing/2016/SVG/main" r:embed="rId4"/>
                    </a:ext>
                  </a:extLst>
                </a:blip>
                <a:srcRect t="8475" b="7989"/>
                <a:stretch/>
              </p:blipFill>
              <p:spPr>
                <a:xfrm>
                  <a:off x="2345635" y="1640300"/>
                  <a:ext cx="3707683" cy="3097210"/>
                </a:xfrm>
                <a:prstGeom prst="rect">
                  <a:avLst/>
                </a:prstGeom>
                <a:noFill/>
                <a:ln cap="flat">
                  <a:noFill/>
                </a:ln>
              </p:spPr>
            </p:pic>
            <p:pic>
              <p:nvPicPr>
                <p:cNvPr id="15" name="Picture 14" descr="A black and white symbol&#10;&#10;Description automatically generated">
                  <a:extLst>
                    <a:ext uri="{FF2B5EF4-FFF2-40B4-BE49-F238E27FC236}">
                      <a16:creationId xmlns:a16="http://schemas.microsoft.com/office/drawing/2014/main" id="{A1388C12-3501-6FAA-6AE5-9F547442683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348291" y="2371319"/>
                  <a:ext cx="398228" cy="398228"/>
                </a:xfrm>
                <a:prstGeom prst="rect">
                  <a:avLst/>
                </a:prstGeom>
              </p:spPr>
            </p:pic>
            <p:pic>
              <p:nvPicPr>
                <p:cNvPr id="16" name="Picture 15" descr="A black and white symbol&#10;&#10;Description automatically generated">
                  <a:extLst>
                    <a:ext uri="{FF2B5EF4-FFF2-40B4-BE49-F238E27FC236}">
                      <a16:creationId xmlns:a16="http://schemas.microsoft.com/office/drawing/2014/main" id="{D6DD555F-AB4E-DBD8-F823-024D5124E11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828893" y="2294148"/>
                  <a:ext cx="398228" cy="398228"/>
                </a:xfrm>
                <a:prstGeom prst="rect">
                  <a:avLst/>
                </a:prstGeom>
              </p:spPr>
            </p:pic>
            <p:pic>
              <p:nvPicPr>
                <p:cNvPr id="17" name="Picture 16" descr="A black and white symbol&#10;&#10;Description automatically generated">
                  <a:extLst>
                    <a:ext uri="{FF2B5EF4-FFF2-40B4-BE49-F238E27FC236}">
                      <a16:creationId xmlns:a16="http://schemas.microsoft.com/office/drawing/2014/main" id="{54AA5169-0A46-0CE1-7DAE-E2285D39320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447622" y="2750192"/>
                  <a:ext cx="398228" cy="398228"/>
                </a:xfrm>
                <a:prstGeom prst="rect">
                  <a:avLst/>
                </a:prstGeom>
              </p:spPr>
            </p:pic>
            <p:pic>
              <p:nvPicPr>
                <p:cNvPr id="18" name="Picture 17" descr="A black and white symbol&#10;&#10;Description automatically generated">
                  <a:extLst>
                    <a:ext uri="{FF2B5EF4-FFF2-40B4-BE49-F238E27FC236}">
                      <a16:creationId xmlns:a16="http://schemas.microsoft.com/office/drawing/2014/main" id="{0266E7BC-8CE3-027F-1558-E10EEFD24C9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868920" y="3291612"/>
                  <a:ext cx="398228" cy="398228"/>
                </a:xfrm>
                <a:prstGeom prst="rect">
                  <a:avLst/>
                </a:prstGeom>
              </p:spPr>
            </p:pic>
            <p:sp>
              <p:nvSpPr>
                <p:cNvPr id="19" name="Oval 18">
                  <a:extLst>
                    <a:ext uri="{FF2B5EF4-FFF2-40B4-BE49-F238E27FC236}">
                      <a16:creationId xmlns:a16="http://schemas.microsoft.com/office/drawing/2014/main" id="{6C026015-304E-010D-0F3B-D0FD5BEFD3A8}"/>
                    </a:ext>
                  </a:extLst>
                </p:cNvPr>
                <p:cNvSpPr/>
                <p:nvPr/>
              </p:nvSpPr>
              <p:spPr>
                <a:xfrm>
                  <a:off x="4829980" y="2272774"/>
                  <a:ext cx="66206" cy="66206"/>
                </a:xfrm>
                <a:prstGeom prst="ellipse">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0" name="Oval 19">
                  <a:extLst>
                    <a:ext uri="{FF2B5EF4-FFF2-40B4-BE49-F238E27FC236}">
                      <a16:creationId xmlns:a16="http://schemas.microsoft.com/office/drawing/2014/main" id="{0D482156-74F6-C7A1-3BD4-85ACF9B4F43E}"/>
                    </a:ext>
                  </a:extLst>
                </p:cNvPr>
                <p:cNvSpPr/>
                <p:nvPr/>
              </p:nvSpPr>
              <p:spPr>
                <a:xfrm>
                  <a:off x="4379398" y="2710538"/>
                  <a:ext cx="66206" cy="66206"/>
                </a:xfrm>
                <a:prstGeom prst="ellipse">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1" name="Oval 20">
                  <a:extLst>
                    <a:ext uri="{FF2B5EF4-FFF2-40B4-BE49-F238E27FC236}">
                      <a16:creationId xmlns:a16="http://schemas.microsoft.com/office/drawing/2014/main" id="{51A1978C-69FF-0233-72FD-CDB8DC4CEE1B}"/>
                    </a:ext>
                  </a:extLst>
                </p:cNvPr>
                <p:cNvSpPr/>
                <p:nvPr/>
              </p:nvSpPr>
              <p:spPr>
                <a:xfrm>
                  <a:off x="4194018" y="2816766"/>
                  <a:ext cx="66206" cy="66206"/>
                </a:xfrm>
                <a:prstGeom prst="ellipse">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2" name="Oval 21">
                  <a:extLst>
                    <a:ext uri="{FF2B5EF4-FFF2-40B4-BE49-F238E27FC236}">
                      <a16:creationId xmlns:a16="http://schemas.microsoft.com/office/drawing/2014/main" id="{9DE0A185-FF72-0220-C9D8-96840E55DE15}"/>
                    </a:ext>
                  </a:extLst>
                </p:cNvPr>
                <p:cNvSpPr/>
                <p:nvPr/>
              </p:nvSpPr>
              <p:spPr>
                <a:xfrm>
                  <a:off x="4234045" y="2905113"/>
                  <a:ext cx="66206" cy="66206"/>
                </a:xfrm>
                <a:prstGeom prst="ellipse">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3" name="Oval 22">
                  <a:extLst>
                    <a:ext uri="{FF2B5EF4-FFF2-40B4-BE49-F238E27FC236}">
                      <a16:creationId xmlns:a16="http://schemas.microsoft.com/office/drawing/2014/main" id="{9AEEC55A-33CA-8217-57FF-B40E26C2EA5C}"/>
                    </a:ext>
                  </a:extLst>
                </p:cNvPr>
                <p:cNvSpPr/>
                <p:nvPr/>
              </p:nvSpPr>
              <p:spPr>
                <a:xfrm>
                  <a:off x="4473026" y="3096236"/>
                  <a:ext cx="66206" cy="66206"/>
                </a:xfrm>
                <a:prstGeom prst="ellipse">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4" name="Oval 23">
                  <a:extLst>
                    <a:ext uri="{FF2B5EF4-FFF2-40B4-BE49-F238E27FC236}">
                      <a16:creationId xmlns:a16="http://schemas.microsoft.com/office/drawing/2014/main" id="{BB14A876-0432-79CB-8AFC-912639957B33}"/>
                    </a:ext>
                  </a:extLst>
                </p:cNvPr>
                <p:cNvSpPr/>
                <p:nvPr/>
              </p:nvSpPr>
              <p:spPr>
                <a:xfrm>
                  <a:off x="4588153" y="2872010"/>
                  <a:ext cx="66206" cy="66206"/>
                </a:xfrm>
                <a:prstGeom prst="ellipse">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25" name="Picture 24" descr="A black and white symbol&#10;&#10;Description automatically generated">
                  <a:extLst>
                    <a:ext uri="{FF2B5EF4-FFF2-40B4-BE49-F238E27FC236}">
                      <a16:creationId xmlns:a16="http://schemas.microsoft.com/office/drawing/2014/main" id="{56D4535F-6737-DCB4-4908-D83E743D09E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074786" y="2710538"/>
                  <a:ext cx="398228" cy="398228"/>
                </a:xfrm>
                <a:prstGeom prst="rect">
                  <a:avLst/>
                </a:prstGeom>
              </p:spPr>
            </p:pic>
            <p:cxnSp>
              <p:nvCxnSpPr>
                <p:cNvPr id="26" name="Straight Connector 25">
                  <a:extLst>
                    <a:ext uri="{FF2B5EF4-FFF2-40B4-BE49-F238E27FC236}">
                      <a16:creationId xmlns:a16="http://schemas.microsoft.com/office/drawing/2014/main" id="{A861F152-6D6F-5E77-B9D7-1D89F5E14050}"/>
                    </a:ext>
                  </a:extLst>
                </p:cNvPr>
                <p:cNvCxnSpPr>
                  <a:cxnSpLocks/>
                </p:cNvCxnSpPr>
                <p:nvPr/>
              </p:nvCxnSpPr>
              <p:spPr>
                <a:xfrm>
                  <a:off x="4312466" y="2194560"/>
                  <a:ext cx="475738" cy="9958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5F0FF958-1517-7C19-A71B-931B402DB399}"/>
                    </a:ext>
                  </a:extLst>
                </p:cNvPr>
                <p:cNvCxnSpPr>
                  <a:cxnSpLocks/>
                </p:cNvCxnSpPr>
                <p:nvPr/>
              </p:nvCxnSpPr>
              <p:spPr>
                <a:xfrm>
                  <a:off x="4135622" y="2567986"/>
                  <a:ext cx="214397" cy="13082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6529DC49-8A4B-DF11-2667-5D59EAFF4C99}"/>
                    </a:ext>
                  </a:extLst>
                </p:cNvPr>
                <p:cNvCxnSpPr>
                  <a:cxnSpLocks/>
                </p:cNvCxnSpPr>
                <p:nvPr/>
              </p:nvCxnSpPr>
              <p:spPr>
                <a:xfrm>
                  <a:off x="3646736" y="2661739"/>
                  <a:ext cx="532215" cy="16562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137BD1FA-70FE-36FF-7603-1C1E14F5D38F}"/>
                    </a:ext>
                  </a:extLst>
                </p:cNvPr>
                <p:cNvCxnSpPr>
                  <a:cxnSpLocks/>
                </p:cNvCxnSpPr>
                <p:nvPr/>
              </p:nvCxnSpPr>
              <p:spPr>
                <a:xfrm flipV="1">
                  <a:off x="3746519" y="2949306"/>
                  <a:ext cx="463448" cy="9075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1EE26BB6-28EB-A544-19F1-A2E5652C8859}"/>
                    </a:ext>
                  </a:extLst>
                </p:cNvPr>
                <p:cNvCxnSpPr>
                  <a:cxnSpLocks/>
                </p:cNvCxnSpPr>
                <p:nvPr/>
              </p:nvCxnSpPr>
              <p:spPr>
                <a:xfrm flipV="1">
                  <a:off x="4209967" y="3159220"/>
                  <a:ext cx="247988" cy="17660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B9F7A05D-A38F-9197-F4BF-6F76E6259554}"/>
                    </a:ext>
                  </a:extLst>
                </p:cNvPr>
                <p:cNvCxnSpPr>
                  <a:cxnSpLocks/>
                </p:cNvCxnSpPr>
                <p:nvPr/>
              </p:nvCxnSpPr>
              <p:spPr>
                <a:xfrm>
                  <a:off x="4688446" y="2905113"/>
                  <a:ext cx="491829" cy="6004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11" name="Rectangle 10">
                <a:extLst>
                  <a:ext uri="{FF2B5EF4-FFF2-40B4-BE49-F238E27FC236}">
                    <a16:creationId xmlns:a16="http://schemas.microsoft.com/office/drawing/2014/main" id="{631FF2D8-40D6-0869-6A9D-6645581065D3}"/>
                  </a:ext>
                </a:extLst>
              </p:cNvPr>
              <p:cNvSpPr/>
              <p:nvPr/>
            </p:nvSpPr>
            <p:spPr>
              <a:xfrm>
                <a:off x="2555240" y="3723640"/>
                <a:ext cx="1168400" cy="1102360"/>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pic>
          <p:nvPicPr>
            <p:cNvPr id="6" name="Picture 5">
              <a:extLst>
                <a:ext uri="{FF2B5EF4-FFF2-40B4-BE49-F238E27FC236}">
                  <a16:creationId xmlns:a16="http://schemas.microsoft.com/office/drawing/2014/main" id="{6C81F105-DCFA-8311-1E20-349AC23F63A4}"/>
                </a:ext>
              </a:extLst>
            </p:cNvPr>
            <p:cNvPicPr>
              <a:picLocks noChangeAspect="1"/>
            </p:cNvPicPr>
            <p:nvPr/>
          </p:nvPicPr>
          <p:blipFill>
            <a:blip r:embed="rId5"/>
            <a:stretch>
              <a:fillRect/>
            </a:stretch>
          </p:blipFill>
          <p:spPr>
            <a:xfrm>
              <a:off x="535737" y="2390280"/>
              <a:ext cx="734972" cy="1194331"/>
            </a:xfrm>
            <a:prstGeom prst="rect">
              <a:avLst/>
            </a:prstGeom>
          </p:spPr>
        </p:pic>
        <p:pic>
          <p:nvPicPr>
            <p:cNvPr id="7" name="Graphic 4" descr="Thought bubble outline">
              <a:extLst>
                <a:ext uri="{FF2B5EF4-FFF2-40B4-BE49-F238E27FC236}">
                  <a16:creationId xmlns:a16="http://schemas.microsoft.com/office/drawing/2014/main" id="{778D5068-DB0D-A705-ADCF-7064FD3FD9CB}"/>
                </a:ext>
              </a:extLst>
            </p:cNvPr>
            <p:cNvPicPr>
              <a:picLocks noChangeAspect="1"/>
            </p:cNvPicPr>
            <p:nvPr/>
          </p:nvPicPr>
          <p:blipFill rotWithShape="1">
            <a:blip>
              <a:extLst>
                <a:ext uri="{96DAC541-7B7A-43D3-8B79-37D633B846F1}">
                  <asvg:svgBlip xmlns:asvg="http://schemas.microsoft.com/office/drawing/2016/SVG/main" r:embed="rId4"/>
                </a:ext>
              </a:extLst>
            </a:blip>
            <a:srcRect t="63550" r="61934" b="7989"/>
            <a:stretch/>
          </p:blipFill>
          <p:spPr>
            <a:xfrm>
              <a:off x="886412" y="1824824"/>
              <a:ext cx="1069609" cy="799722"/>
            </a:xfrm>
            <a:prstGeom prst="rect">
              <a:avLst/>
            </a:prstGeom>
            <a:noFill/>
            <a:ln cap="flat">
              <a:noFill/>
            </a:ln>
          </p:spPr>
        </p:pic>
        <p:pic>
          <p:nvPicPr>
            <p:cNvPr id="8" name="Picture 7">
              <a:extLst>
                <a:ext uri="{FF2B5EF4-FFF2-40B4-BE49-F238E27FC236}">
                  <a16:creationId xmlns:a16="http://schemas.microsoft.com/office/drawing/2014/main" id="{015082C1-AA13-0D6A-CF7E-3CED80CC3FDC}"/>
                </a:ext>
              </a:extLst>
            </p:cNvPr>
            <p:cNvPicPr>
              <a:picLocks noChangeAspect="1"/>
            </p:cNvPicPr>
            <p:nvPr/>
          </p:nvPicPr>
          <p:blipFill>
            <a:blip r:embed="rId6"/>
            <a:stretch>
              <a:fillRect/>
            </a:stretch>
          </p:blipFill>
          <p:spPr>
            <a:xfrm flipH="1">
              <a:off x="216847" y="3772621"/>
              <a:ext cx="637779" cy="688861"/>
            </a:xfrm>
            <a:prstGeom prst="rect">
              <a:avLst/>
            </a:prstGeom>
          </p:spPr>
        </p:pic>
        <p:sp>
          <p:nvSpPr>
            <p:cNvPr id="9" name="TextBox 8">
              <a:extLst>
                <a:ext uri="{FF2B5EF4-FFF2-40B4-BE49-F238E27FC236}">
                  <a16:creationId xmlns:a16="http://schemas.microsoft.com/office/drawing/2014/main" id="{F8607D55-A10C-07F1-88C2-E3F672014CE4}"/>
                </a:ext>
              </a:extLst>
            </p:cNvPr>
            <p:cNvSpPr txBox="1"/>
            <p:nvPr/>
          </p:nvSpPr>
          <p:spPr>
            <a:xfrm>
              <a:off x="792306" y="3751604"/>
              <a:ext cx="3153167" cy="923330"/>
            </a:xfrm>
            <a:prstGeom prst="rect">
              <a:avLst/>
            </a:prstGeom>
            <a:noFill/>
          </p:spPr>
          <p:txBody>
            <a:bodyPr wrap="square" rtlCol="0">
              <a:spAutoFit/>
            </a:bodyPr>
            <a:lstStyle/>
            <a:p>
              <a:r>
                <a:rPr lang="en-GB"/>
                <a:t>I want to share data from my national network of land-based, fixed observing stations</a:t>
              </a:r>
            </a:p>
          </p:txBody>
        </p:sp>
      </p:grpSp>
      <p:grpSp>
        <p:nvGrpSpPr>
          <p:cNvPr id="32" name="Group 31">
            <a:extLst>
              <a:ext uri="{FF2B5EF4-FFF2-40B4-BE49-F238E27FC236}">
                <a16:creationId xmlns:a16="http://schemas.microsoft.com/office/drawing/2014/main" id="{8DF4635A-47C8-F708-F470-E4AAA1462D0A}"/>
              </a:ext>
            </a:extLst>
          </p:cNvPr>
          <p:cNvGrpSpPr/>
          <p:nvPr/>
        </p:nvGrpSpPr>
        <p:grpSpPr>
          <a:xfrm>
            <a:off x="7752185" y="1615975"/>
            <a:ext cx="3586102" cy="4180616"/>
            <a:chOff x="8478899" y="378175"/>
            <a:chExt cx="3586102" cy="4180616"/>
          </a:xfrm>
        </p:grpSpPr>
        <p:pic>
          <p:nvPicPr>
            <p:cNvPr id="33" name="Picture 32">
              <a:extLst>
                <a:ext uri="{FF2B5EF4-FFF2-40B4-BE49-F238E27FC236}">
                  <a16:creationId xmlns:a16="http://schemas.microsoft.com/office/drawing/2014/main" id="{599144E8-B14A-5A3F-BF6D-B7D9E010373F}"/>
                </a:ext>
              </a:extLst>
            </p:cNvPr>
            <p:cNvPicPr>
              <a:picLocks noChangeAspect="1"/>
            </p:cNvPicPr>
            <p:nvPr/>
          </p:nvPicPr>
          <p:blipFill>
            <a:blip r:embed="rId7"/>
            <a:stretch>
              <a:fillRect/>
            </a:stretch>
          </p:blipFill>
          <p:spPr>
            <a:xfrm>
              <a:off x="10835927" y="2405227"/>
              <a:ext cx="970364" cy="1164438"/>
            </a:xfrm>
            <a:prstGeom prst="rect">
              <a:avLst/>
            </a:prstGeom>
          </p:spPr>
        </p:pic>
        <p:pic>
          <p:nvPicPr>
            <p:cNvPr id="34" name="Graphic 4" descr="Thought bubble outline">
              <a:extLst>
                <a:ext uri="{FF2B5EF4-FFF2-40B4-BE49-F238E27FC236}">
                  <a16:creationId xmlns:a16="http://schemas.microsoft.com/office/drawing/2014/main" id="{9E7A36F3-1869-0169-0422-6258FFCE5597}"/>
                </a:ext>
              </a:extLst>
            </p:cNvPr>
            <p:cNvPicPr>
              <a:picLocks noChangeAspect="1"/>
            </p:cNvPicPr>
            <p:nvPr/>
          </p:nvPicPr>
          <p:blipFill rotWithShape="1">
            <a:blip>
              <a:extLst>
                <a:ext uri="{96DAC541-7B7A-43D3-8B79-37D633B846F1}">
                  <asvg:svgBlip xmlns:asvg="http://schemas.microsoft.com/office/drawing/2016/SVG/main" r:embed="rId4"/>
                </a:ext>
              </a:extLst>
            </a:blip>
            <a:srcRect t="8475" b="7989"/>
            <a:stretch/>
          </p:blipFill>
          <p:spPr>
            <a:xfrm flipH="1">
              <a:off x="8478899" y="378175"/>
              <a:ext cx="2809878" cy="2347229"/>
            </a:xfrm>
            <a:prstGeom prst="rect">
              <a:avLst/>
            </a:prstGeom>
            <a:noFill/>
            <a:ln cap="flat">
              <a:noFill/>
            </a:ln>
          </p:spPr>
        </p:pic>
        <p:pic>
          <p:nvPicPr>
            <p:cNvPr id="35" name="Picture 34">
              <a:extLst>
                <a:ext uri="{FF2B5EF4-FFF2-40B4-BE49-F238E27FC236}">
                  <a16:creationId xmlns:a16="http://schemas.microsoft.com/office/drawing/2014/main" id="{0B46862F-3335-9BF1-2E54-DE807D4B9393}"/>
                </a:ext>
              </a:extLst>
            </p:cNvPr>
            <p:cNvPicPr>
              <a:picLocks noChangeAspect="1"/>
            </p:cNvPicPr>
            <p:nvPr/>
          </p:nvPicPr>
          <p:blipFill>
            <a:blip r:embed="rId8"/>
            <a:stretch>
              <a:fillRect/>
            </a:stretch>
          </p:blipFill>
          <p:spPr>
            <a:xfrm>
              <a:off x="9398656" y="870002"/>
              <a:ext cx="970364" cy="742748"/>
            </a:xfrm>
            <a:prstGeom prst="rect">
              <a:avLst/>
            </a:prstGeom>
          </p:spPr>
        </p:pic>
        <p:pic>
          <p:nvPicPr>
            <p:cNvPr id="37" name="Picture 36">
              <a:extLst>
                <a:ext uri="{FF2B5EF4-FFF2-40B4-BE49-F238E27FC236}">
                  <a16:creationId xmlns:a16="http://schemas.microsoft.com/office/drawing/2014/main" id="{A9ADFEE1-7087-932F-0BD8-21FFAF6AE97E}"/>
                </a:ext>
              </a:extLst>
            </p:cNvPr>
            <p:cNvPicPr>
              <a:picLocks noChangeAspect="1"/>
            </p:cNvPicPr>
            <p:nvPr/>
          </p:nvPicPr>
          <p:blipFill>
            <a:blip r:embed="rId6"/>
            <a:stretch>
              <a:fillRect/>
            </a:stretch>
          </p:blipFill>
          <p:spPr>
            <a:xfrm flipH="1">
              <a:off x="9678347" y="3656478"/>
              <a:ext cx="637779" cy="688861"/>
            </a:xfrm>
            <a:prstGeom prst="rect">
              <a:avLst/>
            </a:prstGeom>
          </p:spPr>
        </p:pic>
        <p:sp>
          <p:nvSpPr>
            <p:cNvPr id="38" name="TextBox 37">
              <a:extLst>
                <a:ext uri="{FF2B5EF4-FFF2-40B4-BE49-F238E27FC236}">
                  <a16:creationId xmlns:a16="http://schemas.microsoft.com/office/drawing/2014/main" id="{FADC9C83-8A1D-5232-1471-3333336D31D1}"/>
                </a:ext>
              </a:extLst>
            </p:cNvPr>
            <p:cNvSpPr txBox="1"/>
            <p:nvPr/>
          </p:nvSpPr>
          <p:spPr>
            <a:xfrm>
              <a:off x="10253807" y="3635461"/>
              <a:ext cx="1811194" cy="923330"/>
            </a:xfrm>
            <a:prstGeom prst="rect">
              <a:avLst/>
            </a:prstGeom>
            <a:noFill/>
          </p:spPr>
          <p:txBody>
            <a:bodyPr wrap="square" rtlCol="0">
              <a:spAutoFit/>
            </a:bodyPr>
            <a:lstStyle/>
            <a:p>
              <a:r>
                <a:rPr lang="en-GB" dirty="0"/>
                <a:t>I need real-time weather data for my application</a:t>
              </a:r>
            </a:p>
          </p:txBody>
        </p:sp>
      </p:grpSp>
    </p:spTree>
    <p:extLst>
      <p:ext uri="{BB962C8B-B14F-4D97-AF65-F5344CB8AC3E}">
        <p14:creationId xmlns:p14="http://schemas.microsoft.com/office/powerpoint/2010/main" val="8647194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 name="Rectangle 45">
            <a:extLst>
              <a:ext uri="{FF2B5EF4-FFF2-40B4-BE49-F238E27FC236}">
                <a16:creationId xmlns:a16="http://schemas.microsoft.com/office/drawing/2014/main" id="{5E82329F-72D5-5777-749D-43F67F59CB17}"/>
              </a:ext>
            </a:extLst>
          </p:cNvPr>
          <p:cNvSpPr/>
          <p:nvPr/>
        </p:nvSpPr>
        <p:spPr>
          <a:xfrm>
            <a:off x="251382" y="1987567"/>
            <a:ext cx="11940618" cy="4870433"/>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CH"/>
          </a:p>
        </p:txBody>
      </p:sp>
      <p:sp>
        <p:nvSpPr>
          <p:cNvPr id="2" name="Title 1"/>
          <p:cNvSpPr>
            <a:spLocks noGrp="1"/>
          </p:cNvSpPr>
          <p:nvPr>
            <p:ph type="title"/>
          </p:nvPr>
        </p:nvSpPr>
        <p:spPr>
          <a:xfrm>
            <a:off x="-75414" y="0"/>
            <a:ext cx="12267414" cy="791852"/>
          </a:xfrm>
          <a:solidFill>
            <a:srgbClr val="004F9F"/>
          </a:solidFill>
        </p:spPr>
        <p:txBody>
          <a:bodyPr>
            <a:normAutofit/>
          </a:bodyPr>
          <a:lstStyle/>
          <a:p>
            <a:r>
              <a:rPr lang="en-US" dirty="0">
                <a:solidFill>
                  <a:schemeClr val="bg1"/>
                </a:solidFill>
              </a:rPr>
              <a:t>Sharing data in WIS 2.0</a:t>
            </a:r>
          </a:p>
        </p:txBody>
      </p:sp>
      <p:sp>
        <p:nvSpPr>
          <p:cNvPr id="39" name="Rectangle: Rounded Corners 38">
            <a:extLst>
              <a:ext uri="{FF2B5EF4-FFF2-40B4-BE49-F238E27FC236}">
                <a16:creationId xmlns:a16="http://schemas.microsoft.com/office/drawing/2014/main" id="{A89BB2FA-5979-E40B-0F11-139A51514787}"/>
              </a:ext>
            </a:extLst>
          </p:cNvPr>
          <p:cNvSpPr/>
          <p:nvPr/>
        </p:nvSpPr>
        <p:spPr>
          <a:xfrm>
            <a:off x="4798762" y="1517581"/>
            <a:ext cx="2492444" cy="4628885"/>
          </a:xfrm>
          <a:prstGeom prst="roundRect">
            <a:avLst>
              <a:gd name="adj" fmla="val 2604"/>
            </a:avLst>
          </a:prstGeom>
          <a:solidFill>
            <a:schemeClr val="bg1"/>
          </a:solidFill>
          <a:ln w="28575">
            <a:solidFill>
              <a:srgbClr val="1849D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40" name="Picture 39">
            <a:extLst>
              <a:ext uri="{FF2B5EF4-FFF2-40B4-BE49-F238E27FC236}">
                <a16:creationId xmlns:a16="http://schemas.microsoft.com/office/drawing/2014/main" id="{C0339FC4-0EBA-EB27-5A68-067233EC66FC}"/>
              </a:ext>
            </a:extLst>
          </p:cNvPr>
          <p:cNvPicPr>
            <a:picLocks noChangeAspect="1"/>
          </p:cNvPicPr>
          <p:nvPr/>
        </p:nvPicPr>
        <p:blipFill>
          <a:blip r:embed="rId2"/>
          <a:stretch>
            <a:fillRect/>
          </a:stretch>
        </p:blipFill>
        <p:spPr>
          <a:xfrm>
            <a:off x="6385348" y="1205959"/>
            <a:ext cx="664522" cy="674004"/>
          </a:xfrm>
          <a:prstGeom prst="rect">
            <a:avLst/>
          </a:prstGeom>
        </p:spPr>
      </p:pic>
      <p:pic>
        <p:nvPicPr>
          <p:cNvPr id="41" name="Picture 40">
            <a:extLst>
              <a:ext uri="{FF2B5EF4-FFF2-40B4-BE49-F238E27FC236}">
                <a16:creationId xmlns:a16="http://schemas.microsoft.com/office/drawing/2014/main" id="{715A6748-6D40-5E48-1A38-1F1E3DE1A2F4}"/>
              </a:ext>
            </a:extLst>
          </p:cNvPr>
          <p:cNvPicPr>
            <a:picLocks noChangeAspect="1"/>
          </p:cNvPicPr>
          <p:nvPr/>
        </p:nvPicPr>
        <p:blipFill>
          <a:blip r:embed="rId3"/>
          <a:stretch>
            <a:fillRect/>
          </a:stretch>
        </p:blipFill>
        <p:spPr>
          <a:xfrm>
            <a:off x="381499" y="3192471"/>
            <a:ext cx="734972" cy="1194331"/>
          </a:xfrm>
          <a:prstGeom prst="rect">
            <a:avLst/>
          </a:prstGeom>
        </p:spPr>
      </p:pic>
      <p:pic>
        <p:nvPicPr>
          <p:cNvPr id="42" name="Picture 41">
            <a:extLst>
              <a:ext uri="{FF2B5EF4-FFF2-40B4-BE49-F238E27FC236}">
                <a16:creationId xmlns:a16="http://schemas.microsoft.com/office/drawing/2014/main" id="{0043790F-38DC-1E4B-959C-55B823E87EA7}"/>
              </a:ext>
            </a:extLst>
          </p:cNvPr>
          <p:cNvPicPr>
            <a:picLocks noChangeAspect="1"/>
          </p:cNvPicPr>
          <p:nvPr/>
        </p:nvPicPr>
        <p:blipFill>
          <a:blip r:embed="rId4"/>
          <a:stretch>
            <a:fillRect/>
          </a:stretch>
        </p:blipFill>
        <p:spPr>
          <a:xfrm flipH="1">
            <a:off x="62609" y="1077348"/>
            <a:ext cx="637779" cy="688861"/>
          </a:xfrm>
          <a:prstGeom prst="rect">
            <a:avLst/>
          </a:prstGeom>
        </p:spPr>
      </p:pic>
      <p:sp>
        <p:nvSpPr>
          <p:cNvPr id="43" name="TextBox 42">
            <a:extLst>
              <a:ext uri="{FF2B5EF4-FFF2-40B4-BE49-F238E27FC236}">
                <a16:creationId xmlns:a16="http://schemas.microsoft.com/office/drawing/2014/main" id="{33D6C52B-0FBE-95A0-53FF-9F6714486282}"/>
              </a:ext>
            </a:extLst>
          </p:cNvPr>
          <p:cNvSpPr txBox="1"/>
          <p:nvPr/>
        </p:nvSpPr>
        <p:spPr>
          <a:xfrm>
            <a:off x="638068" y="1056331"/>
            <a:ext cx="3235007" cy="1200329"/>
          </a:xfrm>
          <a:prstGeom prst="rect">
            <a:avLst/>
          </a:prstGeom>
          <a:noFill/>
        </p:spPr>
        <p:txBody>
          <a:bodyPr wrap="square" rtlCol="0">
            <a:spAutoFit/>
          </a:bodyPr>
          <a:lstStyle/>
          <a:p>
            <a:r>
              <a:rPr lang="en-GB" dirty="0"/>
              <a:t>For WIS 2.0 I see that my collection of real-time observation data is called a ‘</a:t>
            </a:r>
            <a:r>
              <a:rPr lang="en-GB" b="1" dirty="0"/>
              <a:t>Dataset</a:t>
            </a:r>
            <a:r>
              <a:rPr lang="en-GB" dirty="0"/>
              <a:t>’</a:t>
            </a:r>
            <a:r>
              <a:rPr lang="en-GB" baseline="30000" dirty="0"/>
              <a:t>1</a:t>
            </a:r>
          </a:p>
        </p:txBody>
      </p:sp>
      <p:pic>
        <p:nvPicPr>
          <p:cNvPr id="45" name="Picture 44">
            <a:extLst>
              <a:ext uri="{FF2B5EF4-FFF2-40B4-BE49-F238E27FC236}">
                <a16:creationId xmlns:a16="http://schemas.microsoft.com/office/drawing/2014/main" id="{63766791-E390-AFFE-C40F-284FAB6A68E3}"/>
              </a:ext>
            </a:extLst>
          </p:cNvPr>
          <p:cNvPicPr>
            <a:picLocks noChangeAspect="1"/>
          </p:cNvPicPr>
          <p:nvPr/>
        </p:nvPicPr>
        <p:blipFill>
          <a:blip r:embed="rId5"/>
          <a:stretch>
            <a:fillRect/>
          </a:stretch>
        </p:blipFill>
        <p:spPr>
          <a:xfrm>
            <a:off x="11176698" y="5700142"/>
            <a:ext cx="970364" cy="1164438"/>
          </a:xfrm>
          <a:prstGeom prst="rect">
            <a:avLst/>
          </a:prstGeom>
        </p:spPr>
      </p:pic>
      <p:grpSp>
        <p:nvGrpSpPr>
          <p:cNvPr id="50" name="Group 49">
            <a:extLst>
              <a:ext uri="{FF2B5EF4-FFF2-40B4-BE49-F238E27FC236}">
                <a16:creationId xmlns:a16="http://schemas.microsoft.com/office/drawing/2014/main" id="{58885512-F9AA-39DE-244A-07C61327E06E}"/>
              </a:ext>
            </a:extLst>
          </p:cNvPr>
          <p:cNvGrpSpPr/>
          <p:nvPr/>
        </p:nvGrpSpPr>
        <p:grpSpPr>
          <a:xfrm>
            <a:off x="7730766" y="6099928"/>
            <a:ext cx="3558332" cy="718181"/>
            <a:chOff x="10267627" y="916569"/>
            <a:chExt cx="3558332" cy="718181"/>
          </a:xfrm>
        </p:grpSpPr>
        <p:pic>
          <p:nvPicPr>
            <p:cNvPr id="51" name="Picture 50">
              <a:extLst>
                <a:ext uri="{FF2B5EF4-FFF2-40B4-BE49-F238E27FC236}">
                  <a16:creationId xmlns:a16="http://schemas.microsoft.com/office/drawing/2014/main" id="{EC787363-33F2-AD14-9D01-F9A7BAC0982F}"/>
                </a:ext>
              </a:extLst>
            </p:cNvPr>
            <p:cNvPicPr>
              <a:picLocks noChangeAspect="1"/>
            </p:cNvPicPr>
            <p:nvPr/>
          </p:nvPicPr>
          <p:blipFill>
            <a:blip r:embed="rId4"/>
            <a:stretch>
              <a:fillRect/>
            </a:stretch>
          </p:blipFill>
          <p:spPr>
            <a:xfrm flipH="1">
              <a:off x="10267627" y="945889"/>
              <a:ext cx="637779" cy="688861"/>
            </a:xfrm>
            <a:prstGeom prst="rect">
              <a:avLst/>
            </a:prstGeom>
          </p:spPr>
        </p:pic>
        <p:sp>
          <p:nvSpPr>
            <p:cNvPr id="52" name="TextBox 51">
              <a:extLst>
                <a:ext uri="{FF2B5EF4-FFF2-40B4-BE49-F238E27FC236}">
                  <a16:creationId xmlns:a16="http://schemas.microsoft.com/office/drawing/2014/main" id="{25D8A656-E87F-C6AE-A203-E9E59DF71279}"/>
                </a:ext>
              </a:extLst>
            </p:cNvPr>
            <p:cNvSpPr txBox="1"/>
            <p:nvPr/>
          </p:nvSpPr>
          <p:spPr>
            <a:xfrm>
              <a:off x="10830560" y="916569"/>
              <a:ext cx="2995399" cy="646331"/>
            </a:xfrm>
            <a:prstGeom prst="rect">
              <a:avLst/>
            </a:prstGeom>
            <a:noFill/>
          </p:spPr>
          <p:txBody>
            <a:bodyPr wrap="square" rtlCol="0">
              <a:spAutoFit/>
            </a:bodyPr>
            <a:lstStyle/>
            <a:p>
              <a:r>
                <a:rPr lang="en-GB" dirty="0"/>
                <a:t>But I still don’t know anything about your Dataset!</a:t>
              </a:r>
            </a:p>
          </p:txBody>
        </p:sp>
      </p:grpSp>
      <p:pic>
        <p:nvPicPr>
          <p:cNvPr id="53" name="Picture 52" descr="A black and white symbol&#10;&#10;Description automatically generated">
            <a:extLst>
              <a:ext uri="{FF2B5EF4-FFF2-40B4-BE49-F238E27FC236}">
                <a16:creationId xmlns:a16="http://schemas.microsoft.com/office/drawing/2014/main" id="{97C4A3E6-F3E5-11B9-CD7E-3C3C22E9BF2F}"/>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1320067" y="3349602"/>
            <a:ext cx="923331" cy="923331"/>
          </a:xfrm>
          <a:prstGeom prst="rect">
            <a:avLst/>
          </a:prstGeom>
        </p:spPr>
      </p:pic>
      <p:sp>
        <p:nvSpPr>
          <p:cNvPr id="54" name="TextBox 53">
            <a:extLst>
              <a:ext uri="{FF2B5EF4-FFF2-40B4-BE49-F238E27FC236}">
                <a16:creationId xmlns:a16="http://schemas.microsoft.com/office/drawing/2014/main" id="{22AA524B-EECA-018D-AAE4-9063AC1892D4}"/>
              </a:ext>
            </a:extLst>
          </p:cNvPr>
          <p:cNvSpPr txBox="1"/>
          <p:nvPr/>
        </p:nvSpPr>
        <p:spPr>
          <a:xfrm>
            <a:off x="2151615" y="3717102"/>
            <a:ext cx="1852679" cy="523220"/>
          </a:xfrm>
          <a:prstGeom prst="rect">
            <a:avLst/>
          </a:prstGeom>
          <a:solidFill>
            <a:schemeClr val="bg1"/>
          </a:solidFill>
        </p:spPr>
        <p:txBody>
          <a:bodyPr wrap="square">
            <a:spAutoFit/>
          </a:bodyPr>
          <a:lstStyle/>
          <a:p>
            <a:r>
              <a:rPr kumimoji="0" lang="en-GB" sz="1400" b="0" i="0" u="none" strike="noStrike" kern="1200" cap="none" spc="0" normalizeH="0" baseline="0" noProof="0">
                <a:ln>
                  <a:noFill/>
                </a:ln>
                <a:solidFill>
                  <a:prstClr val="black"/>
                </a:solidFill>
                <a:effectLst/>
                <a:uLnTx/>
                <a:uFillTx/>
                <a:latin typeface="Calibri" panose="020F0502020204030204"/>
                <a:ea typeface="+mn-ea"/>
                <a:cs typeface="+mn-cs"/>
              </a:rPr>
              <a:t>00110001 </a:t>
            </a:r>
          </a:p>
          <a:p>
            <a:r>
              <a:rPr kumimoji="0" lang="en-GB" sz="1400" b="0" i="0" u="none" strike="noStrike" kern="1200" cap="none" spc="0" normalizeH="0" baseline="0" noProof="0">
                <a:ln>
                  <a:noFill/>
                </a:ln>
                <a:solidFill>
                  <a:prstClr val="black"/>
                </a:solidFill>
                <a:effectLst/>
                <a:uLnTx/>
                <a:uFillTx/>
                <a:latin typeface="Calibri" panose="020F0502020204030204"/>
                <a:ea typeface="+mn-ea"/>
                <a:cs typeface="+mn-cs"/>
              </a:rPr>
              <a:t>00110000 </a:t>
            </a:r>
            <a:endParaRPr lang="en-GB"/>
          </a:p>
        </p:txBody>
      </p:sp>
      <p:sp>
        <p:nvSpPr>
          <p:cNvPr id="55" name="TextBox 54">
            <a:extLst>
              <a:ext uri="{FF2B5EF4-FFF2-40B4-BE49-F238E27FC236}">
                <a16:creationId xmlns:a16="http://schemas.microsoft.com/office/drawing/2014/main" id="{EC60DF69-D7D5-77AB-CF77-E6EF15874FFA}"/>
              </a:ext>
            </a:extLst>
          </p:cNvPr>
          <p:cNvSpPr txBox="1"/>
          <p:nvPr/>
        </p:nvSpPr>
        <p:spPr>
          <a:xfrm>
            <a:off x="1993468" y="3757190"/>
            <a:ext cx="1238390" cy="369332"/>
          </a:xfrm>
          <a:prstGeom prst="rect">
            <a:avLst/>
          </a:prstGeom>
          <a:noFill/>
        </p:spPr>
        <p:txBody>
          <a:bodyPr wrap="square" rtlCol="0">
            <a:spAutoFit/>
          </a:bodyPr>
          <a:lstStyle/>
          <a:p>
            <a:r>
              <a:rPr lang="en-GB"/>
              <a:t>»               »</a:t>
            </a:r>
          </a:p>
        </p:txBody>
      </p:sp>
      <p:grpSp>
        <p:nvGrpSpPr>
          <p:cNvPr id="56" name="Group 55">
            <a:extLst>
              <a:ext uri="{FF2B5EF4-FFF2-40B4-BE49-F238E27FC236}">
                <a16:creationId xmlns:a16="http://schemas.microsoft.com/office/drawing/2014/main" id="{33E9C023-EA40-40D9-449E-E2ACAE73563F}"/>
              </a:ext>
            </a:extLst>
          </p:cNvPr>
          <p:cNvGrpSpPr/>
          <p:nvPr/>
        </p:nvGrpSpPr>
        <p:grpSpPr>
          <a:xfrm>
            <a:off x="3123827" y="2918490"/>
            <a:ext cx="1597528" cy="1905000"/>
            <a:chOff x="3278065" y="2116299"/>
            <a:chExt cx="1597528" cy="1905000"/>
          </a:xfrm>
        </p:grpSpPr>
        <p:pic>
          <p:nvPicPr>
            <p:cNvPr id="57" name="Picture 56">
              <a:extLst>
                <a:ext uri="{FF2B5EF4-FFF2-40B4-BE49-F238E27FC236}">
                  <a16:creationId xmlns:a16="http://schemas.microsoft.com/office/drawing/2014/main" id="{2290362A-D770-F498-29D8-D407AEC78E15}"/>
                </a:ext>
              </a:extLst>
            </p:cNvPr>
            <p:cNvPicPr>
              <a:picLocks noChangeAspect="1"/>
            </p:cNvPicPr>
            <p:nvPr/>
          </p:nvPicPr>
          <p:blipFill rotWithShape="1">
            <a:blip r:embed="rId7"/>
            <a:srcRect l="16140"/>
            <a:stretch/>
          </p:blipFill>
          <p:spPr>
            <a:xfrm>
              <a:off x="3278065" y="2116299"/>
              <a:ext cx="1597528" cy="1905000"/>
            </a:xfrm>
            <a:prstGeom prst="rect">
              <a:avLst/>
            </a:prstGeom>
          </p:spPr>
        </p:pic>
        <p:sp>
          <p:nvSpPr>
            <p:cNvPr id="58" name="Rectangle 57">
              <a:extLst>
                <a:ext uri="{FF2B5EF4-FFF2-40B4-BE49-F238E27FC236}">
                  <a16:creationId xmlns:a16="http://schemas.microsoft.com/office/drawing/2014/main" id="{3FD0D487-E09D-9E3D-01AC-12ED787615F6}"/>
                </a:ext>
              </a:extLst>
            </p:cNvPr>
            <p:cNvSpPr/>
            <p:nvPr/>
          </p:nvSpPr>
          <p:spPr>
            <a:xfrm>
              <a:off x="3403382" y="2891808"/>
              <a:ext cx="988708" cy="599574"/>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nvGrpSpPr>
            <p:cNvPr id="59" name="Group 58">
              <a:extLst>
                <a:ext uri="{FF2B5EF4-FFF2-40B4-BE49-F238E27FC236}">
                  <a16:creationId xmlns:a16="http://schemas.microsoft.com/office/drawing/2014/main" id="{04B6A598-337E-7486-DBBD-4A2A145FEDC0}"/>
                </a:ext>
              </a:extLst>
            </p:cNvPr>
            <p:cNvGrpSpPr/>
            <p:nvPr/>
          </p:nvGrpSpPr>
          <p:grpSpPr>
            <a:xfrm>
              <a:off x="3493709" y="2958309"/>
              <a:ext cx="812808" cy="66206"/>
              <a:chOff x="4316669" y="2958309"/>
              <a:chExt cx="812808" cy="66206"/>
            </a:xfrm>
          </p:grpSpPr>
          <p:sp>
            <p:nvSpPr>
              <p:cNvPr id="81" name="Oval 80">
                <a:extLst>
                  <a:ext uri="{FF2B5EF4-FFF2-40B4-BE49-F238E27FC236}">
                    <a16:creationId xmlns:a16="http://schemas.microsoft.com/office/drawing/2014/main" id="{34050833-2C97-8163-187B-6A0C046BCBA3}"/>
                  </a:ext>
                </a:extLst>
              </p:cNvPr>
              <p:cNvSpPr/>
              <p:nvPr/>
            </p:nvSpPr>
            <p:spPr>
              <a:xfrm>
                <a:off x="4316669" y="2958309"/>
                <a:ext cx="66206" cy="66206"/>
              </a:xfrm>
              <a:prstGeom prst="ellipse">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2" name="Oval 81">
                <a:extLst>
                  <a:ext uri="{FF2B5EF4-FFF2-40B4-BE49-F238E27FC236}">
                    <a16:creationId xmlns:a16="http://schemas.microsoft.com/office/drawing/2014/main" id="{3395B29D-F1FC-F52C-E624-7B013B20A35A}"/>
                  </a:ext>
                </a:extLst>
              </p:cNvPr>
              <p:cNvSpPr/>
              <p:nvPr/>
            </p:nvSpPr>
            <p:spPr>
              <a:xfrm>
                <a:off x="4465989" y="2958309"/>
                <a:ext cx="66206" cy="66206"/>
              </a:xfrm>
              <a:prstGeom prst="ellipse">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3" name="Oval 82">
                <a:extLst>
                  <a:ext uri="{FF2B5EF4-FFF2-40B4-BE49-F238E27FC236}">
                    <a16:creationId xmlns:a16="http://schemas.microsoft.com/office/drawing/2014/main" id="{3E2EF7F4-2E3C-6965-62CE-06A8091388DA}"/>
                  </a:ext>
                </a:extLst>
              </p:cNvPr>
              <p:cNvSpPr/>
              <p:nvPr/>
            </p:nvSpPr>
            <p:spPr>
              <a:xfrm>
                <a:off x="4615309" y="2958309"/>
                <a:ext cx="66206" cy="66206"/>
              </a:xfrm>
              <a:prstGeom prst="ellipse">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4" name="Oval 83">
                <a:extLst>
                  <a:ext uri="{FF2B5EF4-FFF2-40B4-BE49-F238E27FC236}">
                    <a16:creationId xmlns:a16="http://schemas.microsoft.com/office/drawing/2014/main" id="{74CD435B-CB21-7285-E90D-FEC10C28151E}"/>
                  </a:ext>
                </a:extLst>
              </p:cNvPr>
              <p:cNvSpPr/>
              <p:nvPr/>
            </p:nvSpPr>
            <p:spPr>
              <a:xfrm>
                <a:off x="4764629" y="2958309"/>
                <a:ext cx="66206" cy="66206"/>
              </a:xfrm>
              <a:prstGeom prst="ellipse">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5" name="Oval 84">
                <a:extLst>
                  <a:ext uri="{FF2B5EF4-FFF2-40B4-BE49-F238E27FC236}">
                    <a16:creationId xmlns:a16="http://schemas.microsoft.com/office/drawing/2014/main" id="{11E7C80A-2867-8FD6-7B57-E15D04FD835A}"/>
                  </a:ext>
                </a:extLst>
              </p:cNvPr>
              <p:cNvSpPr/>
              <p:nvPr/>
            </p:nvSpPr>
            <p:spPr>
              <a:xfrm>
                <a:off x="4913949" y="2958309"/>
                <a:ext cx="66206" cy="66206"/>
              </a:xfrm>
              <a:prstGeom prst="ellipse">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6" name="Oval 85">
                <a:extLst>
                  <a:ext uri="{FF2B5EF4-FFF2-40B4-BE49-F238E27FC236}">
                    <a16:creationId xmlns:a16="http://schemas.microsoft.com/office/drawing/2014/main" id="{03CA27D6-E57E-9D88-6941-4C38FF4304F9}"/>
                  </a:ext>
                </a:extLst>
              </p:cNvPr>
              <p:cNvSpPr/>
              <p:nvPr/>
            </p:nvSpPr>
            <p:spPr>
              <a:xfrm>
                <a:off x="5063271" y="2958309"/>
                <a:ext cx="66206" cy="66206"/>
              </a:xfrm>
              <a:prstGeom prst="ellipse">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grpSp>
          <p:nvGrpSpPr>
            <p:cNvPr id="60" name="Group 59">
              <a:extLst>
                <a:ext uri="{FF2B5EF4-FFF2-40B4-BE49-F238E27FC236}">
                  <a16:creationId xmlns:a16="http://schemas.microsoft.com/office/drawing/2014/main" id="{B12A8C69-7850-CAF2-70E0-4E57641F711D}"/>
                </a:ext>
              </a:extLst>
            </p:cNvPr>
            <p:cNvGrpSpPr/>
            <p:nvPr/>
          </p:nvGrpSpPr>
          <p:grpSpPr>
            <a:xfrm>
              <a:off x="3497614" y="3110709"/>
              <a:ext cx="812808" cy="66206"/>
              <a:chOff x="4316669" y="2958309"/>
              <a:chExt cx="812808" cy="66206"/>
            </a:xfrm>
          </p:grpSpPr>
          <p:sp>
            <p:nvSpPr>
              <p:cNvPr id="75" name="Oval 74">
                <a:extLst>
                  <a:ext uri="{FF2B5EF4-FFF2-40B4-BE49-F238E27FC236}">
                    <a16:creationId xmlns:a16="http://schemas.microsoft.com/office/drawing/2014/main" id="{3F7D6F60-030A-8EC7-C9F8-AE3ACB905DA2}"/>
                  </a:ext>
                </a:extLst>
              </p:cNvPr>
              <p:cNvSpPr/>
              <p:nvPr/>
            </p:nvSpPr>
            <p:spPr>
              <a:xfrm>
                <a:off x="4316669" y="2958309"/>
                <a:ext cx="66206" cy="66206"/>
              </a:xfrm>
              <a:prstGeom prst="ellipse">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6" name="Oval 75">
                <a:extLst>
                  <a:ext uri="{FF2B5EF4-FFF2-40B4-BE49-F238E27FC236}">
                    <a16:creationId xmlns:a16="http://schemas.microsoft.com/office/drawing/2014/main" id="{122FA5A5-F821-7112-6717-35995F7F9B86}"/>
                  </a:ext>
                </a:extLst>
              </p:cNvPr>
              <p:cNvSpPr/>
              <p:nvPr/>
            </p:nvSpPr>
            <p:spPr>
              <a:xfrm>
                <a:off x="4465989" y="2958309"/>
                <a:ext cx="66206" cy="66206"/>
              </a:xfrm>
              <a:prstGeom prst="ellipse">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7" name="Oval 76">
                <a:extLst>
                  <a:ext uri="{FF2B5EF4-FFF2-40B4-BE49-F238E27FC236}">
                    <a16:creationId xmlns:a16="http://schemas.microsoft.com/office/drawing/2014/main" id="{69DAC4D5-2499-7A4D-889E-430FE81D7F84}"/>
                  </a:ext>
                </a:extLst>
              </p:cNvPr>
              <p:cNvSpPr/>
              <p:nvPr/>
            </p:nvSpPr>
            <p:spPr>
              <a:xfrm>
                <a:off x="4615309" y="2958309"/>
                <a:ext cx="66206" cy="66206"/>
              </a:xfrm>
              <a:prstGeom prst="ellipse">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8" name="Oval 77">
                <a:extLst>
                  <a:ext uri="{FF2B5EF4-FFF2-40B4-BE49-F238E27FC236}">
                    <a16:creationId xmlns:a16="http://schemas.microsoft.com/office/drawing/2014/main" id="{61DD2932-DEA1-769D-0C93-CF9870ADC0D4}"/>
                  </a:ext>
                </a:extLst>
              </p:cNvPr>
              <p:cNvSpPr/>
              <p:nvPr/>
            </p:nvSpPr>
            <p:spPr>
              <a:xfrm>
                <a:off x="4764629" y="2958309"/>
                <a:ext cx="66206" cy="66206"/>
              </a:xfrm>
              <a:prstGeom prst="ellipse">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9" name="Oval 78">
                <a:extLst>
                  <a:ext uri="{FF2B5EF4-FFF2-40B4-BE49-F238E27FC236}">
                    <a16:creationId xmlns:a16="http://schemas.microsoft.com/office/drawing/2014/main" id="{2F861B57-21C6-2E60-CDF9-397A0CF29F77}"/>
                  </a:ext>
                </a:extLst>
              </p:cNvPr>
              <p:cNvSpPr/>
              <p:nvPr/>
            </p:nvSpPr>
            <p:spPr>
              <a:xfrm>
                <a:off x="4913949" y="2958309"/>
                <a:ext cx="66206" cy="66206"/>
              </a:xfrm>
              <a:prstGeom prst="ellipse">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0" name="Oval 79">
                <a:extLst>
                  <a:ext uri="{FF2B5EF4-FFF2-40B4-BE49-F238E27FC236}">
                    <a16:creationId xmlns:a16="http://schemas.microsoft.com/office/drawing/2014/main" id="{9003593D-8D07-1478-F26B-5920B9395817}"/>
                  </a:ext>
                </a:extLst>
              </p:cNvPr>
              <p:cNvSpPr/>
              <p:nvPr/>
            </p:nvSpPr>
            <p:spPr>
              <a:xfrm>
                <a:off x="5063271" y="2958309"/>
                <a:ext cx="66206" cy="66206"/>
              </a:xfrm>
              <a:prstGeom prst="ellipse">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grpSp>
          <p:nvGrpSpPr>
            <p:cNvPr id="61" name="Group 60">
              <a:extLst>
                <a:ext uri="{FF2B5EF4-FFF2-40B4-BE49-F238E27FC236}">
                  <a16:creationId xmlns:a16="http://schemas.microsoft.com/office/drawing/2014/main" id="{72ECE2AD-D8D5-5A09-1B16-2E58DD72DE37}"/>
                </a:ext>
              </a:extLst>
            </p:cNvPr>
            <p:cNvGrpSpPr/>
            <p:nvPr/>
          </p:nvGrpSpPr>
          <p:grpSpPr>
            <a:xfrm>
              <a:off x="3497616" y="3259203"/>
              <a:ext cx="812808" cy="66206"/>
              <a:chOff x="4316669" y="2958309"/>
              <a:chExt cx="812808" cy="66206"/>
            </a:xfrm>
          </p:grpSpPr>
          <p:sp>
            <p:nvSpPr>
              <p:cNvPr id="69" name="Oval 68">
                <a:extLst>
                  <a:ext uri="{FF2B5EF4-FFF2-40B4-BE49-F238E27FC236}">
                    <a16:creationId xmlns:a16="http://schemas.microsoft.com/office/drawing/2014/main" id="{EEA211B6-CC86-FA18-DBEE-2DA91846A6E7}"/>
                  </a:ext>
                </a:extLst>
              </p:cNvPr>
              <p:cNvSpPr/>
              <p:nvPr/>
            </p:nvSpPr>
            <p:spPr>
              <a:xfrm>
                <a:off x="4316669" y="2958309"/>
                <a:ext cx="66206" cy="66206"/>
              </a:xfrm>
              <a:prstGeom prst="ellipse">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0" name="Oval 69">
                <a:extLst>
                  <a:ext uri="{FF2B5EF4-FFF2-40B4-BE49-F238E27FC236}">
                    <a16:creationId xmlns:a16="http://schemas.microsoft.com/office/drawing/2014/main" id="{E90EDE1F-7593-0754-D895-9737F4BFBE05}"/>
                  </a:ext>
                </a:extLst>
              </p:cNvPr>
              <p:cNvSpPr/>
              <p:nvPr/>
            </p:nvSpPr>
            <p:spPr>
              <a:xfrm>
                <a:off x="4465989" y="2958309"/>
                <a:ext cx="66206" cy="66206"/>
              </a:xfrm>
              <a:prstGeom prst="ellipse">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1" name="Oval 70">
                <a:extLst>
                  <a:ext uri="{FF2B5EF4-FFF2-40B4-BE49-F238E27FC236}">
                    <a16:creationId xmlns:a16="http://schemas.microsoft.com/office/drawing/2014/main" id="{8D3B60CD-3BEB-5A5D-CA1A-B0A475A0AFDB}"/>
                  </a:ext>
                </a:extLst>
              </p:cNvPr>
              <p:cNvSpPr/>
              <p:nvPr/>
            </p:nvSpPr>
            <p:spPr>
              <a:xfrm>
                <a:off x="4615309" y="2958309"/>
                <a:ext cx="66206" cy="66206"/>
              </a:xfrm>
              <a:prstGeom prst="ellipse">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2" name="Oval 71">
                <a:extLst>
                  <a:ext uri="{FF2B5EF4-FFF2-40B4-BE49-F238E27FC236}">
                    <a16:creationId xmlns:a16="http://schemas.microsoft.com/office/drawing/2014/main" id="{D40E4066-B400-00F9-5393-D8718759E305}"/>
                  </a:ext>
                </a:extLst>
              </p:cNvPr>
              <p:cNvSpPr/>
              <p:nvPr/>
            </p:nvSpPr>
            <p:spPr>
              <a:xfrm>
                <a:off x="4764629" y="2958309"/>
                <a:ext cx="66206" cy="66206"/>
              </a:xfrm>
              <a:prstGeom prst="ellipse">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3" name="Oval 72">
                <a:extLst>
                  <a:ext uri="{FF2B5EF4-FFF2-40B4-BE49-F238E27FC236}">
                    <a16:creationId xmlns:a16="http://schemas.microsoft.com/office/drawing/2014/main" id="{ED9E32D1-CB93-8CF4-8ECA-625358780384}"/>
                  </a:ext>
                </a:extLst>
              </p:cNvPr>
              <p:cNvSpPr/>
              <p:nvPr/>
            </p:nvSpPr>
            <p:spPr>
              <a:xfrm>
                <a:off x="4913949" y="2958309"/>
                <a:ext cx="66206" cy="66206"/>
              </a:xfrm>
              <a:prstGeom prst="ellipse">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4" name="Oval 73">
                <a:extLst>
                  <a:ext uri="{FF2B5EF4-FFF2-40B4-BE49-F238E27FC236}">
                    <a16:creationId xmlns:a16="http://schemas.microsoft.com/office/drawing/2014/main" id="{0D759E11-F881-B45B-AD42-F90FBEAA521C}"/>
                  </a:ext>
                </a:extLst>
              </p:cNvPr>
              <p:cNvSpPr/>
              <p:nvPr/>
            </p:nvSpPr>
            <p:spPr>
              <a:xfrm>
                <a:off x="5063271" y="2958309"/>
                <a:ext cx="66206" cy="66206"/>
              </a:xfrm>
              <a:prstGeom prst="ellipse">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grpSp>
          <p:nvGrpSpPr>
            <p:cNvPr id="62" name="Group 61">
              <a:extLst>
                <a:ext uri="{FF2B5EF4-FFF2-40B4-BE49-F238E27FC236}">
                  <a16:creationId xmlns:a16="http://schemas.microsoft.com/office/drawing/2014/main" id="{5234BC95-BBDA-1CF9-AE37-F6B86DF45822}"/>
                </a:ext>
              </a:extLst>
            </p:cNvPr>
            <p:cNvGrpSpPr/>
            <p:nvPr/>
          </p:nvGrpSpPr>
          <p:grpSpPr>
            <a:xfrm>
              <a:off x="3496412" y="3404536"/>
              <a:ext cx="812808" cy="66206"/>
              <a:chOff x="4316669" y="2958309"/>
              <a:chExt cx="812808" cy="66206"/>
            </a:xfrm>
          </p:grpSpPr>
          <p:sp>
            <p:nvSpPr>
              <p:cNvPr id="63" name="Oval 62">
                <a:extLst>
                  <a:ext uri="{FF2B5EF4-FFF2-40B4-BE49-F238E27FC236}">
                    <a16:creationId xmlns:a16="http://schemas.microsoft.com/office/drawing/2014/main" id="{FE093716-2EC3-46FC-9E25-A2937FCBD23F}"/>
                  </a:ext>
                </a:extLst>
              </p:cNvPr>
              <p:cNvSpPr/>
              <p:nvPr/>
            </p:nvSpPr>
            <p:spPr>
              <a:xfrm>
                <a:off x="4316669" y="2958309"/>
                <a:ext cx="66206" cy="66206"/>
              </a:xfrm>
              <a:prstGeom prst="ellipse">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4" name="Oval 63">
                <a:extLst>
                  <a:ext uri="{FF2B5EF4-FFF2-40B4-BE49-F238E27FC236}">
                    <a16:creationId xmlns:a16="http://schemas.microsoft.com/office/drawing/2014/main" id="{4DCEC6CB-D16C-86CA-E8C6-CD5B3BF74F98}"/>
                  </a:ext>
                </a:extLst>
              </p:cNvPr>
              <p:cNvSpPr/>
              <p:nvPr/>
            </p:nvSpPr>
            <p:spPr>
              <a:xfrm>
                <a:off x="4465989" y="2958309"/>
                <a:ext cx="66206" cy="66206"/>
              </a:xfrm>
              <a:prstGeom prst="ellipse">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5" name="Oval 64">
                <a:extLst>
                  <a:ext uri="{FF2B5EF4-FFF2-40B4-BE49-F238E27FC236}">
                    <a16:creationId xmlns:a16="http://schemas.microsoft.com/office/drawing/2014/main" id="{5E68AA0A-C317-AB0F-CF51-0A394F7BB0BA}"/>
                  </a:ext>
                </a:extLst>
              </p:cNvPr>
              <p:cNvSpPr/>
              <p:nvPr/>
            </p:nvSpPr>
            <p:spPr>
              <a:xfrm>
                <a:off x="4615309" y="2958309"/>
                <a:ext cx="66206" cy="66206"/>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6" name="Oval 65">
                <a:extLst>
                  <a:ext uri="{FF2B5EF4-FFF2-40B4-BE49-F238E27FC236}">
                    <a16:creationId xmlns:a16="http://schemas.microsoft.com/office/drawing/2014/main" id="{C953AA53-0661-E551-EE4A-82C34E469371}"/>
                  </a:ext>
                </a:extLst>
              </p:cNvPr>
              <p:cNvSpPr/>
              <p:nvPr/>
            </p:nvSpPr>
            <p:spPr>
              <a:xfrm>
                <a:off x="4764629" y="2958309"/>
                <a:ext cx="66206" cy="66206"/>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7" name="Oval 66">
                <a:extLst>
                  <a:ext uri="{FF2B5EF4-FFF2-40B4-BE49-F238E27FC236}">
                    <a16:creationId xmlns:a16="http://schemas.microsoft.com/office/drawing/2014/main" id="{6041953D-C1AA-6D78-8D80-E9106A5EBBC8}"/>
                  </a:ext>
                </a:extLst>
              </p:cNvPr>
              <p:cNvSpPr/>
              <p:nvPr/>
            </p:nvSpPr>
            <p:spPr>
              <a:xfrm>
                <a:off x="4913949" y="2958309"/>
                <a:ext cx="66206" cy="66206"/>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8" name="Oval 67">
                <a:extLst>
                  <a:ext uri="{FF2B5EF4-FFF2-40B4-BE49-F238E27FC236}">
                    <a16:creationId xmlns:a16="http://schemas.microsoft.com/office/drawing/2014/main" id="{D2DD73BB-4432-BEFA-9706-BCD5DC6F5125}"/>
                  </a:ext>
                </a:extLst>
              </p:cNvPr>
              <p:cNvSpPr/>
              <p:nvPr/>
            </p:nvSpPr>
            <p:spPr>
              <a:xfrm>
                <a:off x="5063271" y="2958309"/>
                <a:ext cx="66206" cy="66206"/>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grpSp>
      <p:sp>
        <p:nvSpPr>
          <p:cNvPr id="109" name="TextBox 108">
            <a:extLst>
              <a:ext uri="{FF2B5EF4-FFF2-40B4-BE49-F238E27FC236}">
                <a16:creationId xmlns:a16="http://schemas.microsoft.com/office/drawing/2014/main" id="{6484C284-A2BC-57EA-15FA-4017A3542AC5}"/>
              </a:ext>
            </a:extLst>
          </p:cNvPr>
          <p:cNvSpPr txBox="1"/>
          <p:nvPr/>
        </p:nvSpPr>
        <p:spPr>
          <a:xfrm>
            <a:off x="638068" y="2099804"/>
            <a:ext cx="3215569" cy="923330"/>
          </a:xfrm>
          <a:prstGeom prst="rect">
            <a:avLst/>
          </a:prstGeom>
          <a:noFill/>
        </p:spPr>
        <p:txBody>
          <a:bodyPr wrap="square" rtlCol="0">
            <a:spAutoFit/>
          </a:bodyPr>
          <a:lstStyle/>
          <a:p>
            <a:r>
              <a:rPr lang="en-GB" dirty="0"/>
              <a:t>Following instructions in the WIS2 Guide</a:t>
            </a:r>
            <a:r>
              <a:rPr lang="en-GB" baseline="30000" dirty="0"/>
              <a:t>2</a:t>
            </a:r>
            <a:r>
              <a:rPr lang="en-GB" dirty="0"/>
              <a:t>, I establish a WIS2 Node to share my </a:t>
            </a:r>
            <a:r>
              <a:rPr lang="en-GB" b="1" dirty="0"/>
              <a:t>Dataset</a:t>
            </a:r>
          </a:p>
        </p:txBody>
      </p:sp>
      <p:sp>
        <p:nvSpPr>
          <p:cNvPr id="110" name="TextBox 109">
            <a:extLst>
              <a:ext uri="{FF2B5EF4-FFF2-40B4-BE49-F238E27FC236}">
                <a16:creationId xmlns:a16="http://schemas.microsoft.com/office/drawing/2014/main" id="{E0DE2640-1B29-5695-172C-D110AD2F742B}"/>
              </a:ext>
            </a:extLst>
          </p:cNvPr>
          <p:cNvSpPr txBox="1"/>
          <p:nvPr/>
        </p:nvSpPr>
        <p:spPr>
          <a:xfrm>
            <a:off x="4513440" y="1517581"/>
            <a:ext cx="1541452" cy="369332"/>
          </a:xfrm>
          <a:prstGeom prst="rect">
            <a:avLst/>
          </a:prstGeom>
          <a:noFill/>
        </p:spPr>
        <p:txBody>
          <a:bodyPr wrap="square">
            <a:spAutoFit/>
          </a:bodyPr>
          <a:lstStyle/>
          <a:p>
            <a:pPr algn="r"/>
            <a:r>
              <a:rPr lang="en-US" b="1" dirty="0">
                <a:solidFill>
                  <a:srgbClr val="1042D3"/>
                </a:solidFill>
              </a:rPr>
              <a:t>WIS2 Node</a:t>
            </a:r>
            <a:endParaRPr lang="en-CH" b="1" dirty="0">
              <a:solidFill>
                <a:srgbClr val="1042D3"/>
              </a:solidFill>
            </a:endParaRPr>
          </a:p>
        </p:txBody>
      </p:sp>
      <p:grpSp>
        <p:nvGrpSpPr>
          <p:cNvPr id="3" name="Group 2">
            <a:extLst>
              <a:ext uri="{FF2B5EF4-FFF2-40B4-BE49-F238E27FC236}">
                <a16:creationId xmlns:a16="http://schemas.microsoft.com/office/drawing/2014/main" id="{756EE958-6BA5-0194-CA6C-C9D2A3B73052}"/>
              </a:ext>
            </a:extLst>
          </p:cNvPr>
          <p:cNvGrpSpPr/>
          <p:nvPr/>
        </p:nvGrpSpPr>
        <p:grpSpPr>
          <a:xfrm>
            <a:off x="4362552" y="2042331"/>
            <a:ext cx="6182993" cy="1351280"/>
            <a:chOff x="4541520" y="1290320"/>
            <a:chExt cx="6182993" cy="1351280"/>
          </a:xfrm>
        </p:grpSpPr>
        <p:sp>
          <p:nvSpPr>
            <p:cNvPr id="7" name="Rectangle 6">
              <a:extLst>
                <a:ext uri="{FF2B5EF4-FFF2-40B4-BE49-F238E27FC236}">
                  <a16:creationId xmlns:a16="http://schemas.microsoft.com/office/drawing/2014/main" id="{AA61BC5B-009A-BB0A-0D32-51119B616859}"/>
                </a:ext>
              </a:extLst>
            </p:cNvPr>
            <p:cNvSpPr/>
            <p:nvPr/>
          </p:nvSpPr>
          <p:spPr>
            <a:xfrm>
              <a:off x="5313257" y="1290320"/>
              <a:ext cx="1206500" cy="1189567"/>
            </a:xfrm>
            <a:prstGeom prst="rect">
              <a:avLst/>
            </a:prstGeom>
            <a:solidFill>
              <a:sysClr val="window" lastClr="FFFFFF"/>
            </a:solidFill>
            <a:ln w="28575" cap="flat" cmpd="sng" algn="ctr">
              <a:solidFill>
                <a:sysClr val="windowText" lastClr="000000"/>
              </a:solidFill>
              <a:prstDash val="solid"/>
              <a:miter lim="800000"/>
            </a:ln>
            <a:effectLst/>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prstClr val="white"/>
                </a:solidFill>
                <a:effectLst/>
                <a:uLnTx/>
                <a:uFillTx/>
                <a:latin typeface="Calibri" panose="020F0502020204030204"/>
                <a:ea typeface="+mn-ea"/>
                <a:cs typeface="+mn-cs"/>
              </a:endParaRPr>
            </a:p>
          </p:txBody>
        </p:sp>
        <p:pic>
          <p:nvPicPr>
            <p:cNvPr id="8" name="Picture 7">
              <a:extLst>
                <a:ext uri="{FF2B5EF4-FFF2-40B4-BE49-F238E27FC236}">
                  <a16:creationId xmlns:a16="http://schemas.microsoft.com/office/drawing/2014/main" id="{31B90581-99A8-C50D-3AB0-561B5459C14B}"/>
                </a:ext>
              </a:extLst>
            </p:cNvPr>
            <p:cNvPicPr>
              <a:picLocks noChangeAspect="1"/>
            </p:cNvPicPr>
            <p:nvPr/>
          </p:nvPicPr>
          <p:blipFill>
            <a:blip r:embed="rId8"/>
            <a:stretch>
              <a:fillRect/>
            </a:stretch>
          </p:blipFill>
          <p:spPr>
            <a:xfrm>
              <a:off x="5450838" y="1429250"/>
              <a:ext cx="312793" cy="455853"/>
            </a:xfrm>
            <a:prstGeom prst="rect">
              <a:avLst/>
            </a:prstGeom>
          </p:spPr>
        </p:pic>
        <p:pic>
          <p:nvPicPr>
            <p:cNvPr id="9" name="Picture 8">
              <a:extLst>
                <a:ext uri="{FF2B5EF4-FFF2-40B4-BE49-F238E27FC236}">
                  <a16:creationId xmlns:a16="http://schemas.microsoft.com/office/drawing/2014/main" id="{08D8C0D4-35A0-9948-B14F-B41F4B62F181}"/>
                </a:ext>
              </a:extLst>
            </p:cNvPr>
            <p:cNvPicPr>
              <a:picLocks noChangeAspect="1"/>
            </p:cNvPicPr>
            <p:nvPr/>
          </p:nvPicPr>
          <p:blipFill>
            <a:blip r:embed="rId8"/>
            <a:stretch>
              <a:fillRect/>
            </a:stretch>
          </p:blipFill>
          <p:spPr>
            <a:xfrm>
              <a:off x="5828900" y="1429250"/>
              <a:ext cx="312793" cy="455853"/>
            </a:xfrm>
            <a:prstGeom prst="rect">
              <a:avLst/>
            </a:prstGeom>
          </p:spPr>
        </p:pic>
        <p:pic>
          <p:nvPicPr>
            <p:cNvPr id="10" name="Picture 9">
              <a:extLst>
                <a:ext uri="{FF2B5EF4-FFF2-40B4-BE49-F238E27FC236}">
                  <a16:creationId xmlns:a16="http://schemas.microsoft.com/office/drawing/2014/main" id="{EFC49CB6-9EA8-8B32-DB01-61E7F8A5D4BC}"/>
                </a:ext>
              </a:extLst>
            </p:cNvPr>
            <p:cNvPicPr>
              <a:picLocks noChangeAspect="1"/>
            </p:cNvPicPr>
            <p:nvPr/>
          </p:nvPicPr>
          <p:blipFill>
            <a:blip r:embed="rId8"/>
            <a:stretch>
              <a:fillRect/>
            </a:stretch>
          </p:blipFill>
          <p:spPr>
            <a:xfrm>
              <a:off x="5607234" y="1927724"/>
              <a:ext cx="312793" cy="455853"/>
            </a:xfrm>
            <a:prstGeom prst="rect">
              <a:avLst/>
            </a:prstGeom>
          </p:spPr>
        </p:pic>
        <p:pic>
          <p:nvPicPr>
            <p:cNvPr id="11" name="Picture 10">
              <a:extLst>
                <a:ext uri="{FF2B5EF4-FFF2-40B4-BE49-F238E27FC236}">
                  <a16:creationId xmlns:a16="http://schemas.microsoft.com/office/drawing/2014/main" id="{CB681336-CEAC-6647-DC1A-E18C7417D136}"/>
                </a:ext>
              </a:extLst>
            </p:cNvPr>
            <p:cNvPicPr>
              <a:picLocks noChangeAspect="1"/>
            </p:cNvPicPr>
            <p:nvPr/>
          </p:nvPicPr>
          <p:blipFill>
            <a:blip r:embed="rId8"/>
            <a:stretch>
              <a:fillRect/>
            </a:stretch>
          </p:blipFill>
          <p:spPr>
            <a:xfrm>
              <a:off x="5985296" y="1927724"/>
              <a:ext cx="312793" cy="455853"/>
            </a:xfrm>
            <a:prstGeom prst="rect">
              <a:avLst/>
            </a:prstGeom>
          </p:spPr>
        </p:pic>
        <p:cxnSp>
          <p:nvCxnSpPr>
            <p:cNvPr id="12" name="Straight Connector 11">
              <a:extLst>
                <a:ext uri="{FF2B5EF4-FFF2-40B4-BE49-F238E27FC236}">
                  <a16:creationId xmlns:a16="http://schemas.microsoft.com/office/drawing/2014/main" id="{6C682072-A9C8-ADE9-9A5C-CD4BA7B9E726}"/>
                </a:ext>
              </a:extLst>
            </p:cNvPr>
            <p:cNvCxnSpPr>
              <a:stCxn id="7" idx="3"/>
            </p:cNvCxnSpPr>
            <p:nvPr/>
          </p:nvCxnSpPr>
          <p:spPr>
            <a:xfrm flipV="1">
              <a:off x="6519757" y="1885103"/>
              <a:ext cx="400050" cy="1"/>
            </a:xfrm>
            <a:prstGeom prst="line">
              <a:avLst/>
            </a:prstGeom>
            <a:noFill/>
            <a:ln w="19050" cap="flat" cmpd="sng" algn="ctr">
              <a:solidFill>
                <a:sysClr val="windowText" lastClr="000000"/>
              </a:solidFill>
              <a:prstDash val="solid"/>
              <a:miter lim="800000"/>
            </a:ln>
            <a:effectLst/>
          </p:spPr>
        </p:cxnSp>
        <p:sp>
          <p:nvSpPr>
            <p:cNvPr id="13" name="Oval 12">
              <a:extLst>
                <a:ext uri="{FF2B5EF4-FFF2-40B4-BE49-F238E27FC236}">
                  <a16:creationId xmlns:a16="http://schemas.microsoft.com/office/drawing/2014/main" id="{E164FF17-9213-B291-A819-09AA60F91E95}"/>
                </a:ext>
              </a:extLst>
            </p:cNvPr>
            <p:cNvSpPr/>
            <p:nvPr/>
          </p:nvSpPr>
          <p:spPr>
            <a:xfrm>
              <a:off x="6927215" y="1821603"/>
              <a:ext cx="127000" cy="127000"/>
            </a:xfrm>
            <a:prstGeom prst="ellipse">
              <a:avLst/>
            </a:prstGeom>
            <a:solidFill>
              <a:sysClr val="window" lastClr="FFFFFF"/>
            </a:solidFill>
            <a:ln w="19050" cap="flat" cmpd="sng" algn="ctr">
              <a:solidFill>
                <a:srgbClr val="4472C4">
                  <a:shade val="15000"/>
                </a:srgbClr>
              </a:solidFill>
              <a:prstDash val="solid"/>
              <a:miter lim="800000"/>
            </a:ln>
            <a:effectLst/>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14" name="TextBox 158">
              <a:extLst>
                <a:ext uri="{FF2B5EF4-FFF2-40B4-BE49-F238E27FC236}">
                  <a16:creationId xmlns:a16="http://schemas.microsoft.com/office/drawing/2014/main" id="{3814AE72-0BD4-5778-3097-2F7809CC4AAB}"/>
                </a:ext>
              </a:extLst>
            </p:cNvPr>
            <p:cNvSpPr txBox="1"/>
            <p:nvPr/>
          </p:nvSpPr>
          <p:spPr>
            <a:xfrm>
              <a:off x="6541983" y="1915589"/>
              <a:ext cx="903461" cy="261610"/>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1100" b="0" i="0" u="none" strike="noStrike" kern="0" cap="none" spc="0" normalizeH="0" baseline="0" noProof="0">
                  <a:ln>
                    <a:noFill/>
                  </a:ln>
                  <a:solidFill>
                    <a:prstClr val="black"/>
                  </a:solidFill>
                  <a:effectLst/>
                  <a:uLnTx/>
                  <a:uFillTx/>
                  <a:latin typeface="Calibri" panose="020F0502020204030204"/>
                </a:rPr>
                <a:t>HTTPS</a:t>
              </a:r>
            </a:p>
          </p:txBody>
        </p:sp>
        <p:sp>
          <p:nvSpPr>
            <p:cNvPr id="15" name="TextBox 159">
              <a:extLst>
                <a:ext uri="{FF2B5EF4-FFF2-40B4-BE49-F238E27FC236}">
                  <a16:creationId xmlns:a16="http://schemas.microsoft.com/office/drawing/2014/main" id="{45889F1F-B273-5107-0BA0-309372B084DB}"/>
                </a:ext>
              </a:extLst>
            </p:cNvPr>
            <p:cNvSpPr txBox="1"/>
            <p:nvPr/>
          </p:nvSpPr>
          <p:spPr>
            <a:xfrm>
              <a:off x="7571346" y="1697074"/>
              <a:ext cx="3153167" cy="553998"/>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0" lang="en-GB" sz="1800" b="0" i="0" u="none" strike="noStrike" kern="0" cap="none" spc="0" normalizeH="0" baseline="0" noProof="0">
                  <a:ln>
                    <a:noFill/>
                  </a:ln>
                  <a:solidFill>
                    <a:prstClr val="black"/>
                  </a:solidFill>
                  <a:effectLst/>
                  <a:uLnTx/>
                  <a:uFillTx/>
                  <a:latin typeface="Calibri" panose="020F0502020204030204"/>
                </a:rPr>
                <a:t>files in BUFR format</a:t>
              </a:r>
            </a:p>
            <a:p>
              <a:pPr marL="0" marR="0" lvl="0" indent="0" defTabSz="914400" eaLnBrk="1" fontAlgn="auto" latinLnBrk="0" hangingPunct="1">
                <a:lnSpc>
                  <a:spcPct val="100000"/>
                </a:lnSpc>
                <a:spcBef>
                  <a:spcPts val="0"/>
                </a:spcBef>
                <a:spcAft>
                  <a:spcPts val="0"/>
                </a:spcAft>
                <a:buClrTx/>
                <a:buSzTx/>
                <a:buFontTx/>
                <a:buNone/>
                <a:tabLst/>
                <a:defRPr/>
              </a:pPr>
              <a:r>
                <a:rPr lang="en-GB" sz="1200" i="1" kern="0">
                  <a:solidFill>
                    <a:prstClr val="black"/>
                  </a:solidFill>
                  <a:latin typeface="Calibri" panose="020F0502020204030204"/>
                </a:rPr>
                <a:t>or other WMO approved data formats</a:t>
              </a:r>
              <a:endParaRPr kumimoji="0" lang="en-GB" sz="1200" b="0" i="1" u="none" strike="noStrike" kern="0" cap="none" spc="0" normalizeH="0" baseline="0" noProof="0">
                <a:ln>
                  <a:noFill/>
                </a:ln>
                <a:solidFill>
                  <a:prstClr val="black"/>
                </a:solidFill>
                <a:effectLst/>
                <a:uLnTx/>
                <a:uFillTx/>
                <a:latin typeface="Calibri" panose="020F0502020204030204"/>
              </a:endParaRPr>
            </a:p>
          </p:txBody>
        </p:sp>
        <p:cxnSp>
          <p:nvCxnSpPr>
            <p:cNvPr id="16" name="Straight Arrow Connector 15">
              <a:extLst>
                <a:ext uri="{FF2B5EF4-FFF2-40B4-BE49-F238E27FC236}">
                  <a16:creationId xmlns:a16="http://schemas.microsoft.com/office/drawing/2014/main" id="{BD7038D1-6602-DA1D-57D9-44CC90317EAC}"/>
                </a:ext>
              </a:extLst>
            </p:cNvPr>
            <p:cNvCxnSpPr/>
            <p:nvPr/>
          </p:nvCxnSpPr>
          <p:spPr>
            <a:xfrm flipV="1">
              <a:off x="4541520" y="2016760"/>
              <a:ext cx="670560" cy="624840"/>
            </a:xfrm>
            <a:prstGeom prst="straightConnector1">
              <a:avLst/>
            </a:prstGeom>
            <a:noFill/>
            <a:ln w="6350" cap="flat" cmpd="sng" algn="ctr">
              <a:solidFill>
                <a:sysClr val="windowText" lastClr="000000"/>
              </a:solidFill>
              <a:prstDash val="solid"/>
              <a:miter lim="800000"/>
              <a:tailEnd type="triangle"/>
            </a:ln>
            <a:effectLst/>
          </p:spPr>
        </p:cxnSp>
      </p:grpSp>
      <p:sp>
        <p:nvSpPr>
          <p:cNvPr id="17" name="TextBox 2">
            <a:extLst>
              <a:ext uri="{FF2B5EF4-FFF2-40B4-BE49-F238E27FC236}">
                <a16:creationId xmlns:a16="http://schemas.microsoft.com/office/drawing/2014/main" id="{82D199C0-B294-6C8A-A9DB-6F110FB8BD05}"/>
              </a:ext>
            </a:extLst>
          </p:cNvPr>
          <p:cNvSpPr txBox="1"/>
          <p:nvPr/>
        </p:nvSpPr>
        <p:spPr>
          <a:xfrm>
            <a:off x="7502319" y="821413"/>
            <a:ext cx="4115229" cy="646331"/>
          </a:xfrm>
          <a:prstGeom prst="rect">
            <a:avLst/>
          </a:prstGeom>
          <a:noFill/>
        </p:spPr>
        <p:txBody>
          <a:bodyPr wrap="non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GB" sz="900" baseline="30000" dirty="0"/>
              <a:t>1</a:t>
            </a:r>
            <a:r>
              <a:rPr lang="en-GB" sz="900" dirty="0"/>
              <a:t> Guide to WIS (WMO No. 1061), Vol II, </a:t>
            </a:r>
            <a:r>
              <a:rPr lang="en-GB" sz="900" b="0" i="0" dirty="0">
                <a:solidFill>
                  <a:srgbClr val="1F1F1F"/>
                </a:solidFill>
                <a:effectLst/>
                <a:latin typeface="Google Sans"/>
              </a:rPr>
              <a:t>§1.1.4 Why are datasets so important [</a:t>
            </a:r>
            <a:r>
              <a:rPr lang="en-GB" sz="900" b="0" i="0" dirty="0">
                <a:solidFill>
                  <a:srgbClr val="1F1F1F"/>
                </a:solidFill>
                <a:effectLst/>
                <a:latin typeface="Google Sans"/>
                <a:hlinkClick r:id="rId9"/>
              </a:rPr>
              <a:t>draf</a:t>
            </a:r>
            <a:r>
              <a:rPr lang="en-GB" sz="900" dirty="0">
                <a:solidFill>
                  <a:srgbClr val="1F1F1F"/>
                </a:solidFill>
                <a:latin typeface="Google Sans"/>
                <a:hlinkClick r:id="rId9"/>
              </a:rPr>
              <a:t>t</a:t>
            </a:r>
            <a:r>
              <a:rPr lang="en-GB" sz="900" dirty="0">
                <a:solidFill>
                  <a:srgbClr val="1F1F1F"/>
                </a:solidFill>
                <a:latin typeface="Google Sans"/>
              </a:rPr>
              <a:t>]</a:t>
            </a:r>
          </a:p>
          <a:p>
            <a:r>
              <a:rPr lang="en-GB" sz="900" baseline="30000" dirty="0"/>
              <a:t>2</a:t>
            </a:r>
            <a:r>
              <a:rPr lang="en-GB" sz="900" dirty="0"/>
              <a:t> Guide to WIS (WMO No. 1061), Vol II, </a:t>
            </a:r>
            <a:r>
              <a:rPr lang="en-GB" sz="900" b="0" i="0" dirty="0">
                <a:solidFill>
                  <a:srgbClr val="1F1F1F"/>
                </a:solidFill>
                <a:effectLst/>
                <a:latin typeface="Google Sans"/>
              </a:rPr>
              <a:t>§1.3.1 How to get started [</a:t>
            </a:r>
            <a:r>
              <a:rPr lang="en-GB" sz="900" b="0" i="0" dirty="0">
                <a:solidFill>
                  <a:srgbClr val="1F1F1F"/>
                </a:solidFill>
                <a:effectLst/>
                <a:latin typeface="Google Sans"/>
                <a:hlinkClick r:id="rId10"/>
              </a:rPr>
              <a:t>draf</a:t>
            </a:r>
            <a:r>
              <a:rPr lang="en-GB" sz="900" dirty="0">
                <a:solidFill>
                  <a:srgbClr val="1F1F1F"/>
                </a:solidFill>
                <a:latin typeface="Google Sans"/>
                <a:hlinkClick r:id="rId10"/>
              </a:rPr>
              <a:t>t</a:t>
            </a:r>
            <a:r>
              <a:rPr lang="en-GB" sz="900" dirty="0">
                <a:solidFill>
                  <a:srgbClr val="1F1F1F"/>
                </a:solidFill>
                <a:latin typeface="Google Sans"/>
              </a:rPr>
              <a:t>]</a:t>
            </a:r>
            <a:r>
              <a:rPr lang="en-GB" sz="900" b="0" i="0" dirty="0">
                <a:solidFill>
                  <a:srgbClr val="1F1F1F"/>
                </a:solidFill>
                <a:effectLst/>
                <a:latin typeface="Google Sans"/>
              </a:rPr>
              <a:t> </a:t>
            </a:r>
          </a:p>
          <a:p>
            <a:r>
              <a:rPr lang="en-GB" sz="900" baseline="30000" dirty="0"/>
              <a:t>3</a:t>
            </a:r>
            <a:r>
              <a:rPr lang="en-GB" sz="900" dirty="0"/>
              <a:t> Manual on WIS (WMO No. 1060), Vol II, Appendix E:  Notification Message</a:t>
            </a:r>
            <a:r>
              <a:rPr lang="en-GB" sz="900" b="0" i="0" dirty="0">
                <a:solidFill>
                  <a:srgbClr val="1F1F1F"/>
                </a:solidFill>
                <a:effectLst/>
                <a:latin typeface="Google Sans"/>
              </a:rPr>
              <a:t> [</a:t>
            </a:r>
            <a:r>
              <a:rPr lang="en-GB" sz="900" b="0" i="0" dirty="0">
                <a:solidFill>
                  <a:srgbClr val="1F1F1F"/>
                </a:solidFill>
                <a:effectLst/>
                <a:latin typeface="Google Sans"/>
                <a:hlinkClick r:id="rId11"/>
              </a:rPr>
              <a:t>draf</a:t>
            </a:r>
            <a:r>
              <a:rPr lang="en-GB" sz="900" dirty="0">
                <a:solidFill>
                  <a:srgbClr val="1F1F1F"/>
                </a:solidFill>
                <a:latin typeface="Google Sans"/>
                <a:hlinkClick r:id="rId11"/>
              </a:rPr>
              <a:t>t</a:t>
            </a:r>
            <a:r>
              <a:rPr lang="en-GB" sz="900" dirty="0">
                <a:solidFill>
                  <a:srgbClr val="1F1F1F"/>
                </a:solidFill>
                <a:latin typeface="Google Sans"/>
              </a:rPr>
              <a:t>]</a:t>
            </a:r>
          </a:p>
          <a:p>
            <a:r>
              <a:rPr lang="en-GB" sz="900" baseline="30000" dirty="0"/>
              <a:t>4</a:t>
            </a:r>
            <a:r>
              <a:rPr lang="en-GB" sz="900" dirty="0"/>
              <a:t> Manual on WIS (WMO No. 1060), Vol II, Appendix D: WIS2 Topic Hierarchy</a:t>
            </a:r>
            <a:r>
              <a:rPr lang="en-GB" sz="900" b="0" i="0" dirty="0">
                <a:solidFill>
                  <a:srgbClr val="1F1F1F"/>
                </a:solidFill>
                <a:effectLst/>
                <a:latin typeface="Google Sans"/>
              </a:rPr>
              <a:t> [</a:t>
            </a:r>
            <a:r>
              <a:rPr lang="en-GB" sz="900" b="0" i="0" dirty="0">
                <a:solidFill>
                  <a:srgbClr val="1F1F1F"/>
                </a:solidFill>
                <a:effectLst/>
                <a:latin typeface="Google Sans"/>
                <a:hlinkClick r:id="rId12"/>
              </a:rPr>
              <a:t>draf</a:t>
            </a:r>
            <a:r>
              <a:rPr lang="en-GB" sz="900" dirty="0">
                <a:solidFill>
                  <a:srgbClr val="1F1F1F"/>
                </a:solidFill>
                <a:latin typeface="Google Sans"/>
                <a:hlinkClick r:id="rId12"/>
              </a:rPr>
              <a:t>t</a:t>
            </a:r>
            <a:r>
              <a:rPr lang="en-GB" sz="900" dirty="0">
                <a:solidFill>
                  <a:srgbClr val="1F1F1F"/>
                </a:solidFill>
                <a:latin typeface="Google Sans"/>
              </a:rPr>
              <a:t>]</a:t>
            </a:r>
            <a:r>
              <a:rPr lang="en-GB" sz="900" b="0" i="0" dirty="0">
                <a:solidFill>
                  <a:srgbClr val="1F1F1F"/>
                </a:solidFill>
                <a:effectLst/>
                <a:latin typeface="Google Sans"/>
              </a:rPr>
              <a:t> </a:t>
            </a:r>
            <a:endParaRPr lang="en-GB" sz="900" dirty="0">
              <a:solidFill>
                <a:srgbClr val="1F1F1F"/>
              </a:solidFill>
              <a:latin typeface="Google Sans"/>
            </a:endParaRPr>
          </a:p>
        </p:txBody>
      </p:sp>
      <p:grpSp>
        <p:nvGrpSpPr>
          <p:cNvPr id="20" name="Group 19">
            <a:extLst>
              <a:ext uri="{FF2B5EF4-FFF2-40B4-BE49-F238E27FC236}">
                <a16:creationId xmlns:a16="http://schemas.microsoft.com/office/drawing/2014/main" id="{D6E36E30-BC8B-8E85-F36F-BD7912BC9859}"/>
              </a:ext>
            </a:extLst>
          </p:cNvPr>
          <p:cNvGrpSpPr/>
          <p:nvPr/>
        </p:nvGrpSpPr>
        <p:grpSpPr>
          <a:xfrm>
            <a:off x="4359653" y="3319125"/>
            <a:ext cx="7114742" cy="1213337"/>
            <a:chOff x="4541520" y="2566187"/>
            <a:chExt cx="7114742" cy="1213337"/>
          </a:xfrm>
        </p:grpSpPr>
        <p:pic>
          <p:nvPicPr>
            <p:cNvPr id="32" name="Picture 31">
              <a:extLst>
                <a:ext uri="{FF2B5EF4-FFF2-40B4-BE49-F238E27FC236}">
                  <a16:creationId xmlns:a16="http://schemas.microsoft.com/office/drawing/2014/main" id="{ECA81898-B0C5-4B5F-DCE1-7C76339A0149}"/>
                </a:ext>
              </a:extLst>
            </p:cNvPr>
            <p:cNvPicPr>
              <a:picLocks noChangeAspect="1"/>
            </p:cNvPicPr>
            <p:nvPr/>
          </p:nvPicPr>
          <p:blipFill>
            <a:blip r:embed="rId13"/>
            <a:stretch>
              <a:fillRect/>
            </a:stretch>
          </p:blipFill>
          <p:spPr>
            <a:xfrm>
              <a:off x="6713188" y="2566187"/>
              <a:ext cx="555053" cy="555053"/>
            </a:xfrm>
            <a:prstGeom prst="rect">
              <a:avLst/>
            </a:prstGeom>
          </p:spPr>
        </p:pic>
        <p:sp>
          <p:nvSpPr>
            <p:cNvPr id="33" name="Rectangle 32">
              <a:extLst>
                <a:ext uri="{FF2B5EF4-FFF2-40B4-BE49-F238E27FC236}">
                  <a16:creationId xmlns:a16="http://schemas.microsoft.com/office/drawing/2014/main" id="{DC2BC764-D5EF-96F1-AC8E-EB9640E73671}"/>
                </a:ext>
              </a:extLst>
            </p:cNvPr>
            <p:cNvSpPr/>
            <p:nvPr/>
          </p:nvSpPr>
          <p:spPr>
            <a:xfrm>
              <a:off x="5316777" y="2589957"/>
              <a:ext cx="1206500" cy="1189567"/>
            </a:xfrm>
            <a:prstGeom prst="rect">
              <a:avLst/>
            </a:prstGeom>
            <a:solidFill>
              <a:sysClr val="window" lastClr="FFFFFF"/>
            </a:solidFill>
            <a:ln w="28575" cap="flat" cmpd="sng" algn="ctr">
              <a:solidFill>
                <a:sysClr val="windowText" lastClr="000000"/>
              </a:solidFill>
              <a:prstDash val="solid"/>
              <a:miter lim="800000"/>
            </a:ln>
            <a:effectLst/>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prstClr val="white"/>
                </a:solidFill>
                <a:effectLst/>
                <a:uLnTx/>
                <a:uFillTx/>
                <a:latin typeface="Calibri" panose="020F0502020204030204"/>
                <a:ea typeface="+mn-ea"/>
                <a:cs typeface="+mn-cs"/>
              </a:endParaRPr>
            </a:p>
          </p:txBody>
        </p:sp>
        <p:cxnSp>
          <p:nvCxnSpPr>
            <p:cNvPr id="34" name="Straight Connector 33">
              <a:extLst>
                <a:ext uri="{FF2B5EF4-FFF2-40B4-BE49-F238E27FC236}">
                  <a16:creationId xmlns:a16="http://schemas.microsoft.com/office/drawing/2014/main" id="{19C9C08C-ADD0-31E1-3F3A-30C8C7B11D2A}"/>
                </a:ext>
              </a:extLst>
            </p:cNvPr>
            <p:cNvCxnSpPr>
              <a:stCxn id="33" idx="3"/>
            </p:cNvCxnSpPr>
            <p:nvPr/>
          </p:nvCxnSpPr>
          <p:spPr>
            <a:xfrm flipV="1">
              <a:off x="6523277" y="3184740"/>
              <a:ext cx="400050" cy="1"/>
            </a:xfrm>
            <a:prstGeom prst="line">
              <a:avLst/>
            </a:prstGeom>
            <a:noFill/>
            <a:ln w="19050" cap="flat" cmpd="sng" algn="ctr">
              <a:solidFill>
                <a:sysClr val="windowText" lastClr="000000"/>
              </a:solidFill>
              <a:prstDash val="solid"/>
              <a:miter lim="800000"/>
            </a:ln>
            <a:effectLst/>
          </p:spPr>
        </p:cxnSp>
        <p:sp>
          <p:nvSpPr>
            <p:cNvPr id="35" name="Oval 34">
              <a:extLst>
                <a:ext uri="{FF2B5EF4-FFF2-40B4-BE49-F238E27FC236}">
                  <a16:creationId xmlns:a16="http://schemas.microsoft.com/office/drawing/2014/main" id="{22534D19-B7E2-1EFE-AA3E-2F243703C3C6}"/>
                </a:ext>
              </a:extLst>
            </p:cNvPr>
            <p:cNvSpPr/>
            <p:nvPr/>
          </p:nvSpPr>
          <p:spPr>
            <a:xfrm>
              <a:off x="6930735" y="3121240"/>
              <a:ext cx="127000" cy="127000"/>
            </a:xfrm>
            <a:prstGeom prst="ellipse">
              <a:avLst/>
            </a:prstGeom>
            <a:solidFill>
              <a:sysClr val="window" lastClr="FFFFFF"/>
            </a:solidFill>
            <a:ln w="19050" cap="flat" cmpd="sng" algn="ctr">
              <a:solidFill>
                <a:srgbClr val="4472C4">
                  <a:shade val="15000"/>
                </a:srgbClr>
              </a:solidFill>
              <a:prstDash val="solid"/>
              <a:miter lim="800000"/>
            </a:ln>
            <a:effectLst/>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36" name="TextBox 166">
              <a:extLst>
                <a:ext uri="{FF2B5EF4-FFF2-40B4-BE49-F238E27FC236}">
                  <a16:creationId xmlns:a16="http://schemas.microsoft.com/office/drawing/2014/main" id="{665598B6-3972-7841-786F-2413624C7D14}"/>
                </a:ext>
              </a:extLst>
            </p:cNvPr>
            <p:cNvSpPr txBox="1"/>
            <p:nvPr/>
          </p:nvSpPr>
          <p:spPr>
            <a:xfrm>
              <a:off x="6496902" y="3215226"/>
              <a:ext cx="1000664" cy="261610"/>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1100" b="0" i="0" u="none" strike="noStrike" kern="0" cap="none" spc="0" normalizeH="0" baseline="0" noProof="0" dirty="0" err="1">
                  <a:ln>
                    <a:noFill/>
                  </a:ln>
                  <a:solidFill>
                    <a:prstClr val="black"/>
                  </a:solidFill>
                  <a:effectLst/>
                  <a:uLnTx/>
                  <a:uFillTx/>
                  <a:latin typeface="Calibri" panose="020F0502020204030204"/>
                </a:rPr>
                <a:t>OpenAPI</a:t>
              </a:r>
              <a:endParaRPr kumimoji="0" lang="en-GB" sz="1100" b="0" i="0" u="none" strike="noStrike" kern="0" cap="none" spc="0" normalizeH="0" baseline="0" noProof="0" dirty="0">
                <a:ln>
                  <a:noFill/>
                </a:ln>
                <a:solidFill>
                  <a:prstClr val="black"/>
                </a:solidFill>
                <a:effectLst/>
                <a:uLnTx/>
                <a:uFillTx/>
                <a:latin typeface="Calibri" panose="020F0502020204030204"/>
              </a:endParaRPr>
            </a:p>
          </p:txBody>
        </p:sp>
        <p:pic>
          <p:nvPicPr>
            <p:cNvPr id="37" name="Picture 36">
              <a:extLst>
                <a:ext uri="{FF2B5EF4-FFF2-40B4-BE49-F238E27FC236}">
                  <a16:creationId xmlns:a16="http://schemas.microsoft.com/office/drawing/2014/main" id="{CD695126-D345-96E6-92F3-0A5B457E7912}"/>
                </a:ext>
              </a:extLst>
            </p:cNvPr>
            <p:cNvPicPr>
              <a:picLocks noChangeAspect="1"/>
            </p:cNvPicPr>
            <p:nvPr/>
          </p:nvPicPr>
          <p:blipFill>
            <a:blip r:embed="rId7"/>
            <a:stretch>
              <a:fillRect/>
            </a:stretch>
          </p:blipFill>
          <p:spPr>
            <a:xfrm>
              <a:off x="5450935" y="2709234"/>
              <a:ext cx="951011" cy="951011"/>
            </a:xfrm>
            <a:prstGeom prst="rect">
              <a:avLst/>
            </a:prstGeom>
          </p:spPr>
        </p:pic>
        <p:sp>
          <p:nvSpPr>
            <p:cNvPr id="38" name="TextBox 168">
              <a:extLst>
                <a:ext uri="{FF2B5EF4-FFF2-40B4-BE49-F238E27FC236}">
                  <a16:creationId xmlns:a16="http://schemas.microsoft.com/office/drawing/2014/main" id="{F5FE1B08-CFB7-7612-9DBD-0936AF5B35D4}"/>
                </a:ext>
              </a:extLst>
            </p:cNvPr>
            <p:cNvSpPr txBox="1"/>
            <p:nvPr/>
          </p:nvSpPr>
          <p:spPr>
            <a:xfrm>
              <a:off x="7571345" y="3004226"/>
              <a:ext cx="4084917" cy="553998"/>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0" lang="en-GB" sz="1800" b="0" i="0" u="none" strike="noStrike" kern="0" cap="none" spc="0" normalizeH="0" baseline="0" noProof="0" dirty="0">
                  <a:ln>
                    <a:noFill/>
                  </a:ln>
                  <a:solidFill>
                    <a:prstClr val="black"/>
                  </a:solidFill>
                  <a:effectLst/>
                  <a:uLnTx/>
                  <a:uFillTx/>
                  <a:latin typeface="Calibri" panose="020F0502020204030204"/>
                </a:rPr>
                <a:t>interactive API (optional)</a:t>
              </a:r>
            </a:p>
            <a:p>
              <a:pPr marL="0" marR="0" lvl="0" indent="0" defTabSz="914400" eaLnBrk="1" fontAlgn="auto" latinLnBrk="0" hangingPunct="1">
                <a:lnSpc>
                  <a:spcPct val="100000"/>
                </a:lnSpc>
                <a:spcBef>
                  <a:spcPts val="0"/>
                </a:spcBef>
                <a:spcAft>
                  <a:spcPts val="0"/>
                </a:spcAft>
                <a:buClrTx/>
                <a:buSzTx/>
                <a:buFontTx/>
                <a:buNone/>
                <a:tabLst/>
                <a:defRPr/>
              </a:pPr>
              <a:r>
                <a:rPr lang="en-GB" sz="1200" i="1" kern="0" dirty="0">
                  <a:solidFill>
                    <a:prstClr val="black"/>
                  </a:solidFill>
                  <a:latin typeface="Calibri" panose="020F0502020204030204"/>
                </a:rPr>
                <a:t>self-describing RESTful APIs, ideally with </a:t>
              </a:r>
              <a:r>
                <a:rPr lang="en-GB" sz="1200" i="1" kern="0" dirty="0" err="1">
                  <a:solidFill>
                    <a:prstClr val="black"/>
                  </a:solidFill>
                  <a:latin typeface="Calibri" panose="020F0502020204030204"/>
                </a:rPr>
                <a:t>OpenAPI</a:t>
              </a:r>
              <a:r>
                <a:rPr lang="en-GB" sz="1200" i="1" kern="0" dirty="0">
                  <a:solidFill>
                    <a:prstClr val="black"/>
                  </a:solidFill>
                  <a:latin typeface="Calibri" panose="020F0502020204030204"/>
                </a:rPr>
                <a:t> metadata</a:t>
              </a:r>
              <a:endParaRPr kumimoji="0" lang="en-GB" sz="1200" b="0" i="1" u="none" strike="noStrike" kern="0" cap="none" spc="0" normalizeH="0" baseline="0" noProof="0" dirty="0">
                <a:ln>
                  <a:noFill/>
                </a:ln>
                <a:solidFill>
                  <a:prstClr val="black"/>
                </a:solidFill>
                <a:effectLst/>
                <a:uLnTx/>
                <a:uFillTx/>
                <a:latin typeface="Calibri" panose="020F0502020204030204"/>
              </a:endParaRPr>
            </a:p>
          </p:txBody>
        </p:sp>
        <p:cxnSp>
          <p:nvCxnSpPr>
            <p:cNvPr id="44" name="Straight Arrow Connector 43">
              <a:extLst>
                <a:ext uri="{FF2B5EF4-FFF2-40B4-BE49-F238E27FC236}">
                  <a16:creationId xmlns:a16="http://schemas.microsoft.com/office/drawing/2014/main" id="{A79064E4-9839-941A-C86B-DB40C8692031}"/>
                </a:ext>
              </a:extLst>
            </p:cNvPr>
            <p:cNvCxnSpPr>
              <a:cxnSpLocks/>
            </p:cNvCxnSpPr>
            <p:nvPr/>
          </p:nvCxnSpPr>
          <p:spPr>
            <a:xfrm>
              <a:off x="4541520" y="3073400"/>
              <a:ext cx="665664" cy="0"/>
            </a:xfrm>
            <a:prstGeom prst="straightConnector1">
              <a:avLst/>
            </a:prstGeom>
            <a:noFill/>
            <a:ln w="6350" cap="flat" cmpd="sng" algn="ctr">
              <a:solidFill>
                <a:sysClr val="windowText" lastClr="000000"/>
              </a:solidFill>
              <a:prstDash val="solid"/>
              <a:miter lim="800000"/>
              <a:tailEnd type="triangle"/>
            </a:ln>
            <a:effectLst/>
          </p:spPr>
        </p:cxnSp>
      </p:grpSp>
      <p:grpSp>
        <p:nvGrpSpPr>
          <p:cNvPr id="21" name="Group 20">
            <a:extLst>
              <a:ext uri="{FF2B5EF4-FFF2-40B4-BE49-F238E27FC236}">
                <a16:creationId xmlns:a16="http://schemas.microsoft.com/office/drawing/2014/main" id="{AEA76525-E35B-5C87-5C3A-AFA68DE7A08D}"/>
              </a:ext>
            </a:extLst>
          </p:cNvPr>
          <p:cNvGrpSpPr/>
          <p:nvPr/>
        </p:nvGrpSpPr>
        <p:grpSpPr>
          <a:xfrm>
            <a:off x="4359653" y="4244320"/>
            <a:ext cx="6903720" cy="1587778"/>
            <a:chOff x="4541520" y="3491382"/>
            <a:chExt cx="6903720" cy="1587778"/>
          </a:xfrm>
        </p:grpSpPr>
        <p:sp>
          <p:nvSpPr>
            <p:cNvPr id="22" name="Rectangle 21">
              <a:extLst>
                <a:ext uri="{FF2B5EF4-FFF2-40B4-BE49-F238E27FC236}">
                  <a16:creationId xmlns:a16="http://schemas.microsoft.com/office/drawing/2014/main" id="{2DA0AF5A-DA52-751B-37E4-A3B646E32872}"/>
                </a:ext>
              </a:extLst>
            </p:cNvPr>
            <p:cNvSpPr/>
            <p:nvPr/>
          </p:nvSpPr>
          <p:spPr>
            <a:xfrm>
              <a:off x="5313257" y="3889593"/>
              <a:ext cx="1206500" cy="1189567"/>
            </a:xfrm>
            <a:prstGeom prst="rect">
              <a:avLst/>
            </a:prstGeom>
            <a:solidFill>
              <a:sysClr val="window" lastClr="FFFFFF"/>
            </a:solidFill>
            <a:ln w="28575" cap="flat" cmpd="sng" algn="ctr">
              <a:solidFill>
                <a:sysClr val="windowText" lastClr="000000"/>
              </a:solidFill>
              <a:prstDash val="solid"/>
              <a:miter lim="800000"/>
            </a:ln>
            <a:effectLst/>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prstClr val="white"/>
                </a:solidFill>
                <a:effectLst/>
                <a:uLnTx/>
                <a:uFillTx/>
                <a:latin typeface="Calibri" panose="020F0502020204030204"/>
                <a:ea typeface="+mn-ea"/>
                <a:cs typeface="+mn-cs"/>
              </a:endParaRPr>
            </a:p>
          </p:txBody>
        </p:sp>
        <p:cxnSp>
          <p:nvCxnSpPr>
            <p:cNvPr id="23" name="Straight Connector 22">
              <a:extLst>
                <a:ext uri="{FF2B5EF4-FFF2-40B4-BE49-F238E27FC236}">
                  <a16:creationId xmlns:a16="http://schemas.microsoft.com/office/drawing/2014/main" id="{158B9D2E-DA7F-087C-FE23-93CBC31C97AF}"/>
                </a:ext>
              </a:extLst>
            </p:cNvPr>
            <p:cNvCxnSpPr>
              <a:stCxn id="22" idx="3"/>
            </p:cNvCxnSpPr>
            <p:nvPr/>
          </p:nvCxnSpPr>
          <p:spPr>
            <a:xfrm flipV="1">
              <a:off x="6519757" y="4484376"/>
              <a:ext cx="400050" cy="1"/>
            </a:xfrm>
            <a:prstGeom prst="line">
              <a:avLst/>
            </a:prstGeom>
            <a:noFill/>
            <a:ln w="19050" cap="flat" cmpd="sng" algn="ctr">
              <a:solidFill>
                <a:sysClr val="windowText" lastClr="000000"/>
              </a:solidFill>
              <a:prstDash val="solid"/>
              <a:miter lim="800000"/>
            </a:ln>
            <a:effectLst/>
          </p:spPr>
        </p:cxnSp>
        <p:sp>
          <p:nvSpPr>
            <p:cNvPr id="24" name="Oval 23">
              <a:extLst>
                <a:ext uri="{FF2B5EF4-FFF2-40B4-BE49-F238E27FC236}">
                  <a16:creationId xmlns:a16="http://schemas.microsoft.com/office/drawing/2014/main" id="{1F0222F3-A509-1648-6A9A-AD8C95163D29}"/>
                </a:ext>
              </a:extLst>
            </p:cNvPr>
            <p:cNvSpPr/>
            <p:nvPr/>
          </p:nvSpPr>
          <p:spPr>
            <a:xfrm>
              <a:off x="6927215" y="4420876"/>
              <a:ext cx="127000" cy="127000"/>
            </a:xfrm>
            <a:prstGeom prst="ellipse">
              <a:avLst/>
            </a:prstGeom>
            <a:solidFill>
              <a:sysClr val="window" lastClr="FFFFFF"/>
            </a:solidFill>
            <a:ln w="19050" cap="flat" cmpd="sng" algn="ctr">
              <a:solidFill>
                <a:srgbClr val="4472C4">
                  <a:shade val="15000"/>
                </a:srgbClr>
              </a:solidFill>
              <a:prstDash val="solid"/>
              <a:miter lim="800000"/>
            </a:ln>
            <a:effectLst/>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25" name="TextBox 174">
              <a:extLst>
                <a:ext uri="{FF2B5EF4-FFF2-40B4-BE49-F238E27FC236}">
                  <a16:creationId xmlns:a16="http://schemas.microsoft.com/office/drawing/2014/main" id="{A8133DAA-1462-CE53-7703-93D38FE84AC7}"/>
                </a:ext>
              </a:extLst>
            </p:cNvPr>
            <p:cNvSpPr txBox="1"/>
            <p:nvPr/>
          </p:nvSpPr>
          <p:spPr>
            <a:xfrm>
              <a:off x="6541983" y="4514862"/>
              <a:ext cx="903461" cy="261610"/>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1100" b="0" i="0" u="none" strike="noStrike" kern="0" cap="none" spc="0" normalizeH="0" baseline="0" noProof="0">
                  <a:ln>
                    <a:noFill/>
                  </a:ln>
                  <a:solidFill>
                    <a:prstClr val="black"/>
                  </a:solidFill>
                  <a:effectLst/>
                  <a:uLnTx/>
                  <a:uFillTx/>
                  <a:latin typeface="Calibri" panose="020F0502020204030204"/>
                </a:rPr>
                <a:t>MQTTS</a:t>
              </a:r>
            </a:p>
          </p:txBody>
        </p:sp>
        <p:sp>
          <p:nvSpPr>
            <p:cNvPr id="26" name="TextBox 175">
              <a:extLst>
                <a:ext uri="{FF2B5EF4-FFF2-40B4-BE49-F238E27FC236}">
                  <a16:creationId xmlns:a16="http://schemas.microsoft.com/office/drawing/2014/main" id="{6CC15F56-F759-90E7-4568-1148A9DC0E20}"/>
                </a:ext>
              </a:extLst>
            </p:cNvPr>
            <p:cNvSpPr txBox="1"/>
            <p:nvPr/>
          </p:nvSpPr>
          <p:spPr>
            <a:xfrm>
              <a:off x="7571346" y="4296347"/>
              <a:ext cx="3873894" cy="553998"/>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0" lang="en-GB" sz="1800" b="0" i="0" u="none" strike="noStrike" kern="0" cap="none" spc="0" normalizeH="0" baseline="0" noProof="0" dirty="0">
                  <a:ln>
                    <a:noFill/>
                  </a:ln>
                  <a:solidFill>
                    <a:prstClr val="black"/>
                  </a:solidFill>
                  <a:effectLst/>
                  <a:uLnTx/>
                  <a:uFillTx/>
                  <a:latin typeface="Calibri" panose="020F0502020204030204"/>
                </a:rPr>
                <a:t>WIS2 Notification Messages</a:t>
              </a:r>
              <a:r>
                <a:rPr lang="en-GB" kern="0" baseline="30000" dirty="0">
                  <a:solidFill>
                    <a:prstClr val="black"/>
                  </a:solidFill>
                  <a:latin typeface="Calibri" panose="020F0502020204030204"/>
                </a:rPr>
                <a:t>3</a:t>
              </a:r>
              <a:endParaRPr kumimoji="0" lang="en-GB" sz="1800" b="0" i="0" u="none" strike="noStrike" kern="0" cap="none" spc="0" normalizeH="0" baseline="30000" noProof="0" dirty="0">
                <a:ln>
                  <a:noFill/>
                </a:ln>
                <a:solidFill>
                  <a:prstClr val="black"/>
                </a:solidFill>
                <a:effectLst/>
                <a:uLnTx/>
                <a:uFillTx/>
                <a:latin typeface="Calibri" panose="020F0502020204030204"/>
              </a:endParaRPr>
            </a:p>
            <a:p>
              <a:pPr marL="0" marR="0" lvl="0" indent="0" defTabSz="914400" eaLnBrk="1" fontAlgn="auto" latinLnBrk="0" hangingPunct="1">
                <a:lnSpc>
                  <a:spcPct val="100000"/>
                </a:lnSpc>
                <a:spcBef>
                  <a:spcPts val="0"/>
                </a:spcBef>
                <a:spcAft>
                  <a:spcPts val="0"/>
                </a:spcAft>
                <a:buClrTx/>
                <a:buSzTx/>
                <a:buFontTx/>
                <a:buNone/>
                <a:tabLst/>
                <a:defRPr/>
              </a:pPr>
              <a:r>
                <a:rPr kumimoji="0" lang="en-GB" sz="1200" b="0" i="1" u="none" strike="noStrike" kern="0" cap="none" spc="0" normalizeH="0" baseline="0" noProof="0" dirty="0">
                  <a:ln>
                    <a:noFill/>
                  </a:ln>
                  <a:solidFill>
                    <a:prstClr val="black"/>
                  </a:solidFill>
                  <a:effectLst/>
                  <a:uLnTx/>
                  <a:uFillTx/>
                  <a:latin typeface="Calibri" panose="020F0502020204030204"/>
                </a:rPr>
                <a:t>GeoJSON </a:t>
              </a:r>
              <a:r>
                <a:rPr kumimoji="0" lang="en-GB" sz="1200" b="0" i="1" u="none" strike="noStrike" kern="0" cap="none" spc="0" normalizeH="0" baseline="0" noProof="0" dirty="0" err="1">
                  <a:ln>
                    <a:noFill/>
                  </a:ln>
                  <a:solidFill>
                    <a:prstClr val="black"/>
                  </a:solidFill>
                  <a:effectLst/>
                  <a:uLnTx/>
                  <a:uFillTx/>
                  <a:latin typeface="Calibri" panose="020F0502020204030204"/>
                </a:rPr>
                <a:t>publishe</a:t>
              </a:r>
              <a:r>
                <a:rPr lang="en-GB" sz="1200" i="1" kern="0" dirty="0">
                  <a:solidFill>
                    <a:prstClr val="black"/>
                  </a:solidFill>
                  <a:latin typeface="Calibri" panose="020F0502020204030204"/>
                </a:rPr>
                <a:t>d on standardised topic hierarchy</a:t>
              </a:r>
              <a:r>
                <a:rPr lang="en-GB" sz="1200" i="1" kern="0" baseline="30000" dirty="0">
                  <a:solidFill>
                    <a:prstClr val="black"/>
                  </a:solidFill>
                  <a:latin typeface="Calibri" panose="020F0502020204030204"/>
                </a:rPr>
                <a:t>4</a:t>
              </a:r>
              <a:endParaRPr kumimoji="0" lang="en-GB" sz="1200" b="0" i="1" u="none" strike="noStrike" kern="0" cap="none" spc="0" normalizeH="0" baseline="30000" noProof="0" dirty="0">
                <a:ln>
                  <a:noFill/>
                </a:ln>
                <a:solidFill>
                  <a:prstClr val="black"/>
                </a:solidFill>
                <a:effectLst/>
                <a:uLnTx/>
                <a:uFillTx/>
                <a:latin typeface="Calibri" panose="020F0502020204030204"/>
              </a:endParaRPr>
            </a:p>
          </p:txBody>
        </p:sp>
        <p:pic>
          <p:nvPicPr>
            <p:cNvPr id="27" name="Picture 26">
              <a:extLst>
                <a:ext uri="{FF2B5EF4-FFF2-40B4-BE49-F238E27FC236}">
                  <a16:creationId xmlns:a16="http://schemas.microsoft.com/office/drawing/2014/main" id="{5F52ABD7-C451-F9A4-4119-EC7BE042D2C7}"/>
                </a:ext>
              </a:extLst>
            </p:cNvPr>
            <p:cNvPicPr>
              <a:picLocks noChangeAspect="1"/>
            </p:cNvPicPr>
            <p:nvPr/>
          </p:nvPicPr>
          <p:blipFill>
            <a:blip r:embed="rId14"/>
            <a:stretch>
              <a:fillRect/>
            </a:stretch>
          </p:blipFill>
          <p:spPr>
            <a:xfrm>
              <a:off x="5453660" y="4021798"/>
              <a:ext cx="327907" cy="477879"/>
            </a:xfrm>
            <a:prstGeom prst="rect">
              <a:avLst/>
            </a:prstGeom>
          </p:spPr>
        </p:pic>
        <p:pic>
          <p:nvPicPr>
            <p:cNvPr id="28" name="Picture 27">
              <a:extLst>
                <a:ext uri="{FF2B5EF4-FFF2-40B4-BE49-F238E27FC236}">
                  <a16:creationId xmlns:a16="http://schemas.microsoft.com/office/drawing/2014/main" id="{03A4BE0A-DE1C-2A69-2BB6-98A2B8CD56BB}"/>
                </a:ext>
              </a:extLst>
            </p:cNvPr>
            <p:cNvPicPr>
              <a:picLocks noChangeAspect="1"/>
            </p:cNvPicPr>
            <p:nvPr/>
          </p:nvPicPr>
          <p:blipFill>
            <a:blip r:embed="rId14"/>
            <a:stretch>
              <a:fillRect/>
            </a:stretch>
          </p:blipFill>
          <p:spPr>
            <a:xfrm>
              <a:off x="5828900" y="4022297"/>
              <a:ext cx="327907" cy="477879"/>
            </a:xfrm>
            <a:prstGeom prst="rect">
              <a:avLst/>
            </a:prstGeom>
          </p:spPr>
        </p:pic>
        <p:pic>
          <p:nvPicPr>
            <p:cNvPr id="29" name="Picture 28">
              <a:extLst>
                <a:ext uri="{FF2B5EF4-FFF2-40B4-BE49-F238E27FC236}">
                  <a16:creationId xmlns:a16="http://schemas.microsoft.com/office/drawing/2014/main" id="{B03CC8FB-E06B-B408-1DE3-4FA4E4CB3A91}"/>
                </a:ext>
              </a:extLst>
            </p:cNvPr>
            <p:cNvPicPr>
              <a:picLocks noChangeAspect="1"/>
            </p:cNvPicPr>
            <p:nvPr/>
          </p:nvPicPr>
          <p:blipFill>
            <a:blip r:embed="rId14"/>
            <a:stretch>
              <a:fillRect/>
            </a:stretch>
          </p:blipFill>
          <p:spPr>
            <a:xfrm>
              <a:off x="5607234" y="4531559"/>
              <a:ext cx="327907" cy="477879"/>
            </a:xfrm>
            <a:prstGeom prst="rect">
              <a:avLst/>
            </a:prstGeom>
          </p:spPr>
        </p:pic>
        <p:pic>
          <p:nvPicPr>
            <p:cNvPr id="30" name="Picture 29">
              <a:extLst>
                <a:ext uri="{FF2B5EF4-FFF2-40B4-BE49-F238E27FC236}">
                  <a16:creationId xmlns:a16="http://schemas.microsoft.com/office/drawing/2014/main" id="{7E709D06-BDC8-230C-6913-452CA5B894FB}"/>
                </a:ext>
              </a:extLst>
            </p:cNvPr>
            <p:cNvPicPr>
              <a:picLocks noChangeAspect="1"/>
            </p:cNvPicPr>
            <p:nvPr/>
          </p:nvPicPr>
          <p:blipFill>
            <a:blip r:embed="rId14"/>
            <a:stretch>
              <a:fillRect/>
            </a:stretch>
          </p:blipFill>
          <p:spPr>
            <a:xfrm>
              <a:off x="5982474" y="4532058"/>
              <a:ext cx="327907" cy="477879"/>
            </a:xfrm>
            <a:prstGeom prst="rect">
              <a:avLst/>
            </a:prstGeom>
          </p:spPr>
        </p:pic>
        <p:cxnSp>
          <p:nvCxnSpPr>
            <p:cNvPr id="31" name="Straight Arrow Connector 30">
              <a:extLst>
                <a:ext uri="{FF2B5EF4-FFF2-40B4-BE49-F238E27FC236}">
                  <a16:creationId xmlns:a16="http://schemas.microsoft.com/office/drawing/2014/main" id="{C933AFAC-7E7D-34D7-A35F-F30C61F17E1E}"/>
                </a:ext>
              </a:extLst>
            </p:cNvPr>
            <p:cNvCxnSpPr>
              <a:cxnSpLocks/>
            </p:cNvCxnSpPr>
            <p:nvPr/>
          </p:nvCxnSpPr>
          <p:spPr>
            <a:xfrm>
              <a:off x="4541520" y="3491382"/>
              <a:ext cx="698909" cy="804965"/>
            </a:xfrm>
            <a:prstGeom prst="straightConnector1">
              <a:avLst/>
            </a:prstGeom>
            <a:noFill/>
            <a:ln w="6350" cap="flat" cmpd="sng" algn="ctr">
              <a:solidFill>
                <a:sysClr val="windowText" lastClr="000000"/>
              </a:solidFill>
              <a:prstDash val="solid"/>
              <a:miter lim="800000"/>
              <a:tailEnd type="triangle"/>
            </a:ln>
            <a:effectLst/>
          </p:spPr>
        </p:cxnSp>
      </p:grpSp>
    </p:spTree>
    <p:extLst>
      <p:ext uri="{BB962C8B-B14F-4D97-AF65-F5344CB8AC3E}">
        <p14:creationId xmlns:p14="http://schemas.microsoft.com/office/powerpoint/2010/main" val="36417964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9"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3" name="Rectangle: Rounded Corners 182">
            <a:extLst>
              <a:ext uri="{FF2B5EF4-FFF2-40B4-BE49-F238E27FC236}">
                <a16:creationId xmlns:a16="http://schemas.microsoft.com/office/drawing/2014/main" id="{92C25C7D-8CEB-0B59-E900-4F8AFD6EC9EA}"/>
              </a:ext>
            </a:extLst>
          </p:cNvPr>
          <p:cNvSpPr/>
          <p:nvPr/>
        </p:nvSpPr>
        <p:spPr>
          <a:xfrm>
            <a:off x="8953689" y="4509888"/>
            <a:ext cx="1244600" cy="847246"/>
          </a:xfrm>
          <a:prstGeom prst="roundRect">
            <a:avLst/>
          </a:prstGeom>
          <a:solidFill>
            <a:schemeClr val="accent3">
              <a:lumMod val="40000"/>
              <a:lumOff val="6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1" indent="0" algn="ctr" defTabSz="914400" rtl="0" eaLnBrk="1" fontAlgn="auto" latinLnBrk="0" hangingPunct="1">
              <a:lnSpc>
                <a:spcPct val="90000"/>
              </a:lnSpc>
              <a:spcBef>
                <a:spcPts val="0"/>
              </a:spcBef>
              <a:spcAft>
                <a:spcPts val="0"/>
              </a:spcAft>
              <a:buClrTx/>
              <a:buSzTx/>
              <a:buFontTx/>
              <a:buNone/>
              <a:tabLst/>
              <a:defRPr/>
            </a:pPr>
            <a:r>
              <a:rPr kumimoji="0" lang="en-US" sz="1600" b="1" i="0" u="none" strike="noStrike" kern="1200" cap="none" spc="0" normalizeH="0" baseline="0" noProof="0" dirty="0">
                <a:ln>
                  <a:noFill/>
                </a:ln>
                <a:solidFill>
                  <a:srgbClr val="1F497D">
                    <a:lumMod val="50000"/>
                  </a:srgbClr>
                </a:solidFill>
                <a:effectLst/>
                <a:uLnTx/>
                <a:uFillTx/>
                <a:latin typeface="Calibri"/>
                <a:ea typeface="+mn-ea"/>
                <a:cs typeface="+mn-cs"/>
              </a:rPr>
              <a:t>Global Discovery Catalogue</a:t>
            </a:r>
            <a:endParaRPr kumimoji="0" lang="en-GB" sz="1600" b="1" i="0" u="none" strike="noStrike" kern="1200" cap="none" spc="0" normalizeH="0" baseline="0" noProof="0" dirty="0">
              <a:ln>
                <a:noFill/>
              </a:ln>
              <a:solidFill>
                <a:srgbClr val="1F497D">
                  <a:lumMod val="50000"/>
                </a:srgbClr>
              </a:solidFill>
              <a:effectLst/>
              <a:uLnTx/>
              <a:uFillTx/>
              <a:latin typeface="Calibri"/>
              <a:ea typeface="+mn-ea"/>
              <a:cs typeface="+mn-cs"/>
            </a:endParaRPr>
          </a:p>
        </p:txBody>
      </p:sp>
      <p:sp>
        <p:nvSpPr>
          <p:cNvPr id="167" name="Rectangle 166">
            <a:extLst>
              <a:ext uri="{FF2B5EF4-FFF2-40B4-BE49-F238E27FC236}">
                <a16:creationId xmlns:a16="http://schemas.microsoft.com/office/drawing/2014/main" id="{C32C28F2-0619-5230-E561-23AD37AEC549}"/>
              </a:ext>
            </a:extLst>
          </p:cNvPr>
          <p:cNvSpPr/>
          <p:nvPr/>
        </p:nvSpPr>
        <p:spPr>
          <a:xfrm>
            <a:off x="353683" y="1620080"/>
            <a:ext cx="4313995" cy="5187252"/>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88900" marR="0" indent="0" algn="l" defTabSz="914400" rtl="0" eaLnBrk="1" fontAlgn="auto" latinLnBrk="0" hangingPunct="1">
              <a:lnSpc>
                <a:spcPct val="90000"/>
              </a:lnSpc>
              <a:spcBef>
                <a:spcPts val="0"/>
              </a:spcBef>
              <a:spcAft>
                <a:spcPts val="0"/>
              </a:spcAft>
              <a:buClrTx/>
              <a:buSzTx/>
              <a:buFontTx/>
              <a:buNone/>
              <a:tabLst/>
            </a:pPr>
            <a:endParaRPr kumimoji="0" lang="en-CH" sz="1300" b="1" i="0" u="none" strike="noStrike" kern="1200" cap="none" spc="0" normalizeH="0" baseline="0" noProof="0" dirty="0">
              <a:ln>
                <a:noFill/>
              </a:ln>
              <a:solidFill>
                <a:srgbClr val="1F497D">
                  <a:lumMod val="50000"/>
                </a:srgbClr>
              </a:solidFill>
              <a:effectLst/>
              <a:uLnTx/>
              <a:uFillTx/>
              <a:latin typeface="Calibri"/>
              <a:ea typeface="+mn-ea"/>
              <a:cs typeface="+mn-cs"/>
            </a:endParaRPr>
          </a:p>
        </p:txBody>
      </p:sp>
      <p:sp>
        <p:nvSpPr>
          <p:cNvPr id="2" name="Title 1"/>
          <p:cNvSpPr>
            <a:spLocks noGrp="1"/>
          </p:cNvSpPr>
          <p:nvPr>
            <p:ph type="title"/>
          </p:nvPr>
        </p:nvSpPr>
        <p:spPr>
          <a:xfrm>
            <a:off x="-75414" y="0"/>
            <a:ext cx="12267414" cy="791852"/>
          </a:xfrm>
          <a:solidFill>
            <a:srgbClr val="004F9F"/>
          </a:solidFill>
        </p:spPr>
        <p:txBody>
          <a:bodyPr>
            <a:normAutofit/>
          </a:bodyPr>
          <a:lstStyle/>
          <a:p>
            <a:r>
              <a:rPr lang="en-US" dirty="0">
                <a:solidFill>
                  <a:schemeClr val="bg1"/>
                </a:solidFill>
              </a:rPr>
              <a:t>Sharing metadata in WIS 2.0</a:t>
            </a:r>
          </a:p>
        </p:txBody>
      </p:sp>
      <p:sp>
        <p:nvSpPr>
          <p:cNvPr id="3" name="TextBox 2">
            <a:extLst>
              <a:ext uri="{FF2B5EF4-FFF2-40B4-BE49-F238E27FC236}">
                <a16:creationId xmlns:a16="http://schemas.microsoft.com/office/drawing/2014/main" id="{54AD06FA-A054-005E-88D7-55F8C06927B8}"/>
              </a:ext>
            </a:extLst>
          </p:cNvPr>
          <p:cNvSpPr txBox="1"/>
          <p:nvPr/>
        </p:nvSpPr>
        <p:spPr>
          <a:xfrm>
            <a:off x="6909785" y="6408711"/>
            <a:ext cx="5027338" cy="246221"/>
          </a:xfrm>
          <a:prstGeom prst="rect">
            <a:avLst/>
          </a:prstGeom>
          <a:noFill/>
        </p:spPr>
        <p:txBody>
          <a:bodyPr wrap="none" rtlCol="0">
            <a:spAutoFit/>
          </a:bodyPr>
          <a:lstStyle/>
          <a:p>
            <a:r>
              <a:rPr lang="en-GB" sz="1000" baseline="30000" dirty="0"/>
              <a:t>5</a:t>
            </a:r>
            <a:r>
              <a:rPr lang="en-GB" sz="1000" dirty="0"/>
              <a:t> Guide to WIS (WMO No. 1061), Vol II, </a:t>
            </a:r>
            <a:r>
              <a:rPr lang="en-GB" sz="1000" b="0" i="0" dirty="0">
                <a:solidFill>
                  <a:srgbClr val="1F1F1F"/>
                </a:solidFill>
                <a:effectLst/>
                <a:latin typeface="Google Sans"/>
              </a:rPr>
              <a:t>§1.3.2 </a:t>
            </a:r>
            <a:r>
              <a:rPr lang="en-GB" sz="1000" b="0" i="0" dirty="0">
                <a:solidFill>
                  <a:srgbClr val="1F1F1F"/>
                </a:solidFill>
                <a:effectLst/>
                <a:latin typeface="Google Sans"/>
                <a:hlinkClick r:id="rId2"/>
              </a:rPr>
              <a:t>How to provide discovery metadata to WIS2</a:t>
            </a:r>
            <a:endParaRPr lang="en-GB" sz="1000" dirty="0"/>
          </a:p>
        </p:txBody>
      </p:sp>
      <p:sp>
        <p:nvSpPr>
          <p:cNvPr id="4" name="TextBox 3">
            <a:extLst>
              <a:ext uri="{FF2B5EF4-FFF2-40B4-BE49-F238E27FC236}">
                <a16:creationId xmlns:a16="http://schemas.microsoft.com/office/drawing/2014/main" id="{EF3C89A1-B9EA-F079-F427-A536559329B1}"/>
              </a:ext>
            </a:extLst>
          </p:cNvPr>
          <p:cNvSpPr txBox="1"/>
          <p:nvPr/>
        </p:nvSpPr>
        <p:spPr>
          <a:xfrm>
            <a:off x="6909785" y="6561111"/>
            <a:ext cx="4754828" cy="246221"/>
          </a:xfrm>
          <a:prstGeom prst="rect">
            <a:avLst/>
          </a:prstGeom>
          <a:noFill/>
        </p:spPr>
        <p:txBody>
          <a:bodyPr wrap="none" rtlCol="0">
            <a:spAutoFit/>
          </a:bodyPr>
          <a:lstStyle/>
          <a:p>
            <a:r>
              <a:rPr lang="en-GB" sz="1000" baseline="30000" dirty="0"/>
              <a:t>6</a:t>
            </a:r>
            <a:r>
              <a:rPr lang="en-GB" sz="1000" dirty="0"/>
              <a:t> Manual on WIS (WMO No. 1060), Vol II, Appendix F: </a:t>
            </a:r>
            <a:r>
              <a:rPr lang="en-GB" sz="1000" dirty="0">
                <a:hlinkClick r:id="rId3"/>
              </a:rPr>
              <a:t>WMO Core Metadata Profile 2</a:t>
            </a:r>
            <a:endParaRPr lang="en-GB" sz="1000" dirty="0"/>
          </a:p>
        </p:txBody>
      </p:sp>
      <p:grpSp>
        <p:nvGrpSpPr>
          <p:cNvPr id="5" name="Group 4">
            <a:extLst>
              <a:ext uri="{FF2B5EF4-FFF2-40B4-BE49-F238E27FC236}">
                <a16:creationId xmlns:a16="http://schemas.microsoft.com/office/drawing/2014/main" id="{9C0F2B22-0323-6828-8D1E-7774E6A9CCFC}"/>
              </a:ext>
            </a:extLst>
          </p:cNvPr>
          <p:cNvGrpSpPr/>
          <p:nvPr/>
        </p:nvGrpSpPr>
        <p:grpSpPr>
          <a:xfrm>
            <a:off x="1636011" y="1661949"/>
            <a:ext cx="3153167" cy="1906726"/>
            <a:chOff x="1388353" y="1260340"/>
            <a:chExt cx="3153167" cy="1906726"/>
          </a:xfrm>
        </p:grpSpPr>
        <p:sp>
          <p:nvSpPr>
            <p:cNvPr id="6" name="TextBox 5">
              <a:extLst>
                <a:ext uri="{FF2B5EF4-FFF2-40B4-BE49-F238E27FC236}">
                  <a16:creationId xmlns:a16="http://schemas.microsoft.com/office/drawing/2014/main" id="{CA6BB7E5-314E-079D-DCF3-3AFB0AFE588F}"/>
                </a:ext>
              </a:extLst>
            </p:cNvPr>
            <p:cNvSpPr txBox="1"/>
            <p:nvPr/>
          </p:nvSpPr>
          <p:spPr>
            <a:xfrm>
              <a:off x="1388353" y="1412740"/>
              <a:ext cx="3153167" cy="1754326"/>
            </a:xfrm>
            <a:prstGeom prst="rect">
              <a:avLst/>
            </a:prstGeom>
            <a:noFill/>
          </p:spPr>
          <p:txBody>
            <a:bodyPr wrap="square" rtlCol="0">
              <a:spAutoFit/>
            </a:bodyPr>
            <a:lstStyle/>
            <a:p>
              <a:r>
                <a:rPr lang="en-GB" dirty="0"/>
                <a:t>Identifier</a:t>
              </a:r>
            </a:p>
            <a:p>
              <a:r>
                <a:rPr lang="en-GB" dirty="0"/>
                <a:t>Title</a:t>
              </a:r>
            </a:p>
            <a:p>
              <a:r>
                <a:rPr lang="en-GB" dirty="0"/>
                <a:t>Description</a:t>
              </a:r>
            </a:p>
            <a:p>
              <a:r>
                <a:rPr lang="en-GB" dirty="0"/>
                <a:t>Keywords</a:t>
              </a:r>
            </a:p>
            <a:p>
              <a:r>
                <a:rPr lang="en-GB" dirty="0"/>
                <a:t>Geometry (extent)</a:t>
              </a:r>
            </a:p>
            <a:p>
              <a:r>
                <a:rPr lang="en-GB" dirty="0"/>
                <a:t>Time (extent)</a:t>
              </a:r>
            </a:p>
          </p:txBody>
        </p:sp>
        <p:sp>
          <p:nvSpPr>
            <p:cNvPr id="7" name="Rectangle 6">
              <a:extLst>
                <a:ext uri="{FF2B5EF4-FFF2-40B4-BE49-F238E27FC236}">
                  <a16:creationId xmlns:a16="http://schemas.microsoft.com/office/drawing/2014/main" id="{D156EC2A-C1EC-FD81-A6AD-72BFC6463BFA}"/>
                </a:ext>
              </a:extLst>
            </p:cNvPr>
            <p:cNvSpPr/>
            <p:nvPr/>
          </p:nvSpPr>
          <p:spPr>
            <a:xfrm>
              <a:off x="1413753" y="1285240"/>
              <a:ext cx="2613560" cy="1848706"/>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cxnSp>
          <p:nvCxnSpPr>
            <p:cNvPr id="8" name="Straight Connector 7">
              <a:extLst>
                <a:ext uri="{FF2B5EF4-FFF2-40B4-BE49-F238E27FC236}">
                  <a16:creationId xmlns:a16="http://schemas.microsoft.com/office/drawing/2014/main" id="{65229D23-D689-5520-4F5C-B8F32C2F63CC}"/>
                </a:ext>
              </a:extLst>
            </p:cNvPr>
            <p:cNvCxnSpPr>
              <a:cxnSpLocks/>
            </p:cNvCxnSpPr>
            <p:nvPr/>
          </p:nvCxnSpPr>
          <p:spPr>
            <a:xfrm>
              <a:off x="1420139" y="1448115"/>
              <a:ext cx="2607173" cy="0"/>
            </a:xfrm>
            <a:prstGeom prst="line">
              <a:avLst/>
            </a:prstGeom>
          </p:spPr>
          <p:style>
            <a:lnRef idx="1">
              <a:schemeClr val="dk1"/>
            </a:lnRef>
            <a:fillRef idx="0">
              <a:schemeClr val="dk1"/>
            </a:fillRef>
            <a:effectRef idx="0">
              <a:schemeClr val="dk1"/>
            </a:effectRef>
            <a:fontRef idx="minor">
              <a:schemeClr val="tx1"/>
            </a:fontRef>
          </p:style>
        </p:cxnSp>
        <p:sp>
          <p:nvSpPr>
            <p:cNvPr id="9" name="TextBox 8">
              <a:extLst>
                <a:ext uri="{FF2B5EF4-FFF2-40B4-BE49-F238E27FC236}">
                  <a16:creationId xmlns:a16="http://schemas.microsoft.com/office/drawing/2014/main" id="{DFD6C035-542D-7A44-89DD-748E993CC77E}"/>
                </a:ext>
              </a:extLst>
            </p:cNvPr>
            <p:cNvSpPr txBox="1"/>
            <p:nvPr/>
          </p:nvSpPr>
          <p:spPr>
            <a:xfrm>
              <a:off x="1395019" y="1260340"/>
              <a:ext cx="1314941" cy="215444"/>
            </a:xfrm>
            <a:prstGeom prst="rect">
              <a:avLst/>
            </a:prstGeom>
            <a:noFill/>
          </p:spPr>
          <p:txBody>
            <a:bodyPr wrap="square" rtlCol="0">
              <a:spAutoFit/>
            </a:bodyPr>
            <a:lstStyle/>
            <a:p>
              <a:r>
                <a:rPr lang="en-GB" sz="800" dirty="0">
                  <a:solidFill>
                    <a:srgbClr val="1042D3"/>
                  </a:solidFill>
                </a:rPr>
                <a:t>Description of the Dataset</a:t>
              </a:r>
              <a:endParaRPr lang="en-GB" sz="1100" dirty="0">
                <a:solidFill>
                  <a:srgbClr val="1042D3"/>
                </a:solidFill>
              </a:endParaRPr>
            </a:p>
          </p:txBody>
        </p:sp>
      </p:grpSp>
      <p:pic>
        <p:nvPicPr>
          <p:cNvPr id="10" name="Picture 9">
            <a:extLst>
              <a:ext uri="{FF2B5EF4-FFF2-40B4-BE49-F238E27FC236}">
                <a16:creationId xmlns:a16="http://schemas.microsoft.com/office/drawing/2014/main" id="{5EBA84F2-B570-C678-EA2A-4EC4E4550872}"/>
              </a:ext>
            </a:extLst>
          </p:cNvPr>
          <p:cNvPicPr>
            <a:picLocks noChangeAspect="1"/>
          </p:cNvPicPr>
          <p:nvPr/>
        </p:nvPicPr>
        <p:blipFill>
          <a:blip r:embed="rId4"/>
          <a:stretch>
            <a:fillRect/>
          </a:stretch>
        </p:blipFill>
        <p:spPr>
          <a:xfrm>
            <a:off x="437206" y="2956785"/>
            <a:ext cx="734972" cy="1194331"/>
          </a:xfrm>
          <a:prstGeom prst="rect">
            <a:avLst/>
          </a:prstGeom>
        </p:spPr>
      </p:pic>
      <p:pic>
        <p:nvPicPr>
          <p:cNvPr id="11" name="Picture 10">
            <a:extLst>
              <a:ext uri="{FF2B5EF4-FFF2-40B4-BE49-F238E27FC236}">
                <a16:creationId xmlns:a16="http://schemas.microsoft.com/office/drawing/2014/main" id="{940F2429-EEF2-ECAE-AB91-CC5F73A33F24}"/>
              </a:ext>
            </a:extLst>
          </p:cNvPr>
          <p:cNvPicPr>
            <a:picLocks noChangeAspect="1"/>
          </p:cNvPicPr>
          <p:nvPr/>
        </p:nvPicPr>
        <p:blipFill>
          <a:blip r:embed="rId5"/>
          <a:stretch>
            <a:fillRect/>
          </a:stretch>
        </p:blipFill>
        <p:spPr>
          <a:xfrm flipH="1">
            <a:off x="118315" y="812869"/>
            <a:ext cx="675714" cy="688861"/>
          </a:xfrm>
          <a:prstGeom prst="rect">
            <a:avLst/>
          </a:prstGeom>
        </p:spPr>
      </p:pic>
      <p:sp>
        <p:nvSpPr>
          <p:cNvPr id="12" name="TextBox 11">
            <a:extLst>
              <a:ext uri="{FF2B5EF4-FFF2-40B4-BE49-F238E27FC236}">
                <a16:creationId xmlns:a16="http://schemas.microsoft.com/office/drawing/2014/main" id="{BB8D35E1-C6F7-37D4-2B0F-EA2E666291D4}"/>
              </a:ext>
            </a:extLst>
          </p:cNvPr>
          <p:cNvSpPr txBox="1"/>
          <p:nvPr/>
        </p:nvSpPr>
        <p:spPr>
          <a:xfrm>
            <a:off x="693775" y="791852"/>
            <a:ext cx="3942254" cy="923330"/>
          </a:xfrm>
          <a:prstGeom prst="rect">
            <a:avLst/>
          </a:prstGeom>
          <a:noFill/>
        </p:spPr>
        <p:txBody>
          <a:bodyPr wrap="square" rtlCol="0">
            <a:spAutoFit/>
          </a:bodyPr>
          <a:lstStyle/>
          <a:p>
            <a:r>
              <a:rPr lang="en-GB" dirty="0"/>
              <a:t>Ahh, good point! The next section in the WIS2 Guide</a:t>
            </a:r>
            <a:r>
              <a:rPr lang="en-GB" baseline="30000" dirty="0"/>
              <a:t>5</a:t>
            </a:r>
            <a:r>
              <a:rPr lang="en-GB" dirty="0"/>
              <a:t> says that I need to provide ‘</a:t>
            </a:r>
            <a:r>
              <a:rPr lang="en-GB" b="1" dirty="0"/>
              <a:t>discovery metadata</a:t>
            </a:r>
            <a:r>
              <a:rPr lang="en-GB" dirty="0"/>
              <a:t>’</a:t>
            </a:r>
            <a:r>
              <a:rPr lang="en-GB" baseline="30000" dirty="0"/>
              <a:t>6</a:t>
            </a:r>
            <a:r>
              <a:rPr lang="en-GB" dirty="0"/>
              <a:t> about my Dataset</a:t>
            </a:r>
          </a:p>
        </p:txBody>
      </p:sp>
      <p:grpSp>
        <p:nvGrpSpPr>
          <p:cNvPr id="13" name="Group 12">
            <a:extLst>
              <a:ext uri="{FF2B5EF4-FFF2-40B4-BE49-F238E27FC236}">
                <a16:creationId xmlns:a16="http://schemas.microsoft.com/office/drawing/2014/main" id="{0115D1A0-F818-11BB-58C0-DB59FB647BB0}"/>
              </a:ext>
            </a:extLst>
          </p:cNvPr>
          <p:cNvGrpSpPr/>
          <p:nvPr/>
        </p:nvGrpSpPr>
        <p:grpSpPr>
          <a:xfrm>
            <a:off x="1639715" y="3566296"/>
            <a:ext cx="3153167" cy="521732"/>
            <a:chOff x="1388353" y="1260340"/>
            <a:chExt cx="3153167" cy="521732"/>
          </a:xfrm>
        </p:grpSpPr>
        <p:sp>
          <p:nvSpPr>
            <p:cNvPr id="14" name="TextBox 13">
              <a:extLst>
                <a:ext uri="{FF2B5EF4-FFF2-40B4-BE49-F238E27FC236}">
                  <a16:creationId xmlns:a16="http://schemas.microsoft.com/office/drawing/2014/main" id="{7277F9DF-ACA2-155F-7A2E-91EE74EAF186}"/>
                </a:ext>
              </a:extLst>
            </p:cNvPr>
            <p:cNvSpPr txBox="1"/>
            <p:nvPr/>
          </p:nvSpPr>
          <p:spPr>
            <a:xfrm>
              <a:off x="1388353" y="1412740"/>
              <a:ext cx="3153167" cy="369332"/>
            </a:xfrm>
            <a:prstGeom prst="rect">
              <a:avLst/>
            </a:prstGeom>
            <a:noFill/>
          </p:spPr>
          <p:txBody>
            <a:bodyPr wrap="square" rtlCol="0">
              <a:spAutoFit/>
            </a:bodyPr>
            <a:lstStyle/>
            <a:p>
              <a:r>
                <a:rPr lang="en-GB"/>
                <a:t>Publisher contact</a:t>
              </a:r>
            </a:p>
          </p:txBody>
        </p:sp>
        <p:sp>
          <p:nvSpPr>
            <p:cNvPr id="15" name="Rectangle 14">
              <a:extLst>
                <a:ext uri="{FF2B5EF4-FFF2-40B4-BE49-F238E27FC236}">
                  <a16:creationId xmlns:a16="http://schemas.microsoft.com/office/drawing/2014/main" id="{1BB844C4-36D8-3FA5-20F1-4209682FDF58}"/>
                </a:ext>
              </a:extLst>
            </p:cNvPr>
            <p:cNvSpPr/>
            <p:nvPr/>
          </p:nvSpPr>
          <p:spPr>
            <a:xfrm>
              <a:off x="1413753" y="1285240"/>
              <a:ext cx="2609856" cy="470658"/>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cxnSp>
          <p:nvCxnSpPr>
            <p:cNvPr id="16" name="Straight Connector 15">
              <a:extLst>
                <a:ext uri="{FF2B5EF4-FFF2-40B4-BE49-F238E27FC236}">
                  <a16:creationId xmlns:a16="http://schemas.microsoft.com/office/drawing/2014/main" id="{B828DA87-D5AB-8DE7-A983-25C5ADD9CBE7}"/>
                </a:ext>
              </a:extLst>
            </p:cNvPr>
            <p:cNvCxnSpPr>
              <a:cxnSpLocks/>
            </p:cNvCxnSpPr>
            <p:nvPr/>
          </p:nvCxnSpPr>
          <p:spPr>
            <a:xfrm>
              <a:off x="1420139" y="1448115"/>
              <a:ext cx="2603469" cy="0"/>
            </a:xfrm>
            <a:prstGeom prst="line">
              <a:avLst/>
            </a:prstGeom>
          </p:spPr>
          <p:style>
            <a:lnRef idx="1">
              <a:schemeClr val="dk1"/>
            </a:lnRef>
            <a:fillRef idx="0">
              <a:schemeClr val="dk1"/>
            </a:fillRef>
            <a:effectRef idx="0">
              <a:schemeClr val="dk1"/>
            </a:effectRef>
            <a:fontRef idx="minor">
              <a:schemeClr val="tx1"/>
            </a:fontRef>
          </p:style>
        </p:cxnSp>
        <p:sp>
          <p:nvSpPr>
            <p:cNvPr id="17" name="TextBox 16">
              <a:extLst>
                <a:ext uri="{FF2B5EF4-FFF2-40B4-BE49-F238E27FC236}">
                  <a16:creationId xmlns:a16="http://schemas.microsoft.com/office/drawing/2014/main" id="{09BF3164-4AAD-BFA0-E97E-82D2236A80AC}"/>
                </a:ext>
              </a:extLst>
            </p:cNvPr>
            <p:cNvSpPr txBox="1"/>
            <p:nvPr/>
          </p:nvSpPr>
          <p:spPr>
            <a:xfrm>
              <a:off x="1395019" y="1260340"/>
              <a:ext cx="1314941" cy="215444"/>
            </a:xfrm>
            <a:prstGeom prst="rect">
              <a:avLst/>
            </a:prstGeom>
            <a:noFill/>
          </p:spPr>
          <p:txBody>
            <a:bodyPr wrap="square" rtlCol="0">
              <a:spAutoFit/>
            </a:bodyPr>
            <a:lstStyle/>
            <a:p>
              <a:r>
                <a:rPr lang="en-GB" sz="800" dirty="0">
                  <a:solidFill>
                    <a:srgbClr val="1042D3"/>
                  </a:solidFill>
                </a:rPr>
                <a:t>Who to contact</a:t>
              </a:r>
              <a:endParaRPr lang="en-GB" sz="1100" dirty="0">
                <a:solidFill>
                  <a:srgbClr val="1042D3"/>
                </a:solidFill>
              </a:endParaRPr>
            </a:p>
          </p:txBody>
        </p:sp>
      </p:grpSp>
      <p:grpSp>
        <p:nvGrpSpPr>
          <p:cNvPr id="18" name="Group 17">
            <a:extLst>
              <a:ext uri="{FF2B5EF4-FFF2-40B4-BE49-F238E27FC236}">
                <a16:creationId xmlns:a16="http://schemas.microsoft.com/office/drawing/2014/main" id="{FE97699C-1C65-27AE-FF65-6A802257C4B0}"/>
              </a:ext>
            </a:extLst>
          </p:cNvPr>
          <p:cNvGrpSpPr/>
          <p:nvPr/>
        </p:nvGrpSpPr>
        <p:grpSpPr>
          <a:xfrm>
            <a:off x="1636010" y="4104843"/>
            <a:ext cx="3153167" cy="1075730"/>
            <a:chOff x="1388353" y="1260340"/>
            <a:chExt cx="3153167" cy="1075730"/>
          </a:xfrm>
        </p:grpSpPr>
        <p:sp>
          <p:nvSpPr>
            <p:cNvPr id="19" name="TextBox 18">
              <a:extLst>
                <a:ext uri="{FF2B5EF4-FFF2-40B4-BE49-F238E27FC236}">
                  <a16:creationId xmlns:a16="http://schemas.microsoft.com/office/drawing/2014/main" id="{5E2C18F4-A7A9-0C70-64F8-9CDF8DD5558A}"/>
                </a:ext>
              </a:extLst>
            </p:cNvPr>
            <p:cNvSpPr txBox="1"/>
            <p:nvPr/>
          </p:nvSpPr>
          <p:spPr>
            <a:xfrm>
              <a:off x="1388353" y="1412740"/>
              <a:ext cx="3153167" cy="923330"/>
            </a:xfrm>
            <a:prstGeom prst="rect">
              <a:avLst/>
            </a:prstGeom>
            <a:noFill/>
          </p:spPr>
          <p:txBody>
            <a:bodyPr wrap="square" rtlCol="0">
              <a:spAutoFit/>
            </a:bodyPr>
            <a:lstStyle/>
            <a:p>
              <a:r>
                <a:rPr lang="en-GB"/>
                <a:t>Data access (files)</a:t>
              </a:r>
            </a:p>
            <a:p>
              <a:r>
                <a:rPr lang="en-GB"/>
                <a:t>Data access (API)</a:t>
              </a:r>
            </a:p>
            <a:p>
              <a:r>
                <a:rPr lang="en-GB"/>
                <a:t>Data access (notifications)</a:t>
              </a:r>
            </a:p>
          </p:txBody>
        </p:sp>
        <p:sp>
          <p:nvSpPr>
            <p:cNvPr id="20" name="Rectangle 19">
              <a:extLst>
                <a:ext uri="{FF2B5EF4-FFF2-40B4-BE49-F238E27FC236}">
                  <a16:creationId xmlns:a16="http://schemas.microsoft.com/office/drawing/2014/main" id="{CD375306-8878-6FB8-DAD1-BB066C76047E}"/>
                </a:ext>
              </a:extLst>
            </p:cNvPr>
            <p:cNvSpPr/>
            <p:nvPr/>
          </p:nvSpPr>
          <p:spPr>
            <a:xfrm>
              <a:off x="1413752" y="1285239"/>
              <a:ext cx="2613561" cy="994669"/>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cxnSp>
          <p:nvCxnSpPr>
            <p:cNvPr id="21" name="Straight Connector 20">
              <a:extLst>
                <a:ext uri="{FF2B5EF4-FFF2-40B4-BE49-F238E27FC236}">
                  <a16:creationId xmlns:a16="http://schemas.microsoft.com/office/drawing/2014/main" id="{7A838D1D-C1F4-5BEF-876D-1447E3FD2BED}"/>
                </a:ext>
              </a:extLst>
            </p:cNvPr>
            <p:cNvCxnSpPr>
              <a:cxnSpLocks/>
            </p:cNvCxnSpPr>
            <p:nvPr/>
          </p:nvCxnSpPr>
          <p:spPr>
            <a:xfrm>
              <a:off x="1420139" y="1448115"/>
              <a:ext cx="2607174" cy="0"/>
            </a:xfrm>
            <a:prstGeom prst="line">
              <a:avLst/>
            </a:prstGeom>
          </p:spPr>
          <p:style>
            <a:lnRef idx="1">
              <a:schemeClr val="dk1"/>
            </a:lnRef>
            <a:fillRef idx="0">
              <a:schemeClr val="dk1"/>
            </a:fillRef>
            <a:effectRef idx="0">
              <a:schemeClr val="dk1"/>
            </a:effectRef>
            <a:fontRef idx="minor">
              <a:schemeClr val="tx1"/>
            </a:fontRef>
          </p:style>
        </p:cxnSp>
        <p:sp>
          <p:nvSpPr>
            <p:cNvPr id="22" name="TextBox 21">
              <a:extLst>
                <a:ext uri="{FF2B5EF4-FFF2-40B4-BE49-F238E27FC236}">
                  <a16:creationId xmlns:a16="http://schemas.microsoft.com/office/drawing/2014/main" id="{958DDBEF-195F-22FC-F9B5-8CF2DCA30AD6}"/>
                </a:ext>
              </a:extLst>
            </p:cNvPr>
            <p:cNvSpPr txBox="1"/>
            <p:nvPr/>
          </p:nvSpPr>
          <p:spPr>
            <a:xfrm>
              <a:off x="1395019" y="1260340"/>
              <a:ext cx="1314941" cy="215444"/>
            </a:xfrm>
            <a:prstGeom prst="rect">
              <a:avLst/>
            </a:prstGeom>
            <a:noFill/>
          </p:spPr>
          <p:txBody>
            <a:bodyPr wrap="square" rtlCol="0">
              <a:spAutoFit/>
            </a:bodyPr>
            <a:lstStyle/>
            <a:p>
              <a:r>
                <a:rPr lang="en-GB" sz="800" dirty="0">
                  <a:solidFill>
                    <a:srgbClr val="1042D3"/>
                  </a:solidFill>
                </a:rPr>
                <a:t>How to access</a:t>
              </a:r>
              <a:endParaRPr lang="en-GB" sz="1100" dirty="0">
                <a:solidFill>
                  <a:srgbClr val="1042D3"/>
                </a:solidFill>
              </a:endParaRPr>
            </a:p>
          </p:txBody>
        </p:sp>
      </p:grpSp>
      <p:grpSp>
        <p:nvGrpSpPr>
          <p:cNvPr id="23" name="Group 22">
            <a:extLst>
              <a:ext uri="{FF2B5EF4-FFF2-40B4-BE49-F238E27FC236}">
                <a16:creationId xmlns:a16="http://schemas.microsoft.com/office/drawing/2014/main" id="{ECBE803B-AAFD-4F1A-886A-F2995C7924FA}"/>
              </a:ext>
            </a:extLst>
          </p:cNvPr>
          <p:cNvGrpSpPr/>
          <p:nvPr/>
        </p:nvGrpSpPr>
        <p:grpSpPr>
          <a:xfrm>
            <a:off x="1630222" y="5168087"/>
            <a:ext cx="3153167" cy="1075730"/>
            <a:chOff x="1388353" y="1260340"/>
            <a:chExt cx="3153167" cy="1075730"/>
          </a:xfrm>
        </p:grpSpPr>
        <p:sp>
          <p:nvSpPr>
            <p:cNvPr id="24" name="TextBox 23">
              <a:extLst>
                <a:ext uri="{FF2B5EF4-FFF2-40B4-BE49-F238E27FC236}">
                  <a16:creationId xmlns:a16="http://schemas.microsoft.com/office/drawing/2014/main" id="{8C0ECBAC-EF2A-ABE0-C83E-C6D3027BC929}"/>
                </a:ext>
              </a:extLst>
            </p:cNvPr>
            <p:cNvSpPr txBox="1"/>
            <p:nvPr/>
          </p:nvSpPr>
          <p:spPr>
            <a:xfrm>
              <a:off x="1388353" y="1412740"/>
              <a:ext cx="3153167" cy="923330"/>
            </a:xfrm>
            <a:prstGeom prst="rect">
              <a:avLst/>
            </a:prstGeom>
            <a:noFill/>
          </p:spPr>
          <p:txBody>
            <a:bodyPr wrap="square" rtlCol="0">
              <a:spAutoFit/>
            </a:bodyPr>
            <a:lstStyle/>
            <a:p>
              <a:r>
                <a:rPr lang="en-GB"/>
                <a:t>Data policy</a:t>
              </a:r>
            </a:p>
            <a:p>
              <a:r>
                <a:rPr lang="en-GB"/>
                <a:t>Rights</a:t>
              </a:r>
            </a:p>
            <a:p>
              <a:r>
                <a:rPr lang="en-GB"/>
                <a:t>License</a:t>
              </a:r>
            </a:p>
          </p:txBody>
        </p:sp>
        <p:sp>
          <p:nvSpPr>
            <p:cNvPr id="25" name="Rectangle 24">
              <a:extLst>
                <a:ext uri="{FF2B5EF4-FFF2-40B4-BE49-F238E27FC236}">
                  <a16:creationId xmlns:a16="http://schemas.microsoft.com/office/drawing/2014/main" id="{A233B66D-8BB0-ADCF-4038-0C48F60E480A}"/>
                </a:ext>
              </a:extLst>
            </p:cNvPr>
            <p:cNvSpPr/>
            <p:nvPr/>
          </p:nvSpPr>
          <p:spPr>
            <a:xfrm>
              <a:off x="1413753" y="1285239"/>
              <a:ext cx="2619348" cy="994669"/>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cxnSp>
          <p:nvCxnSpPr>
            <p:cNvPr id="26" name="Straight Connector 25">
              <a:extLst>
                <a:ext uri="{FF2B5EF4-FFF2-40B4-BE49-F238E27FC236}">
                  <a16:creationId xmlns:a16="http://schemas.microsoft.com/office/drawing/2014/main" id="{10A905B6-B550-5BE7-E706-A353984D1E83}"/>
                </a:ext>
              </a:extLst>
            </p:cNvPr>
            <p:cNvCxnSpPr>
              <a:cxnSpLocks/>
            </p:cNvCxnSpPr>
            <p:nvPr/>
          </p:nvCxnSpPr>
          <p:spPr>
            <a:xfrm>
              <a:off x="1420139" y="1448115"/>
              <a:ext cx="2612962" cy="0"/>
            </a:xfrm>
            <a:prstGeom prst="line">
              <a:avLst/>
            </a:prstGeom>
          </p:spPr>
          <p:style>
            <a:lnRef idx="1">
              <a:schemeClr val="dk1"/>
            </a:lnRef>
            <a:fillRef idx="0">
              <a:schemeClr val="dk1"/>
            </a:fillRef>
            <a:effectRef idx="0">
              <a:schemeClr val="dk1"/>
            </a:effectRef>
            <a:fontRef idx="minor">
              <a:schemeClr val="tx1"/>
            </a:fontRef>
          </p:style>
        </p:cxnSp>
        <p:sp>
          <p:nvSpPr>
            <p:cNvPr id="27" name="TextBox 26">
              <a:extLst>
                <a:ext uri="{FF2B5EF4-FFF2-40B4-BE49-F238E27FC236}">
                  <a16:creationId xmlns:a16="http://schemas.microsoft.com/office/drawing/2014/main" id="{E3743163-9F30-004C-1561-7346607CF7AC}"/>
                </a:ext>
              </a:extLst>
            </p:cNvPr>
            <p:cNvSpPr txBox="1"/>
            <p:nvPr/>
          </p:nvSpPr>
          <p:spPr>
            <a:xfrm>
              <a:off x="1395019" y="1260340"/>
              <a:ext cx="1314941" cy="215444"/>
            </a:xfrm>
            <a:prstGeom prst="rect">
              <a:avLst/>
            </a:prstGeom>
            <a:noFill/>
          </p:spPr>
          <p:txBody>
            <a:bodyPr wrap="square" rtlCol="0">
              <a:spAutoFit/>
            </a:bodyPr>
            <a:lstStyle/>
            <a:p>
              <a:r>
                <a:rPr lang="en-GB" sz="800" dirty="0">
                  <a:solidFill>
                    <a:srgbClr val="1042D3"/>
                  </a:solidFill>
                </a:rPr>
                <a:t>Conditions of use</a:t>
              </a:r>
              <a:endParaRPr lang="en-GB" sz="1100" dirty="0">
                <a:solidFill>
                  <a:srgbClr val="1042D3"/>
                </a:solidFill>
              </a:endParaRPr>
            </a:p>
          </p:txBody>
        </p:sp>
      </p:grpSp>
      <p:grpSp>
        <p:nvGrpSpPr>
          <p:cNvPr id="28" name="Group 27">
            <a:extLst>
              <a:ext uri="{FF2B5EF4-FFF2-40B4-BE49-F238E27FC236}">
                <a16:creationId xmlns:a16="http://schemas.microsoft.com/office/drawing/2014/main" id="{2C436F03-64D0-8F11-E9F1-BD019CBF0F9E}"/>
              </a:ext>
            </a:extLst>
          </p:cNvPr>
          <p:cNvGrpSpPr/>
          <p:nvPr/>
        </p:nvGrpSpPr>
        <p:grpSpPr>
          <a:xfrm>
            <a:off x="1632900" y="6220263"/>
            <a:ext cx="3153167" cy="521732"/>
            <a:chOff x="1388353" y="1260340"/>
            <a:chExt cx="3153167" cy="521732"/>
          </a:xfrm>
        </p:grpSpPr>
        <p:sp>
          <p:nvSpPr>
            <p:cNvPr id="29" name="TextBox 28">
              <a:extLst>
                <a:ext uri="{FF2B5EF4-FFF2-40B4-BE49-F238E27FC236}">
                  <a16:creationId xmlns:a16="http://schemas.microsoft.com/office/drawing/2014/main" id="{F150F944-9866-7D44-F01A-7857F24E4F4F}"/>
                </a:ext>
              </a:extLst>
            </p:cNvPr>
            <p:cNvSpPr txBox="1"/>
            <p:nvPr/>
          </p:nvSpPr>
          <p:spPr>
            <a:xfrm>
              <a:off x="1388353" y="1412740"/>
              <a:ext cx="3153167" cy="369332"/>
            </a:xfrm>
            <a:prstGeom prst="rect">
              <a:avLst/>
            </a:prstGeom>
            <a:noFill/>
          </p:spPr>
          <p:txBody>
            <a:bodyPr wrap="square" rtlCol="0">
              <a:spAutoFit/>
            </a:bodyPr>
            <a:lstStyle/>
            <a:p>
              <a:r>
                <a:rPr lang="en-GB"/>
                <a:t>Citation</a:t>
              </a:r>
            </a:p>
          </p:txBody>
        </p:sp>
        <p:sp>
          <p:nvSpPr>
            <p:cNvPr id="30" name="Rectangle 29">
              <a:extLst>
                <a:ext uri="{FF2B5EF4-FFF2-40B4-BE49-F238E27FC236}">
                  <a16:creationId xmlns:a16="http://schemas.microsoft.com/office/drawing/2014/main" id="{8EBB8999-D006-6E8A-B64E-61EDC0D6148D}"/>
                </a:ext>
              </a:extLst>
            </p:cNvPr>
            <p:cNvSpPr/>
            <p:nvPr/>
          </p:nvSpPr>
          <p:spPr>
            <a:xfrm>
              <a:off x="1413753" y="1285240"/>
              <a:ext cx="2616670" cy="470658"/>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cxnSp>
          <p:nvCxnSpPr>
            <p:cNvPr id="31" name="Straight Connector 30">
              <a:extLst>
                <a:ext uri="{FF2B5EF4-FFF2-40B4-BE49-F238E27FC236}">
                  <a16:creationId xmlns:a16="http://schemas.microsoft.com/office/drawing/2014/main" id="{BA71320B-2D4E-E0CD-B6DE-976224659438}"/>
                </a:ext>
              </a:extLst>
            </p:cNvPr>
            <p:cNvCxnSpPr>
              <a:cxnSpLocks/>
            </p:cNvCxnSpPr>
            <p:nvPr/>
          </p:nvCxnSpPr>
          <p:spPr>
            <a:xfrm>
              <a:off x="1420139" y="1448115"/>
              <a:ext cx="2610284" cy="0"/>
            </a:xfrm>
            <a:prstGeom prst="line">
              <a:avLst/>
            </a:prstGeom>
          </p:spPr>
          <p:style>
            <a:lnRef idx="1">
              <a:schemeClr val="dk1"/>
            </a:lnRef>
            <a:fillRef idx="0">
              <a:schemeClr val="dk1"/>
            </a:fillRef>
            <a:effectRef idx="0">
              <a:schemeClr val="dk1"/>
            </a:effectRef>
            <a:fontRef idx="minor">
              <a:schemeClr val="tx1"/>
            </a:fontRef>
          </p:style>
        </p:cxnSp>
        <p:sp>
          <p:nvSpPr>
            <p:cNvPr id="32" name="TextBox 31">
              <a:extLst>
                <a:ext uri="{FF2B5EF4-FFF2-40B4-BE49-F238E27FC236}">
                  <a16:creationId xmlns:a16="http://schemas.microsoft.com/office/drawing/2014/main" id="{61A13824-0595-173F-10B0-17A2878856D6}"/>
                </a:ext>
              </a:extLst>
            </p:cNvPr>
            <p:cNvSpPr txBox="1"/>
            <p:nvPr/>
          </p:nvSpPr>
          <p:spPr>
            <a:xfrm>
              <a:off x="1395019" y="1260340"/>
              <a:ext cx="1314941" cy="215444"/>
            </a:xfrm>
            <a:prstGeom prst="rect">
              <a:avLst/>
            </a:prstGeom>
            <a:noFill/>
          </p:spPr>
          <p:txBody>
            <a:bodyPr wrap="square" rtlCol="0">
              <a:spAutoFit/>
            </a:bodyPr>
            <a:lstStyle/>
            <a:p>
              <a:r>
                <a:rPr lang="en-GB" sz="800" dirty="0">
                  <a:solidFill>
                    <a:srgbClr val="1042D3"/>
                  </a:solidFill>
                </a:rPr>
                <a:t>How to attribute</a:t>
              </a:r>
              <a:endParaRPr lang="en-GB" sz="1100" dirty="0">
                <a:solidFill>
                  <a:srgbClr val="1042D3"/>
                </a:solidFill>
              </a:endParaRPr>
            </a:p>
          </p:txBody>
        </p:sp>
      </p:grpSp>
      <p:sp>
        <p:nvSpPr>
          <p:cNvPr id="36" name="Rectangle: Rounded Corners 35">
            <a:extLst>
              <a:ext uri="{FF2B5EF4-FFF2-40B4-BE49-F238E27FC236}">
                <a16:creationId xmlns:a16="http://schemas.microsoft.com/office/drawing/2014/main" id="{BF5ED93F-7440-AE98-A25E-6E29936A2EB6}"/>
              </a:ext>
            </a:extLst>
          </p:cNvPr>
          <p:cNvSpPr/>
          <p:nvPr/>
        </p:nvSpPr>
        <p:spPr>
          <a:xfrm>
            <a:off x="4953000" y="1594700"/>
            <a:ext cx="2492444" cy="4628885"/>
          </a:xfrm>
          <a:prstGeom prst="roundRect">
            <a:avLst>
              <a:gd name="adj" fmla="val 2604"/>
            </a:avLst>
          </a:prstGeom>
          <a:solidFill>
            <a:schemeClr val="bg1"/>
          </a:solidFill>
          <a:ln w="28575">
            <a:solidFill>
              <a:srgbClr val="1849D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37" name="Picture 36">
            <a:extLst>
              <a:ext uri="{FF2B5EF4-FFF2-40B4-BE49-F238E27FC236}">
                <a16:creationId xmlns:a16="http://schemas.microsoft.com/office/drawing/2014/main" id="{BB5547C3-3197-0E20-6837-3CD8EBD64567}"/>
              </a:ext>
            </a:extLst>
          </p:cNvPr>
          <p:cNvPicPr>
            <a:picLocks noChangeAspect="1"/>
          </p:cNvPicPr>
          <p:nvPr/>
        </p:nvPicPr>
        <p:blipFill>
          <a:blip r:embed="rId6"/>
          <a:stretch>
            <a:fillRect/>
          </a:stretch>
        </p:blipFill>
        <p:spPr>
          <a:xfrm>
            <a:off x="6539586" y="1283078"/>
            <a:ext cx="664522" cy="674004"/>
          </a:xfrm>
          <a:prstGeom prst="rect">
            <a:avLst/>
          </a:prstGeom>
        </p:spPr>
      </p:pic>
      <p:sp>
        <p:nvSpPr>
          <p:cNvPr id="130" name="TextBox 129">
            <a:extLst>
              <a:ext uri="{FF2B5EF4-FFF2-40B4-BE49-F238E27FC236}">
                <a16:creationId xmlns:a16="http://schemas.microsoft.com/office/drawing/2014/main" id="{84F15D65-EC93-1340-C151-37FA2BA21818}"/>
              </a:ext>
            </a:extLst>
          </p:cNvPr>
          <p:cNvSpPr txBox="1"/>
          <p:nvPr/>
        </p:nvSpPr>
        <p:spPr>
          <a:xfrm>
            <a:off x="4667678" y="1594700"/>
            <a:ext cx="1541452" cy="369332"/>
          </a:xfrm>
          <a:prstGeom prst="rect">
            <a:avLst/>
          </a:prstGeom>
          <a:noFill/>
        </p:spPr>
        <p:txBody>
          <a:bodyPr wrap="square">
            <a:spAutoFit/>
          </a:bodyPr>
          <a:lstStyle/>
          <a:p>
            <a:pPr algn="r"/>
            <a:r>
              <a:rPr lang="en-US" b="1" dirty="0">
                <a:solidFill>
                  <a:srgbClr val="1042D3"/>
                </a:solidFill>
              </a:rPr>
              <a:t>WIS2 Node</a:t>
            </a:r>
            <a:endParaRPr lang="en-CH" b="1" dirty="0">
              <a:solidFill>
                <a:srgbClr val="1042D3"/>
              </a:solidFill>
            </a:endParaRPr>
          </a:p>
        </p:txBody>
      </p:sp>
      <p:grpSp>
        <p:nvGrpSpPr>
          <p:cNvPr id="136" name="Group 135">
            <a:extLst>
              <a:ext uri="{FF2B5EF4-FFF2-40B4-BE49-F238E27FC236}">
                <a16:creationId xmlns:a16="http://schemas.microsoft.com/office/drawing/2014/main" id="{DF853365-44E3-1DAF-6B76-F1D3E6DD6893}"/>
              </a:ext>
            </a:extLst>
          </p:cNvPr>
          <p:cNvGrpSpPr/>
          <p:nvPr/>
        </p:nvGrpSpPr>
        <p:grpSpPr>
          <a:xfrm>
            <a:off x="7869417" y="4257120"/>
            <a:ext cx="854768" cy="1115657"/>
            <a:chOff x="5763630" y="5642167"/>
            <a:chExt cx="854768" cy="1115657"/>
          </a:xfrm>
        </p:grpSpPr>
        <p:grpSp>
          <p:nvGrpSpPr>
            <p:cNvPr id="137" name="Group 136">
              <a:extLst>
                <a:ext uri="{FF2B5EF4-FFF2-40B4-BE49-F238E27FC236}">
                  <a16:creationId xmlns:a16="http://schemas.microsoft.com/office/drawing/2014/main" id="{98640127-F69D-DE8B-B06F-B0C83268E905}"/>
                </a:ext>
              </a:extLst>
            </p:cNvPr>
            <p:cNvGrpSpPr/>
            <p:nvPr/>
          </p:nvGrpSpPr>
          <p:grpSpPr>
            <a:xfrm>
              <a:off x="5763630" y="5662743"/>
              <a:ext cx="853119" cy="1095081"/>
              <a:chOff x="6469911" y="573024"/>
              <a:chExt cx="853119" cy="1095081"/>
            </a:xfrm>
          </p:grpSpPr>
          <p:sp>
            <p:nvSpPr>
              <p:cNvPr id="139" name="Rectangle: Rounded Corners 138">
                <a:extLst>
                  <a:ext uri="{FF2B5EF4-FFF2-40B4-BE49-F238E27FC236}">
                    <a16:creationId xmlns:a16="http://schemas.microsoft.com/office/drawing/2014/main" id="{9AEF799D-2AA6-60BE-E1C1-960633D239CC}"/>
                  </a:ext>
                </a:extLst>
              </p:cNvPr>
              <p:cNvSpPr/>
              <p:nvPr/>
            </p:nvSpPr>
            <p:spPr>
              <a:xfrm>
                <a:off x="6510528" y="573024"/>
                <a:ext cx="768096" cy="1072896"/>
              </a:xfrm>
              <a:prstGeom prst="roundRect">
                <a:avLst>
                  <a:gd name="adj" fmla="val 7545"/>
                </a:avLst>
              </a:prstGeom>
              <a:solidFill>
                <a:sysClr val="window" lastClr="FFFFFF"/>
              </a:solidFill>
              <a:ln w="12700" cap="flat" cmpd="sng" algn="ctr">
                <a:solidFill>
                  <a:sysClr val="windowText" lastClr="000000"/>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140" name="Rectangle 139">
                <a:extLst>
                  <a:ext uri="{FF2B5EF4-FFF2-40B4-BE49-F238E27FC236}">
                    <a16:creationId xmlns:a16="http://schemas.microsoft.com/office/drawing/2014/main" id="{CD9BDC74-45F2-B4E6-AE55-485F8EE19D26}"/>
                  </a:ext>
                </a:extLst>
              </p:cNvPr>
              <p:cNvSpPr/>
              <p:nvPr/>
            </p:nvSpPr>
            <p:spPr>
              <a:xfrm>
                <a:off x="7005356" y="573024"/>
                <a:ext cx="273268" cy="273268"/>
              </a:xfrm>
              <a:prstGeom prst="rect">
                <a:avLst/>
              </a:prstGeom>
              <a:solidFill>
                <a:sysClr val="window" lastClr="FFFFFF"/>
              </a:solidFill>
              <a:ln w="12700" cap="flat" cmpd="sng" algn="ctr">
                <a:solidFill>
                  <a:sysClr val="window" lastClr="FFFFFF"/>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141" name="Isosceles Triangle 140">
                <a:extLst>
                  <a:ext uri="{FF2B5EF4-FFF2-40B4-BE49-F238E27FC236}">
                    <a16:creationId xmlns:a16="http://schemas.microsoft.com/office/drawing/2014/main" id="{F72C3682-4D20-C8CD-EC39-75E0DE3F6417}"/>
                  </a:ext>
                </a:extLst>
              </p:cNvPr>
              <p:cNvSpPr/>
              <p:nvPr/>
            </p:nvSpPr>
            <p:spPr>
              <a:xfrm rot="5400000">
                <a:off x="6999566" y="578811"/>
                <a:ext cx="273269" cy="273270"/>
              </a:xfrm>
              <a:prstGeom prst="triangle">
                <a:avLst>
                  <a:gd name="adj" fmla="val 100000"/>
                </a:avLst>
              </a:prstGeom>
              <a:solidFill>
                <a:sysClr val="window" lastClr="FFFFFF"/>
              </a:solidFill>
              <a:ln w="12700" cap="rnd" cmpd="sng" algn="ctr">
                <a:solidFill>
                  <a:sysClr val="windowText" lastClr="000000"/>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prstClr val="white"/>
                  </a:solidFill>
                  <a:effectLst/>
                  <a:uLnTx/>
                  <a:uFillTx/>
                  <a:latin typeface="Calibri" panose="020F0502020204030204"/>
                  <a:ea typeface="+mn-ea"/>
                  <a:cs typeface="+mn-cs"/>
                </a:endParaRPr>
              </a:p>
            </p:txBody>
          </p:sp>
          <p:cxnSp>
            <p:nvCxnSpPr>
              <p:cNvPr id="142" name="Straight Connector 141">
                <a:extLst>
                  <a:ext uri="{FF2B5EF4-FFF2-40B4-BE49-F238E27FC236}">
                    <a16:creationId xmlns:a16="http://schemas.microsoft.com/office/drawing/2014/main" id="{A9725A4D-68BF-2CF8-2C5B-07F2F70F1E10}"/>
                  </a:ext>
                </a:extLst>
              </p:cNvPr>
              <p:cNvCxnSpPr/>
              <p:nvPr/>
            </p:nvCxnSpPr>
            <p:spPr>
              <a:xfrm>
                <a:off x="6510528" y="1427544"/>
                <a:ext cx="762308" cy="0"/>
              </a:xfrm>
              <a:prstGeom prst="line">
                <a:avLst/>
              </a:prstGeom>
              <a:noFill/>
              <a:ln w="12700" cap="flat" cmpd="sng" algn="ctr">
                <a:solidFill>
                  <a:sysClr val="windowText" lastClr="000000"/>
                </a:solidFill>
                <a:prstDash val="solid"/>
                <a:miter lim="800000"/>
              </a:ln>
              <a:effectLst/>
            </p:spPr>
          </p:cxnSp>
          <p:sp>
            <p:nvSpPr>
              <p:cNvPr id="143" name="TextBox 142">
                <a:extLst>
                  <a:ext uri="{FF2B5EF4-FFF2-40B4-BE49-F238E27FC236}">
                    <a16:creationId xmlns:a16="http://schemas.microsoft.com/office/drawing/2014/main" id="{7D5D1EC2-F22F-BEE3-8761-862926C26F5D}"/>
                  </a:ext>
                </a:extLst>
              </p:cNvPr>
              <p:cNvSpPr txBox="1"/>
              <p:nvPr/>
            </p:nvSpPr>
            <p:spPr>
              <a:xfrm>
                <a:off x="6610996" y="1406495"/>
                <a:ext cx="561372" cy="26161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100" b="0" i="0" u="none" strike="noStrike" kern="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JSON</a:t>
                </a:r>
              </a:p>
            </p:txBody>
          </p:sp>
          <p:sp>
            <p:nvSpPr>
              <p:cNvPr id="144" name="TextBox 143">
                <a:extLst>
                  <a:ext uri="{FF2B5EF4-FFF2-40B4-BE49-F238E27FC236}">
                    <a16:creationId xmlns:a16="http://schemas.microsoft.com/office/drawing/2014/main" id="{1A049607-7A41-9D85-57F3-706EDD7CF8EF}"/>
                  </a:ext>
                </a:extLst>
              </p:cNvPr>
              <p:cNvSpPr txBox="1"/>
              <p:nvPr/>
            </p:nvSpPr>
            <p:spPr>
              <a:xfrm>
                <a:off x="6469911" y="909189"/>
                <a:ext cx="853119" cy="307777"/>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400" b="1" i="0" u="none" strike="noStrike" kern="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WCMP2</a:t>
                </a:r>
                <a:endParaRPr kumimoji="0" lang="en-GB" sz="1600" b="1" i="0" u="none" strike="noStrike" kern="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p:txBody>
          </p:sp>
        </p:grpSp>
        <p:sp>
          <p:nvSpPr>
            <p:cNvPr id="138" name="Isosceles Triangle 137">
              <a:extLst>
                <a:ext uri="{FF2B5EF4-FFF2-40B4-BE49-F238E27FC236}">
                  <a16:creationId xmlns:a16="http://schemas.microsoft.com/office/drawing/2014/main" id="{1394A912-0EFE-4926-2237-F1736F84C86F}"/>
                </a:ext>
              </a:extLst>
            </p:cNvPr>
            <p:cNvSpPr/>
            <p:nvPr/>
          </p:nvSpPr>
          <p:spPr>
            <a:xfrm rot="10800000">
              <a:off x="6297962" y="5642167"/>
              <a:ext cx="320436" cy="315980"/>
            </a:xfrm>
            <a:prstGeom prst="triangle">
              <a:avLst>
                <a:gd name="adj" fmla="val 0"/>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grpSp>
        <p:nvGrpSpPr>
          <p:cNvPr id="151" name="Group 150">
            <a:extLst>
              <a:ext uri="{FF2B5EF4-FFF2-40B4-BE49-F238E27FC236}">
                <a16:creationId xmlns:a16="http://schemas.microsoft.com/office/drawing/2014/main" id="{F906423B-9964-00BE-9624-3A66D64DB474}"/>
              </a:ext>
            </a:extLst>
          </p:cNvPr>
          <p:cNvGrpSpPr/>
          <p:nvPr/>
        </p:nvGrpSpPr>
        <p:grpSpPr>
          <a:xfrm>
            <a:off x="10769631" y="4212565"/>
            <a:ext cx="1244600" cy="835199"/>
            <a:chOff x="10144760" y="5009438"/>
            <a:chExt cx="1244600" cy="835199"/>
          </a:xfrm>
        </p:grpSpPr>
        <p:sp>
          <p:nvSpPr>
            <p:cNvPr id="152" name="Rectangle: Rounded Corners 151">
              <a:extLst>
                <a:ext uri="{FF2B5EF4-FFF2-40B4-BE49-F238E27FC236}">
                  <a16:creationId xmlns:a16="http://schemas.microsoft.com/office/drawing/2014/main" id="{E95D11C6-4C68-1BD5-B6FC-A803CC31032B}"/>
                </a:ext>
              </a:extLst>
            </p:cNvPr>
            <p:cNvSpPr/>
            <p:nvPr/>
          </p:nvSpPr>
          <p:spPr>
            <a:xfrm>
              <a:off x="10144760" y="5009438"/>
              <a:ext cx="1244600" cy="835199"/>
            </a:xfrm>
            <a:prstGeom prst="roundRect">
              <a:avLst>
                <a:gd name="adj" fmla="val 8760"/>
              </a:avLst>
            </a:prstGeom>
            <a:solidFill>
              <a:schemeClr val="bg1"/>
            </a:solidFill>
            <a:ln w="19050">
              <a:solidFill>
                <a:schemeClr val="bg1">
                  <a:lumMod val="50000"/>
                </a:schemeClr>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53" name="TextBox 152">
              <a:extLst>
                <a:ext uri="{FF2B5EF4-FFF2-40B4-BE49-F238E27FC236}">
                  <a16:creationId xmlns:a16="http://schemas.microsoft.com/office/drawing/2014/main" id="{45263567-1058-82B9-6FC5-DE5C43B28028}"/>
                </a:ext>
              </a:extLst>
            </p:cNvPr>
            <p:cNvSpPr txBox="1"/>
            <p:nvPr/>
          </p:nvSpPr>
          <p:spPr>
            <a:xfrm>
              <a:off x="10177463" y="5030687"/>
              <a:ext cx="1179193" cy="276999"/>
            </a:xfrm>
            <a:prstGeom prst="rect">
              <a:avLst/>
            </a:prstGeom>
            <a:noFill/>
          </p:spPr>
          <p:txBody>
            <a:bodyPr wrap="square" rtlCol="0">
              <a:spAutoFit/>
            </a:bodyPr>
            <a:lstStyle/>
            <a:p>
              <a:pPr algn="ctr"/>
              <a:r>
                <a:rPr lang="en-GB" sz="1200" dirty="0">
                  <a:solidFill>
                    <a:schemeClr val="bg1">
                      <a:lumMod val="50000"/>
                    </a:schemeClr>
                  </a:solidFill>
                </a:rPr>
                <a:t>search engines</a:t>
              </a:r>
            </a:p>
          </p:txBody>
        </p:sp>
        <p:pic>
          <p:nvPicPr>
            <p:cNvPr id="154" name="Picture 153">
              <a:extLst>
                <a:ext uri="{FF2B5EF4-FFF2-40B4-BE49-F238E27FC236}">
                  <a16:creationId xmlns:a16="http://schemas.microsoft.com/office/drawing/2014/main" id="{E0434576-2881-69DA-7537-D27E84CBA79E}"/>
                </a:ext>
              </a:extLst>
            </p:cNvPr>
            <p:cNvPicPr>
              <a:picLocks noChangeAspect="1"/>
            </p:cNvPicPr>
            <p:nvPr/>
          </p:nvPicPr>
          <p:blipFill>
            <a:blip r:embed="rId7"/>
            <a:stretch>
              <a:fillRect/>
            </a:stretch>
          </p:blipFill>
          <p:spPr>
            <a:xfrm>
              <a:off x="10209233" y="5247044"/>
              <a:ext cx="577379" cy="577379"/>
            </a:xfrm>
            <a:prstGeom prst="rect">
              <a:avLst/>
            </a:prstGeom>
          </p:spPr>
        </p:pic>
        <p:pic>
          <p:nvPicPr>
            <p:cNvPr id="155" name="Picture 154">
              <a:extLst>
                <a:ext uri="{FF2B5EF4-FFF2-40B4-BE49-F238E27FC236}">
                  <a16:creationId xmlns:a16="http://schemas.microsoft.com/office/drawing/2014/main" id="{30480467-3594-850D-88AA-8774D49E3FA7}"/>
                </a:ext>
              </a:extLst>
            </p:cNvPr>
            <p:cNvPicPr>
              <a:picLocks noChangeAspect="1"/>
            </p:cNvPicPr>
            <p:nvPr/>
          </p:nvPicPr>
          <p:blipFill rotWithShape="1">
            <a:blip r:embed="rId8"/>
            <a:srcRect l="24208" t="9771" r="24075" b="11546"/>
            <a:stretch/>
          </p:blipFill>
          <p:spPr>
            <a:xfrm>
              <a:off x="10818382" y="5253082"/>
              <a:ext cx="477520" cy="544883"/>
            </a:xfrm>
            <a:prstGeom prst="rect">
              <a:avLst/>
            </a:prstGeom>
          </p:spPr>
        </p:pic>
      </p:grpSp>
      <p:pic>
        <p:nvPicPr>
          <p:cNvPr id="162" name="Picture 161">
            <a:extLst>
              <a:ext uri="{FF2B5EF4-FFF2-40B4-BE49-F238E27FC236}">
                <a16:creationId xmlns:a16="http://schemas.microsoft.com/office/drawing/2014/main" id="{50DDFDF1-73A9-54A8-4C88-B8ABCE143F25}"/>
              </a:ext>
            </a:extLst>
          </p:cNvPr>
          <p:cNvPicPr>
            <a:picLocks noChangeAspect="1"/>
          </p:cNvPicPr>
          <p:nvPr/>
        </p:nvPicPr>
        <p:blipFill>
          <a:blip r:embed="rId9"/>
          <a:stretch>
            <a:fillRect/>
          </a:stretch>
        </p:blipFill>
        <p:spPr>
          <a:xfrm>
            <a:off x="10692083" y="2774254"/>
            <a:ext cx="970364" cy="1164438"/>
          </a:xfrm>
          <a:prstGeom prst="rect">
            <a:avLst/>
          </a:prstGeom>
        </p:spPr>
      </p:pic>
      <p:grpSp>
        <p:nvGrpSpPr>
          <p:cNvPr id="164" name="Group 163">
            <a:extLst>
              <a:ext uri="{FF2B5EF4-FFF2-40B4-BE49-F238E27FC236}">
                <a16:creationId xmlns:a16="http://schemas.microsoft.com/office/drawing/2014/main" id="{4DE3F099-E10D-02F8-1BAD-3E925C53FCBF}"/>
              </a:ext>
            </a:extLst>
          </p:cNvPr>
          <p:cNvGrpSpPr/>
          <p:nvPr/>
        </p:nvGrpSpPr>
        <p:grpSpPr>
          <a:xfrm>
            <a:off x="8037571" y="848960"/>
            <a:ext cx="3612806" cy="2585323"/>
            <a:chOff x="8557624" y="1590374"/>
            <a:chExt cx="3612806" cy="2585323"/>
          </a:xfrm>
        </p:grpSpPr>
        <p:pic>
          <p:nvPicPr>
            <p:cNvPr id="165" name="Picture 164">
              <a:extLst>
                <a:ext uri="{FF2B5EF4-FFF2-40B4-BE49-F238E27FC236}">
                  <a16:creationId xmlns:a16="http://schemas.microsoft.com/office/drawing/2014/main" id="{6BCF9696-099D-4FA8-5B0C-4BDB11B6CBF8}"/>
                </a:ext>
              </a:extLst>
            </p:cNvPr>
            <p:cNvPicPr>
              <a:picLocks noChangeAspect="1"/>
            </p:cNvPicPr>
            <p:nvPr/>
          </p:nvPicPr>
          <p:blipFill>
            <a:blip r:embed="rId5"/>
            <a:stretch>
              <a:fillRect/>
            </a:stretch>
          </p:blipFill>
          <p:spPr>
            <a:xfrm flipH="1">
              <a:off x="8557624" y="1611391"/>
              <a:ext cx="637779" cy="688861"/>
            </a:xfrm>
            <a:prstGeom prst="rect">
              <a:avLst/>
            </a:prstGeom>
          </p:spPr>
        </p:pic>
        <p:sp>
          <p:nvSpPr>
            <p:cNvPr id="166" name="TextBox 165">
              <a:extLst>
                <a:ext uri="{FF2B5EF4-FFF2-40B4-BE49-F238E27FC236}">
                  <a16:creationId xmlns:a16="http://schemas.microsoft.com/office/drawing/2014/main" id="{EAC0649D-8EFF-0B39-F2C2-30DD27CCBB80}"/>
                </a:ext>
              </a:extLst>
            </p:cNvPr>
            <p:cNvSpPr txBox="1"/>
            <p:nvPr/>
          </p:nvSpPr>
          <p:spPr>
            <a:xfrm>
              <a:off x="9127789" y="1590374"/>
              <a:ext cx="3042641" cy="2585323"/>
            </a:xfrm>
            <a:prstGeom prst="rect">
              <a:avLst/>
            </a:prstGeom>
            <a:noFill/>
          </p:spPr>
          <p:txBody>
            <a:bodyPr wrap="square" rtlCol="0">
              <a:spAutoFit/>
            </a:bodyPr>
            <a:lstStyle/>
            <a:p>
              <a:r>
                <a:rPr lang="en-GB" dirty="0"/>
                <a:t>That’s great. I can find the description of your Dataset.</a:t>
              </a:r>
            </a:p>
            <a:p>
              <a:r>
                <a:rPr lang="en-GB" dirty="0"/>
                <a:t>I can understand </a:t>
              </a:r>
              <a:r>
                <a:rPr lang="en-GB" b="1" dirty="0"/>
                <a:t>what it contains</a:t>
              </a:r>
              <a:r>
                <a:rPr lang="en-GB" dirty="0"/>
                <a:t> and </a:t>
              </a:r>
              <a:r>
                <a:rPr lang="en-GB" b="1" dirty="0"/>
                <a:t>how to access</a:t>
              </a:r>
              <a:r>
                <a:rPr lang="en-GB" dirty="0"/>
                <a:t> it. The </a:t>
              </a:r>
              <a:r>
                <a:rPr lang="en-GB" b="1" dirty="0"/>
                <a:t>conditions of use</a:t>
              </a:r>
              <a:r>
                <a:rPr lang="en-GB" dirty="0"/>
                <a:t> are clear, and I see how I can </a:t>
              </a:r>
              <a:r>
                <a:rPr lang="en-GB" b="1" dirty="0"/>
                <a:t>attribute</a:t>
              </a:r>
              <a:r>
                <a:rPr lang="en-GB" dirty="0"/>
                <a:t> you as the source of the data !</a:t>
              </a:r>
            </a:p>
            <a:p>
              <a:endParaRPr lang="en-GB" dirty="0"/>
            </a:p>
          </p:txBody>
        </p:sp>
      </p:grpSp>
      <p:sp>
        <p:nvSpPr>
          <p:cNvPr id="179" name="Oval 178">
            <a:extLst>
              <a:ext uri="{FF2B5EF4-FFF2-40B4-BE49-F238E27FC236}">
                <a16:creationId xmlns:a16="http://schemas.microsoft.com/office/drawing/2014/main" id="{957FFCAF-BCB5-84D3-43C0-B0984E896206}"/>
              </a:ext>
            </a:extLst>
          </p:cNvPr>
          <p:cNvSpPr/>
          <p:nvPr/>
        </p:nvSpPr>
        <p:spPr>
          <a:xfrm>
            <a:off x="9077952" y="3636564"/>
            <a:ext cx="926187" cy="914400"/>
          </a:xfrm>
          <a:prstGeom prst="ellipse">
            <a:avLst/>
          </a:prstGeom>
          <a:solidFill>
            <a:schemeClr val="accent3">
              <a:lumMod val="40000"/>
              <a:lumOff val="60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CH" sz="1800" b="0" i="0" u="none" strike="noStrike" kern="1200" cap="none" spc="0" normalizeH="0" baseline="0" noProof="0" dirty="0">
              <a:ln>
                <a:noFill/>
              </a:ln>
              <a:solidFill>
                <a:prstClr val="white"/>
              </a:solidFill>
              <a:effectLst/>
              <a:uLnTx/>
              <a:uFillTx/>
              <a:latin typeface="Calibri"/>
              <a:ea typeface="+mn-ea"/>
              <a:cs typeface="+mn-cs"/>
            </a:endParaRPr>
          </a:p>
        </p:txBody>
      </p:sp>
      <p:pic>
        <p:nvPicPr>
          <p:cNvPr id="180" name="Graphic 179" descr="Books outline">
            <a:extLst>
              <a:ext uri="{FF2B5EF4-FFF2-40B4-BE49-F238E27FC236}">
                <a16:creationId xmlns:a16="http://schemas.microsoft.com/office/drawing/2014/main" id="{BD0545D8-3DC4-ADE5-44AA-D6F82D6EBA73}"/>
              </a:ext>
            </a:extLst>
          </p:cNvPr>
          <p:cNvPicPr>
            <a:picLocks noChangeAspect="1"/>
          </p:cNvPicPr>
          <p:nvPr/>
        </p:nvPicPr>
        <p:blipFill>
          <a:blip>
            <a:extLst>
              <a:ext uri="{96DAC541-7B7A-43D3-8B79-37D633B846F1}">
                <asvg:svgBlip xmlns:asvg="http://schemas.microsoft.com/office/drawing/2016/SVG/main" r:embed="rId10"/>
              </a:ext>
            </a:extLst>
          </a:blip>
          <a:stretch>
            <a:fillRect/>
          </a:stretch>
        </p:blipFill>
        <p:spPr>
          <a:xfrm>
            <a:off x="9149271" y="3744647"/>
            <a:ext cx="751399" cy="751399"/>
          </a:xfrm>
          <a:prstGeom prst="rect">
            <a:avLst/>
          </a:prstGeom>
        </p:spPr>
      </p:pic>
      <p:cxnSp>
        <p:nvCxnSpPr>
          <p:cNvPr id="185" name="Straight Arrow Connector 184">
            <a:extLst>
              <a:ext uri="{FF2B5EF4-FFF2-40B4-BE49-F238E27FC236}">
                <a16:creationId xmlns:a16="http://schemas.microsoft.com/office/drawing/2014/main" id="{F54A2D22-1684-09C0-4E51-60FAF6357E6D}"/>
              </a:ext>
            </a:extLst>
          </p:cNvPr>
          <p:cNvCxnSpPr/>
          <p:nvPr/>
        </p:nvCxnSpPr>
        <p:spPr>
          <a:xfrm>
            <a:off x="7460852" y="4151116"/>
            <a:ext cx="1389368" cy="0"/>
          </a:xfrm>
          <a:prstGeom prst="straightConnector1">
            <a:avLst/>
          </a:prstGeom>
          <a:ln>
            <a:solidFill>
              <a:srgbClr val="E6B9B8"/>
            </a:solidFill>
            <a:tailEnd type="triangle"/>
          </a:ln>
        </p:spPr>
        <p:style>
          <a:lnRef idx="2">
            <a:schemeClr val="accent1"/>
          </a:lnRef>
          <a:fillRef idx="0">
            <a:schemeClr val="accent1"/>
          </a:fillRef>
          <a:effectRef idx="1">
            <a:schemeClr val="accent1"/>
          </a:effectRef>
          <a:fontRef idx="minor">
            <a:schemeClr val="tx1"/>
          </a:fontRef>
        </p:style>
      </p:cxnSp>
      <p:sp>
        <p:nvSpPr>
          <p:cNvPr id="186" name="TextBox 185">
            <a:extLst>
              <a:ext uri="{FF2B5EF4-FFF2-40B4-BE49-F238E27FC236}">
                <a16:creationId xmlns:a16="http://schemas.microsoft.com/office/drawing/2014/main" id="{BA64299A-ACED-B9EF-43C8-C8D10D46F3E7}"/>
              </a:ext>
            </a:extLst>
          </p:cNvPr>
          <p:cNvSpPr txBox="1"/>
          <p:nvPr/>
        </p:nvSpPr>
        <p:spPr>
          <a:xfrm>
            <a:off x="7746205" y="3786375"/>
            <a:ext cx="926188" cy="369332"/>
          </a:xfrm>
          <a:prstGeom prst="rect">
            <a:avLst/>
          </a:prstGeom>
          <a:noFill/>
        </p:spPr>
        <p:txBody>
          <a:bodyPr wrap="square" rtlCol="0">
            <a:spAutoFit/>
          </a:bodyPr>
          <a:lstStyle/>
          <a:p>
            <a:r>
              <a:rPr lang="en-US" dirty="0"/>
              <a:t>publish</a:t>
            </a:r>
            <a:endParaRPr lang="en-CH" dirty="0"/>
          </a:p>
        </p:txBody>
      </p:sp>
      <p:cxnSp>
        <p:nvCxnSpPr>
          <p:cNvPr id="187" name="Straight Arrow Connector 186">
            <a:extLst>
              <a:ext uri="{FF2B5EF4-FFF2-40B4-BE49-F238E27FC236}">
                <a16:creationId xmlns:a16="http://schemas.microsoft.com/office/drawing/2014/main" id="{AFE6F1E9-0D3B-5F20-5397-A68F33618384}"/>
              </a:ext>
            </a:extLst>
          </p:cNvPr>
          <p:cNvCxnSpPr>
            <a:cxnSpLocks/>
            <a:stCxn id="152" idx="1"/>
          </p:cNvCxnSpPr>
          <p:nvPr/>
        </p:nvCxnSpPr>
        <p:spPr>
          <a:xfrm flipH="1">
            <a:off x="10140201" y="4630165"/>
            <a:ext cx="629430" cy="0"/>
          </a:xfrm>
          <a:prstGeom prst="straightConnector1">
            <a:avLst/>
          </a:prstGeom>
          <a:ln>
            <a:solidFill>
              <a:schemeClr val="tx1">
                <a:lumMod val="50000"/>
                <a:lumOff val="50000"/>
              </a:schemeClr>
            </a:solidFill>
            <a:prstDash val="sysDot"/>
            <a:tailEnd type="triangle"/>
          </a:ln>
        </p:spPr>
        <p:style>
          <a:lnRef idx="2">
            <a:schemeClr val="accent1"/>
          </a:lnRef>
          <a:fillRef idx="0">
            <a:schemeClr val="accent1"/>
          </a:fillRef>
          <a:effectRef idx="1">
            <a:schemeClr val="accent1"/>
          </a:effectRef>
          <a:fontRef idx="minor">
            <a:schemeClr val="tx1"/>
          </a:fontRef>
        </p:style>
      </p:cxnSp>
      <p:sp>
        <p:nvSpPr>
          <p:cNvPr id="193" name="TextBox 192">
            <a:extLst>
              <a:ext uri="{FF2B5EF4-FFF2-40B4-BE49-F238E27FC236}">
                <a16:creationId xmlns:a16="http://schemas.microsoft.com/office/drawing/2014/main" id="{1E5A1DA0-5814-3090-C165-69F904B547D8}"/>
              </a:ext>
            </a:extLst>
          </p:cNvPr>
          <p:cNvSpPr txBox="1"/>
          <p:nvPr/>
        </p:nvSpPr>
        <p:spPr>
          <a:xfrm>
            <a:off x="10244414" y="4411241"/>
            <a:ext cx="525217" cy="261610"/>
          </a:xfrm>
          <a:prstGeom prst="rect">
            <a:avLst/>
          </a:prstGeom>
          <a:noFill/>
        </p:spPr>
        <p:txBody>
          <a:bodyPr wrap="square" rtlCol="0">
            <a:spAutoFit/>
          </a:bodyPr>
          <a:lstStyle/>
          <a:p>
            <a:r>
              <a:rPr lang="en-US" sz="1100" b="1" dirty="0">
                <a:solidFill>
                  <a:schemeClr val="tx1">
                    <a:lumMod val="50000"/>
                    <a:lumOff val="50000"/>
                  </a:schemeClr>
                </a:solidFill>
              </a:rPr>
              <a:t>index</a:t>
            </a:r>
            <a:endParaRPr lang="en-CH" sz="1100" b="1" dirty="0">
              <a:solidFill>
                <a:schemeClr val="tx1">
                  <a:lumMod val="50000"/>
                  <a:lumOff val="50000"/>
                </a:schemeClr>
              </a:solidFill>
            </a:endParaRPr>
          </a:p>
        </p:txBody>
      </p:sp>
      <p:sp>
        <p:nvSpPr>
          <p:cNvPr id="34" name="Rectangle 33">
            <a:extLst>
              <a:ext uri="{FF2B5EF4-FFF2-40B4-BE49-F238E27FC236}">
                <a16:creationId xmlns:a16="http://schemas.microsoft.com/office/drawing/2014/main" id="{861B8259-8CD3-B2A6-D51D-D08A3E37BEE4}"/>
              </a:ext>
            </a:extLst>
          </p:cNvPr>
          <p:cNvSpPr/>
          <p:nvPr/>
        </p:nvSpPr>
        <p:spPr>
          <a:xfrm>
            <a:off x="5220073" y="2217395"/>
            <a:ext cx="1206500" cy="1189567"/>
          </a:xfrm>
          <a:prstGeom prst="rect">
            <a:avLst/>
          </a:prstGeom>
          <a:solidFill>
            <a:sysClr val="window" lastClr="FFFFFF"/>
          </a:solidFill>
          <a:ln w="28575" cap="flat" cmpd="sng" algn="ctr">
            <a:solidFill>
              <a:sysClr val="windowText" lastClr="000000"/>
            </a:solidFill>
            <a:prstDash val="solid"/>
            <a:miter lim="800000"/>
          </a:ln>
          <a:effectLst/>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prstClr val="white"/>
              </a:solidFill>
              <a:effectLst/>
              <a:uLnTx/>
              <a:uFillTx/>
              <a:latin typeface="Calibri" panose="020F0502020204030204"/>
              <a:ea typeface="+mn-ea"/>
              <a:cs typeface="+mn-cs"/>
            </a:endParaRPr>
          </a:p>
        </p:txBody>
      </p:sp>
      <p:pic>
        <p:nvPicPr>
          <p:cNvPr id="35" name="Picture 34">
            <a:extLst>
              <a:ext uri="{FF2B5EF4-FFF2-40B4-BE49-F238E27FC236}">
                <a16:creationId xmlns:a16="http://schemas.microsoft.com/office/drawing/2014/main" id="{72881DE0-2467-8AB9-3C7E-EF6273921AAE}"/>
              </a:ext>
            </a:extLst>
          </p:cNvPr>
          <p:cNvPicPr>
            <a:picLocks noChangeAspect="1"/>
          </p:cNvPicPr>
          <p:nvPr/>
        </p:nvPicPr>
        <p:blipFill>
          <a:blip r:embed="rId11"/>
          <a:stretch>
            <a:fillRect/>
          </a:stretch>
        </p:blipFill>
        <p:spPr>
          <a:xfrm>
            <a:off x="5357654" y="2356325"/>
            <a:ext cx="312793" cy="455853"/>
          </a:xfrm>
          <a:prstGeom prst="rect">
            <a:avLst/>
          </a:prstGeom>
        </p:spPr>
      </p:pic>
      <p:pic>
        <p:nvPicPr>
          <p:cNvPr id="38" name="Picture 37">
            <a:extLst>
              <a:ext uri="{FF2B5EF4-FFF2-40B4-BE49-F238E27FC236}">
                <a16:creationId xmlns:a16="http://schemas.microsoft.com/office/drawing/2014/main" id="{B2C87223-AF36-EBD4-A21E-82E53F6FE2EA}"/>
              </a:ext>
            </a:extLst>
          </p:cNvPr>
          <p:cNvPicPr>
            <a:picLocks noChangeAspect="1"/>
          </p:cNvPicPr>
          <p:nvPr/>
        </p:nvPicPr>
        <p:blipFill>
          <a:blip r:embed="rId11"/>
          <a:stretch>
            <a:fillRect/>
          </a:stretch>
        </p:blipFill>
        <p:spPr>
          <a:xfrm>
            <a:off x="5735716" y="2356325"/>
            <a:ext cx="312793" cy="455853"/>
          </a:xfrm>
          <a:prstGeom prst="rect">
            <a:avLst/>
          </a:prstGeom>
        </p:spPr>
      </p:pic>
      <p:pic>
        <p:nvPicPr>
          <p:cNvPr id="39" name="Picture 38">
            <a:extLst>
              <a:ext uri="{FF2B5EF4-FFF2-40B4-BE49-F238E27FC236}">
                <a16:creationId xmlns:a16="http://schemas.microsoft.com/office/drawing/2014/main" id="{D5660D5B-840C-7CE2-2F78-81F643265E27}"/>
              </a:ext>
            </a:extLst>
          </p:cNvPr>
          <p:cNvPicPr>
            <a:picLocks noChangeAspect="1"/>
          </p:cNvPicPr>
          <p:nvPr/>
        </p:nvPicPr>
        <p:blipFill>
          <a:blip r:embed="rId11"/>
          <a:stretch>
            <a:fillRect/>
          </a:stretch>
        </p:blipFill>
        <p:spPr>
          <a:xfrm>
            <a:off x="5514050" y="2854799"/>
            <a:ext cx="312793" cy="455853"/>
          </a:xfrm>
          <a:prstGeom prst="rect">
            <a:avLst/>
          </a:prstGeom>
        </p:spPr>
      </p:pic>
      <p:pic>
        <p:nvPicPr>
          <p:cNvPr id="40" name="Picture 39">
            <a:extLst>
              <a:ext uri="{FF2B5EF4-FFF2-40B4-BE49-F238E27FC236}">
                <a16:creationId xmlns:a16="http://schemas.microsoft.com/office/drawing/2014/main" id="{323F7981-92FA-8E21-6BA8-0236AB64A0BC}"/>
              </a:ext>
            </a:extLst>
          </p:cNvPr>
          <p:cNvPicPr>
            <a:picLocks noChangeAspect="1"/>
          </p:cNvPicPr>
          <p:nvPr/>
        </p:nvPicPr>
        <p:blipFill>
          <a:blip r:embed="rId11"/>
          <a:stretch>
            <a:fillRect/>
          </a:stretch>
        </p:blipFill>
        <p:spPr>
          <a:xfrm>
            <a:off x="5892112" y="2854799"/>
            <a:ext cx="312793" cy="455853"/>
          </a:xfrm>
          <a:prstGeom prst="rect">
            <a:avLst/>
          </a:prstGeom>
        </p:spPr>
      </p:pic>
      <p:cxnSp>
        <p:nvCxnSpPr>
          <p:cNvPr id="41" name="Straight Connector 40">
            <a:extLst>
              <a:ext uri="{FF2B5EF4-FFF2-40B4-BE49-F238E27FC236}">
                <a16:creationId xmlns:a16="http://schemas.microsoft.com/office/drawing/2014/main" id="{BDA9DA9E-D450-ED61-7E79-13EFA1015939}"/>
              </a:ext>
            </a:extLst>
          </p:cNvPr>
          <p:cNvCxnSpPr>
            <a:stCxn id="34" idx="3"/>
          </p:cNvCxnSpPr>
          <p:nvPr/>
        </p:nvCxnSpPr>
        <p:spPr>
          <a:xfrm flipV="1">
            <a:off x="6426573" y="2812178"/>
            <a:ext cx="400050" cy="1"/>
          </a:xfrm>
          <a:prstGeom prst="line">
            <a:avLst/>
          </a:prstGeom>
          <a:noFill/>
          <a:ln w="19050" cap="flat" cmpd="sng" algn="ctr">
            <a:solidFill>
              <a:sysClr val="windowText" lastClr="000000"/>
            </a:solidFill>
            <a:prstDash val="solid"/>
            <a:miter lim="800000"/>
          </a:ln>
          <a:effectLst/>
        </p:spPr>
      </p:cxnSp>
      <p:sp>
        <p:nvSpPr>
          <p:cNvPr id="42" name="Oval 41">
            <a:extLst>
              <a:ext uri="{FF2B5EF4-FFF2-40B4-BE49-F238E27FC236}">
                <a16:creationId xmlns:a16="http://schemas.microsoft.com/office/drawing/2014/main" id="{B690FE66-9FAC-7BAE-9BA6-586E1B1FFB6D}"/>
              </a:ext>
            </a:extLst>
          </p:cNvPr>
          <p:cNvSpPr/>
          <p:nvPr/>
        </p:nvSpPr>
        <p:spPr>
          <a:xfrm>
            <a:off x="6834031" y="2748678"/>
            <a:ext cx="127000" cy="127000"/>
          </a:xfrm>
          <a:prstGeom prst="ellipse">
            <a:avLst/>
          </a:prstGeom>
          <a:solidFill>
            <a:sysClr val="window" lastClr="FFFFFF"/>
          </a:solidFill>
          <a:ln w="19050" cap="flat" cmpd="sng" algn="ctr">
            <a:solidFill>
              <a:srgbClr val="4472C4">
                <a:shade val="15000"/>
              </a:srgbClr>
            </a:solidFill>
            <a:prstDash val="solid"/>
            <a:miter lim="800000"/>
          </a:ln>
          <a:effectLst/>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43" name="TextBox 158">
            <a:extLst>
              <a:ext uri="{FF2B5EF4-FFF2-40B4-BE49-F238E27FC236}">
                <a16:creationId xmlns:a16="http://schemas.microsoft.com/office/drawing/2014/main" id="{F6F3A9C3-E0E0-2E5C-2867-E29BE2469A8F}"/>
              </a:ext>
            </a:extLst>
          </p:cNvPr>
          <p:cNvSpPr txBox="1"/>
          <p:nvPr/>
        </p:nvSpPr>
        <p:spPr>
          <a:xfrm>
            <a:off x="6448799" y="2842664"/>
            <a:ext cx="903461" cy="261610"/>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1100" b="0" i="0" u="none" strike="noStrike" kern="0" cap="none" spc="0" normalizeH="0" baseline="0" noProof="0">
                <a:ln>
                  <a:noFill/>
                </a:ln>
                <a:solidFill>
                  <a:prstClr val="black"/>
                </a:solidFill>
                <a:effectLst/>
                <a:uLnTx/>
                <a:uFillTx/>
                <a:latin typeface="Calibri" panose="020F0502020204030204"/>
              </a:rPr>
              <a:t>HTTPS</a:t>
            </a:r>
          </a:p>
        </p:txBody>
      </p:sp>
      <p:pic>
        <p:nvPicPr>
          <p:cNvPr id="48" name="Picture 47">
            <a:extLst>
              <a:ext uri="{FF2B5EF4-FFF2-40B4-BE49-F238E27FC236}">
                <a16:creationId xmlns:a16="http://schemas.microsoft.com/office/drawing/2014/main" id="{0AEE03F9-32B8-01D4-69FD-44A30B182279}"/>
              </a:ext>
            </a:extLst>
          </p:cNvPr>
          <p:cNvPicPr>
            <a:picLocks noChangeAspect="1"/>
          </p:cNvPicPr>
          <p:nvPr/>
        </p:nvPicPr>
        <p:blipFill>
          <a:blip r:embed="rId12"/>
          <a:stretch>
            <a:fillRect/>
          </a:stretch>
        </p:blipFill>
        <p:spPr>
          <a:xfrm>
            <a:off x="6617105" y="3494189"/>
            <a:ext cx="555053" cy="555053"/>
          </a:xfrm>
          <a:prstGeom prst="rect">
            <a:avLst/>
          </a:prstGeom>
        </p:spPr>
      </p:pic>
      <p:sp>
        <p:nvSpPr>
          <p:cNvPr id="50" name="Rectangle 49">
            <a:extLst>
              <a:ext uri="{FF2B5EF4-FFF2-40B4-BE49-F238E27FC236}">
                <a16:creationId xmlns:a16="http://schemas.microsoft.com/office/drawing/2014/main" id="{5A64BC7C-3D56-69C8-EF61-8E6B79FCEB34}"/>
              </a:ext>
            </a:extLst>
          </p:cNvPr>
          <p:cNvSpPr/>
          <p:nvPr/>
        </p:nvSpPr>
        <p:spPr>
          <a:xfrm>
            <a:off x="5220694" y="3517959"/>
            <a:ext cx="1206500" cy="1189567"/>
          </a:xfrm>
          <a:prstGeom prst="rect">
            <a:avLst/>
          </a:prstGeom>
          <a:solidFill>
            <a:sysClr val="window" lastClr="FFFFFF"/>
          </a:solidFill>
          <a:ln w="28575" cap="flat" cmpd="sng" algn="ctr">
            <a:solidFill>
              <a:sysClr val="windowText" lastClr="000000"/>
            </a:solidFill>
            <a:prstDash val="solid"/>
            <a:miter lim="800000"/>
          </a:ln>
          <a:effectLst/>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prstClr val="white"/>
              </a:solidFill>
              <a:effectLst/>
              <a:uLnTx/>
              <a:uFillTx/>
              <a:latin typeface="Calibri" panose="020F0502020204030204"/>
              <a:ea typeface="+mn-ea"/>
              <a:cs typeface="+mn-cs"/>
            </a:endParaRPr>
          </a:p>
        </p:txBody>
      </p:sp>
      <p:cxnSp>
        <p:nvCxnSpPr>
          <p:cNvPr id="51" name="Straight Connector 50">
            <a:extLst>
              <a:ext uri="{FF2B5EF4-FFF2-40B4-BE49-F238E27FC236}">
                <a16:creationId xmlns:a16="http://schemas.microsoft.com/office/drawing/2014/main" id="{D8FE0638-6F7D-94BE-4E1D-7CE992A0FE03}"/>
              </a:ext>
            </a:extLst>
          </p:cNvPr>
          <p:cNvCxnSpPr>
            <a:stCxn id="50" idx="3"/>
          </p:cNvCxnSpPr>
          <p:nvPr/>
        </p:nvCxnSpPr>
        <p:spPr>
          <a:xfrm flipV="1">
            <a:off x="6427194" y="4112742"/>
            <a:ext cx="400050" cy="1"/>
          </a:xfrm>
          <a:prstGeom prst="line">
            <a:avLst/>
          </a:prstGeom>
          <a:noFill/>
          <a:ln w="19050" cap="flat" cmpd="sng" algn="ctr">
            <a:solidFill>
              <a:sysClr val="windowText" lastClr="000000"/>
            </a:solidFill>
            <a:prstDash val="solid"/>
            <a:miter lim="800000"/>
          </a:ln>
          <a:effectLst/>
        </p:spPr>
      </p:cxnSp>
      <p:sp>
        <p:nvSpPr>
          <p:cNvPr id="52" name="Oval 51">
            <a:extLst>
              <a:ext uri="{FF2B5EF4-FFF2-40B4-BE49-F238E27FC236}">
                <a16:creationId xmlns:a16="http://schemas.microsoft.com/office/drawing/2014/main" id="{1CCB024C-BEDD-8A49-9236-AA76E9A13DF8}"/>
              </a:ext>
            </a:extLst>
          </p:cNvPr>
          <p:cNvSpPr/>
          <p:nvPr/>
        </p:nvSpPr>
        <p:spPr>
          <a:xfrm>
            <a:off x="6834652" y="4049242"/>
            <a:ext cx="127000" cy="127000"/>
          </a:xfrm>
          <a:prstGeom prst="ellipse">
            <a:avLst/>
          </a:prstGeom>
          <a:solidFill>
            <a:sysClr val="window" lastClr="FFFFFF"/>
          </a:solidFill>
          <a:ln w="19050" cap="flat" cmpd="sng" algn="ctr">
            <a:solidFill>
              <a:srgbClr val="4472C4">
                <a:shade val="15000"/>
              </a:srgbClr>
            </a:solidFill>
            <a:prstDash val="solid"/>
            <a:miter lim="800000"/>
          </a:ln>
          <a:effectLst/>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53" name="TextBox 166">
            <a:extLst>
              <a:ext uri="{FF2B5EF4-FFF2-40B4-BE49-F238E27FC236}">
                <a16:creationId xmlns:a16="http://schemas.microsoft.com/office/drawing/2014/main" id="{15E0AFA9-AFB5-4B58-67F3-8D85698E866E}"/>
              </a:ext>
            </a:extLst>
          </p:cNvPr>
          <p:cNvSpPr txBox="1"/>
          <p:nvPr/>
        </p:nvSpPr>
        <p:spPr>
          <a:xfrm>
            <a:off x="6400819" y="4143228"/>
            <a:ext cx="1000664" cy="261610"/>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1100" b="0" i="0" u="none" strike="noStrike" kern="0" cap="none" spc="0" normalizeH="0" baseline="0" noProof="0" dirty="0" err="1">
                <a:ln>
                  <a:noFill/>
                </a:ln>
                <a:solidFill>
                  <a:prstClr val="black"/>
                </a:solidFill>
                <a:effectLst/>
                <a:uLnTx/>
                <a:uFillTx/>
                <a:latin typeface="Calibri" panose="020F0502020204030204"/>
              </a:rPr>
              <a:t>OpenAPI</a:t>
            </a:r>
            <a:endParaRPr kumimoji="0" lang="en-GB" sz="1100" b="0" i="0" u="none" strike="noStrike" kern="0" cap="none" spc="0" normalizeH="0" baseline="0" noProof="0" dirty="0">
              <a:ln>
                <a:noFill/>
              </a:ln>
              <a:solidFill>
                <a:prstClr val="black"/>
              </a:solidFill>
              <a:effectLst/>
              <a:uLnTx/>
              <a:uFillTx/>
              <a:latin typeface="Calibri" panose="020F0502020204030204"/>
            </a:endParaRPr>
          </a:p>
        </p:txBody>
      </p:sp>
      <p:pic>
        <p:nvPicPr>
          <p:cNvPr id="54" name="Picture 53">
            <a:extLst>
              <a:ext uri="{FF2B5EF4-FFF2-40B4-BE49-F238E27FC236}">
                <a16:creationId xmlns:a16="http://schemas.microsoft.com/office/drawing/2014/main" id="{A498461D-CCB5-3189-0FF5-357D0E928184}"/>
              </a:ext>
            </a:extLst>
          </p:cNvPr>
          <p:cNvPicPr>
            <a:picLocks noChangeAspect="1"/>
          </p:cNvPicPr>
          <p:nvPr/>
        </p:nvPicPr>
        <p:blipFill>
          <a:blip r:embed="rId13"/>
          <a:stretch>
            <a:fillRect/>
          </a:stretch>
        </p:blipFill>
        <p:spPr>
          <a:xfrm>
            <a:off x="5354852" y="3637236"/>
            <a:ext cx="951011" cy="951011"/>
          </a:xfrm>
          <a:prstGeom prst="rect">
            <a:avLst/>
          </a:prstGeom>
        </p:spPr>
      </p:pic>
      <p:sp>
        <p:nvSpPr>
          <p:cNvPr id="58" name="Rectangle 57">
            <a:extLst>
              <a:ext uri="{FF2B5EF4-FFF2-40B4-BE49-F238E27FC236}">
                <a16:creationId xmlns:a16="http://schemas.microsoft.com/office/drawing/2014/main" id="{89424536-6C58-ABE5-B942-C030BC26599D}"/>
              </a:ext>
            </a:extLst>
          </p:cNvPr>
          <p:cNvSpPr/>
          <p:nvPr/>
        </p:nvSpPr>
        <p:spPr>
          <a:xfrm>
            <a:off x="5217174" y="4817595"/>
            <a:ext cx="1206500" cy="1189567"/>
          </a:xfrm>
          <a:prstGeom prst="rect">
            <a:avLst/>
          </a:prstGeom>
          <a:solidFill>
            <a:sysClr val="window" lastClr="FFFFFF"/>
          </a:solidFill>
          <a:ln w="28575" cap="flat" cmpd="sng" algn="ctr">
            <a:solidFill>
              <a:sysClr val="windowText" lastClr="000000"/>
            </a:solidFill>
            <a:prstDash val="solid"/>
            <a:miter lim="800000"/>
          </a:ln>
          <a:effectLst/>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prstClr val="white"/>
              </a:solidFill>
              <a:effectLst/>
              <a:uLnTx/>
              <a:uFillTx/>
              <a:latin typeface="Calibri" panose="020F0502020204030204"/>
              <a:ea typeface="+mn-ea"/>
              <a:cs typeface="+mn-cs"/>
            </a:endParaRPr>
          </a:p>
        </p:txBody>
      </p:sp>
      <p:cxnSp>
        <p:nvCxnSpPr>
          <p:cNvPr id="59" name="Straight Connector 58">
            <a:extLst>
              <a:ext uri="{FF2B5EF4-FFF2-40B4-BE49-F238E27FC236}">
                <a16:creationId xmlns:a16="http://schemas.microsoft.com/office/drawing/2014/main" id="{8BD817EC-E958-6593-3D49-027E24BC5FCA}"/>
              </a:ext>
            </a:extLst>
          </p:cNvPr>
          <p:cNvCxnSpPr>
            <a:stCxn id="58" idx="3"/>
          </p:cNvCxnSpPr>
          <p:nvPr/>
        </p:nvCxnSpPr>
        <p:spPr>
          <a:xfrm flipV="1">
            <a:off x="6423674" y="5412378"/>
            <a:ext cx="400050" cy="1"/>
          </a:xfrm>
          <a:prstGeom prst="line">
            <a:avLst/>
          </a:prstGeom>
          <a:noFill/>
          <a:ln w="19050" cap="flat" cmpd="sng" algn="ctr">
            <a:solidFill>
              <a:sysClr val="windowText" lastClr="000000"/>
            </a:solidFill>
            <a:prstDash val="solid"/>
            <a:miter lim="800000"/>
          </a:ln>
          <a:effectLst/>
        </p:spPr>
      </p:cxnSp>
      <p:sp>
        <p:nvSpPr>
          <p:cNvPr id="60" name="Oval 59">
            <a:extLst>
              <a:ext uri="{FF2B5EF4-FFF2-40B4-BE49-F238E27FC236}">
                <a16:creationId xmlns:a16="http://schemas.microsoft.com/office/drawing/2014/main" id="{864042FE-0DD1-31EA-C613-463E429BB6EE}"/>
              </a:ext>
            </a:extLst>
          </p:cNvPr>
          <p:cNvSpPr/>
          <p:nvPr/>
        </p:nvSpPr>
        <p:spPr>
          <a:xfrm>
            <a:off x="6831132" y="5348878"/>
            <a:ext cx="127000" cy="127000"/>
          </a:xfrm>
          <a:prstGeom prst="ellipse">
            <a:avLst/>
          </a:prstGeom>
          <a:solidFill>
            <a:sysClr val="window" lastClr="FFFFFF"/>
          </a:solidFill>
          <a:ln w="19050" cap="flat" cmpd="sng" algn="ctr">
            <a:solidFill>
              <a:srgbClr val="4472C4">
                <a:shade val="15000"/>
              </a:srgbClr>
            </a:solidFill>
            <a:prstDash val="solid"/>
            <a:miter lim="800000"/>
          </a:ln>
          <a:effectLst/>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61" name="TextBox 174">
            <a:extLst>
              <a:ext uri="{FF2B5EF4-FFF2-40B4-BE49-F238E27FC236}">
                <a16:creationId xmlns:a16="http://schemas.microsoft.com/office/drawing/2014/main" id="{F4A1F40C-2626-F2BB-328D-1A65CAFE8533}"/>
              </a:ext>
            </a:extLst>
          </p:cNvPr>
          <p:cNvSpPr txBox="1"/>
          <p:nvPr/>
        </p:nvSpPr>
        <p:spPr>
          <a:xfrm>
            <a:off x="6445900" y="5442864"/>
            <a:ext cx="903461" cy="261610"/>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1100" b="0" i="0" u="none" strike="noStrike" kern="0" cap="none" spc="0" normalizeH="0" baseline="0" noProof="0">
                <a:ln>
                  <a:noFill/>
                </a:ln>
                <a:solidFill>
                  <a:prstClr val="black"/>
                </a:solidFill>
                <a:effectLst/>
                <a:uLnTx/>
                <a:uFillTx/>
                <a:latin typeface="Calibri" panose="020F0502020204030204"/>
              </a:rPr>
              <a:t>MQTTS</a:t>
            </a:r>
          </a:p>
        </p:txBody>
      </p:sp>
      <p:pic>
        <p:nvPicPr>
          <p:cNvPr id="63" name="Picture 62">
            <a:extLst>
              <a:ext uri="{FF2B5EF4-FFF2-40B4-BE49-F238E27FC236}">
                <a16:creationId xmlns:a16="http://schemas.microsoft.com/office/drawing/2014/main" id="{35E4A7EF-ECE6-D1EB-58A5-CBA7AFA0AB01}"/>
              </a:ext>
            </a:extLst>
          </p:cNvPr>
          <p:cNvPicPr>
            <a:picLocks noChangeAspect="1"/>
          </p:cNvPicPr>
          <p:nvPr/>
        </p:nvPicPr>
        <p:blipFill>
          <a:blip r:embed="rId14"/>
          <a:stretch>
            <a:fillRect/>
          </a:stretch>
        </p:blipFill>
        <p:spPr>
          <a:xfrm>
            <a:off x="5357577" y="4949800"/>
            <a:ext cx="327907" cy="477879"/>
          </a:xfrm>
          <a:prstGeom prst="rect">
            <a:avLst/>
          </a:prstGeom>
        </p:spPr>
      </p:pic>
      <p:pic>
        <p:nvPicPr>
          <p:cNvPr id="64" name="Picture 63">
            <a:extLst>
              <a:ext uri="{FF2B5EF4-FFF2-40B4-BE49-F238E27FC236}">
                <a16:creationId xmlns:a16="http://schemas.microsoft.com/office/drawing/2014/main" id="{9EF811D3-AEFA-E11D-4E98-B433AD1548FC}"/>
              </a:ext>
            </a:extLst>
          </p:cNvPr>
          <p:cNvPicPr>
            <a:picLocks noChangeAspect="1"/>
          </p:cNvPicPr>
          <p:nvPr/>
        </p:nvPicPr>
        <p:blipFill>
          <a:blip r:embed="rId14"/>
          <a:stretch>
            <a:fillRect/>
          </a:stretch>
        </p:blipFill>
        <p:spPr>
          <a:xfrm>
            <a:off x="5732817" y="4950299"/>
            <a:ext cx="327907" cy="477879"/>
          </a:xfrm>
          <a:prstGeom prst="rect">
            <a:avLst/>
          </a:prstGeom>
        </p:spPr>
      </p:pic>
      <p:pic>
        <p:nvPicPr>
          <p:cNvPr id="65" name="Picture 64">
            <a:extLst>
              <a:ext uri="{FF2B5EF4-FFF2-40B4-BE49-F238E27FC236}">
                <a16:creationId xmlns:a16="http://schemas.microsoft.com/office/drawing/2014/main" id="{C0C9B7D2-83E8-A4DF-A0D5-C5E0927768BB}"/>
              </a:ext>
            </a:extLst>
          </p:cNvPr>
          <p:cNvPicPr>
            <a:picLocks noChangeAspect="1"/>
          </p:cNvPicPr>
          <p:nvPr/>
        </p:nvPicPr>
        <p:blipFill>
          <a:blip r:embed="rId14"/>
          <a:stretch>
            <a:fillRect/>
          </a:stretch>
        </p:blipFill>
        <p:spPr>
          <a:xfrm>
            <a:off x="5511151" y="5459561"/>
            <a:ext cx="327907" cy="477879"/>
          </a:xfrm>
          <a:prstGeom prst="rect">
            <a:avLst/>
          </a:prstGeom>
        </p:spPr>
      </p:pic>
      <p:pic>
        <p:nvPicPr>
          <p:cNvPr id="66" name="Picture 65">
            <a:extLst>
              <a:ext uri="{FF2B5EF4-FFF2-40B4-BE49-F238E27FC236}">
                <a16:creationId xmlns:a16="http://schemas.microsoft.com/office/drawing/2014/main" id="{9710D97F-82E5-1F2D-9015-5C17046678C5}"/>
              </a:ext>
            </a:extLst>
          </p:cNvPr>
          <p:cNvPicPr>
            <a:picLocks noChangeAspect="1"/>
          </p:cNvPicPr>
          <p:nvPr/>
        </p:nvPicPr>
        <p:blipFill>
          <a:blip r:embed="rId14"/>
          <a:stretch>
            <a:fillRect/>
          </a:stretch>
        </p:blipFill>
        <p:spPr>
          <a:xfrm>
            <a:off x="5886391" y="5460060"/>
            <a:ext cx="327907" cy="477879"/>
          </a:xfrm>
          <a:prstGeom prst="rect">
            <a:avLst/>
          </a:prstGeom>
        </p:spPr>
      </p:pic>
      <p:pic>
        <p:nvPicPr>
          <p:cNvPr id="1026" name="Picture 2" descr="Yellow pages - Wikipedia">
            <a:extLst>
              <a:ext uri="{FF2B5EF4-FFF2-40B4-BE49-F238E27FC236}">
                <a16:creationId xmlns:a16="http://schemas.microsoft.com/office/drawing/2014/main" id="{C5320619-88B7-2C74-5517-008A5131B241}"/>
              </a:ext>
            </a:extLst>
          </p:cNvPr>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8953689" y="5339305"/>
            <a:ext cx="1362063" cy="72761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459081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3"/>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8"/>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23"/>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28"/>
                                        </p:tgtEl>
                                        <p:attrNameLst>
                                          <p:attrName>style.visibility</p:attrName>
                                        </p:attrNameLst>
                                      </p:cBhvr>
                                      <p:to>
                                        <p:strVal val="visible"/>
                                      </p:to>
                                    </p:set>
                                  </p:childTnLst>
                                </p:cTn>
                              </p:par>
                            </p:childTnLst>
                          </p:cTn>
                        </p:par>
                        <p:par>
                          <p:cTn id="15" fill="hold">
                            <p:stCondLst>
                              <p:cond delay="0"/>
                            </p:stCondLst>
                            <p:childTnLst>
                              <p:par>
                                <p:cTn id="16" presetID="1" presetClass="entr" presetSubtype="0" fill="hold" nodeType="afterEffect">
                                  <p:stCondLst>
                                    <p:cond delay="500"/>
                                  </p:stCondLst>
                                  <p:childTnLst>
                                    <p:set>
                                      <p:cBhvr>
                                        <p:cTn id="17" dur="1" fill="hold">
                                          <p:stCondLst>
                                            <p:cond delay="0"/>
                                          </p:stCondLst>
                                        </p:cTn>
                                        <p:tgtEl>
                                          <p:spTgt spid="136"/>
                                        </p:tgtEl>
                                        <p:attrNameLst>
                                          <p:attrName>style.visibility</p:attrName>
                                        </p:attrNameLst>
                                      </p:cBhvr>
                                      <p:to>
                                        <p:strVal val="visible"/>
                                      </p:to>
                                    </p:set>
                                  </p:childTnLst>
                                </p:cTn>
                              </p:par>
                            </p:childTnLst>
                          </p:cTn>
                        </p:par>
                        <p:par>
                          <p:cTn id="18" fill="hold">
                            <p:stCondLst>
                              <p:cond delay="500"/>
                            </p:stCondLst>
                            <p:childTnLst>
                              <p:par>
                                <p:cTn id="19" presetID="1" presetClass="entr" presetSubtype="0" fill="hold" nodeType="afterEffect">
                                  <p:stCondLst>
                                    <p:cond delay="250"/>
                                  </p:stCondLst>
                                  <p:childTnLst>
                                    <p:set>
                                      <p:cBhvr>
                                        <p:cTn id="20" dur="1" fill="hold">
                                          <p:stCondLst>
                                            <p:cond delay="0"/>
                                          </p:stCondLst>
                                        </p:cTn>
                                        <p:tgtEl>
                                          <p:spTgt spid="151"/>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16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271537-A16A-8760-1CC4-05671219F927}"/>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7E5CDA1-1FA1-440F-151B-6127DB269B8A}"/>
              </a:ext>
            </a:extLst>
          </p:cNvPr>
          <p:cNvSpPr>
            <a:spLocks noGrp="1"/>
          </p:cNvSpPr>
          <p:nvPr>
            <p:ph idx="1"/>
          </p:nvPr>
        </p:nvSpPr>
        <p:spPr>
          <a:xfrm>
            <a:off x="201342" y="854505"/>
            <a:ext cx="11989836" cy="2345225"/>
          </a:xfrm>
        </p:spPr>
        <p:txBody>
          <a:bodyPr>
            <a:normAutofit/>
          </a:bodyPr>
          <a:lstStyle/>
          <a:p>
            <a:pPr marL="0" indent="0">
              <a:buNone/>
            </a:pPr>
            <a:r>
              <a:rPr lang="en-US" sz="2800" b="1" dirty="0">
                <a:solidFill>
                  <a:srgbClr val="1042D3"/>
                </a:solidFill>
                <a:latin typeface="Aptos" panose="020B0004020202020204" pitchFamily="34" charset="0"/>
              </a:rPr>
              <a:t>Global Discovery Catalogues provide an</a:t>
            </a:r>
            <a:br>
              <a:rPr lang="en-US" sz="2800" b="1" dirty="0">
                <a:solidFill>
                  <a:srgbClr val="1042D3"/>
                </a:solidFill>
                <a:latin typeface="Aptos" panose="020B0004020202020204" pitchFamily="34" charset="0"/>
              </a:rPr>
            </a:br>
            <a:r>
              <a:rPr lang="en-US" sz="2800" b="1" dirty="0">
                <a:solidFill>
                  <a:srgbClr val="1042D3"/>
                </a:solidFill>
                <a:latin typeface="Aptos" panose="020B0004020202020204" pitchFamily="34" charset="0"/>
              </a:rPr>
              <a:t>OGC API – Records endpoint to search for data on WIS2</a:t>
            </a:r>
            <a:endParaRPr lang="en-US" sz="2800" b="1" dirty="0">
              <a:latin typeface="Aptos" panose="020B0004020202020204" pitchFamily="34" charset="0"/>
            </a:endParaRPr>
          </a:p>
          <a:p>
            <a:pPr marL="0" indent="0">
              <a:buNone/>
            </a:pPr>
            <a:endParaRPr lang="en-US" sz="1900" b="1" dirty="0">
              <a:latin typeface="Aptos" panose="020B0004020202020204" pitchFamily="34" charset="0"/>
            </a:endParaRPr>
          </a:p>
          <a:p>
            <a:pPr marL="0" indent="0">
              <a:buNone/>
            </a:pPr>
            <a:r>
              <a:rPr lang="en-US" sz="1900" b="1" dirty="0">
                <a:latin typeface="Aptos" panose="020B0004020202020204" pitchFamily="34" charset="0"/>
              </a:rPr>
              <a:t>GDC ECCC, Canada: </a:t>
            </a:r>
            <a:r>
              <a:rPr lang="en-US" sz="1900" b="1" dirty="0">
                <a:latin typeface="Aptos" panose="020B0004020202020204" pitchFamily="34" charset="0"/>
                <a:hlinkClick r:id="rId2"/>
              </a:rPr>
              <a:t>wis2-gdc.weather.gc.ca/collections/wis2-discovery-metadata/items</a:t>
            </a:r>
            <a:endParaRPr lang="en-US" sz="1900" b="1" dirty="0">
              <a:latin typeface="Aptos" panose="020B0004020202020204" pitchFamily="34" charset="0"/>
            </a:endParaRPr>
          </a:p>
          <a:p>
            <a:pPr marL="0" indent="0">
              <a:buNone/>
            </a:pPr>
            <a:r>
              <a:rPr lang="en-US" sz="1900" b="1" dirty="0">
                <a:latin typeface="Aptos" panose="020B0004020202020204" pitchFamily="34" charset="0"/>
              </a:rPr>
              <a:t>GDC DWD, Germany: </a:t>
            </a:r>
            <a:r>
              <a:rPr lang="en-US" sz="1900" b="1" dirty="0">
                <a:latin typeface="Aptos" panose="020B0004020202020204" pitchFamily="34" charset="0"/>
                <a:hlinkClick r:id="rId3"/>
              </a:rPr>
              <a:t>wis2.dwd.de/gdc/collections/wis2-discovery-metadata/items</a:t>
            </a:r>
            <a:endParaRPr lang="en-US" sz="1900" b="1" dirty="0">
              <a:latin typeface="Aptos" panose="020B0004020202020204" pitchFamily="34" charset="0"/>
            </a:endParaRPr>
          </a:p>
          <a:p>
            <a:pPr marL="0" indent="0">
              <a:buNone/>
            </a:pPr>
            <a:r>
              <a:rPr lang="en-US" sz="1900" b="1" dirty="0">
                <a:latin typeface="Aptos" panose="020B0004020202020204" pitchFamily="34" charset="0"/>
              </a:rPr>
              <a:t>GDC CMA, China: </a:t>
            </a:r>
            <a:r>
              <a:rPr lang="en-US" sz="1900" b="1" dirty="0">
                <a:latin typeface="Aptos" panose="020B0004020202020204" pitchFamily="34" charset="0"/>
                <a:hlinkClick r:id="rId4"/>
              </a:rPr>
              <a:t>gdc.wis.cma.cn/collections/wis2-discovery-metadata/items</a:t>
            </a:r>
            <a:endParaRPr lang="en-US" sz="1900" b="1" dirty="0">
              <a:latin typeface="Aptos" panose="020B0004020202020204" pitchFamily="34" charset="0"/>
            </a:endParaRPr>
          </a:p>
          <a:p>
            <a:pPr marL="0" indent="0">
              <a:buNone/>
            </a:pPr>
            <a:endParaRPr lang="en-US" sz="2400" b="1" dirty="0">
              <a:latin typeface="+mj-lt"/>
            </a:endParaRPr>
          </a:p>
        </p:txBody>
      </p:sp>
      <p:sp>
        <p:nvSpPr>
          <p:cNvPr id="2" name="Rectangle 1">
            <a:extLst>
              <a:ext uri="{FF2B5EF4-FFF2-40B4-BE49-F238E27FC236}">
                <a16:creationId xmlns:a16="http://schemas.microsoft.com/office/drawing/2014/main" id="{7AF7D035-C3F4-415A-9667-D8348C003728}"/>
              </a:ext>
            </a:extLst>
          </p:cNvPr>
          <p:cNvSpPr/>
          <p:nvPr/>
        </p:nvSpPr>
        <p:spPr>
          <a:xfrm>
            <a:off x="-53788" y="0"/>
            <a:ext cx="12245788" cy="734218"/>
          </a:xfrm>
          <a:prstGeom prst="rect">
            <a:avLst/>
          </a:prstGeom>
          <a:solidFill>
            <a:srgbClr val="034D9E"/>
          </a:solidFill>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3200" b="1" dirty="0"/>
              <a:t>Discovering datasets in WIS2</a:t>
            </a:r>
            <a:endParaRPr lang="en-CH" sz="3200" b="1" dirty="0"/>
          </a:p>
        </p:txBody>
      </p:sp>
      <p:sp>
        <p:nvSpPr>
          <p:cNvPr id="25" name="AutoShape 4">
            <a:extLst>
              <a:ext uri="{FF2B5EF4-FFF2-40B4-BE49-F238E27FC236}">
                <a16:creationId xmlns:a16="http://schemas.microsoft.com/office/drawing/2014/main" id="{549AB670-5A76-ECEB-A8F9-4238E9F7A22C}"/>
              </a:ext>
            </a:extLst>
          </p:cNvPr>
          <p:cNvSpPr>
            <a:spLocks noChangeAspect="1" noChangeArrowheads="1"/>
          </p:cNvSpPr>
          <p:nvPr/>
        </p:nvSpPr>
        <p:spPr bwMode="auto">
          <a:xfrm>
            <a:off x="3786326" y="3058043"/>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CH"/>
          </a:p>
        </p:txBody>
      </p:sp>
      <p:sp>
        <p:nvSpPr>
          <p:cNvPr id="33" name="Rectangle 32">
            <a:extLst>
              <a:ext uri="{FF2B5EF4-FFF2-40B4-BE49-F238E27FC236}">
                <a16:creationId xmlns:a16="http://schemas.microsoft.com/office/drawing/2014/main" id="{B9BD88E7-DA00-44AF-9F7D-E10E182216EA}"/>
              </a:ext>
            </a:extLst>
          </p:cNvPr>
          <p:cNvSpPr/>
          <p:nvPr/>
        </p:nvSpPr>
        <p:spPr>
          <a:xfrm>
            <a:off x="1789952" y="3580272"/>
            <a:ext cx="3951201" cy="3290602"/>
          </a:xfrm>
          <a:prstGeom prst="rect">
            <a:avLst/>
          </a:prstGeom>
          <a:solidFill>
            <a:schemeClr val="tx2">
              <a:lumMod val="10000"/>
              <a:lumOff val="9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88900" marR="0" indent="0" algn="r" defTabSz="914400" rtl="0" eaLnBrk="1" fontAlgn="auto" latinLnBrk="0" hangingPunct="1">
              <a:lnSpc>
                <a:spcPct val="90000"/>
              </a:lnSpc>
              <a:spcBef>
                <a:spcPts val="0"/>
              </a:spcBef>
              <a:spcAft>
                <a:spcPts val="0"/>
              </a:spcAft>
              <a:buClrTx/>
              <a:buSzTx/>
              <a:buFontTx/>
              <a:buNone/>
              <a:tabLst/>
            </a:pPr>
            <a:r>
              <a:rPr kumimoji="0" lang="en-US" sz="1400" b="1" i="1" u="none" strike="noStrike" kern="1200" cap="none" spc="0" normalizeH="0" baseline="0" noProof="0">
                <a:ln>
                  <a:noFill/>
                </a:ln>
                <a:solidFill>
                  <a:srgbClr val="1F497D">
                    <a:lumMod val="50000"/>
                  </a:srgbClr>
                </a:solidFill>
                <a:effectLst/>
                <a:uLnTx/>
                <a:uFillTx/>
                <a:latin typeface="Calibri"/>
                <a:ea typeface="+mn-ea"/>
                <a:cs typeface="+mn-cs"/>
              </a:rPr>
              <a:t>WIS 2.0</a:t>
            </a:r>
          </a:p>
          <a:p>
            <a:pPr marL="88900" marR="0" indent="0" algn="r" defTabSz="914400" rtl="0" eaLnBrk="1" fontAlgn="auto" latinLnBrk="0" hangingPunct="1">
              <a:lnSpc>
                <a:spcPct val="90000"/>
              </a:lnSpc>
              <a:spcBef>
                <a:spcPts val="0"/>
              </a:spcBef>
              <a:spcAft>
                <a:spcPts val="0"/>
              </a:spcAft>
              <a:buClrTx/>
              <a:buSzTx/>
              <a:buFontTx/>
              <a:buNone/>
              <a:tabLst/>
            </a:pPr>
            <a:r>
              <a:rPr kumimoji="0" lang="en-US" sz="1400" b="1" i="1" u="none" strike="noStrike" kern="1200" cap="none" spc="0" normalizeH="0" baseline="0" noProof="0">
                <a:ln>
                  <a:noFill/>
                </a:ln>
                <a:solidFill>
                  <a:srgbClr val="1F497D">
                    <a:lumMod val="50000"/>
                  </a:srgbClr>
                </a:solidFill>
                <a:effectLst/>
                <a:uLnTx/>
                <a:uFillTx/>
                <a:latin typeface="Calibri"/>
                <a:ea typeface="+mn-ea"/>
                <a:cs typeface="+mn-cs"/>
              </a:rPr>
              <a:t>  </a:t>
            </a:r>
          </a:p>
          <a:p>
            <a:pPr marL="88900" marR="0" indent="0" algn="r" defTabSz="914400" rtl="0" eaLnBrk="1" fontAlgn="auto" latinLnBrk="0" hangingPunct="1">
              <a:lnSpc>
                <a:spcPct val="90000"/>
              </a:lnSpc>
              <a:spcBef>
                <a:spcPts val="0"/>
              </a:spcBef>
              <a:spcAft>
                <a:spcPts val="0"/>
              </a:spcAft>
              <a:buClrTx/>
              <a:buSzTx/>
              <a:buFontTx/>
              <a:buNone/>
              <a:tabLst/>
            </a:pPr>
            <a:endParaRPr lang="en-US" b="1">
              <a:solidFill>
                <a:srgbClr val="1F497D">
                  <a:lumMod val="50000"/>
                </a:srgbClr>
              </a:solidFill>
              <a:latin typeface="Calibri"/>
            </a:endParaRPr>
          </a:p>
          <a:p>
            <a:pPr marL="88900" marR="0" indent="0" algn="r" defTabSz="914400" rtl="0" eaLnBrk="1" fontAlgn="auto" latinLnBrk="0" hangingPunct="1">
              <a:lnSpc>
                <a:spcPct val="90000"/>
              </a:lnSpc>
              <a:spcBef>
                <a:spcPts val="0"/>
              </a:spcBef>
              <a:spcAft>
                <a:spcPts val="0"/>
              </a:spcAft>
              <a:buClrTx/>
              <a:buSzTx/>
              <a:buFontTx/>
              <a:buNone/>
              <a:tabLst/>
            </a:pPr>
            <a:endParaRPr kumimoji="0" lang="en-US" b="1" i="0" u="none" strike="noStrike" kern="1200" cap="none" spc="0" normalizeH="0" baseline="0" noProof="0">
              <a:ln>
                <a:noFill/>
              </a:ln>
              <a:solidFill>
                <a:srgbClr val="1F497D">
                  <a:lumMod val="50000"/>
                </a:srgbClr>
              </a:solidFill>
              <a:effectLst/>
              <a:uLnTx/>
              <a:uFillTx/>
              <a:latin typeface="Calibri"/>
              <a:ea typeface="+mn-ea"/>
              <a:cs typeface="+mn-cs"/>
            </a:endParaRPr>
          </a:p>
          <a:p>
            <a:pPr marL="88900" marR="0" indent="0" algn="r" defTabSz="914400" rtl="0" eaLnBrk="1" fontAlgn="auto" latinLnBrk="0" hangingPunct="1">
              <a:lnSpc>
                <a:spcPct val="90000"/>
              </a:lnSpc>
              <a:spcBef>
                <a:spcPts val="0"/>
              </a:spcBef>
              <a:spcAft>
                <a:spcPts val="0"/>
              </a:spcAft>
              <a:buClrTx/>
              <a:buSzTx/>
              <a:buFontTx/>
              <a:buNone/>
              <a:tabLst/>
            </a:pPr>
            <a:endParaRPr lang="en-US" b="1">
              <a:solidFill>
                <a:srgbClr val="1F497D">
                  <a:lumMod val="50000"/>
                </a:srgbClr>
              </a:solidFill>
              <a:latin typeface="Calibri"/>
            </a:endParaRPr>
          </a:p>
          <a:p>
            <a:pPr marL="88900" marR="0" indent="0" algn="r" defTabSz="914400" rtl="0" eaLnBrk="1" fontAlgn="auto" latinLnBrk="0" hangingPunct="1">
              <a:lnSpc>
                <a:spcPct val="90000"/>
              </a:lnSpc>
              <a:spcBef>
                <a:spcPts val="0"/>
              </a:spcBef>
              <a:spcAft>
                <a:spcPts val="0"/>
              </a:spcAft>
              <a:buClrTx/>
              <a:buSzTx/>
              <a:buFontTx/>
              <a:buNone/>
              <a:tabLst/>
            </a:pPr>
            <a:endParaRPr kumimoji="0" lang="en-US" b="1" i="0" u="none" strike="noStrike" kern="1200" cap="none" spc="0" normalizeH="0" baseline="0" noProof="0">
              <a:ln>
                <a:noFill/>
              </a:ln>
              <a:solidFill>
                <a:srgbClr val="1F497D">
                  <a:lumMod val="50000"/>
                </a:srgbClr>
              </a:solidFill>
              <a:effectLst/>
              <a:uLnTx/>
              <a:uFillTx/>
              <a:latin typeface="Calibri"/>
              <a:ea typeface="+mn-ea"/>
              <a:cs typeface="+mn-cs"/>
            </a:endParaRPr>
          </a:p>
          <a:p>
            <a:pPr marL="88900" marR="0" indent="0" algn="r" defTabSz="914400" rtl="0" eaLnBrk="1" fontAlgn="auto" latinLnBrk="0" hangingPunct="1">
              <a:lnSpc>
                <a:spcPct val="90000"/>
              </a:lnSpc>
              <a:spcBef>
                <a:spcPts val="0"/>
              </a:spcBef>
              <a:spcAft>
                <a:spcPts val="0"/>
              </a:spcAft>
              <a:buClrTx/>
              <a:buSzTx/>
              <a:buFontTx/>
              <a:buNone/>
              <a:tabLst/>
            </a:pPr>
            <a:endParaRPr lang="en-US" b="1">
              <a:solidFill>
                <a:srgbClr val="1F497D">
                  <a:lumMod val="50000"/>
                </a:srgbClr>
              </a:solidFill>
              <a:latin typeface="Calibri"/>
            </a:endParaRPr>
          </a:p>
          <a:p>
            <a:pPr marL="88900" marR="0" indent="0" algn="r" defTabSz="914400" rtl="0" eaLnBrk="1" fontAlgn="auto" latinLnBrk="0" hangingPunct="1">
              <a:lnSpc>
                <a:spcPct val="90000"/>
              </a:lnSpc>
              <a:spcBef>
                <a:spcPts val="0"/>
              </a:spcBef>
              <a:spcAft>
                <a:spcPts val="0"/>
              </a:spcAft>
              <a:buClrTx/>
              <a:buSzTx/>
              <a:buFontTx/>
              <a:buNone/>
              <a:tabLst/>
            </a:pPr>
            <a:endParaRPr kumimoji="0" lang="en-US" b="1" i="0" u="none" strike="noStrike" kern="1200" cap="none" spc="0" normalizeH="0" baseline="0" noProof="0">
              <a:ln>
                <a:noFill/>
              </a:ln>
              <a:solidFill>
                <a:srgbClr val="1F497D">
                  <a:lumMod val="50000"/>
                </a:srgbClr>
              </a:solidFill>
              <a:effectLst/>
              <a:uLnTx/>
              <a:uFillTx/>
              <a:latin typeface="Calibri"/>
              <a:ea typeface="+mn-ea"/>
              <a:cs typeface="+mn-cs"/>
            </a:endParaRPr>
          </a:p>
          <a:p>
            <a:pPr marL="88900" marR="0" indent="0" algn="l" defTabSz="914400" rtl="0" eaLnBrk="1" fontAlgn="auto" latinLnBrk="0" hangingPunct="1">
              <a:lnSpc>
                <a:spcPct val="90000"/>
              </a:lnSpc>
              <a:spcBef>
                <a:spcPts val="0"/>
              </a:spcBef>
              <a:spcAft>
                <a:spcPts val="0"/>
              </a:spcAft>
              <a:buClrTx/>
              <a:buSzTx/>
              <a:buFontTx/>
              <a:buNone/>
              <a:tabLst/>
            </a:pPr>
            <a:endParaRPr lang="en-US" sz="1300" b="1">
              <a:solidFill>
                <a:srgbClr val="1F497D">
                  <a:lumMod val="50000"/>
                </a:srgbClr>
              </a:solidFill>
              <a:latin typeface="Calibri"/>
            </a:endParaRPr>
          </a:p>
          <a:p>
            <a:pPr marL="88900" marR="0" indent="0" algn="l" defTabSz="914400" rtl="0" eaLnBrk="1" fontAlgn="auto" latinLnBrk="0" hangingPunct="1">
              <a:lnSpc>
                <a:spcPct val="90000"/>
              </a:lnSpc>
              <a:spcBef>
                <a:spcPts val="0"/>
              </a:spcBef>
              <a:spcAft>
                <a:spcPts val="0"/>
              </a:spcAft>
              <a:buClrTx/>
              <a:buSzTx/>
              <a:buFontTx/>
              <a:buNone/>
              <a:tabLst/>
            </a:pPr>
            <a:endParaRPr kumimoji="0" lang="en-US" sz="1300" b="1" i="0" u="none" strike="noStrike" kern="1200" cap="none" spc="0" normalizeH="0" baseline="0" noProof="0">
              <a:ln>
                <a:noFill/>
              </a:ln>
              <a:solidFill>
                <a:srgbClr val="1F497D">
                  <a:lumMod val="50000"/>
                </a:srgbClr>
              </a:solidFill>
              <a:effectLst/>
              <a:uLnTx/>
              <a:uFillTx/>
              <a:latin typeface="Calibri"/>
              <a:ea typeface="+mn-ea"/>
              <a:cs typeface="+mn-cs"/>
            </a:endParaRPr>
          </a:p>
          <a:p>
            <a:pPr marL="88900" marR="0" indent="0" algn="l" defTabSz="914400" rtl="0" eaLnBrk="1" fontAlgn="auto" latinLnBrk="0" hangingPunct="1">
              <a:lnSpc>
                <a:spcPct val="90000"/>
              </a:lnSpc>
              <a:spcBef>
                <a:spcPts val="0"/>
              </a:spcBef>
              <a:spcAft>
                <a:spcPts val="0"/>
              </a:spcAft>
              <a:buClrTx/>
              <a:buSzTx/>
              <a:buFontTx/>
              <a:buNone/>
              <a:tabLst/>
            </a:pPr>
            <a:endParaRPr lang="en-US" sz="1300" b="1">
              <a:solidFill>
                <a:srgbClr val="1F497D">
                  <a:lumMod val="50000"/>
                </a:srgbClr>
              </a:solidFill>
              <a:latin typeface="Calibri"/>
            </a:endParaRPr>
          </a:p>
          <a:p>
            <a:pPr marL="88900" marR="0" indent="0" algn="l" defTabSz="914400" rtl="0" eaLnBrk="1" fontAlgn="auto" latinLnBrk="0" hangingPunct="1">
              <a:lnSpc>
                <a:spcPct val="90000"/>
              </a:lnSpc>
              <a:spcBef>
                <a:spcPts val="0"/>
              </a:spcBef>
              <a:spcAft>
                <a:spcPts val="0"/>
              </a:spcAft>
              <a:buClrTx/>
              <a:buSzTx/>
              <a:buFontTx/>
              <a:buNone/>
              <a:tabLst/>
            </a:pPr>
            <a:endParaRPr kumimoji="0" lang="en-US" sz="1300" b="1" i="0" u="none" strike="noStrike" kern="1200" cap="none" spc="0" normalizeH="0" baseline="0" noProof="0">
              <a:ln>
                <a:noFill/>
              </a:ln>
              <a:solidFill>
                <a:srgbClr val="1F497D">
                  <a:lumMod val="50000"/>
                </a:srgbClr>
              </a:solidFill>
              <a:effectLst/>
              <a:uLnTx/>
              <a:uFillTx/>
              <a:latin typeface="Calibri"/>
              <a:ea typeface="+mn-ea"/>
              <a:cs typeface="+mn-cs"/>
            </a:endParaRPr>
          </a:p>
          <a:p>
            <a:pPr marL="88900" marR="0" indent="0" algn="l" defTabSz="914400" rtl="0" eaLnBrk="1" fontAlgn="auto" latinLnBrk="0" hangingPunct="1">
              <a:lnSpc>
                <a:spcPct val="90000"/>
              </a:lnSpc>
              <a:spcBef>
                <a:spcPts val="0"/>
              </a:spcBef>
              <a:spcAft>
                <a:spcPts val="0"/>
              </a:spcAft>
              <a:buClrTx/>
              <a:buSzTx/>
              <a:buFontTx/>
              <a:buNone/>
              <a:tabLst/>
            </a:pPr>
            <a:endParaRPr lang="en-US" sz="1300" b="1">
              <a:solidFill>
                <a:srgbClr val="1F497D">
                  <a:lumMod val="50000"/>
                </a:srgbClr>
              </a:solidFill>
              <a:latin typeface="Calibri"/>
            </a:endParaRPr>
          </a:p>
          <a:p>
            <a:pPr marL="88900" marR="0" indent="0" algn="l" defTabSz="914400" rtl="0" eaLnBrk="1" fontAlgn="auto" latinLnBrk="0" hangingPunct="1">
              <a:lnSpc>
                <a:spcPct val="90000"/>
              </a:lnSpc>
              <a:spcBef>
                <a:spcPts val="0"/>
              </a:spcBef>
              <a:spcAft>
                <a:spcPts val="0"/>
              </a:spcAft>
              <a:buClrTx/>
              <a:buSzTx/>
              <a:buFontTx/>
              <a:buNone/>
              <a:tabLst/>
            </a:pPr>
            <a:endParaRPr kumimoji="0" lang="en-US" sz="1300" b="1" i="0" u="none" strike="noStrike" kern="1200" cap="none" spc="0" normalizeH="0" baseline="0" noProof="0">
              <a:ln>
                <a:noFill/>
              </a:ln>
              <a:solidFill>
                <a:srgbClr val="1F497D">
                  <a:lumMod val="50000"/>
                </a:srgbClr>
              </a:solidFill>
              <a:effectLst/>
              <a:uLnTx/>
              <a:uFillTx/>
              <a:latin typeface="Calibri"/>
              <a:ea typeface="+mn-ea"/>
              <a:cs typeface="+mn-cs"/>
            </a:endParaRPr>
          </a:p>
          <a:p>
            <a:pPr marL="88900" marR="0" indent="0" algn="l" defTabSz="914400" rtl="0" eaLnBrk="1" fontAlgn="auto" latinLnBrk="0" hangingPunct="1">
              <a:lnSpc>
                <a:spcPct val="90000"/>
              </a:lnSpc>
              <a:spcBef>
                <a:spcPts val="0"/>
              </a:spcBef>
              <a:spcAft>
                <a:spcPts val="0"/>
              </a:spcAft>
              <a:buClrTx/>
              <a:buSzTx/>
              <a:buFontTx/>
              <a:buNone/>
              <a:tabLst/>
            </a:pPr>
            <a:endParaRPr kumimoji="0" lang="en-CH" sz="1300" b="1" i="0" u="none" strike="noStrike" kern="1200" cap="none" spc="0" normalizeH="0" baseline="0" noProof="0">
              <a:ln>
                <a:noFill/>
              </a:ln>
              <a:solidFill>
                <a:srgbClr val="1F497D">
                  <a:lumMod val="50000"/>
                </a:srgbClr>
              </a:solidFill>
              <a:effectLst/>
              <a:uLnTx/>
              <a:uFillTx/>
              <a:latin typeface="Calibri"/>
              <a:ea typeface="+mn-ea"/>
              <a:cs typeface="+mn-cs"/>
            </a:endParaRPr>
          </a:p>
        </p:txBody>
      </p:sp>
      <p:cxnSp>
        <p:nvCxnSpPr>
          <p:cNvPr id="36" name="Straight Arrow Connector 35">
            <a:extLst>
              <a:ext uri="{FF2B5EF4-FFF2-40B4-BE49-F238E27FC236}">
                <a16:creationId xmlns:a16="http://schemas.microsoft.com/office/drawing/2014/main" id="{F9ACCEFA-63AC-F75C-3AB2-931127D6A60B}"/>
              </a:ext>
            </a:extLst>
          </p:cNvPr>
          <p:cNvCxnSpPr>
            <a:cxnSpLocks/>
            <a:endCxn id="43" idx="3"/>
          </p:cNvCxnSpPr>
          <p:nvPr/>
        </p:nvCxnSpPr>
        <p:spPr>
          <a:xfrm flipH="1">
            <a:off x="5611756" y="4355061"/>
            <a:ext cx="1169009" cy="0"/>
          </a:xfrm>
          <a:prstGeom prst="straightConnector1">
            <a:avLst/>
          </a:prstGeom>
          <a:ln>
            <a:solidFill>
              <a:schemeClr val="accent3"/>
            </a:solidFill>
            <a:tailEnd type="triangle"/>
          </a:ln>
        </p:spPr>
        <p:style>
          <a:lnRef idx="2">
            <a:schemeClr val="accent1"/>
          </a:lnRef>
          <a:fillRef idx="0">
            <a:schemeClr val="accent1"/>
          </a:fillRef>
          <a:effectRef idx="1">
            <a:schemeClr val="accent1"/>
          </a:effectRef>
          <a:fontRef idx="minor">
            <a:schemeClr val="tx1"/>
          </a:fontRef>
        </p:style>
      </p:cxnSp>
      <p:sp>
        <p:nvSpPr>
          <p:cNvPr id="38" name="Rectangle 37">
            <a:extLst>
              <a:ext uri="{FF2B5EF4-FFF2-40B4-BE49-F238E27FC236}">
                <a16:creationId xmlns:a16="http://schemas.microsoft.com/office/drawing/2014/main" id="{2B88D82E-ACF1-3937-B222-C28B5D11FC9A}"/>
              </a:ext>
            </a:extLst>
          </p:cNvPr>
          <p:cNvSpPr/>
          <p:nvPr/>
        </p:nvSpPr>
        <p:spPr>
          <a:xfrm>
            <a:off x="3488958" y="5850883"/>
            <a:ext cx="2122797" cy="452601"/>
          </a:xfrm>
          <a:prstGeom prst="rect">
            <a:avLst/>
          </a:prstGeom>
          <a:solidFill>
            <a:schemeClr val="tx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r"/>
            <a:r>
              <a:rPr lang="en-US" sz="1600" b="1">
                <a:solidFill>
                  <a:schemeClr val="tx1"/>
                </a:solidFill>
              </a:rPr>
              <a:t>Global Cache</a:t>
            </a:r>
            <a:endParaRPr lang="en-CH" sz="1600" b="1">
              <a:solidFill>
                <a:schemeClr val="tx1"/>
              </a:solidFill>
            </a:endParaRPr>
          </a:p>
        </p:txBody>
      </p:sp>
      <p:sp>
        <p:nvSpPr>
          <p:cNvPr id="39" name="Rectangle 38">
            <a:extLst>
              <a:ext uri="{FF2B5EF4-FFF2-40B4-BE49-F238E27FC236}">
                <a16:creationId xmlns:a16="http://schemas.microsoft.com/office/drawing/2014/main" id="{D8686E7E-5CAD-351B-AFD4-85FF4B7F5587}"/>
              </a:ext>
            </a:extLst>
          </p:cNvPr>
          <p:cNvSpPr/>
          <p:nvPr/>
        </p:nvSpPr>
        <p:spPr>
          <a:xfrm>
            <a:off x="3484736" y="4983938"/>
            <a:ext cx="2127020" cy="453178"/>
          </a:xfrm>
          <a:prstGeom prst="rect">
            <a:avLst/>
          </a:prstGeom>
          <a:solidFill>
            <a:schemeClr val="accent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r"/>
            <a:r>
              <a:rPr lang="en-US" sz="1600" b="1">
                <a:solidFill>
                  <a:schemeClr val="tx1"/>
                </a:solidFill>
              </a:rPr>
              <a:t>Global Broker</a:t>
            </a:r>
            <a:endParaRPr lang="en-CH" sz="1600" b="1">
              <a:solidFill>
                <a:schemeClr val="tx1"/>
              </a:solidFill>
            </a:endParaRPr>
          </a:p>
        </p:txBody>
      </p:sp>
      <p:pic>
        <p:nvPicPr>
          <p:cNvPr id="40" name="Graphic 39" descr="Network with solid fill">
            <a:extLst>
              <a:ext uri="{FF2B5EF4-FFF2-40B4-BE49-F238E27FC236}">
                <a16:creationId xmlns:a16="http://schemas.microsoft.com/office/drawing/2014/main" id="{1112D8ED-995B-4FD7-D9B7-F560631EC8C7}"/>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3555918" y="5037222"/>
            <a:ext cx="357638" cy="357638"/>
          </a:xfrm>
          <a:prstGeom prst="rect">
            <a:avLst/>
          </a:prstGeom>
        </p:spPr>
      </p:pic>
      <p:pic>
        <p:nvPicPr>
          <p:cNvPr id="41" name="Picture 40" descr="A picture containing text, balloon, transport, aircraft&#10;&#10;Description automatically generated">
            <a:extLst>
              <a:ext uri="{FF2B5EF4-FFF2-40B4-BE49-F238E27FC236}">
                <a16:creationId xmlns:a16="http://schemas.microsoft.com/office/drawing/2014/main" id="{A4A96C10-60CB-8874-7D1B-3FD419993BE5}"/>
              </a:ext>
            </a:extLst>
          </p:cNvPr>
          <p:cNvPicPr>
            <a:picLocks noChangeAspect="1"/>
          </p:cNvPicPr>
          <p:nvPr/>
        </p:nvPicPr>
        <p:blipFill>
          <a:blip r:embed="rId6">
            <a:clrChange>
              <a:clrFrom>
                <a:srgbClr val="FFFFFF"/>
              </a:clrFrom>
              <a:clrTo>
                <a:srgbClr val="FFFFFF">
                  <a:alpha val="0"/>
                </a:srgbClr>
              </a:clrTo>
            </a:clrChange>
            <a:alphaModFix/>
            <a:extLst>
              <a:ext uri="{BEBA8EAE-BF5A-486C-A8C5-ECC9F3942E4B}">
                <a14:imgProps xmlns:a14="http://schemas.microsoft.com/office/drawing/2010/main">
                  <a14:imgLayer r:embed="rId7">
                    <a14:imgEffect>
                      <a14:sharpenSoften amount="-26000"/>
                    </a14:imgEffect>
                    <a14:imgEffect>
                      <a14:colorTemperature colorTemp="5686"/>
                    </a14:imgEffect>
                    <a14:imgEffect>
                      <a14:saturation sat="47000"/>
                    </a14:imgEffect>
                    <a14:imgEffect>
                      <a14:brightnessContrast contrast="-23000"/>
                    </a14:imgEffect>
                  </a14:imgLayer>
                </a14:imgProps>
              </a:ext>
            </a:extLst>
          </a:blip>
          <a:stretch>
            <a:fillRect/>
          </a:stretch>
        </p:blipFill>
        <p:spPr>
          <a:xfrm>
            <a:off x="1848243" y="3621140"/>
            <a:ext cx="708548" cy="708548"/>
          </a:xfrm>
          <a:prstGeom prst="rect">
            <a:avLst/>
          </a:prstGeom>
        </p:spPr>
      </p:pic>
      <p:pic>
        <p:nvPicPr>
          <p:cNvPr id="42" name="Graphic 41" descr="Database with solid fill">
            <a:extLst>
              <a:ext uri="{FF2B5EF4-FFF2-40B4-BE49-F238E27FC236}">
                <a16:creationId xmlns:a16="http://schemas.microsoft.com/office/drawing/2014/main" id="{6357F439-1D58-81BF-5FC7-9068915FD917}"/>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3539345" y="5875307"/>
            <a:ext cx="390784" cy="403751"/>
          </a:xfrm>
          <a:prstGeom prst="rect">
            <a:avLst/>
          </a:prstGeom>
        </p:spPr>
      </p:pic>
      <p:sp>
        <p:nvSpPr>
          <p:cNvPr id="43" name="Rectangle 42">
            <a:extLst>
              <a:ext uri="{FF2B5EF4-FFF2-40B4-BE49-F238E27FC236}">
                <a16:creationId xmlns:a16="http://schemas.microsoft.com/office/drawing/2014/main" id="{BA88E1B9-EBDD-D2F1-D739-09466473B5B1}"/>
              </a:ext>
            </a:extLst>
          </p:cNvPr>
          <p:cNvSpPr/>
          <p:nvPr/>
        </p:nvSpPr>
        <p:spPr>
          <a:xfrm>
            <a:off x="3488960" y="4128472"/>
            <a:ext cx="2122796" cy="453178"/>
          </a:xfrm>
          <a:prstGeom prst="rect">
            <a:avLst/>
          </a:prstGeom>
          <a:solidFill>
            <a:schemeClr val="accent3">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r"/>
            <a:r>
              <a:rPr lang="en-US" sz="1600" b="1">
                <a:solidFill>
                  <a:schemeClr val="tx1"/>
                </a:solidFill>
              </a:rPr>
              <a:t>Global Discovery Catalogue</a:t>
            </a:r>
            <a:endParaRPr lang="en-CH" sz="1600" b="1">
              <a:solidFill>
                <a:schemeClr val="tx1"/>
              </a:solidFill>
            </a:endParaRPr>
          </a:p>
        </p:txBody>
      </p:sp>
      <p:pic>
        <p:nvPicPr>
          <p:cNvPr id="44" name="Graphic 43" descr="Books outline">
            <a:extLst>
              <a:ext uri="{FF2B5EF4-FFF2-40B4-BE49-F238E27FC236}">
                <a16:creationId xmlns:a16="http://schemas.microsoft.com/office/drawing/2014/main" id="{110CDEE2-FB7A-E5B8-5D67-B4D912DDAD42}"/>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3559891" y="4177374"/>
            <a:ext cx="385091" cy="385091"/>
          </a:xfrm>
          <a:prstGeom prst="rect">
            <a:avLst/>
          </a:prstGeom>
        </p:spPr>
      </p:pic>
      <p:cxnSp>
        <p:nvCxnSpPr>
          <p:cNvPr id="45" name="Straight Arrow Connector 44">
            <a:extLst>
              <a:ext uri="{FF2B5EF4-FFF2-40B4-BE49-F238E27FC236}">
                <a16:creationId xmlns:a16="http://schemas.microsoft.com/office/drawing/2014/main" id="{7E094DE7-29D2-EAA5-EF2D-690FC07196D8}"/>
              </a:ext>
            </a:extLst>
          </p:cNvPr>
          <p:cNvCxnSpPr>
            <a:cxnSpLocks/>
            <a:stCxn id="38" idx="0"/>
            <a:endCxn id="39" idx="2"/>
          </p:cNvCxnSpPr>
          <p:nvPr/>
        </p:nvCxnSpPr>
        <p:spPr>
          <a:xfrm flipH="1" flipV="1">
            <a:off x="4548246" y="5437116"/>
            <a:ext cx="2111" cy="413767"/>
          </a:xfrm>
          <a:prstGeom prst="straightConnector1">
            <a:avLst/>
          </a:prstGeom>
          <a:ln>
            <a:solidFill>
              <a:schemeClr val="accent2">
                <a:lumMod val="60000"/>
                <a:lumOff val="40000"/>
              </a:schemeClr>
            </a:solidFill>
            <a:tailEnd type="triangle"/>
          </a:ln>
        </p:spPr>
        <p:style>
          <a:lnRef idx="2">
            <a:schemeClr val="accent1"/>
          </a:lnRef>
          <a:fillRef idx="0">
            <a:schemeClr val="accent1"/>
          </a:fillRef>
          <a:effectRef idx="1">
            <a:schemeClr val="accent1"/>
          </a:effectRef>
          <a:fontRef idx="minor">
            <a:schemeClr val="tx1"/>
          </a:fontRef>
        </p:style>
      </p:cxnSp>
      <p:cxnSp>
        <p:nvCxnSpPr>
          <p:cNvPr id="46" name="Straight Arrow Connector 45">
            <a:extLst>
              <a:ext uri="{FF2B5EF4-FFF2-40B4-BE49-F238E27FC236}">
                <a16:creationId xmlns:a16="http://schemas.microsoft.com/office/drawing/2014/main" id="{70CDEF6A-016C-A3BF-538A-BA3C2661BE93}"/>
              </a:ext>
            </a:extLst>
          </p:cNvPr>
          <p:cNvCxnSpPr>
            <a:cxnSpLocks/>
            <a:stCxn id="43" idx="2"/>
            <a:endCxn id="39" idx="0"/>
          </p:cNvCxnSpPr>
          <p:nvPr/>
        </p:nvCxnSpPr>
        <p:spPr>
          <a:xfrm flipH="1">
            <a:off x="4548246" y="4581650"/>
            <a:ext cx="2112" cy="402288"/>
          </a:xfrm>
          <a:prstGeom prst="straightConnector1">
            <a:avLst/>
          </a:prstGeom>
          <a:ln>
            <a:solidFill>
              <a:schemeClr val="accent2">
                <a:lumMod val="60000"/>
                <a:lumOff val="40000"/>
              </a:schemeClr>
            </a:solidFill>
            <a:tailEnd type="triangle"/>
          </a:ln>
        </p:spPr>
        <p:style>
          <a:lnRef idx="2">
            <a:schemeClr val="accent1"/>
          </a:lnRef>
          <a:fillRef idx="0">
            <a:schemeClr val="accent1"/>
          </a:fillRef>
          <a:effectRef idx="1">
            <a:schemeClr val="accent1"/>
          </a:effectRef>
          <a:fontRef idx="minor">
            <a:schemeClr val="tx1"/>
          </a:fontRef>
        </p:style>
      </p:cxnSp>
      <p:cxnSp>
        <p:nvCxnSpPr>
          <p:cNvPr id="47" name="Straight Arrow Connector 46">
            <a:extLst>
              <a:ext uri="{FF2B5EF4-FFF2-40B4-BE49-F238E27FC236}">
                <a16:creationId xmlns:a16="http://schemas.microsoft.com/office/drawing/2014/main" id="{C69EF545-D5A6-0F81-CCD4-018FA3DB85D2}"/>
              </a:ext>
            </a:extLst>
          </p:cNvPr>
          <p:cNvCxnSpPr>
            <a:cxnSpLocks/>
            <a:stCxn id="43" idx="1"/>
          </p:cNvCxnSpPr>
          <p:nvPr/>
        </p:nvCxnSpPr>
        <p:spPr>
          <a:xfrm flipH="1">
            <a:off x="2533012" y="4355061"/>
            <a:ext cx="955948" cy="854610"/>
          </a:xfrm>
          <a:prstGeom prst="straightConnector1">
            <a:avLst/>
          </a:prstGeom>
          <a:ln>
            <a:solidFill>
              <a:schemeClr val="accent3">
                <a:lumMod val="75000"/>
              </a:schemeClr>
            </a:solidFill>
            <a:tailEnd type="triangle"/>
          </a:ln>
        </p:spPr>
        <p:style>
          <a:lnRef idx="2">
            <a:schemeClr val="accent1"/>
          </a:lnRef>
          <a:fillRef idx="0">
            <a:schemeClr val="accent1"/>
          </a:fillRef>
          <a:effectRef idx="1">
            <a:schemeClr val="accent1"/>
          </a:effectRef>
          <a:fontRef idx="minor">
            <a:schemeClr val="tx1"/>
          </a:fontRef>
        </p:style>
      </p:cxnSp>
      <p:cxnSp>
        <p:nvCxnSpPr>
          <p:cNvPr id="48" name="Straight Arrow Connector 47">
            <a:extLst>
              <a:ext uri="{FF2B5EF4-FFF2-40B4-BE49-F238E27FC236}">
                <a16:creationId xmlns:a16="http://schemas.microsoft.com/office/drawing/2014/main" id="{02A50004-270C-EC2E-E3C3-BA768B0E8B9A}"/>
              </a:ext>
            </a:extLst>
          </p:cNvPr>
          <p:cNvCxnSpPr>
            <a:cxnSpLocks/>
            <a:stCxn id="38" idx="1"/>
          </p:cNvCxnSpPr>
          <p:nvPr/>
        </p:nvCxnSpPr>
        <p:spPr>
          <a:xfrm flipH="1" flipV="1">
            <a:off x="2533012" y="5209671"/>
            <a:ext cx="955946" cy="867513"/>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49" name="TextBox 48">
            <a:extLst>
              <a:ext uri="{FF2B5EF4-FFF2-40B4-BE49-F238E27FC236}">
                <a16:creationId xmlns:a16="http://schemas.microsoft.com/office/drawing/2014/main" id="{0B3C19C9-7515-5B9A-7E3F-80E4BD117D1C}"/>
              </a:ext>
            </a:extLst>
          </p:cNvPr>
          <p:cNvSpPr txBox="1"/>
          <p:nvPr/>
        </p:nvSpPr>
        <p:spPr>
          <a:xfrm>
            <a:off x="2889009" y="4995557"/>
            <a:ext cx="545342" cy="261610"/>
          </a:xfrm>
          <a:prstGeom prst="rect">
            <a:avLst/>
          </a:prstGeom>
          <a:noFill/>
        </p:spPr>
        <p:txBody>
          <a:bodyPr wrap="none" rtlCol="0">
            <a:spAutoFit/>
          </a:bodyPr>
          <a:lstStyle/>
          <a:p>
            <a:r>
              <a:rPr lang="en-US" sz="1100" b="1">
                <a:solidFill>
                  <a:schemeClr val="accent2">
                    <a:lumMod val="75000"/>
                  </a:schemeClr>
                </a:solidFill>
              </a:rPr>
              <a:t>MQTT</a:t>
            </a:r>
            <a:endParaRPr lang="en-CH" sz="1100" b="1">
              <a:solidFill>
                <a:schemeClr val="accent2">
                  <a:lumMod val="75000"/>
                </a:schemeClr>
              </a:solidFill>
            </a:endParaRPr>
          </a:p>
        </p:txBody>
      </p:sp>
      <p:sp>
        <p:nvSpPr>
          <p:cNvPr id="50" name="TextBox 49">
            <a:extLst>
              <a:ext uri="{FF2B5EF4-FFF2-40B4-BE49-F238E27FC236}">
                <a16:creationId xmlns:a16="http://schemas.microsoft.com/office/drawing/2014/main" id="{DD5DCC54-73B9-2E0D-B4B8-DC6D714194EC}"/>
              </a:ext>
            </a:extLst>
          </p:cNvPr>
          <p:cNvSpPr txBox="1"/>
          <p:nvPr/>
        </p:nvSpPr>
        <p:spPr>
          <a:xfrm rot="18900058">
            <a:off x="2684593" y="4593927"/>
            <a:ext cx="490840" cy="261610"/>
          </a:xfrm>
          <a:prstGeom prst="rect">
            <a:avLst/>
          </a:prstGeom>
          <a:noFill/>
        </p:spPr>
        <p:txBody>
          <a:bodyPr wrap="none" rtlCol="0">
            <a:spAutoFit/>
          </a:bodyPr>
          <a:lstStyle/>
          <a:p>
            <a:r>
              <a:rPr lang="en-US" sz="1100" b="1">
                <a:solidFill>
                  <a:schemeClr val="accent3">
                    <a:lumMod val="50000"/>
                  </a:schemeClr>
                </a:solidFill>
              </a:rPr>
              <a:t>HTTP</a:t>
            </a:r>
            <a:endParaRPr lang="en-CH" sz="1100" b="1">
              <a:solidFill>
                <a:schemeClr val="accent3">
                  <a:lumMod val="50000"/>
                </a:schemeClr>
              </a:solidFill>
            </a:endParaRPr>
          </a:p>
        </p:txBody>
      </p:sp>
      <p:sp>
        <p:nvSpPr>
          <p:cNvPr id="51" name="TextBox 50">
            <a:extLst>
              <a:ext uri="{FF2B5EF4-FFF2-40B4-BE49-F238E27FC236}">
                <a16:creationId xmlns:a16="http://schemas.microsoft.com/office/drawing/2014/main" id="{D1F73782-BA5A-DC0C-1370-83F7A7143425}"/>
              </a:ext>
            </a:extLst>
          </p:cNvPr>
          <p:cNvSpPr txBox="1"/>
          <p:nvPr/>
        </p:nvSpPr>
        <p:spPr>
          <a:xfrm rot="5400000">
            <a:off x="8636999" y="6027583"/>
            <a:ext cx="490840" cy="261610"/>
          </a:xfrm>
          <a:prstGeom prst="rect">
            <a:avLst/>
          </a:prstGeom>
          <a:noFill/>
        </p:spPr>
        <p:txBody>
          <a:bodyPr wrap="none" rtlCol="0">
            <a:spAutoFit/>
          </a:bodyPr>
          <a:lstStyle/>
          <a:p>
            <a:r>
              <a:rPr lang="en-US" sz="1100" b="1">
                <a:solidFill>
                  <a:schemeClr val="accent1">
                    <a:lumMod val="50000"/>
                  </a:schemeClr>
                </a:solidFill>
              </a:rPr>
              <a:t>HTTP</a:t>
            </a:r>
            <a:endParaRPr lang="en-CH" sz="1100" b="1">
              <a:solidFill>
                <a:schemeClr val="accent1">
                  <a:lumMod val="50000"/>
                </a:schemeClr>
              </a:solidFill>
            </a:endParaRPr>
          </a:p>
        </p:txBody>
      </p:sp>
      <p:cxnSp>
        <p:nvCxnSpPr>
          <p:cNvPr id="52" name="Straight Arrow Connector 51">
            <a:extLst>
              <a:ext uri="{FF2B5EF4-FFF2-40B4-BE49-F238E27FC236}">
                <a16:creationId xmlns:a16="http://schemas.microsoft.com/office/drawing/2014/main" id="{39077B1F-1A63-3957-3F91-EE32C0EBB113}"/>
              </a:ext>
            </a:extLst>
          </p:cNvPr>
          <p:cNvCxnSpPr>
            <a:cxnSpLocks/>
          </p:cNvCxnSpPr>
          <p:nvPr/>
        </p:nvCxnSpPr>
        <p:spPr>
          <a:xfrm flipH="1">
            <a:off x="4843283" y="5440473"/>
            <a:ext cx="2112" cy="402288"/>
          </a:xfrm>
          <a:prstGeom prst="straightConnector1">
            <a:avLst/>
          </a:prstGeom>
          <a:ln>
            <a:solidFill>
              <a:schemeClr val="accent1">
                <a:lumMod val="75000"/>
              </a:schemeClr>
            </a:solidFill>
            <a:tailEnd type="triangle"/>
          </a:ln>
        </p:spPr>
        <p:style>
          <a:lnRef idx="2">
            <a:schemeClr val="accent1"/>
          </a:lnRef>
          <a:fillRef idx="0">
            <a:schemeClr val="accent1"/>
          </a:fillRef>
          <a:effectRef idx="1">
            <a:schemeClr val="accent1"/>
          </a:effectRef>
          <a:fontRef idx="minor">
            <a:schemeClr val="tx1"/>
          </a:fontRef>
        </p:style>
      </p:cxnSp>
      <p:cxnSp>
        <p:nvCxnSpPr>
          <p:cNvPr id="53" name="Straight Arrow Connector 52">
            <a:extLst>
              <a:ext uri="{FF2B5EF4-FFF2-40B4-BE49-F238E27FC236}">
                <a16:creationId xmlns:a16="http://schemas.microsoft.com/office/drawing/2014/main" id="{15AF827B-B9E7-3B36-9072-8F5621B00EA8}"/>
              </a:ext>
            </a:extLst>
          </p:cNvPr>
          <p:cNvCxnSpPr>
            <a:cxnSpLocks/>
          </p:cNvCxnSpPr>
          <p:nvPr/>
        </p:nvCxnSpPr>
        <p:spPr>
          <a:xfrm flipV="1">
            <a:off x="4827501" y="4560686"/>
            <a:ext cx="0" cy="428297"/>
          </a:xfrm>
          <a:prstGeom prst="straightConnector1">
            <a:avLst/>
          </a:prstGeom>
          <a:ln>
            <a:solidFill>
              <a:schemeClr val="accent3">
                <a:lumMod val="75000"/>
              </a:schemeClr>
            </a:solidFill>
            <a:tailEnd type="triangle"/>
          </a:ln>
        </p:spPr>
        <p:style>
          <a:lnRef idx="2">
            <a:schemeClr val="accent1"/>
          </a:lnRef>
          <a:fillRef idx="0">
            <a:schemeClr val="accent1"/>
          </a:fillRef>
          <a:effectRef idx="1">
            <a:schemeClr val="accent1"/>
          </a:effectRef>
          <a:fontRef idx="minor">
            <a:schemeClr val="tx1"/>
          </a:fontRef>
        </p:style>
      </p:cxnSp>
      <p:cxnSp>
        <p:nvCxnSpPr>
          <p:cNvPr id="54" name="Straight Arrow Connector 53">
            <a:extLst>
              <a:ext uri="{FF2B5EF4-FFF2-40B4-BE49-F238E27FC236}">
                <a16:creationId xmlns:a16="http://schemas.microsoft.com/office/drawing/2014/main" id="{1FC656BB-5CFD-1D03-07CB-0EF5828A176F}"/>
              </a:ext>
            </a:extLst>
          </p:cNvPr>
          <p:cNvCxnSpPr>
            <a:cxnSpLocks/>
            <a:stCxn id="39" idx="3"/>
            <a:endCxn id="58" idx="1"/>
          </p:cNvCxnSpPr>
          <p:nvPr/>
        </p:nvCxnSpPr>
        <p:spPr>
          <a:xfrm>
            <a:off x="5611756" y="5210527"/>
            <a:ext cx="2767938" cy="15046"/>
          </a:xfrm>
          <a:prstGeom prst="straightConnector1">
            <a:avLst/>
          </a:prstGeom>
          <a:ln>
            <a:solidFill>
              <a:schemeClr val="accent2">
                <a:lumMod val="60000"/>
                <a:lumOff val="40000"/>
              </a:schemeClr>
            </a:solidFill>
            <a:tailEnd type="triangle"/>
          </a:ln>
        </p:spPr>
        <p:style>
          <a:lnRef idx="2">
            <a:schemeClr val="accent1"/>
          </a:lnRef>
          <a:fillRef idx="0">
            <a:schemeClr val="accent1"/>
          </a:fillRef>
          <a:effectRef idx="1">
            <a:schemeClr val="accent1"/>
          </a:effectRef>
          <a:fontRef idx="minor">
            <a:schemeClr val="tx1"/>
          </a:fontRef>
        </p:style>
      </p:cxnSp>
      <p:cxnSp>
        <p:nvCxnSpPr>
          <p:cNvPr id="55" name="Straight Arrow Connector 54">
            <a:extLst>
              <a:ext uri="{FF2B5EF4-FFF2-40B4-BE49-F238E27FC236}">
                <a16:creationId xmlns:a16="http://schemas.microsoft.com/office/drawing/2014/main" id="{44A8BAB8-8931-D42F-5DA7-1335FF97D5E0}"/>
              </a:ext>
            </a:extLst>
          </p:cNvPr>
          <p:cNvCxnSpPr>
            <a:cxnSpLocks/>
            <a:stCxn id="39" idx="1"/>
          </p:cNvCxnSpPr>
          <p:nvPr/>
        </p:nvCxnSpPr>
        <p:spPr>
          <a:xfrm flipH="1" flipV="1">
            <a:off x="2533012" y="5209671"/>
            <a:ext cx="951724" cy="856"/>
          </a:xfrm>
          <a:prstGeom prst="straightConnector1">
            <a:avLst/>
          </a:prstGeom>
          <a:ln>
            <a:solidFill>
              <a:schemeClr val="accent2">
                <a:lumMod val="60000"/>
                <a:lumOff val="40000"/>
              </a:schemeClr>
            </a:solidFill>
            <a:tailEnd type="triangle"/>
          </a:ln>
        </p:spPr>
        <p:style>
          <a:lnRef idx="2">
            <a:schemeClr val="accent1"/>
          </a:lnRef>
          <a:fillRef idx="0">
            <a:schemeClr val="accent1"/>
          </a:fillRef>
          <a:effectRef idx="1">
            <a:schemeClr val="accent1"/>
          </a:effectRef>
          <a:fontRef idx="minor">
            <a:schemeClr val="tx1"/>
          </a:fontRef>
        </p:style>
      </p:cxnSp>
      <p:pic>
        <p:nvPicPr>
          <p:cNvPr id="56" name="Picture 55">
            <a:extLst>
              <a:ext uri="{FF2B5EF4-FFF2-40B4-BE49-F238E27FC236}">
                <a16:creationId xmlns:a16="http://schemas.microsoft.com/office/drawing/2014/main" id="{0432092F-C0EE-DE14-A9E2-6D195892F391}"/>
              </a:ext>
            </a:extLst>
          </p:cNvPr>
          <p:cNvPicPr>
            <a:picLocks noChangeAspect="1"/>
          </p:cNvPicPr>
          <p:nvPr/>
        </p:nvPicPr>
        <p:blipFill>
          <a:blip r:embed="rId10"/>
          <a:stretch>
            <a:fillRect/>
          </a:stretch>
        </p:blipFill>
        <p:spPr>
          <a:xfrm>
            <a:off x="6780765" y="3631387"/>
            <a:ext cx="828473" cy="994169"/>
          </a:xfrm>
          <a:prstGeom prst="rect">
            <a:avLst/>
          </a:prstGeom>
        </p:spPr>
      </p:pic>
      <p:sp>
        <p:nvSpPr>
          <p:cNvPr id="57" name="TextBox 56">
            <a:extLst>
              <a:ext uri="{FF2B5EF4-FFF2-40B4-BE49-F238E27FC236}">
                <a16:creationId xmlns:a16="http://schemas.microsoft.com/office/drawing/2014/main" id="{3336CAFC-A844-B5C0-EB0B-ECE73A681FEA}"/>
              </a:ext>
            </a:extLst>
          </p:cNvPr>
          <p:cNvSpPr txBox="1"/>
          <p:nvPr/>
        </p:nvSpPr>
        <p:spPr>
          <a:xfrm>
            <a:off x="5971595" y="4137616"/>
            <a:ext cx="902811" cy="261610"/>
          </a:xfrm>
          <a:prstGeom prst="rect">
            <a:avLst/>
          </a:prstGeom>
          <a:noFill/>
        </p:spPr>
        <p:txBody>
          <a:bodyPr wrap="none" rtlCol="0">
            <a:spAutoFit/>
          </a:bodyPr>
          <a:lstStyle/>
          <a:p>
            <a:r>
              <a:rPr lang="en-US" sz="1100" b="1">
                <a:solidFill>
                  <a:schemeClr val="accent3">
                    <a:lumMod val="50000"/>
                  </a:schemeClr>
                </a:solidFill>
              </a:rPr>
              <a:t>HTTP search</a:t>
            </a:r>
            <a:endParaRPr lang="en-CH" sz="1100" b="1">
              <a:solidFill>
                <a:schemeClr val="accent3">
                  <a:lumMod val="50000"/>
                </a:schemeClr>
              </a:solidFill>
            </a:endParaRPr>
          </a:p>
        </p:txBody>
      </p:sp>
      <p:pic>
        <p:nvPicPr>
          <p:cNvPr id="58" name="Picture 57">
            <a:extLst>
              <a:ext uri="{FF2B5EF4-FFF2-40B4-BE49-F238E27FC236}">
                <a16:creationId xmlns:a16="http://schemas.microsoft.com/office/drawing/2014/main" id="{B9C08A25-CAD0-F7EA-9383-5EA9A13D43A8}"/>
              </a:ext>
            </a:extLst>
          </p:cNvPr>
          <p:cNvPicPr>
            <a:picLocks noChangeAspect="1"/>
          </p:cNvPicPr>
          <p:nvPr/>
        </p:nvPicPr>
        <p:blipFill>
          <a:blip r:embed="rId11"/>
          <a:stretch>
            <a:fillRect/>
          </a:stretch>
        </p:blipFill>
        <p:spPr>
          <a:xfrm>
            <a:off x="8379694" y="4853652"/>
            <a:ext cx="743841" cy="743841"/>
          </a:xfrm>
          <a:prstGeom prst="rect">
            <a:avLst/>
          </a:prstGeom>
        </p:spPr>
      </p:pic>
      <p:sp>
        <p:nvSpPr>
          <p:cNvPr id="59" name="Rectangle 58">
            <a:extLst>
              <a:ext uri="{FF2B5EF4-FFF2-40B4-BE49-F238E27FC236}">
                <a16:creationId xmlns:a16="http://schemas.microsoft.com/office/drawing/2014/main" id="{9DBBB1AA-F4B7-0F4A-F4AC-ADA75D5EA200}"/>
              </a:ext>
            </a:extLst>
          </p:cNvPr>
          <p:cNvSpPr/>
          <p:nvPr/>
        </p:nvSpPr>
        <p:spPr>
          <a:xfrm>
            <a:off x="780410" y="5004793"/>
            <a:ext cx="1752602" cy="409755"/>
          </a:xfrm>
          <a:prstGeom prst="rect">
            <a:avLst/>
          </a:prstGeom>
          <a:solidFill>
            <a:schemeClr val="bg1"/>
          </a:solidFill>
          <a:ln cap="flat">
            <a:solidFill>
              <a:srgbClr val="1042D3"/>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r"/>
            <a:r>
              <a:rPr lang="en-US" b="1">
                <a:solidFill>
                  <a:srgbClr val="1042D3"/>
                </a:solidFill>
              </a:rPr>
              <a:t>WIS2 Node</a:t>
            </a:r>
            <a:endParaRPr lang="en-CH" b="1">
              <a:solidFill>
                <a:srgbClr val="1042D3"/>
              </a:solidFill>
            </a:endParaRPr>
          </a:p>
        </p:txBody>
      </p:sp>
      <p:pic>
        <p:nvPicPr>
          <p:cNvPr id="60" name="Picture 59">
            <a:extLst>
              <a:ext uri="{FF2B5EF4-FFF2-40B4-BE49-F238E27FC236}">
                <a16:creationId xmlns:a16="http://schemas.microsoft.com/office/drawing/2014/main" id="{4E6CABFF-558F-155A-B298-632ACC652594}"/>
              </a:ext>
            </a:extLst>
          </p:cNvPr>
          <p:cNvPicPr>
            <a:picLocks noChangeAspect="1"/>
          </p:cNvPicPr>
          <p:nvPr/>
        </p:nvPicPr>
        <p:blipFill>
          <a:blip r:embed="rId12"/>
          <a:stretch>
            <a:fillRect/>
          </a:stretch>
        </p:blipFill>
        <p:spPr>
          <a:xfrm>
            <a:off x="861404" y="5043063"/>
            <a:ext cx="389556" cy="356402"/>
          </a:xfrm>
          <a:prstGeom prst="rect">
            <a:avLst/>
          </a:prstGeom>
        </p:spPr>
      </p:pic>
      <p:cxnSp>
        <p:nvCxnSpPr>
          <p:cNvPr id="61" name="Connector: Elbow 60">
            <a:extLst>
              <a:ext uri="{FF2B5EF4-FFF2-40B4-BE49-F238E27FC236}">
                <a16:creationId xmlns:a16="http://schemas.microsoft.com/office/drawing/2014/main" id="{302A5753-BC3F-E935-51AE-12477F6C3486}"/>
              </a:ext>
            </a:extLst>
          </p:cNvPr>
          <p:cNvCxnSpPr>
            <a:cxnSpLocks/>
            <a:stCxn id="59" idx="2"/>
            <a:endCxn id="58" idx="2"/>
          </p:cNvCxnSpPr>
          <p:nvPr/>
        </p:nvCxnSpPr>
        <p:spPr>
          <a:xfrm rot="16200000" flipH="1">
            <a:off x="5112691" y="1958568"/>
            <a:ext cx="182945" cy="7094904"/>
          </a:xfrm>
          <a:prstGeom prst="bentConnector3">
            <a:avLst>
              <a:gd name="adj1" fmla="val 664194"/>
            </a:avLst>
          </a:prstGeom>
          <a:ln>
            <a:headEnd type="triangle"/>
            <a:tailEnd type="none"/>
          </a:ln>
        </p:spPr>
        <p:style>
          <a:lnRef idx="2">
            <a:schemeClr val="accent1"/>
          </a:lnRef>
          <a:fillRef idx="0">
            <a:schemeClr val="accent1"/>
          </a:fillRef>
          <a:effectRef idx="1">
            <a:schemeClr val="accent1"/>
          </a:effectRef>
          <a:fontRef idx="minor">
            <a:schemeClr val="tx1"/>
          </a:fontRef>
        </p:style>
      </p:cxnSp>
      <p:cxnSp>
        <p:nvCxnSpPr>
          <p:cNvPr id="62" name="Connector: Elbow 61">
            <a:extLst>
              <a:ext uri="{FF2B5EF4-FFF2-40B4-BE49-F238E27FC236}">
                <a16:creationId xmlns:a16="http://schemas.microsoft.com/office/drawing/2014/main" id="{BBD1E5F1-65FF-43FF-225C-C4198E8A4C29}"/>
              </a:ext>
            </a:extLst>
          </p:cNvPr>
          <p:cNvCxnSpPr>
            <a:cxnSpLocks/>
            <a:stCxn id="58" idx="2"/>
            <a:endCxn id="38" idx="3"/>
          </p:cNvCxnSpPr>
          <p:nvPr/>
        </p:nvCxnSpPr>
        <p:spPr>
          <a:xfrm rot="5400000">
            <a:off x="6941840" y="4267408"/>
            <a:ext cx="479691" cy="3139860"/>
          </a:xfrm>
          <a:prstGeom prst="bentConnector2">
            <a:avLst/>
          </a:prstGeom>
          <a:ln>
            <a:tailEnd type="triangle"/>
          </a:ln>
        </p:spPr>
        <p:style>
          <a:lnRef idx="2">
            <a:schemeClr val="accent1"/>
          </a:lnRef>
          <a:fillRef idx="0">
            <a:schemeClr val="accent1"/>
          </a:fillRef>
          <a:effectRef idx="1">
            <a:schemeClr val="accent1"/>
          </a:effectRef>
          <a:fontRef idx="minor">
            <a:schemeClr val="tx1"/>
          </a:fontRef>
        </p:style>
      </p:cxnSp>
      <p:pic>
        <p:nvPicPr>
          <p:cNvPr id="63" name="Picture 62">
            <a:extLst>
              <a:ext uri="{FF2B5EF4-FFF2-40B4-BE49-F238E27FC236}">
                <a16:creationId xmlns:a16="http://schemas.microsoft.com/office/drawing/2014/main" id="{FF8596A9-AF65-0F18-E965-D8347444B858}"/>
              </a:ext>
            </a:extLst>
          </p:cNvPr>
          <p:cNvPicPr>
            <a:picLocks noChangeAspect="1"/>
          </p:cNvPicPr>
          <p:nvPr/>
        </p:nvPicPr>
        <p:blipFill>
          <a:blip r:embed="rId13"/>
          <a:stretch>
            <a:fillRect/>
          </a:stretch>
        </p:blipFill>
        <p:spPr>
          <a:xfrm flipH="1">
            <a:off x="7410727" y="3699570"/>
            <a:ext cx="240898" cy="245585"/>
          </a:xfrm>
          <a:prstGeom prst="rect">
            <a:avLst/>
          </a:prstGeom>
        </p:spPr>
      </p:pic>
      <p:sp>
        <p:nvSpPr>
          <p:cNvPr id="64" name="TextBox 63">
            <a:extLst>
              <a:ext uri="{FF2B5EF4-FFF2-40B4-BE49-F238E27FC236}">
                <a16:creationId xmlns:a16="http://schemas.microsoft.com/office/drawing/2014/main" id="{9FB6D4F0-6F73-C5BA-A271-2EAB07A4AB6A}"/>
              </a:ext>
            </a:extLst>
          </p:cNvPr>
          <p:cNvSpPr txBox="1"/>
          <p:nvPr/>
        </p:nvSpPr>
        <p:spPr>
          <a:xfrm rot="2590689">
            <a:off x="2879453" y="5481182"/>
            <a:ext cx="490840" cy="261610"/>
          </a:xfrm>
          <a:prstGeom prst="rect">
            <a:avLst/>
          </a:prstGeom>
          <a:noFill/>
        </p:spPr>
        <p:txBody>
          <a:bodyPr wrap="none" rtlCol="0">
            <a:spAutoFit/>
          </a:bodyPr>
          <a:lstStyle/>
          <a:p>
            <a:r>
              <a:rPr lang="en-US" sz="1100" b="1">
                <a:solidFill>
                  <a:schemeClr val="accent1">
                    <a:lumMod val="50000"/>
                  </a:schemeClr>
                </a:solidFill>
              </a:rPr>
              <a:t>HTTP</a:t>
            </a:r>
            <a:endParaRPr lang="en-CH" sz="1100" b="1">
              <a:solidFill>
                <a:schemeClr val="accent1">
                  <a:lumMod val="50000"/>
                </a:schemeClr>
              </a:solidFill>
            </a:endParaRPr>
          </a:p>
        </p:txBody>
      </p:sp>
      <p:sp>
        <p:nvSpPr>
          <p:cNvPr id="65" name="TextBox 64">
            <a:extLst>
              <a:ext uri="{FF2B5EF4-FFF2-40B4-BE49-F238E27FC236}">
                <a16:creationId xmlns:a16="http://schemas.microsoft.com/office/drawing/2014/main" id="{AE8FA99B-A8F7-2139-A104-0E9DFCC8291C}"/>
              </a:ext>
            </a:extLst>
          </p:cNvPr>
          <p:cNvSpPr txBox="1"/>
          <p:nvPr/>
        </p:nvSpPr>
        <p:spPr>
          <a:xfrm>
            <a:off x="7651626" y="3650154"/>
            <a:ext cx="3530832" cy="523220"/>
          </a:xfrm>
          <a:prstGeom prst="rect">
            <a:avLst/>
          </a:prstGeom>
          <a:noFill/>
        </p:spPr>
        <p:txBody>
          <a:bodyPr wrap="square">
            <a:spAutoFit/>
          </a:bodyPr>
          <a:lstStyle/>
          <a:p>
            <a:r>
              <a:rPr lang="en-GB" sz="1400" i="1"/>
              <a:t>Searching the Global Discovery Catalogue for datasets that match my requirements…</a:t>
            </a:r>
          </a:p>
        </p:txBody>
      </p:sp>
    </p:spTree>
    <p:extLst>
      <p:ext uri="{BB962C8B-B14F-4D97-AF65-F5344CB8AC3E}">
        <p14:creationId xmlns:p14="http://schemas.microsoft.com/office/powerpoint/2010/main" val="222549082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436AF8-5FEF-E5C7-61A6-1F969FA0A601}"/>
            </a:ext>
          </a:extLst>
        </p:cNvPr>
        <p:cNvGrpSpPr/>
        <p:nvPr/>
      </p:nvGrpSpPr>
      <p:grpSpPr>
        <a:xfrm>
          <a:off x="0" y="0"/>
          <a:ext cx="0" cy="0"/>
          <a:chOff x="0" y="0"/>
          <a:chExt cx="0" cy="0"/>
        </a:xfrm>
      </p:grpSpPr>
      <p:sp>
        <p:nvSpPr>
          <p:cNvPr id="124" name="TextBox 123">
            <a:extLst>
              <a:ext uri="{FF2B5EF4-FFF2-40B4-BE49-F238E27FC236}">
                <a16:creationId xmlns:a16="http://schemas.microsoft.com/office/drawing/2014/main" id="{70734EEA-2D26-29CE-E85E-28B0B2C6E7B5}"/>
              </a:ext>
            </a:extLst>
          </p:cNvPr>
          <p:cNvSpPr txBox="1"/>
          <p:nvPr/>
        </p:nvSpPr>
        <p:spPr>
          <a:xfrm>
            <a:off x="4031538" y="131716"/>
            <a:ext cx="4128951" cy="646331"/>
          </a:xfrm>
          <a:prstGeom prst="rect">
            <a:avLst/>
          </a:prstGeom>
          <a:noFill/>
        </p:spPr>
        <p:txBody>
          <a:bodyPr wrap="none" rtlCol="0">
            <a:spAutoFit/>
          </a:bodyPr>
          <a:lstStyle/>
          <a:p>
            <a:pPr algn="ctr">
              <a:lnSpc>
                <a:spcPct val="90000"/>
              </a:lnSpc>
              <a:spcBef>
                <a:spcPct val="0"/>
              </a:spcBef>
              <a:tabLst>
                <a:tab pos="407526" algn="l"/>
                <a:tab pos="815052" algn="l"/>
                <a:tab pos="1222578" algn="l"/>
                <a:tab pos="1630104" algn="l"/>
                <a:tab pos="2037631" algn="l"/>
                <a:tab pos="2445156" algn="l"/>
                <a:tab pos="2852683" algn="l"/>
                <a:tab pos="3260208" algn="l"/>
                <a:tab pos="3667735" algn="l"/>
                <a:tab pos="4075260" algn="l"/>
                <a:tab pos="4482787" algn="l"/>
                <a:tab pos="4890312" algn="l"/>
                <a:tab pos="5297839" algn="l"/>
                <a:tab pos="5705364" algn="l"/>
                <a:tab pos="6112891" algn="l"/>
                <a:tab pos="6520416" algn="l"/>
                <a:tab pos="6927943" algn="l"/>
                <a:tab pos="7335468" algn="l"/>
                <a:tab pos="7742995" algn="l"/>
              </a:tabLst>
            </a:pPr>
            <a:r>
              <a:rPr lang="en-GB" sz="4000" dirty="0">
                <a:latin typeface="+mj-lt"/>
                <a:ea typeface="+mj-ea"/>
                <a:cs typeface="+mj-cs"/>
              </a:rPr>
              <a:t>Inspecting WCMP2</a:t>
            </a:r>
          </a:p>
        </p:txBody>
      </p:sp>
      <p:sp>
        <p:nvSpPr>
          <p:cNvPr id="96" name="Rectangle 2">
            <a:extLst>
              <a:ext uri="{FF2B5EF4-FFF2-40B4-BE49-F238E27FC236}">
                <a16:creationId xmlns:a16="http://schemas.microsoft.com/office/drawing/2014/main" id="{CFC85F80-2863-2D20-1114-EE9DACB66AED}"/>
              </a:ext>
            </a:extLst>
          </p:cNvPr>
          <p:cNvSpPr txBox="1">
            <a:spLocks noChangeArrowheads="1"/>
          </p:cNvSpPr>
          <p:nvPr/>
        </p:nvSpPr>
        <p:spPr>
          <a:xfrm>
            <a:off x="914401" y="925808"/>
            <a:ext cx="10613984" cy="4758284"/>
          </a:xfrm>
          <a:prstGeom prst="rect">
            <a:avLst/>
          </a:prstGeom>
          <a:ln/>
        </p:spPr>
        <p:txBody>
          <a:bodyPr>
            <a:noAutofit/>
          </a:bodyPr>
          <a:lst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a:buClr>
                <a:schemeClr val="tx1"/>
              </a:buClr>
              <a:buSzPct val="100000"/>
              <a:tabLst>
                <a:tab pos="384170" algn="l"/>
                <a:tab pos="768339" algn="l"/>
                <a:tab pos="1152509" algn="l"/>
                <a:tab pos="1536678" algn="l"/>
                <a:tab pos="1920848" algn="l"/>
                <a:tab pos="2305016" algn="l"/>
                <a:tab pos="2689187" algn="l"/>
                <a:tab pos="3073355" algn="l"/>
                <a:tab pos="3457526" algn="l"/>
                <a:tab pos="3841694" algn="l"/>
                <a:tab pos="4225865" algn="l"/>
                <a:tab pos="4610033" algn="l"/>
                <a:tab pos="4994204" algn="l"/>
                <a:tab pos="5378372" algn="l"/>
                <a:tab pos="5762543" algn="l"/>
                <a:tab pos="6146712" algn="l"/>
                <a:tab pos="6530882" algn="l"/>
                <a:tab pos="6915050" algn="l"/>
                <a:tab pos="7299220" algn="l"/>
              </a:tabLst>
            </a:pPr>
            <a:r>
              <a:rPr lang="en-GB" altLang="en-FR" sz="2800" dirty="0"/>
              <a:t>Reviewing live WCMP2 records in a GDC</a:t>
            </a:r>
          </a:p>
        </p:txBody>
      </p:sp>
    </p:spTree>
    <p:extLst>
      <p:ext uri="{BB962C8B-B14F-4D97-AF65-F5344CB8AC3E}">
        <p14:creationId xmlns:p14="http://schemas.microsoft.com/office/powerpoint/2010/main" val="147002121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01C477-BFF3-73FA-4D9F-F5FE76AF90EC}"/>
            </a:ext>
          </a:extLst>
        </p:cNvPr>
        <p:cNvGrpSpPr/>
        <p:nvPr/>
      </p:nvGrpSpPr>
      <p:grpSpPr>
        <a:xfrm>
          <a:off x="0" y="0"/>
          <a:ext cx="0" cy="0"/>
          <a:chOff x="0" y="0"/>
          <a:chExt cx="0" cy="0"/>
        </a:xfrm>
      </p:grpSpPr>
      <p:sp>
        <p:nvSpPr>
          <p:cNvPr id="124" name="TextBox 123">
            <a:extLst>
              <a:ext uri="{FF2B5EF4-FFF2-40B4-BE49-F238E27FC236}">
                <a16:creationId xmlns:a16="http://schemas.microsoft.com/office/drawing/2014/main" id="{885C2BDE-8DA6-8FDF-895A-26CFBDDC88F4}"/>
              </a:ext>
            </a:extLst>
          </p:cNvPr>
          <p:cNvSpPr txBox="1"/>
          <p:nvPr/>
        </p:nvSpPr>
        <p:spPr>
          <a:xfrm>
            <a:off x="4501438" y="131716"/>
            <a:ext cx="3189143" cy="646331"/>
          </a:xfrm>
          <a:prstGeom prst="rect">
            <a:avLst/>
          </a:prstGeom>
          <a:noFill/>
        </p:spPr>
        <p:txBody>
          <a:bodyPr wrap="none" rtlCol="0">
            <a:spAutoFit/>
          </a:bodyPr>
          <a:lstStyle/>
          <a:p>
            <a:pPr algn="ctr">
              <a:lnSpc>
                <a:spcPct val="90000"/>
              </a:lnSpc>
              <a:spcBef>
                <a:spcPct val="0"/>
              </a:spcBef>
              <a:tabLst>
                <a:tab pos="407526" algn="l"/>
                <a:tab pos="815052" algn="l"/>
                <a:tab pos="1222578" algn="l"/>
                <a:tab pos="1630104" algn="l"/>
                <a:tab pos="2037631" algn="l"/>
                <a:tab pos="2445156" algn="l"/>
                <a:tab pos="2852683" algn="l"/>
                <a:tab pos="3260208" algn="l"/>
                <a:tab pos="3667735" algn="l"/>
                <a:tab pos="4075260" algn="l"/>
                <a:tab pos="4482787" algn="l"/>
                <a:tab pos="4890312" algn="l"/>
                <a:tab pos="5297839" algn="l"/>
                <a:tab pos="5705364" algn="l"/>
                <a:tab pos="6112891" algn="l"/>
                <a:tab pos="6520416" algn="l"/>
                <a:tab pos="6927943" algn="l"/>
                <a:tab pos="7335468" algn="l"/>
                <a:tab pos="7742995" algn="l"/>
              </a:tabLst>
            </a:pPr>
            <a:r>
              <a:rPr lang="en-GB" sz="4000" dirty="0">
                <a:latin typeface="+mj-lt"/>
                <a:ea typeface="+mj-ea"/>
                <a:cs typeface="+mj-cs"/>
              </a:rPr>
              <a:t>GDC Overview</a:t>
            </a:r>
          </a:p>
        </p:txBody>
      </p:sp>
      <p:sp>
        <p:nvSpPr>
          <p:cNvPr id="96" name="Rectangle 2">
            <a:extLst>
              <a:ext uri="{FF2B5EF4-FFF2-40B4-BE49-F238E27FC236}">
                <a16:creationId xmlns:a16="http://schemas.microsoft.com/office/drawing/2014/main" id="{0E8745B3-62EA-2584-367C-FB4AB938A083}"/>
              </a:ext>
            </a:extLst>
          </p:cNvPr>
          <p:cNvSpPr txBox="1">
            <a:spLocks noChangeArrowheads="1"/>
          </p:cNvSpPr>
          <p:nvPr/>
        </p:nvSpPr>
        <p:spPr>
          <a:xfrm>
            <a:off x="914401" y="925808"/>
            <a:ext cx="10613984" cy="4758284"/>
          </a:xfrm>
          <a:prstGeom prst="rect">
            <a:avLst/>
          </a:prstGeom>
          <a:ln/>
        </p:spPr>
        <p:txBody>
          <a:bodyPr>
            <a:noAutofit/>
          </a:bodyPr>
          <a:lst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a:buClr>
                <a:schemeClr val="tx1"/>
              </a:buClr>
              <a:buSzPct val="100000"/>
              <a:tabLst>
                <a:tab pos="384170" algn="l"/>
                <a:tab pos="768339" algn="l"/>
                <a:tab pos="1152509" algn="l"/>
                <a:tab pos="1536678" algn="l"/>
                <a:tab pos="1920848" algn="l"/>
                <a:tab pos="2305016" algn="l"/>
                <a:tab pos="2689187" algn="l"/>
                <a:tab pos="3073355" algn="l"/>
                <a:tab pos="3457526" algn="l"/>
                <a:tab pos="3841694" algn="l"/>
                <a:tab pos="4225865" algn="l"/>
                <a:tab pos="4610033" algn="l"/>
                <a:tab pos="4994204" algn="l"/>
                <a:tab pos="5378372" algn="l"/>
                <a:tab pos="5762543" algn="l"/>
                <a:tab pos="6146712" algn="l"/>
                <a:tab pos="6530882" algn="l"/>
                <a:tab pos="6915050" algn="l"/>
                <a:tab pos="7299220" algn="l"/>
              </a:tabLst>
            </a:pPr>
            <a:r>
              <a:rPr lang="en-GB" altLang="en-FR" sz="2800" dirty="0"/>
              <a:t>Provides cataloguing and discovery capability of WMO dataset collections</a:t>
            </a:r>
          </a:p>
          <a:p>
            <a:pPr>
              <a:buClr>
                <a:schemeClr val="tx1"/>
              </a:buClr>
              <a:buSzPct val="100000"/>
              <a:tabLst>
                <a:tab pos="384170" algn="l"/>
                <a:tab pos="768339" algn="l"/>
                <a:tab pos="1152509" algn="l"/>
                <a:tab pos="1536678" algn="l"/>
                <a:tab pos="1920848" algn="l"/>
                <a:tab pos="2305016" algn="l"/>
                <a:tab pos="2689187" algn="l"/>
                <a:tab pos="3073355" algn="l"/>
                <a:tab pos="3457526" algn="l"/>
                <a:tab pos="3841694" algn="l"/>
                <a:tab pos="4225865" algn="l"/>
                <a:tab pos="4610033" algn="l"/>
                <a:tab pos="4994204" algn="l"/>
                <a:tab pos="5378372" algn="l"/>
                <a:tab pos="5762543" algn="l"/>
                <a:tab pos="6146712" algn="l"/>
                <a:tab pos="6530882" algn="l"/>
                <a:tab pos="6915050" algn="l"/>
                <a:tab pos="7299220" algn="l"/>
              </a:tabLst>
            </a:pPr>
            <a:r>
              <a:rPr lang="en-GB" altLang="en-FR" sz="2800" dirty="0"/>
              <a:t>Web-based API facilitating search/browse data published via WIS</a:t>
            </a:r>
          </a:p>
          <a:p>
            <a:pPr>
              <a:buClr>
                <a:schemeClr val="tx1"/>
              </a:buClr>
              <a:buSzPct val="100000"/>
              <a:tabLst>
                <a:tab pos="384170" algn="l"/>
                <a:tab pos="768339" algn="l"/>
                <a:tab pos="1152509" algn="l"/>
                <a:tab pos="1536678" algn="l"/>
                <a:tab pos="1920848" algn="l"/>
                <a:tab pos="2305016" algn="l"/>
                <a:tab pos="2689187" algn="l"/>
                <a:tab pos="3073355" algn="l"/>
                <a:tab pos="3457526" algn="l"/>
                <a:tab pos="3841694" algn="l"/>
                <a:tab pos="4225865" algn="l"/>
                <a:tab pos="4610033" algn="l"/>
                <a:tab pos="4994204" algn="l"/>
                <a:tab pos="5378372" algn="l"/>
                <a:tab pos="5762543" algn="l"/>
                <a:tab pos="6146712" algn="l"/>
                <a:tab pos="6530882" algn="l"/>
                <a:tab pos="6915050" algn="l"/>
                <a:tab pos="7299220" algn="l"/>
              </a:tabLst>
            </a:pPr>
            <a:r>
              <a:rPr lang="en-GB" altLang="en-FR" sz="2800" dirty="0"/>
              <a:t>Harvests WIS 2 discovery metadata from WIS2 Nodes</a:t>
            </a:r>
          </a:p>
          <a:p>
            <a:pPr>
              <a:buClr>
                <a:schemeClr val="tx1"/>
              </a:buClr>
              <a:buSzPct val="100000"/>
              <a:tabLst>
                <a:tab pos="384170" algn="l"/>
                <a:tab pos="768339" algn="l"/>
                <a:tab pos="1152509" algn="l"/>
                <a:tab pos="1536678" algn="l"/>
                <a:tab pos="1920848" algn="l"/>
                <a:tab pos="2305016" algn="l"/>
                <a:tab pos="2689187" algn="l"/>
                <a:tab pos="3073355" algn="l"/>
                <a:tab pos="3457526" algn="l"/>
                <a:tab pos="3841694" algn="l"/>
                <a:tab pos="4225865" algn="l"/>
                <a:tab pos="4610033" algn="l"/>
                <a:tab pos="4994204" algn="l"/>
                <a:tab pos="5378372" algn="l"/>
                <a:tab pos="5762543" algn="l"/>
                <a:tab pos="6146712" algn="l"/>
                <a:tab pos="6530882" algn="l"/>
                <a:tab pos="6915050" algn="l"/>
                <a:tab pos="7299220" algn="l"/>
              </a:tabLst>
            </a:pPr>
            <a:r>
              <a:rPr lang="en-GB" altLang="en-FR" sz="2800" dirty="0"/>
              <a:t>Yellow pages (discovery metadata) gateway into WIS data and services</a:t>
            </a:r>
          </a:p>
          <a:p>
            <a:pPr>
              <a:buClr>
                <a:schemeClr val="tx1"/>
              </a:buClr>
              <a:buSzPct val="100000"/>
              <a:tabLst>
                <a:tab pos="384170" algn="l"/>
                <a:tab pos="768339" algn="l"/>
                <a:tab pos="1152509" algn="l"/>
                <a:tab pos="1536678" algn="l"/>
                <a:tab pos="1920848" algn="l"/>
                <a:tab pos="2305016" algn="l"/>
                <a:tab pos="2689187" algn="l"/>
                <a:tab pos="3073355" algn="l"/>
                <a:tab pos="3457526" algn="l"/>
                <a:tab pos="3841694" algn="l"/>
                <a:tab pos="4225865" algn="l"/>
                <a:tab pos="4610033" algn="l"/>
                <a:tab pos="4994204" algn="l"/>
                <a:tab pos="5378372" algn="l"/>
                <a:tab pos="5762543" algn="l"/>
                <a:tab pos="6146712" algn="l"/>
                <a:tab pos="6530882" algn="l"/>
                <a:tab pos="6915050" algn="l"/>
                <a:tab pos="7299220" algn="l"/>
              </a:tabLst>
            </a:pPr>
            <a:r>
              <a:rPr lang="en-GB" altLang="en-FR" sz="2800" dirty="0"/>
              <a:t>Provides indexing capability to mass market search engines</a:t>
            </a:r>
          </a:p>
          <a:p>
            <a:pPr>
              <a:buClr>
                <a:schemeClr val="tx1"/>
              </a:buClr>
              <a:buSzPct val="100000"/>
              <a:tabLst>
                <a:tab pos="384170" algn="l"/>
                <a:tab pos="768339" algn="l"/>
                <a:tab pos="1152509" algn="l"/>
                <a:tab pos="1536678" algn="l"/>
                <a:tab pos="1920848" algn="l"/>
                <a:tab pos="2305016" algn="l"/>
                <a:tab pos="2689187" algn="l"/>
                <a:tab pos="3073355" algn="l"/>
                <a:tab pos="3457526" algn="l"/>
                <a:tab pos="3841694" algn="l"/>
                <a:tab pos="4225865" algn="l"/>
                <a:tab pos="4610033" algn="l"/>
                <a:tab pos="4994204" algn="l"/>
                <a:tab pos="5378372" algn="l"/>
                <a:tab pos="5762543" algn="l"/>
                <a:tab pos="6146712" algn="l"/>
                <a:tab pos="6530882" algn="l"/>
                <a:tab pos="6915050" algn="l"/>
                <a:tab pos="7299220" algn="l"/>
              </a:tabLst>
            </a:pPr>
            <a:r>
              <a:rPr lang="en-GB" altLang="en-FR" sz="2800" dirty="0"/>
              <a:t>Provides WCMP2 validation and quality assessment “as a service” in support of WIS2 compliance and continuous improvement in alignment with WIS 2 metadata Key Performance Indicators (KPIs)</a:t>
            </a:r>
          </a:p>
        </p:txBody>
      </p:sp>
    </p:spTree>
    <p:extLst>
      <p:ext uri="{BB962C8B-B14F-4D97-AF65-F5344CB8AC3E}">
        <p14:creationId xmlns:p14="http://schemas.microsoft.com/office/powerpoint/2010/main" val="331030006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86818D-75A1-F7E5-5ECA-15710766F53B}"/>
            </a:ext>
          </a:extLst>
        </p:cNvPr>
        <p:cNvGrpSpPr/>
        <p:nvPr/>
      </p:nvGrpSpPr>
      <p:grpSpPr>
        <a:xfrm>
          <a:off x="0" y="0"/>
          <a:ext cx="0" cy="0"/>
          <a:chOff x="0" y="0"/>
          <a:chExt cx="0" cy="0"/>
        </a:xfrm>
      </p:grpSpPr>
      <p:sp>
        <p:nvSpPr>
          <p:cNvPr id="124" name="TextBox 123">
            <a:extLst>
              <a:ext uri="{FF2B5EF4-FFF2-40B4-BE49-F238E27FC236}">
                <a16:creationId xmlns:a16="http://schemas.microsoft.com/office/drawing/2014/main" id="{AC8107BB-5EB1-9619-E1DB-7935E9691FA2}"/>
              </a:ext>
            </a:extLst>
          </p:cNvPr>
          <p:cNvSpPr txBox="1"/>
          <p:nvPr/>
        </p:nvSpPr>
        <p:spPr>
          <a:xfrm>
            <a:off x="2261279" y="131716"/>
            <a:ext cx="7669472" cy="646331"/>
          </a:xfrm>
          <a:prstGeom prst="rect">
            <a:avLst/>
          </a:prstGeom>
          <a:noFill/>
        </p:spPr>
        <p:txBody>
          <a:bodyPr wrap="none" rtlCol="0">
            <a:spAutoFit/>
          </a:bodyPr>
          <a:lstStyle/>
          <a:p>
            <a:pPr algn="ctr">
              <a:lnSpc>
                <a:spcPct val="90000"/>
              </a:lnSpc>
              <a:spcBef>
                <a:spcPct val="0"/>
              </a:spcBef>
              <a:tabLst>
                <a:tab pos="407526" algn="l"/>
                <a:tab pos="815052" algn="l"/>
                <a:tab pos="1222578" algn="l"/>
                <a:tab pos="1630104" algn="l"/>
                <a:tab pos="2037631" algn="l"/>
                <a:tab pos="2445156" algn="l"/>
                <a:tab pos="2852683" algn="l"/>
                <a:tab pos="3260208" algn="l"/>
                <a:tab pos="3667735" algn="l"/>
                <a:tab pos="4075260" algn="l"/>
                <a:tab pos="4482787" algn="l"/>
                <a:tab pos="4890312" algn="l"/>
                <a:tab pos="5297839" algn="l"/>
                <a:tab pos="5705364" algn="l"/>
                <a:tab pos="6112891" algn="l"/>
                <a:tab pos="6520416" algn="l"/>
                <a:tab pos="6927943" algn="l"/>
                <a:tab pos="7335468" algn="l"/>
                <a:tab pos="7742995" algn="l"/>
              </a:tabLst>
            </a:pPr>
            <a:r>
              <a:rPr lang="en-GB" sz="4000" dirty="0">
                <a:latin typeface="+mj-lt"/>
                <a:ea typeface="+mj-ea"/>
                <a:cs typeface="+mj-cs"/>
              </a:rPr>
              <a:t>Component Definition (WIS2 Guide)</a:t>
            </a:r>
          </a:p>
        </p:txBody>
      </p:sp>
      <p:sp>
        <p:nvSpPr>
          <p:cNvPr id="96" name="Rectangle 2">
            <a:extLst>
              <a:ext uri="{FF2B5EF4-FFF2-40B4-BE49-F238E27FC236}">
                <a16:creationId xmlns:a16="http://schemas.microsoft.com/office/drawing/2014/main" id="{A01897F5-31CC-8804-05AA-473941959D10}"/>
              </a:ext>
            </a:extLst>
          </p:cNvPr>
          <p:cNvSpPr txBox="1">
            <a:spLocks noChangeArrowheads="1"/>
          </p:cNvSpPr>
          <p:nvPr/>
        </p:nvSpPr>
        <p:spPr>
          <a:xfrm>
            <a:off x="914401" y="925808"/>
            <a:ext cx="10613984" cy="4758284"/>
          </a:xfrm>
          <a:prstGeom prst="rect">
            <a:avLst/>
          </a:prstGeom>
          <a:ln/>
        </p:spPr>
        <p:txBody>
          <a:bodyPr>
            <a:noAutofit/>
          </a:bodyPr>
          <a:lst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r>
              <a:rPr lang="en-CA" sz="2400" dirty="0"/>
              <a:t>WIS2 includes several Global Discovery Catalogues.</a:t>
            </a:r>
          </a:p>
          <a:p>
            <a:r>
              <a:rPr lang="en-CA" sz="2400" dirty="0"/>
              <a:t>A Global Discovery Catalogue enables a data consumer to search and browse descriptions of data published by each WIS2 Node. The data description (discovery metadata) provides sufficient information to determine the usefulness of the data and how it may be accessed.</a:t>
            </a:r>
          </a:p>
          <a:p>
            <a:r>
              <a:rPr lang="en-CA" sz="2400" dirty="0"/>
              <a:t>A Global Discovery Catalogue subscribes to notification messages about the availability of new (or updated) discovery metadata via a Global Broker. It downloads a copy of the discovery metadata and updates the catalogue.</a:t>
            </a:r>
          </a:p>
          <a:p>
            <a:r>
              <a:rPr lang="en-CA" sz="2400" dirty="0"/>
              <a:t>A Global Discovery Catalogue amends discovery metadata records to add details of where one can subscribe to updates about the dataset at a Global Broker.</a:t>
            </a:r>
          </a:p>
          <a:p>
            <a:r>
              <a:rPr lang="en-CA" sz="2400" dirty="0"/>
              <a:t>A Global Discovery Catalogue makes its content available for indexing by search engines.</a:t>
            </a:r>
          </a:p>
        </p:txBody>
      </p:sp>
      <p:sp>
        <p:nvSpPr>
          <p:cNvPr id="2" name="TextBox 1">
            <a:extLst>
              <a:ext uri="{FF2B5EF4-FFF2-40B4-BE49-F238E27FC236}">
                <a16:creationId xmlns:a16="http://schemas.microsoft.com/office/drawing/2014/main" id="{3F8FB7A8-88C8-99D3-23E1-73D68B784B75}"/>
              </a:ext>
            </a:extLst>
          </p:cNvPr>
          <p:cNvSpPr txBox="1"/>
          <p:nvPr/>
        </p:nvSpPr>
        <p:spPr>
          <a:xfrm>
            <a:off x="8533673" y="5932192"/>
            <a:ext cx="3084499" cy="369332"/>
          </a:xfrm>
          <a:prstGeom prst="rect">
            <a:avLst/>
          </a:prstGeom>
          <a:noFill/>
        </p:spPr>
        <p:txBody>
          <a:bodyPr wrap="none" rtlCol="0">
            <a:spAutoFit/>
          </a:bodyPr>
          <a:lstStyle/>
          <a:p>
            <a:r>
              <a:rPr lang="en-US" dirty="0">
                <a:hlinkClick r:id="rId3"/>
              </a:rPr>
              <a:t>Link: WIS2 Guide: section 2.4.4</a:t>
            </a:r>
            <a:endParaRPr lang="en-US" dirty="0"/>
          </a:p>
        </p:txBody>
      </p:sp>
    </p:spTree>
    <p:extLst>
      <p:ext uri="{BB962C8B-B14F-4D97-AF65-F5344CB8AC3E}">
        <p14:creationId xmlns:p14="http://schemas.microsoft.com/office/powerpoint/2010/main" val="98146764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40D264-F221-48E8-7D35-FD2972E56313}"/>
            </a:ext>
          </a:extLst>
        </p:cNvPr>
        <p:cNvGrpSpPr/>
        <p:nvPr/>
      </p:nvGrpSpPr>
      <p:grpSpPr>
        <a:xfrm>
          <a:off x="0" y="0"/>
          <a:ext cx="0" cy="0"/>
          <a:chOff x="0" y="0"/>
          <a:chExt cx="0" cy="0"/>
        </a:xfrm>
      </p:grpSpPr>
      <p:sp>
        <p:nvSpPr>
          <p:cNvPr id="124" name="TextBox 123">
            <a:extLst>
              <a:ext uri="{FF2B5EF4-FFF2-40B4-BE49-F238E27FC236}">
                <a16:creationId xmlns:a16="http://schemas.microsoft.com/office/drawing/2014/main" id="{6EAD6112-1BA1-D119-166A-D28EB2D9DC1F}"/>
              </a:ext>
            </a:extLst>
          </p:cNvPr>
          <p:cNvSpPr txBox="1"/>
          <p:nvPr/>
        </p:nvSpPr>
        <p:spPr>
          <a:xfrm>
            <a:off x="1958994" y="131716"/>
            <a:ext cx="8274060" cy="646331"/>
          </a:xfrm>
          <a:prstGeom prst="rect">
            <a:avLst/>
          </a:prstGeom>
          <a:noFill/>
        </p:spPr>
        <p:txBody>
          <a:bodyPr wrap="none" rtlCol="0">
            <a:spAutoFit/>
          </a:bodyPr>
          <a:lstStyle/>
          <a:p>
            <a:pPr algn="ctr">
              <a:lnSpc>
                <a:spcPct val="90000"/>
              </a:lnSpc>
              <a:spcBef>
                <a:spcPct val="0"/>
              </a:spcBef>
              <a:tabLst>
                <a:tab pos="407526" algn="l"/>
                <a:tab pos="815052" algn="l"/>
                <a:tab pos="1222578" algn="l"/>
                <a:tab pos="1630104" algn="l"/>
                <a:tab pos="2037631" algn="l"/>
                <a:tab pos="2445156" algn="l"/>
                <a:tab pos="2852683" algn="l"/>
                <a:tab pos="3260208" algn="l"/>
                <a:tab pos="3667735" algn="l"/>
                <a:tab pos="4075260" algn="l"/>
                <a:tab pos="4482787" algn="l"/>
                <a:tab pos="4890312" algn="l"/>
                <a:tab pos="5297839" algn="l"/>
                <a:tab pos="5705364" algn="l"/>
                <a:tab pos="6112891" algn="l"/>
                <a:tab pos="6520416" algn="l"/>
                <a:tab pos="6927943" algn="l"/>
                <a:tab pos="7335468" algn="l"/>
                <a:tab pos="7742995" algn="l"/>
              </a:tabLst>
            </a:pPr>
            <a:r>
              <a:rPr lang="en-GB" sz="4000" dirty="0">
                <a:latin typeface="+mj-lt"/>
                <a:ea typeface="+mj-ea"/>
                <a:cs typeface="+mj-cs"/>
              </a:rPr>
              <a:t>Technical Considerations (WIS2 Guide)</a:t>
            </a:r>
          </a:p>
        </p:txBody>
      </p:sp>
      <p:sp>
        <p:nvSpPr>
          <p:cNvPr id="96" name="Rectangle 2">
            <a:extLst>
              <a:ext uri="{FF2B5EF4-FFF2-40B4-BE49-F238E27FC236}">
                <a16:creationId xmlns:a16="http://schemas.microsoft.com/office/drawing/2014/main" id="{F381C774-E00E-B668-EE01-62F57644A715}"/>
              </a:ext>
            </a:extLst>
          </p:cNvPr>
          <p:cNvSpPr txBox="1">
            <a:spLocks noChangeArrowheads="1"/>
          </p:cNvSpPr>
          <p:nvPr/>
        </p:nvSpPr>
        <p:spPr>
          <a:xfrm>
            <a:off x="914401" y="925808"/>
            <a:ext cx="10613984" cy="4758284"/>
          </a:xfrm>
          <a:prstGeom prst="rect">
            <a:avLst/>
          </a:prstGeom>
          <a:ln/>
        </p:spPr>
        <p:txBody>
          <a:bodyPr>
            <a:noAutofit/>
          </a:bodyPr>
          <a:lst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r>
              <a:rPr lang="en-CA" sz="2000" dirty="0"/>
              <a:t>The Global Discovery Catalogue provides data consumers with a mechanism for discovering and searching for datasets of interest as well as learning how to interact with and find out more information about those datasets.</a:t>
            </a:r>
          </a:p>
          <a:p>
            <a:r>
              <a:rPr lang="en-CA" sz="2000" dirty="0"/>
              <a:t>The Global Discovery Catalogue implements the OGC API – Records – Part 1: Core standard</a:t>
            </a:r>
            <a:r>
              <a:rPr lang="en-CA" sz="2000" baseline="30000" dirty="0"/>
              <a:t>[</a:t>
            </a:r>
            <a:r>
              <a:rPr lang="en-CA" sz="2000" baseline="30000" dirty="0">
                <a:hlinkClick r:id="rId3" tooltip="View footnote."/>
              </a:rPr>
              <a:t>49</a:t>
            </a:r>
            <a:r>
              <a:rPr lang="en-CA" sz="2000" baseline="30000" dirty="0"/>
              <a:t>]</a:t>
            </a:r>
            <a:r>
              <a:rPr lang="en-CA" sz="2000" dirty="0"/>
              <a:t>, adhering to the following conformance classes and their dependencies:</a:t>
            </a:r>
          </a:p>
          <a:p>
            <a:pPr lvl="1"/>
            <a:r>
              <a:rPr lang="en-CA" sz="1600" dirty="0"/>
              <a:t>Searchable Catalog (Deployment);</a:t>
            </a:r>
          </a:p>
          <a:p>
            <a:pPr lvl="1"/>
            <a:r>
              <a:rPr lang="en-CA" sz="1600" dirty="0"/>
              <a:t>Searchable Catalog - Sorting (Deployment);</a:t>
            </a:r>
          </a:p>
          <a:p>
            <a:pPr lvl="1"/>
            <a:r>
              <a:rPr lang="en-CA" sz="1600" dirty="0"/>
              <a:t>Searchable Catalog - Filtering (Deployment);</a:t>
            </a:r>
          </a:p>
          <a:p>
            <a:pPr lvl="1"/>
            <a:r>
              <a:rPr lang="en-CA" sz="1600" dirty="0"/>
              <a:t>JSON (Common Component);</a:t>
            </a:r>
          </a:p>
          <a:p>
            <a:pPr lvl="1"/>
            <a:r>
              <a:rPr lang="en-CA" sz="1600" dirty="0"/>
              <a:t>HTML (Common Component).</a:t>
            </a:r>
          </a:p>
          <a:p>
            <a:r>
              <a:rPr lang="en-CA" sz="2000" dirty="0"/>
              <a:t>The Global Discovery Catalogue will make discovery metadata available via the collection identifier wis2-discovery-metadata.</a:t>
            </a:r>
          </a:p>
          <a:p>
            <a:r>
              <a:rPr lang="en-CA" sz="2000" dirty="0"/>
              <a:t>The Global Discovery Catalogue advertises the availability of datasets and how to access them or subscribe to updates.</a:t>
            </a:r>
          </a:p>
          <a:p>
            <a:r>
              <a:rPr lang="en-CA" sz="2000" dirty="0"/>
              <a:t>The Global Discovery Catalogue does not advertise or list the availability of individual data objects that comprise a dataset (that is, data files).</a:t>
            </a:r>
          </a:p>
        </p:txBody>
      </p:sp>
      <p:sp>
        <p:nvSpPr>
          <p:cNvPr id="2" name="TextBox 1">
            <a:extLst>
              <a:ext uri="{FF2B5EF4-FFF2-40B4-BE49-F238E27FC236}">
                <a16:creationId xmlns:a16="http://schemas.microsoft.com/office/drawing/2014/main" id="{7B2CD61E-8392-A6BF-6C07-D8B7AB511A68}"/>
              </a:ext>
            </a:extLst>
          </p:cNvPr>
          <p:cNvSpPr txBox="1"/>
          <p:nvPr/>
        </p:nvSpPr>
        <p:spPr>
          <a:xfrm>
            <a:off x="8533673" y="5932192"/>
            <a:ext cx="3084499" cy="369332"/>
          </a:xfrm>
          <a:prstGeom prst="rect">
            <a:avLst/>
          </a:prstGeom>
          <a:noFill/>
        </p:spPr>
        <p:txBody>
          <a:bodyPr wrap="none" rtlCol="0">
            <a:spAutoFit/>
          </a:bodyPr>
          <a:lstStyle/>
          <a:p>
            <a:r>
              <a:rPr lang="en-US" dirty="0">
                <a:hlinkClick r:id="rId4"/>
              </a:rPr>
              <a:t>Link: WIS2 Guide: section 2.7.5</a:t>
            </a:r>
            <a:endParaRPr lang="en-US" dirty="0"/>
          </a:p>
        </p:txBody>
      </p:sp>
    </p:spTree>
    <p:extLst>
      <p:ext uri="{BB962C8B-B14F-4D97-AF65-F5344CB8AC3E}">
        <p14:creationId xmlns:p14="http://schemas.microsoft.com/office/powerpoint/2010/main" val="308140444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A9EDC0-3CFC-2D5E-CD2E-D14C648FBC68}"/>
            </a:ext>
          </a:extLst>
        </p:cNvPr>
        <p:cNvGrpSpPr/>
        <p:nvPr/>
      </p:nvGrpSpPr>
      <p:grpSpPr>
        <a:xfrm>
          <a:off x="0" y="0"/>
          <a:ext cx="0" cy="0"/>
          <a:chOff x="0" y="0"/>
          <a:chExt cx="0" cy="0"/>
        </a:xfrm>
      </p:grpSpPr>
      <p:sp>
        <p:nvSpPr>
          <p:cNvPr id="124" name="TextBox 123">
            <a:extLst>
              <a:ext uri="{FF2B5EF4-FFF2-40B4-BE49-F238E27FC236}">
                <a16:creationId xmlns:a16="http://schemas.microsoft.com/office/drawing/2014/main" id="{55DD3AD9-B306-ECE5-17B1-04081FE4867F}"/>
              </a:ext>
            </a:extLst>
          </p:cNvPr>
          <p:cNvSpPr txBox="1"/>
          <p:nvPr/>
        </p:nvSpPr>
        <p:spPr>
          <a:xfrm>
            <a:off x="1958994" y="131716"/>
            <a:ext cx="8274060" cy="646331"/>
          </a:xfrm>
          <a:prstGeom prst="rect">
            <a:avLst/>
          </a:prstGeom>
          <a:noFill/>
        </p:spPr>
        <p:txBody>
          <a:bodyPr wrap="none" rtlCol="0">
            <a:spAutoFit/>
          </a:bodyPr>
          <a:lstStyle/>
          <a:p>
            <a:pPr algn="ctr">
              <a:lnSpc>
                <a:spcPct val="90000"/>
              </a:lnSpc>
              <a:spcBef>
                <a:spcPct val="0"/>
              </a:spcBef>
              <a:tabLst>
                <a:tab pos="407526" algn="l"/>
                <a:tab pos="815052" algn="l"/>
                <a:tab pos="1222578" algn="l"/>
                <a:tab pos="1630104" algn="l"/>
                <a:tab pos="2037631" algn="l"/>
                <a:tab pos="2445156" algn="l"/>
                <a:tab pos="2852683" algn="l"/>
                <a:tab pos="3260208" algn="l"/>
                <a:tab pos="3667735" algn="l"/>
                <a:tab pos="4075260" algn="l"/>
                <a:tab pos="4482787" algn="l"/>
                <a:tab pos="4890312" algn="l"/>
                <a:tab pos="5297839" algn="l"/>
                <a:tab pos="5705364" algn="l"/>
                <a:tab pos="6112891" algn="l"/>
                <a:tab pos="6520416" algn="l"/>
                <a:tab pos="6927943" algn="l"/>
                <a:tab pos="7335468" algn="l"/>
                <a:tab pos="7742995" algn="l"/>
              </a:tabLst>
            </a:pPr>
            <a:r>
              <a:rPr lang="en-GB" sz="4000" dirty="0">
                <a:latin typeface="+mj-lt"/>
                <a:ea typeface="+mj-ea"/>
                <a:cs typeface="+mj-cs"/>
              </a:rPr>
              <a:t>Technical Considerations (WIS2 Guide)</a:t>
            </a:r>
          </a:p>
        </p:txBody>
      </p:sp>
      <p:sp>
        <p:nvSpPr>
          <p:cNvPr id="96" name="Rectangle 2">
            <a:extLst>
              <a:ext uri="{FF2B5EF4-FFF2-40B4-BE49-F238E27FC236}">
                <a16:creationId xmlns:a16="http://schemas.microsoft.com/office/drawing/2014/main" id="{D47DB4D1-CA95-43CA-DD6D-D3721B96110C}"/>
              </a:ext>
            </a:extLst>
          </p:cNvPr>
          <p:cNvSpPr txBox="1">
            <a:spLocks noChangeArrowheads="1"/>
          </p:cNvSpPr>
          <p:nvPr/>
        </p:nvSpPr>
        <p:spPr>
          <a:xfrm>
            <a:off x="914401" y="925808"/>
            <a:ext cx="10613984" cy="4758284"/>
          </a:xfrm>
          <a:prstGeom prst="rect">
            <a:avLst/>
          </a:prstGeom>
          <a:ln/>
        </p:spPr>
        <p:txBody>
          <a:bodyPr>
            <a:noAutofit/>
          </a:bodyPr>
          <a:lst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r>
              <a:rPr lang="en-CA" sz="2000" dirty="0"/>
              <a:t>A single Global Discovery Catalogue is sufficient for WIS2.</a:t>
            </a:r>
          </a:p>
          <a:p>
            <a:r>
              <a:rPr lang="en-CA" sz="2000" dirty="0"/>
              <a:t>Multiple Global Discovery Catalogues may be deployed for resilience.</a:t>
            </a:r>
          </a:p>
          <a:p>
            <a:r>
              <a:rPr lang="en-CA" sz="2000" dirty="0"/>
              <a:t>Global Discovery Catalogues operate independently of each other; each Global Discovery Catalogue holds all discovery metadata records. Global Discovery Catalogues do not need to synchronize with each other.</a:t>
            </a:r>
          </a:p>
          <a:p>
            <a:r>
              <a:rPr lang="en-CA" sz="2000" dirty="0"/>
              <a:t>A Global Discovery Catalogue is populated with discovery metadata records from a Global Cache and receives messages about the availability of discovery metadata records via a Global Broker.</a:t>
            </a:r>
          </a:p>
          <a:p>
            <a:r>
              <a:rPr lang="en-CA" sz="2000" dirty="0"/>
              <a:t>The subscription topic shall be cache/a/wis2/+/metadata/#.</a:t>
            </a:r>
          </a:p>
          <a:p>
            <a:r>
              <a:rPr lang="en-CA" sz="2000" dirty="0"/>
              <a:t>A Global Discovery Catalogue should connect to and subscribe to more than one Global Broker to ensure that no messages are lost in the event of a Global Broker failure. A Global Discovery Catalogue will discard duplicate messages as needed.</a:t>
            </a:r>
          </a:p>
          <a:p>
            <a:r>
              <a:rPr lang="en-CA" sz="2000" dirty="0"/>
              <a:t>A Global Discovery Catalogue will verify that a discovery metadata record identifier’s centre-id token (see Manual on WIS, Volume II – Appendix F. WMO Core Metadata Profile (Version 2)) matches the centre-id level of the topic from which it was published (see Manual on WIS, Volume II – Appendix D. WIS2 Topic Hierarchy) to ensure that discovery metadata are published by the authoritative organization.</a:t>
            </a:r>
          </a:p>
          <a:p>
            <a:endParaRPr lang="en-CA" sz="1600" dirty="0"/>
          </a:p>
        </p:txBody>
      </p:sp>
      <p:sp>
        <p:nvSpPr>
          <p:cNvPr id="2" name="TextBox 1">
            <a:extLst>
              <a:ext uri="{FF2B5EF4-FFF2-40B4-BE49-F238E27FC236}">
                <a16:creationId xmlns:a16="http://schemas.microsoft.com/office/drawing/2014/main" id="{451679FC-FAC2-D401-CCBF-8D3265E2E340}"/>
              </a:ext>
            </a:extLst>
          </p:cNvPr>
          <p:cNvSpPr txBox="1"/>
          <p:nvPr/>
        </p:nvSpPr>
        <p:spPr>
          <a:xfrm>
            <a:off x="8533673" y="5932192"/>
            <a:ext cx="3084499" cy="369332"/>
          </a:xfrm>
          <a:prstGeom prst="rect">
            <a:avLst/>
          </a:prstGeom>
          <a:noFill/>
        </p:spPr>
        <p:txBody>
          <a:bodyPr wrap="none" rtlCol="0">
            <a:spAutoFit/>
          </a:bodyPr>
          <a:lstStyle/>
          <a:p>
            <a:r>
              <a:rPr lang="en-US" dirty="0">
                <a:hlinkClick r:id="rId3"/>
              </a:rPr>
              <a:t>Link: WIS2 Guide: section 2.7.5</a:t>
            </a:r>
            <a:endParaRPr lang="en-US" dirty="0"/>
          </a:p>
        </p:txBody>
      </p:sp>
    </p:spTree>
    <p:extLst>
      <p:ext uri="{BB962C8B-B14F-4D97-AF65-F5344CB8AC3E}">
        <p14:creationId xmlns:p14="http://schemas.microsoft.com/office/powerpoint/2010/main" val="58022765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57F095-77E7-B536-0BDA-63C0FC7515AE}"/>
            </a:ext>
          </a:extLst>
        </p:cNvPr>
        <p:cNvGrpSpPr/>
        <p:nvPr/>
      </p:nvGrpSpPr>
      <p:grpSpPr>
        <a:xfrm>
          <a:off x="0" y="0"/>
          <a:ext cx="0" cy="0"/>
          <a:chOff x="0" y="0"/>
          <a:chExt cx="0" cy="0"/>
        </a:xfrm>
      </p:grpSpPr>
      <p:sp>
        <p:nvSpPr>
          <p:cNvPr id="124" name="TextBox 123">
            <a:extLst>
              <a:ext uri="{FF2B5EF4-FFF2-40B4-BE49-F238E27FC236}">
                <a16:creationId xmlns:a16="http://schemas.microsoft.com/office/drawing/2014/main" id="{D72111DD-2585-5ACE-DD63-409DBB3D683B}"/>
              </a:ext>
            </a:extLst>
          </p:cNvPr>
          <p:cNvSpPr txBox="1"/>
          <p:nvPr/>
        </p:nvSpPr>
        <p:spPr>
          <a:xfrm>
            <a:off x="1958994" y="131716"/>
            <a:ext cx="8274060" cy="646331"/>
          </a:xfrm>
          <a:prstGeom prst="rect">
            <a:avLst/>
          </a:prstGeom>
          <a:noFill/>
        </p:spPr>
        <p:txBody>
          <a:bodyPr wrap="none" rtlCol="0">
            <a:spAutoFit/>
          </a:bodyPr>
          <a:lstStyle/>
          <a:p>
            <a:pPr algn="ctr">
              <a:lnSpc>
                <a:spcPct val="90000"/>
              </a:lnSpc>
              <a:spcBef>
                <a:spcPct val="0"/>
              </a:spcBef>
              <a:tabLst>
                <a:tab pos="407526" algn="l"/>
                <a:tab pos="815052" algn="l"/>
                <a:tab pos="1222578" algn="l"/>
                <a:tab pos="1630104" algn="l"/>
                <a:tab pos="2037631" algn="l"/>
                <a:tab pos="2445156" algn="l"/>
                <a:tab pos="2852683" algn="l"/>
                <a:tab pos="3260208" algn="l"/>
                <a:tab pos="3667735" algn="l"/>
                <a:tab pos="4075260" algn="l"/>
                <a:tab pos="4482787" algn="l"/>
                <a:tab pos="4890312" algn="l"/>
                <a:tab pos="5297839" algn="l"/>
                <a:tab pos="5705364" algn="l"/>
                <a:tab pos="6112891" algn="l"/>
                <a:tab pos="6520416" algn="l"/>
                <a:tab pos="6927943" algn="l"/>
                <a:tab pos="7335468" algn="l"/>
                <a:tab pos="7742995" algn="l"/>
              </a:tabLst>
            </a:pPr>
            <a:r>
              <a:rPr lang="en-GB" sz="4000" dirty="0">
                <a:latin typeface="+mj-lt"/>
                <a:ea typeface="+mj-ea"/>
                <a:cs typeface="+mj-cs"/>
              </a:rPr>
              <a:t>Technical Considerations (WIS2 Guide)</a:t>
            </a:r>
          </a:p>
        </p:txBody>
      </p:sp>
      <p:sp>
        <p:nvSpPr>
          <p:cNvPr id="96" name="Rectangle 2">
            <a:extLst>
              <a:ext uri="{FF2B5EF4-FFF2-40B4-BE49-F238E27FC236}">
                <a16:creationId xmlns:a16="http://schemas.microsoft.com/office/drawing/2014/main" id="{16D5360E-CF73-37F6-7745-D9C3B52FEB94}"/>
              </a:ext>
            </a:extLst>
          </p:cNvPr>
          <p:cNvSpPr txBox="1">
            <a:spLocks noChangeArrowheads="1"/>
          </p:cNvSpPr>
          <p:nvPr/>
        </p:nvSpPr>
        <p:spPr>
          <a:xfrm>
            <a:off x="914401" y="925808"/>
            <a:ext cx="10613984" cy="4758284"/>
          </a:xfrm>
          <a:prstGeom prst="rect">
            <a:avLst/>
          </a:prstGeom>
          <a:ln/>
        </p:spPr>
        <p:txBody>
          <a:bodyPr>
            <a:noAutofit/>
          </a:bodyPr>
          <a:lst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endParaRPr lang="en-CA" sz="1600" dirty="0"/>
          </a:p>
        </p:txBody>
      </p:sp>
      <p:sp>
        <p:nvSpPr>
          <p:cNvPr id="2" name="TextBox 1">
            <a:extLst>
              <a:ext uri="{FF2B5EF4-FFF2-40B4-BE49-F238E27FC236}">
                <a16:creationId xmlns:a16="http://schemas.microsoft.com/office/drawing/2014/main" id="{C08672E9-B610-A90A-393E-CBFD645ADD78}"/>
              </a:ext>
            </a:extLst>
          </p:cNvPr>
          <p:cNvSpPr txBox="1"/>
          <p:nvPr/>
        </p:nvSpPr>
        <p:spPr>
          <a:xfrm>
            <a:off x="8533673" y="5932192"/>
            <a:ext cx="3084499" cy="369332"/>
          </a:xfrm>
          <a:prstGeom prst="rect">
            <a:avLst/>
          </a:prstGeom>
          <a:noFill/>
        </p:spPr>
        <p:txBody>
          <a:bodyPr wrap="none" rtlCol="0">
            <a:spAutoFit/>
          </a:bodyPr>
          <a:lstStyle/>
          <a:p>
            <a:r>
              <a:rPr lang="en-US" dirty="0">
                <a:hlinkClick r:id="rId3"/>
              </a:rPr>
              <a:t>Link: WIS2 Guide: section 2.7.5</a:t>
            </a:r>
            <a:endParaRPr lang="en-US" dirty="0"/>
          </a:p>
        </p:txBody>
      </p:sp>
      <p:sp>
        <p:nvSpPr>
          <p:cNvPr id="4" name="TextBox 3">
            <a:extLst>
              <a:ext uri="{FF2B5EF4-FFF2-40B4-BE49-F238E27FC236}">
                <a16:creationId xmlns:a16="http://schemas.microsoft.com/office/drawing/2014/main" id="{B69E58D3-01EC-D0FF-2832-39F38AB58ECD}"/>
              </a:ext>
            </a:extLst>
          </p:cNvPr>
          <p:cNvSpPr txBox="1"/>
          <p:nvPr/>
        </p:nvSpPr>
        <p:spPr>
          <a:xfrm>
            <a:off x="324741" y="751344"/>
            <a:ext cx="11203644" cy="5016758"/>
          </a:xfrm>
          <a:prstGeom prst="rect">
            <a:avLst/>
          </a:prstGeom>
          <a:noFill/>
        </p:spPr>
        <p:txBody>
          <a:bodyPr wrap="square">
            <a:spAutoFit/>
          </a:bodyPr>
          <a:lstStyle/>
          <a:p>
            <a:pPr algn="l">
              <a:buFont typeface="Arial" panose="020B0604020202020204" pitchFamily="34" charset="0"/>
              <a:buChar char="•"/>
            </a:pPr>
            <a:r>
              <a:rPr lang="en-CA" sz="2000" b="0" i="0" dirty="0">
                <a:effectLst/>
              </a:rPr>
              <a:t>A Global Discovery Catalogue will validate discovery metadata records against the WCMP2. Valid WCMP2 records will be ingested into the catalogue. Invalid or malformed records will be discarded and reported to the Global Monitor against the centre-id associated with the discovery metadata record.</a:t>
            </a:r>
          </a:p>
          <a:p>
            <a:pPr algn="l">
              <a:buFont typeface="Arial" panose="020B0604020202020204" pitchFamily="34" charset="0"/>
              <a:buChar char="•"/>
            </a:pPr>
            <a:r>
              <a:rPr lang="en-CA" sz="2000" b="0" i="0" dirty="0">
                <a:effectLst/>
              </a:rPr>
              <a:t>A Global Discovery Catalogue will only update discovery metadata records to replace links for dataset subscription and notification (origin), with their equivalent links for subscription at Global Brokers (cache).</a:t>
            </a:r>
          </a:p>
          <a:p>
            <a:pPr algn="l">
              <a:buFont typeface="Arial" panose="020B0604020202020204" pitchFamily="34" charset="0"/>
              <a:buChar char="•"/>
            </a:pPr>
            <a:r>
              <a:rPr lang="en-CA" sz="2000" b="0" i="0" dirty="0">
                <a:effectLst/>
              </a:rPr>
              <a:t>A Global Discovery Catalogue will periodically assess discovery metadata provided by NCs and DCPCs against a set of key performance indicators (KPIs) in support of continuous improvement. Suggestions for improvement will be reported to the Global Monitor against the centre identifier associated with the discovery metadata record.</a:t>
            </a:r>
          </a:p>
          <a:p>
            <a:pPr algn="l">
              <a:buFont typeface="Arial" panose="020B0604020202020204" pitchFamily="34" charset="0"/>
              <a:buChar char="•"/>
            </a:pPr>
            <a:r>
              <a:rPr lang="en-CA" sz="2000" b="0" i="0" dirty="0">
                <a:effectLst/>
              </a:rPr>
              <a:t>A Global Discovery Catalogue will remove discovery metadata that are marked for deletion as specified in the data notification message.</a:t>
            </a:r>
          </a:p>
          <a:p>
            <a:pPr algn="l">
              <a:buFont typeface="Arial" panose="020B0604020202020204" pitchFamily="34" charset="0"/>
              <a:buChar char="•"/>
            </a:pPr>
            <a:r>
              <a:rPr lang="en-CA" sz="2000" b="0" i="0" dirty="0">
                <a:effectLst/>
              </a:rPr>
              <a:t>A Global Discovery Catalogue should apply faceting capability as specified in the cataloguing considerations of the WCMP2 specification, as defined in OGC API - Records.</a:t>
            </a:r>
          </a:p>
          <a:p>
            <a:pPr algn="l">
              <a:buFont typeface="Arial" panose="020B0604020202020204" pitchFamily="34" charset="0"/>
              <a:buChar char="•"/>
            </a:pPr>
            <a:r>
              <a:rPr lang="en-CA" sz="2000" b="0" i="0" dirty="0">
                <a:effectLst/>
              </a:rPr>
              <a:t>A Global Discovery Catalogue will provide human-readable web pages with embedded markup using the </a:t>
            </a:r>
            <a:r>
              <a:rPr lang="en-CA" sz="2000" b="0" i="0" dirty="0" err="1">
                <a:effectLst/>
              </a:rPr>
              <a:t>schema.org</a:t>
            </a:r>
            <a:r>
              <a:rPr lang="en-CA" sz="2000" b="0" i="0" dirty="0">
                <a:effectLst/>
              </a:rPr>
              <a:t> vocabulary, thereby enabling search engines to crawl and index its content. Consequently, data consumers should be able to discover WIS content via third party search engines.</a:t>
            </a:r>
          </a:p>
        </p:txBody>
      </p:sp>
    </p:spTree>
    <p:extLst>
      <p:ext uri="{BB962C8B-B14F-4D97-AF65-F5344CB8AC3E}">
        <p14:creationId xmlns:p14="http://schemas.microsoft.com/office/powerpoint/2010/main" val="346207996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605F7E-D15F-19EB-6059-28C121DD18C6}"/>
            </a:ext>
          </a:extLst>
        </p:cNvPr>
        <p:cNvGrpSpPr/>
        <p:nvPr/>
      </p:nvGrpSpPr>
      <p:grpSpPr>
        <a:xfrm>
          <a:off x="0" y="0"/>
          <a:ext cx="0" cy="0"/>
          <a:chOff x="0" y="0"/>
          <a:chExt cx="0" cy="0"/>
        </a:xfrm>
      </p:grpSpPr>
      <p:sp>
        <p:nvSpPr>
          <p:cNvPr id="124" name="TextBox 123">
            <a:extLst>
              <a:ext uri="{FF2B5EF4-FFF2-40B4-BE49-F238E27FC236}">
                <a16:creationId xmlns:a16="http://schemas.microsoft.com/office/drawing/2014/main" id="{F717457C-0772-77E0-C542-F86DF7F78228}"/>
              </a:ext>
            </a:extLst>
          </p:cNvPr>
          <p:cNvSpPr txBox="1"/>
          <p:nvPr/>
        </p:nvSpPr>
        <p:spPr>
          <a:xfrm>
            <a:off x="1958994" y="131716"/>
            <a:ext cx="8274060" cy="646331"/>
          </a:xfrm>
          <a:prstGeom prst="rect">
            <a:avLst/>
          </a:prstGeom>
          <a:noFill/>
        </p:spPr>
        <p:txBody>
          <a:bodyPr wrap="none" rtlCol="0">
            <a:spAutoFit/>
          </a:bodyPr>
          <a:lstStyle/>
          <a:p>
            <a:pPr algn="ctr">
              <a:lnSpc>
                <a:spcPct val="90000"/>
              </a:lnSpc>
              <a:spcBef>
                <a:spcPct val="0"/>
              </a:spcBef>
              <a:tabLst>
                <a:tab pos="407526" algn="l"/>
                <a:tab pos="815052" algn="l"/>
                <a:tab pos="1222578" algn="l"/>
                <a:tab pos="1630104" algn="l"/>
                <a:tab pos="2037631" algn="l"/>
                <a:tab pos="2445156" algn="l"/>
                <a:tab pos="2852683" algn="l"/>
                <a:tab pos="3260208" algn="l"/>
                <a:tab pos="3667735" algn="l"/>
                <a:tab pos="4075260" algn="l"/>
                <a:tab pos="4482787" algn="l"/>
                <a:tab pos="4890312" algn="l"/>
                <a:tab pos="5297839" algn="l"/>
                <a:tab pos="5705364" algn="l"/>
                <a:tab pos="6112891" algn="l"/>
                <a:tab pos="6520416" algn="l"/>
                <a:tab pos="6927943" algn="l"/>
                <a:tab pos="7335468" algn="l"/>
                <a:tab pos="7742995" algn="l"/>
              </a:tabLst>
            </a:pPr>
            <a:r>
              <a:rPr lang="en-GB" sz="4000" dirty="0">
                <a:latin typeface="+mj-lt"/>
                <a:ea typeface="+mj-ea"/>
                <a:cs typeface="+mj-cs"/>
              </a:rPr>
              <a:t>Technical Considerations (WIS2 Guide)</a:t>
            </a:r>
          </a:p>
        </p:txBody>
      </p:sp>
      <p:sp>
        <p:nvSpPr>
          <p:cNvPr id="96" name="Rectangle 2">
            <a:extLst>
              <a:ext uri="{FF2B5EF4-FFF2-40B4-BE49-F238E27FC236}">
                <a16:creationId xmlns:a16="http://schemas.microsoft.com/office/drawing/2014/main" id="{0692D806-69FA-7FDE-B93E-D6EE916C8250}"/>
              </a:ext>
            </a:extLst>
          </p:cNvPr>
          <p:cNvSpPr txBox="1">
            <a:spLocks noChangeArrowheads="1"/>
          </p:cNvSpPr>
          <p:nvPr/>
        </p:nvSpPr>
        <p:spPr>
          <a:xfrm>
            <a:off x="914401" y="925808"/>
            <a:ext cx="10613984" cy="4758284"/>
          </a:xfrm>
          <a:prstGeom prst="rect">
            <a:avLst/>
          </a:prstGeom>
          <a:ln/>
        </p:spPr>
        <p:txBody>
          <a:bodyPr>
            <a:noAutofit/>
          </a:bodyPr>
          <a:lst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r>
              <a:rPr lang="en-CA" sz="2400" dirty="0"/>
              <a:t>A Global Discovery Catalogue will generate and store a zip file of all WCMP2 records once a day; this file will be made be accessible via HTTP. The </a:t>
            </a:r>
            <a:r>
              <a:rPr lang="en-CA" sz="2400" dirty="0" err="1"/>
              <a:t>zipfile</a:t>
            </a:r>
            <a:r>
              <a:rPr lang="en-CA" sz="2400" dirty="0"/>
              <a:t> will include a directory named after the centre-id of the Global Discovery Catalogue containing all WCMP2 records.</a:t>
            </a:r>
          </a:p>
          <a:p>
            <a:r>
              <a:rPr lang="en-CA" sz="2400" dirty="0"/>
              <a:t>A Global Discovery Catalogue will publish a WIS2 Notification Message of its zip file of all WCMP2 records on its centre-id’s metadata topic (for example, origin/a/wis2/centre-id/metadata, where centre-id is the centre identifier of the Global Discovery Catalogue).</a:t>
            </a:r>
          </a:p>
          <a:p>
            <a:r>
              <a:rPr lang="en-CA" sz="2400" dirty="0"/>
              <a:t>A Global Discovery Catalogue may initialize itself (cold start) from a zip file of all WCMP2 records published.</a:t>
            </a:r>
          </a:p>
          <a:p>
            <a:r>
              <a:rPr lang="en-CA" sz="2400" dirty="0"/>
              <a:t>As a convention, a Global Discovery Catalogue’s centre-id will be </a:t>
            </a:r>
            <a:r>
              <a:rPr lang="en-CA" sz="2400" b="1" dirty="0">
                <a:latin typeface="Courier New" panose="02070309020205020404" pitchFamily="49" charset="0"/>
                <a:cs typeface="Courier New" panose="02070309020205020404" pitchFamily="49" charset="0"/>
              </a:rPr>
              <a:t>{</a:t>
            </a:r>
            <a:r>
              <a:rPr lang="en-CA" sz="2400" b="1" dirty="0" err="1">
                <a:latin typeface="Courier New" panose="02070309020205020404" pitchFamily="49" charset="0"/>
                <a:cs typeface="Courier New" panose="02070309020205020404" pitchFamily="49" charset="0"/>
              </a:rPr>
              <a:t>tld</a:t>
            </a:r>
            <a:r>
              <a:rPr lang="en-CA" sz="2400" b="1" dirty="0">
                <a:latin typeface="Courier New" panose="02070309020205020404" pitchFamily="49" charset="0"/>
                <a:cs typeface="Courier New" panose="02070309020205020404" pitchFamily="49" charset="0"/>
              </a:rPr>
              <a:t>}-{centre-name}-global-discovery-catalogue</a:t>
            </a:r>
            <a:r>
              <a:rPr lang="en-CA" sz="2400" dirty="0"/>
              <a:t>.</a:t>
            </a:r>
          </a:p>
          <a:p>
            <a:endParaRPr lang="en-CA" sz="1200" dirty="0"/>
          </a:p>
        </p:txBody>
      </p:sp>
      <p:sp>
        <p:nvSpPr>
          <p:cNvPr id="2" name="TextBox 1">
            <a:extLst>
              <a:ext uri="{FF2B5EF4-FFF2-40B4-BE49-F238E27FC236}">
                <a16:creationId xmlns:a16="http://schemas.microsoft.com/office/drawing/2014/main" id="{361D7D3A-36FF-AECD-1EBB-390E28F5C770}"/>
              </a:ext>
            </a:extLst>
          </p:cNvPr>
          <p:cNvSpPr txBox="1"/>
          <p:nvPr/>
        </p:nvSpPr>
        <p:spPr>
          <a:xfrm>
            <a:off x="8533673" y="5932192"/>
            <a:ext cx="3084499" cy="369332"/>
          </a:xfrm>
          <a:prstGeom prst="rect">
            <a:avLst/>
          </a:prstGeom>
          <a:noFill/>
        </p:spPr>
        <p:txBody>
          <a:bodyPr wrap="none" rtlCol="0">
            <a:spAutoFit/>
          </a:bodyPr>
          <a:lstStyle/>
          <a:p>
            <a:r>
              <a:rPr lang="en-US" dirty="0">
                <a:hlinkClick r:id="rId3"/>
              </a:rPr>
              <a:t>Link: WIS2 Guide: section 2.7.5</a:t>
            </a:r>
            <a:endParaRPr lang="en-US" dirty="0"/>
          </a:p>
        </p:txBody>
      </p:sp>
    </p:spTree>
    <p:extLst>
      <p:ext uri="{BB962C8B-B14F-4D97-AF65-F5344CB8AC3E}">
        <p14:creationId xmlns:p14="http://schemas.microsoft.com/office/powerpoint/2010/main" val="108648577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6E0FCF-BC1F-C241-AAE0-55CF69B268A7}"/>
              </a:ext>
            </a:extLst>
          </p:cNvPr>
          <p:cNvSpPr>
            <a:spLocks noGrp="1"/>
          </p:cNvSpPr>
          <p:nvPr>
            <p:ph type="title"/>
          </p:nvPr>
        </p:nvSpPr>
        <p:spPr/>
        <p:txBody>
          <a:bodyPr/>
          <a:lstStyle/>
          <a:p>
            <a:r>
              <a:rPr lang="en-CA" dirty="0"/>
              <a:t>Searchable Catalogue</a:t>
            </a:r>
            <a:endParaRPr lang="en-CH" dirty="0"/>
          </a:p>
        </p:txBody>
      </p:sp>
      <p:graphicFrame>
        <p:nvGraphicFramePr>
          <p:cNvPr id="5" name="Table 4"/>
          <p:cNvGraphicFramePr>
            <a:graphicFrameLocks noGrp="1"/>
          </p:cNvGraphicFramePr>
          <p:nvPr/>
        </p:nvGraphicFramePr>
        <p:xfrm>
          <a:off x="325820" y="1138257"/>
          <a:ext cx="11540360" cy="5252154"/>
        </p:xfrm>
        <a:graphic>
          <a:graphicData uri="http://schemas.openxmlformats.org/drawingml/2006/table">
            <a:tbl>
              <a:tblPr firstRow="1" bandRow="1">
                <a:tableStyleId>{5C22544A-7EE6-4342-B048-85BDC9FD1C3A}</a:tableStyleId>
              </a:tblPr>
              <a:tblGrid>
                <a:gridCol w="1838646">
                  <a:extLst>
                    <a:ext uri="{9D8B030D-6E8A-4147-A177-3AD203B41FA5}">
                      <a16:colId xmlns:a16="http://schemas.microsoft.com/office/drawing/2014/main" val="1266922853"/>
                    </a:ext>
                  </a:extLst>
                </a:gridCol>
                <a:gridCol w="9701714">
                  <a:extLst>
                    <a:ext uri="{9D8B030D-6E8A-4147-A177-3AD203B41FA5}">
                      <a16:colId xmlns:a16="http://schemas.microsoft.com/office/drawing/2014/main" val="3642348931"/>
                    </a:ext>
                  </a:extLst>
                </a:gridCol>
              </a:tblGrid>
              <a:tr h="342235">
                <a:tc>
                  <a:txBody>
                    <a:bodyPr/>
                    <a:lstStyle/>
                    <a:p>
                      <a:r>
                        <a:rPr lang="en-CA" dirty="0"/>
                        <a:t>Predicate</a:t>
                      </a:r>
                    </a:p>
                  </a:txBody>
                  <a:tcPr/>
                </a:tc>
                <a:tc>
                  <a:txBody>
                    <a:bodyPr/>
                    <a:lstStyle/>
                    <a:p>
                      <a:r>
                        <a:rPr lang="en-CA" dirty="0"/>
                        <a:t>Example(s)</a:t>
                      </a:r>
                    </a:p>
                  </a:txBody>
                  <a:tcPr/>
                </a:tc>
                <a:extLst>
                  <a:ext uri="{0D108BD9-81ED-4DB2-BD59-A6C34878D82A}">
                    <a16:rowId xmlns:a16="http://schemas.microsoft.com/office/drawing/2014/main" val="4175184456"/>
                  </a:ext>
                </a:extLst>
              </a:tr>
              <a:tr h="342235">
                <a:tc>
                  <a:txBody>
                    <a:bodyPr/>
                    <a:lstStyle/>
                    <a:p>
                      <a:r>
                        <a:rPr lang="en-CA" dirty="0"/>
                        <a:t>Spatial</a:t>
                      </a:r>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CA" b="1" dirty="0" err="1">
                          <a:latin typeface="Courier New" panose="02070309020205020404" pitchFamily="49" charset="0"/>
                          <a:cs typeface="Courier New" panose="02070309020205020404" pitchFamily="49" charset="0"/>
                        </a:rPr>
                        <a:t>bbox</a:t>
                      </a:r>
                      <a:r>
                        <a:rPr lang="en-CA" b="1" dirty="0">
                          <a:latin typeface="Courier New" panose="02070309020205020404" pitchFamily="49" charset="0"/>
                          <a:cs typeface="Courier New" panose="02070309020205020404" pitchFamily="49" charset="0"/>
                        </a:rPr>
                        <a:t>=</a:t>
                      </a:r>
                      <a:r>
                        <a:rPr lang="en-CA" b="1" dirty="0" err="1">
                          <a:latin typeface="Courier New" panose="02070309020205020404" pitchFamily="49" charset="0"/>
                          <a:cs typeface="Courier New" panose="02070309020205020404" pitchFamily="49" charset="0"/>
                        </a:rPr>
                        <a:t>minx,miny,maxx,maxy</a:t>
                      </a:r>
                      <a:endParaRPr lang="en-CA" b="1" dirty="0">
                        <a:latin typeface="Courier New" panose="02070309020205020404" pitchFamily="49" charset="0"/>
                        <a:cs typeface="Courier New" panose="02070309020205020404" pitchFamily="49" charset="0"/>
                      </a:endParaRPr>
                    </a:p>
                  </a:txBody>
                  <a:tcPr/>
                </a:tc>
                <a:extLst>
                  <a:ext uri="{0D108BD9-81ED-4DB2-BD59-A6C34878D82A}">
                    <a16:rowId xmlns:a16="http://schemas.microsoft.com/office/drawing/2014/main" val="3528551801"/>
                  </a:ext>
                </a:extLst>
              </a:tr>
              <a:tr h="855587">
                <a:tc>
                  <a:txBody>
                    <a:bodyPr/>
                    <a:lstStyle/>
                    <a:p>
                      <a:r>
                        <a:rPr lang="en-CA" dirty="0"/>
                        <a:t>Temporal</a:t>
                      </a:r>
                    </a:p>
                  </a:txBody>
                  <a:tcPr/>
                </a:tc>
                <a:tc>
                  <a:txBody>
                    <a:bodyPr/>
                    <a:lstStyle/>
                    <a:p>
                      <a:pPr marL="285750" indent="-285750">
                        <a:buFont typeface="Arial" panose="020B0604020202020204" pitchFamily="34" charset="0"/>
                        <a:buChar char="•"/>
                      </a:pPr>
                      <a:r>
                        <a:rPr lang="en-CA" b="1" dirty="0" err="1">
                          <a:latin typeface="Courier New" panose="02070309020205020404" pitchFamily="49" charset="0"/>
                          <a:cs typeface="Courier New" panose="02070309020205020404" pitchFamily="49" charset="0"/>
                        </a:rPr>
                        <a:t>datetime</a:t>
                      </a:r>
                      <a:r>
                        <a:rPr lang="en-CA" b="1" dirty="0">
                          <a:latin typeface="Courier New" panose="02070309020205020404" pitchFamily="49" charset="0"/>
                          <a:cs typeface="Courier New" panose="02070309020205020404" pitchFamily="49" charset="0"/>
                        </a:rPr>
                        <a:t>=t1</a:t>
                      </a:r>
                    </a:p>
                    <a:p>
                      <a:pPr marL="285750" indent="-285750">
                        <a:buFont typeface="Arial" panose="020B0604020202020204" pitchFamily="34" charset="0"/>
                        <a:buChar char="•"/>
                      </a:pPr>
                      <a:r>
                        <a:rPr lang="en-CA" b="1" dirty="0" err="1">
                          <a:latin typeface="Courier New" panose="02070309020205020404" pitchFamily="49" charset="0"/>
                          <a:cs typeface="Courier New" panose="02070309020205020404" pitchFamily="49" charset="0"/>
                        </a:rPr>
                        <a:t>datetime</a:t>
                      </a:r>
                      <a:r>
                        <a:rPr lang="en-CA" b="1" dirty="0">
                          <a:latin typeface="Courier New" panose="02070309020205020404" pitchFamily="49" charset="0"/>
                          <a:cs typeface="Courier New" panose="02070309020205020404" pitchFamily="49" charset="0"/>
                        </a:rPr>
                        <a:t>=t1/t2</a:t>
                      </a:r>
                    </a:p>
                    <a:p>
                      <a:pPr marL="285750" indent="-285750">
                        <a:buFont typeface="Arial" panose="020B0604020202020204" pitchFamily="34" charset="0"/>
                        <a:buChar char="•"/>
                      </a:pPr>
                      <a:r>
                        <a:rPr lang="en-CA" b="1" dirty="0" err="1">
                          <a:latin typeface="Courier New" panose="02070309020205020404" pitchFamily="49" charset="0"/>
                          <a:cs typeface="Courier New" panose="02070309020205020404" pitchFamily="49" charset="0"/>
                        </a:rPr>
                        <a:t>datetime</a:t>
                      </a:r>
                      <a:r>
                        <a:rPr lang="en-CA" b="1" dirty="0">
                          <a:latin typeface="Courier New" panose="02070309020205020404" pitchFamily="49" charset="0"/>
                          <a:cs typeface="Courier New" panose="02070309020205020404" pitchFamily="49" charset="0"/>
                        </a:rPr>
                        <a:t>=t1/..</a:t>
                      </a:r>
                    </a:p>
                  </a:txBody>
                  <a:tcPr/>
                </a:tc>
                <a:extLst>
                  <a:ext uri="{0D108BD9-81ED-4DB2-BD59-A6C34878D82A}">
                    <a16:rowId xmlns:a16="http://schemas.microsoft.com/office/drawing/2014/main" val="2542686018"/>
                  </a:ext>
                </a:extLst>
              </a:tr>
              <a:tr h="342235">
                <a:tc>
                  <a:txBody>
                    <a:bodyPr/>
                    <a:lstStyle/>
                    <a:p>
                      <a:r>
                        <a:rPr lang="en-CA" dirty="0" err="1"/>
                        <a:t>Freetext</a:t>
                      </a:r>
                      <a:endParaRPr lang="en-CA" dirty="0"/>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CA" b="1" dirty="0">
                          <a:latin typeface="Courier New" panose="02070309020205020404" pitchFamily="49" charset="0"/>
                          <a:cs typeface="Courier New" panose="02070309020205020404" pitchFamily="49" charset="0"/>
                        </a:rPr>
                        <a:t>q=</a:t>
                      </a:r>
                      <a:r>
                        <a:rPr lang="en-CA" b="1" dirty="0" err="1">
                          <a:latin typeface="Courier New" panose="02070309020205020404" pitchFamily="49" charset="0"/>
                          <a:cs typeface="Courier New" panose="02070309020205020404" pitchFamily="49" charset="0"/>
                        </a:rPr>
                        <a:t>air+temperature</a:t>
                      </a:r>
                      <a:endParaRPr lang="en-CA" dirty="0"/>
                    </a:p>
                  </a:txBody>
                  <a:tcPr/>
                </a:tc>
                <a:extLst>
                  <a:ext uri="{0D108BD9-81ED-4DB2-BD59-A6C34878D82A}">
                    <a16:rowId xmlns:a16="http://schemas.microsoft.com/office/drawing/2014/main" val="3971469833"/>
                  </a:ext>
                </a:extLst>
              </a:tr>
              <a:tr h="1723005">
                <a:tc>
                  <a:txBody>
                    <a:bodyPr/>
                    <a:lstStyle/>
                    <a:p>
                      <a:r>
                        <a:rPr lang="en-CA" dirty="0"/>
                        <a:t>Attributes</a:t>
                      </a:r>
                    </a:p>
                  </a:txBody>
                  <a:tcPr/>
                </a:tc>
                <a:tc>
                  <a:txBody>
                    <a:bodyPr/>
                    <a:lstStyle/>
                    <a:p>
                      <a:pPr marL="285750" marR="0" lvl="0"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CA" b="1" dirty="0">
                          <a:latin typeface="Courier New" panose="02070309020205020404" pitchFamily="49" charset="0"/>
                          <a:cs typeface="Courier New" panose="02070309020205020404" pitchFamily="49" charset="0"/>
                        </a:rPr>
                        <a:t>title=</a:t>
                      </a:r>
                      <a:r>
                        <a:rPr lang="en-CA" b="1" dirty="0" err="1">
                          <a:latin typeface="Courier New" panose="02070309020205020404" pitchFamily="49" charset="0"/>
                          <a:cs typeface="Courier New" panose="02070309020205020404" pitchFamily="49" charset="0"/>
                        </a:rPr>
                        <a:t>air+temperature</a:t>
                      </a:r>
                      <a:endParaRPr lang="en-CA" b="1" dirty="0">
                        <a:latin typeface="Courier New" panose="02070309020205020404" pitchFamily="49" charset="0"/>
                        <a:cs typeface="Courier New" panose="02070309020205020404" pitchFamily="49" charset="0"/>
                      </a:endParaRPr>
                    </a:p>
                    <a:p>
                      <a:pPr marL="285750" marR="0" lvl="0"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CA" b="1" dirty="0" err="1">
                          <a:latin typeface="Courier New" panose="02070309020205020404" pitchFamily="49" charset="0"/>
                          <a:cs typeface="Courier New" panose="02070309020205020404" pitchFamily="49" charset="0"/>
                        </a:rPr>
                        <a:t>nested.attribute</a:t>
                      </a:r>
                      <a:r>
                        <a:rPr lang="en-CA" b="1" dirty="0">
                          <a:latin typeface="Courier New" panose="02070309020205020404" pitchFamily="49" charset="0"/>
                          <a:cs typeface="Courier New" panose="02070309020205020404" pitchFamily="49" charset="0"/>
                        </a:rPr>
                        <a:t>=ozone</a:t>
                      </a:r>
                      <a:endParaRPr lang="en-CA" sz="1800" b="0" dirty="0">
                        <a:latin typeface="+mn-lt"/>
                        <a:cs typeface="+mn-cs"/>
                      </a:endParaRPr>
                    </a:p>
                    <a:p>
                      <a:pPr marL="285750" marR="0" lvl="0"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CA" sz="1800" b="1" dirty="0" err="1">
                          <a:latin typeface="Courier New" panose="02070309020205020404" pitchFamily="49" charset="0"/>
                          <a:cs typeface="Courier New" panose="02070309020205020404" pitchFamily="49" charset="0"/>
                        </a:rPr>
                        <a:t>wmo:dataPolicy</a:t>
                      </a:r>
                      <a:r>
                        <a:rPr lang="en-CA" sz="1800" b="1" dirty="0">
                          <a:latin typeface="Courier New" panose="02070309020205020404" pitchFamily="49" charset="0"/>
                          <a:cs typeface="Courier New" panose="02070309020205020404" pitchFamily="49" charset="0"/>
                        </a:rPr>
                        <a:t>=core</a:t>
                      </a:r>
                    </a:p>
                  </a:txBody>
                  <a:tcPr/>
                </a:tc>
                <a:extLst>
                  <a:ext uri="{0D108BD9-81ED-4DB2-BD59-A6C34878D82A}">
                    <a16:rowId xmlns:a16="http://schemas.microsoft.com/office/drawing/2014/main" val="3554731932"/>
                  </a:ext>
                </a:extLst>
              </a:tr>
              <a:tr h="598911">
                <a:tc>
                  <a:txBody>
                    <a:bodyPr/>
                    <a:lstStyle/>
                    <a:p>
                      <a:r>
                        <a:rPr lang="en-CA" dirty="0"/>
                        <a:t>Sorting/paging</a:t>
                      </a:r>
                    </a:p>
                  </a:txBody>
                  <a:tcPr/>
                </a:tc>
                <a:tc>
                  <a:txBody>
                    <a:bodyPr/>
                    <a:lstStyle/>
                    <a:p>
                      <a:pPr marL="285750" indent="-285750">
                        <a:buFont typeface="Arial" panose="020B0604020202020204" pitchFamily="34" charset="0"/>
                        <a:buChar char="•"/>
                      </a:pPr>
                      <a:r>
                        <a:rPr lang="en-CA" b="1" dirty="0" err="1">
                          <a:latin typeface="Courier New" panose="02070309020205020404" pitchFamily="49" charset="0"/>
                          <a:cs typeface="Courier New" panose="02070309020205020404" pitchFamily="49" charset="0"/>
                        </a:rPr>
                        <a:t>sortby</a:t>
                      </a:r>
                      <a:r>
                        <a:rPr lang="en-CA" b="1" dirty="0">
                          <a:latin typeface="Courier New" panose="02070309020205020404" pitchFamily="49" charset="0"/>
                          <a:cs typeface="Courier New" panose="02070309020205020404" pitchFamily="49" charset="0"/>
                        </a:rPr>
                        <a:t>=</a:t>
                      </a:r>
                      <a:r>
                        <a:rPr lang="en-CA" b="1" dirty="0" err="1">
                          <a:latin typeface="Courier New" panose="02070309020205020404" pitchFamily="49" charset="0"/>
                          <a:cs typeface="Courier New" panose="02070309020205020404" pitchFamily="49" charset="0"/>
                        </a:rPr>
                        <a:t>title&amp;limit</a:t>
                      </a:r>
                      <a:r>
                        <a:rPr lang="en-CA" b="1" dirty="0">
                          <a:latin typeface="Courier New" panose="02070309020205020404" pitchFamily="49" charset="0"/>
                          <a:cs typeface="Courier New" panose="02070309020205020404" pitchFamily="49" charset="0"/>
                        </a:rPr>
                        <a:t>=100&amp;startindex=11</a:t>
                      </a:r>
                    </a:p>
                    <a:p>
                      <a:pPr marL="285750" indent="-285750">
                        <a:buFont typeface="Arial" panose="020B0604020202020204" pitchFamily="34" charset="0"/>
                        <a:buChar char="•"/>
                      </a:pPr>
                      <a:r>
                        <a:rPr lang="en-CA" b="1" dirty="0">
                          <a:latin typeface="Courier New" panose="02070309020205020404" pitchFamily="49" charset="0"/>
                          <a:cs typeface="Courier New" panose="02070309020205020404" pitchFamily="49" charset="0"/>
                        </a:rPr>
                        <a:t>“</a:t>
                      </a:r>
                      <a:r>
                        <a:rPr lang="en-CA" b="1" dirty="0" err="1">
                          <a:latin typeface="Courier New" panose="02070309020205020404" pitchFamily="49" charset="0"/>
                          <a:cs typeface="Courier New" panose="02070309020205020404" pitchFamily="49" charset="0"/>
                        </a:rPr>
                        <a:t>prev</a:t>
                      </a:r>
                      <a:r>
                        <a:rPr lang="en-CA" b="1" dirty="0">
                          <a:latin typeface="Courier New" panose="02070309020205020404" pitchFamily="49" charset="0"/>
                          <a:cs typeface="Courier New" panose="02070309020205020404" pitchFamily="49" charset="0"/>
                        </a:rPr>
                        <a:t>” / ”next” link relations</a:t>
                      </a:r>
                    </a:p>
                  </a:txBody>
                  <a:tcPr/>
                </a:tc>
                <a:extLst>
                  <a:ext uri="{0D108BD9-81ED-4DB2-BD59-A6C34878D82A}">
                    <a16:rowId xmlns:a16="http://schemas.microsoft.com/office/drawing/2014/main" val="4040213094"/>
                  </a:ext>
                </a:extLst>
              </a:tr>
              <a:tr h="877389">
                <a:tc>
                  <a:txBody>
                    <a:bodyPr/>
                    <a:lstStyle/>
                    <a:p>
                      <a:r>
                        <a:rPr lang="en-CA" dirty="0"/>
                        <a:t>Filter returnable properties</a:t>
                      </a:r>
                    </a:p>
                  </a:txBody>
                  <a:tcPr/>
                </a:tc>
                <a:tc>
                  <a:txBody>
                    <a:bodyPr/>
                    <a:lstStyle/>
                    <a:p>
                      <a:pPr marL="285750" marR="0" lvl="0"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CA" b="1" dirty="0">
                          <a:latin typeface="Courier New" panose="02070309020205020404" pitchFamily="49" charset="0"/>
                          <a:cs typeface="Courier New" panose="02070309020205020404" pitchFamily="49" charset="0"/>
                        </a:rPr>
                        <a:t>properties=</a:t>
                      </a:r>
                      <a:r>
                        <a:rPr lang="en-CA" b="1" dirty="0" err="1">
                          <a:latin typeface="Courier New" panose="02070309020205020404" pitchFamily="49" charset="0"/>
                          <a:cs typeface="Courier New" panose="02070309020205020404" pitchFamily="49" charset="0"/>
                        </a:rPr>
                        <a:t>title,description</a:t>
                      </a:r>
                      <a:endParaRPr lang="en-CA" b="1" dirty="0">
                        <a:latin typeface="Courier New" panose="02070309020205020404" pitchFamily="49" charset="0"/>
                        <a:cs typeface="Courier New" panose="02070309020205020404" pitchFamily="49" charset="0"/>
                      </a:endParaRPr>
                    </a:p>
                  </a:txBody>
                  <a:tcPr/>
                </a:tc>
                <a:extLst>
                  <a:ext uri="{0D108BD9-81ED-4DB2-BD59-A6C34878D82A}">
                    <a16:rowId xmlns:a16="http://schemas.microsoft.com/office/drawing/2014/main" val="2788238339"/>
                  </a:ext>
                </a:extLst>
              </a:tr>
            </a:tbl>
          </a:graphicData>
        </a:graphic>
      </p:graphicFrame>
    </p:spTree>
    <p:extLst>
      <p:ext uri="{BB962C8B-B14F-4D97-AF65-F5344CB8AC3E}">
        <p14:creationId xmlns:p14="http://schemas.microsoft.com/office/powerpoint/2010/main" val="251578853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F9172E4A-A1C5-31C4-3100-2FCE2080931D}"/>
              </a:ext>
            </a:extLst>
          </p:cNvPr>
          <p:cNvPicPr>
            <a:picLocks noChangeAspect="1"/>
          </p:cNvPicPr>
          <p:nvPr/>
        </p:nvPicPr>
        <p:blipFill rotWithShape="1">
          <a:blip r:embed="rId2" cstate="email">
            <a:extLst>
              <a:ext uri="{28A0092B-C50C-407E-A947-70E740481C1C}">
                <a14:useLocalDpi xmlns:a14="http://schemas.microsoft.com/office/drawing/2010/main"/>
              </a:ext>
            </a:extLst>
          </a:blip>
          <a:srcRect/>
          <a:stretch/>
        </p:blipFill>
        <p:spPr>
          <a:xfrm>
            <a:off x="5608320" y="2791655"/>
            <a:ext cx="6583680" cy="3830032"/>
          </a:xfrm>
          <a:prstGeom prst="rect">
            <a:avLst/>
          </a:prstGeom>
        </p:spPr>
      </p:pic>
      <p:sp>
        <p:nvSpPr>
          <p:cNvPr id="3" name="TextBox 2">
            <a:extLst>
              <a:ext uri="{FF2B5EF4-FFF2-40B4-BE49-F238E27FC236}">
                <a16:creationId xmlns:a16="http://schemas.microsoft.com/office/drawing/2014/main" id="{559D2B4F-E458-069F-2ED6-1C9D94052483}"/>
              </a:ext>
            </a:extLst>
          </p:cNvPr>
          <p:cNvSpPr txBox="1"/>
          <p:nvPr/>
        </p:nvSpPr>
        <p:spPr>
          <a:xfrm>
            <a:off x="3695018" y="131716"/>
            <a:ext cx="4802020" cy="646331"/>
          </a:xfrm>
          <a:prstGeom prst="rect">
            <a:avLst/>
          </a:prstGeom>
          <a:noFill/>
        </p:spPr>
        <p:txBody>
          <a:bodyPr wrap="none" rtlCol="0">
            <a:spAutoFit/>
          </a:bodyPr>
          <a:lstStyle/>
          <a:p>
            <a:pPr algn="ctr">
              <a:lnSpc>
                <a:spcPct val="90000"/>
              </a:lnSpc>
              <a:spcBef>
                <a:spcPct val="0"/>
              </a:spcBef>
              <a:tabLst>
                <a:tab pos="407526" algn="l"/>
                <a:tab pos="815052" algn="l"/>
                <a:tab pos="1222578" algn="l"/>
                <a:tab pos="1630104" algn="l"/>
                <a:tab pos="2037631" algn="l"/>
                <a:tab pos="2445156" algn="l"/>
                <a:tab pos="2852683" algn="l"/>
                <a:tab pos="3260208" algn="l"/>
                <a:tab pos="3667735" algn="l"/>
                <a:tab pos="4075260" algn="l"/>
                <a:tab pos="4482787" algn="l"/>
                <a:tab pos="4890312" algn="l"/>
                <a:tab pos="5297839" algn="l"/>
                <a:tab pos="5705364" algn="l"/>
                <a:tab pos="6112891" algn="l"/>
                <a:tab pos="6520416" algn="l"/>
                <a:tab pos="6927943" algn="l"/>
                <a:tab pos="7335468" algn="l"/>
                <a:tab pos="7742995" algn="l"/>
              </a:tabLst>
            </a:pPr>
            <a:r>
              <a:rPr lang="en-GB" sz="4000" dirty="0">
                <a:latin typeface="+mj-lt"/>
                <a:ea typeface="+mj-ea"/>
                <a:cs typeface="+mj-cs"/>
              </a:rPr>
              <a:t>GDC Catalogue Search</a:t>
            </a:r>
          </a:p>
        </p:txBody>
      </p:sp>
      <p:sp>
        <p:nvSpPr>
          <p:cNvPr id="4" name="Rectangle 2">
            <a:extLst>
              <a:ext uri="{FF2B5EF4-FFF2-40B4-BE49-F238E27FC236}">
                <a16:creationId xmlns:a16="http://schemas.microsoft.com/office/drawing/2014/main" id="{FBB43F0E-7CC3-046D-248B-F540D880AC2F}"/>
              </a:ext>
            </a:extLst>
          </p:cNvPr>
          <p:cNvSpPr txBox="1">
            <a:spLocks noChangeArrowheads="1"/>
          </p:cNvSpPr>
          <p:nvPr/>
        </p:nvSpPr>
        <p:spPr>
          <a:xfrm>
            <a:off x="397852" y="778047"/>
            <a:ext cx="7959070" cy="4758284"/>
          </a:xfrm>
          <a:prstGeom prst="rect">
            <a:avLst/>
          </a:prstGeom>
          <a:ln/>
        </p:spPr>
        <p:txBody>
          <a:bodyPr>
            <a:noAutofit/>
          </a:bodyPr>
          <a:lst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a:buClr>
                <a:schemeClr val="tx1"/>
              </a:buClr>
              <a:buSzPct val="100000"/>
              <a:tabLst>
                <a:tab pos="384170" algn="l"/>
                <a:tab pos="768339" algn="l"/>
                <a:tab pos="1152509" algn="l"/>
                <a:tab pos="1536678" algn="l"/>
                <a:tab pos="1920848" algn="l"/>
                <a:tab pos="2305016" algn="l"/>
                <a:tab pos="2689187" algn="l"/>
                <a:tab pos="3073355" algn="l"/>
                <a:tab pos="3457526" algn="l"/>
                <a:tab pos="3841694" algn="l"/>
                <a:tab pos="4225865" algn="l"/>
                <a:tab pos="4610033" algn="l"/>
                <a:tab pos="4994204" algn="l"/>
                <a:tab pos="5378372" algn="l"/>
                <a:tab pos="5762543" algn="l"/>
                <a:tab pos="6146712" algn="l"/>
                <a:tab pos="6530882" algn="l"/>
                <a:tab pos="6915050" algn="l"/>
                <a:tab pos="7299220" algn="l"/>
              </a:tabLst>
            </a:pPr>
            <a:r>
              <a:rPr lang="en-GB" altLang="en-FR" sz="2800" dirty="0"/>
              <a:t>Better metadata results in better findability/use</a:t>
            </a:r>
          </a:p>
          <a:p>
            <a:pPr>
              <a:buClr>
                <a:schemeClr val="tx1"/>
              </a:buClr>
              <a:buSzPct val="100000"/>
              <a:tabLst>
                <a:tab pos="384170" algn="l"/>
                <a:tab pos="768339" algn="l"/>
                <a:tab pos="1152509" algn="l"/>
                <a:tab pos="1536678" algn="l"/>
                <a:tab pos="1920848" algn="l"/>
                <a:tab pos="2305016" algn="l"/>
                <a:tab pos="2689187" algn="l"/>
                <a:tab pos="3073355" algn="l"/>
                <a:tab pos="3457526" algn="l"/>
                <a:tab pos="3841694" algn="l"/>
                <a:tab pos="4225865" algn="l"/>
                <a:tab pos="4610033" algn="l"/>
                <a:tab pos="4994204" algn="l"/>
                <a:tab pos="5378372" algn="l"/>
                <a:tab pos="5762543" algn="l"/>
                <a:tab pos="6146712" algn="l"/>
                <a:tab pos="6530882" algn="l"/>
                <a:tab pos="6915050" algn="l"/>
                <a:tab pos="7299220" algn="l"/>
              </a:tabLst>
            </a:pPr>
            <a:r>
              <a:rPr lang="en-GB" altLang="en-FR" sz="2800" dirty="0"/>
              <a:t>The WIS2 Global Discovery Catalogue will work with multiple applications and environments (mobile, web application, workstation, GIS, etc.)</a:t>
            </a:r>
          </a:p>
          <a:p>
            <a:pPr>
              <a:buClr>
                <a:schemeClr val="tx1"/>
              </a:buClr>
              <a:buSzPct val="100000"/>
              <a:tabLst>
                <a:tab pos="384170" algn="l"/>
                <a:tab pos="768339" algn="l"/>
                <a:tab pos="1152509" algn="l"/>
                <a:tab pos="1536678" algn="l"/>
                <a:tab pos="1920848" algn="l"/>
                <a:tab pos="2305016" algn="l"/>
                <a:tab pos="2689187" algn="l"/>
                <a:tab pos="3073355" algn="l"/>
                <a:tab pos="3457526" algn="l"/>
                <a:tab pos="3841694" algn="l"/>
                <a:tab pos="4225865" algn="l"/>
                <a:tab pos="4610033" algn="l"/>
                <a:tab pos="4994204" algn="l"/>
                <a:tab pos="5378372" algn="l"/>
                <a:tab pos="5762543" algn="l"/>
                <a:tab pos="6146712" algn="l"/>
                <a:tab pos="6530882" algn="l"/>
                <a:tab pos="6915050" algn="l"/>
                <a:tab pos="7299220" algn="l"/>
              </a:tabLst>
            </a:pPr>
            <a:r>
              <a:rPr lang="en-GB" altLang="en-FR" sz="2800" dirty="0"/>
              <a:t>Example: using QGIS, users will</a:t>
            </a:r>
            <a:br>
              <a:rPr lang="en-GB" altLang="en-FR" sz="2800" dirty="0"/>
            </a:br>
            <a:r>
              <a:rPr lang="en-GB" altLang="en-FR" sz="2800" dirty="0"/>
              <a:t>be able to search the GDC, view</a:t>
            </a:r>
            <a:br>
              <a:rPr lang="en-GB" altLang="en-FR" sz="2800" dirty="0"/>
            </a:br>
            <a:r>
              <a:rPr lang="en-GB" altLang="en-FR" sz="2800" dirty="0"/>
              <a:t>results and choose to subscribe</a:t>
            </a:r>
            <a:br>
              <a:rPr lang="en-GB" altLang="en-FR" sz="2800" dirty="0"/>
            </a:br>
            <a:r>
              <a:rPr lang="en-GB" altLang="en-FR" sz="2800" dirty="0"/>
              <a:t>and/or download data of interest</a:t>
            </a:r>
          </a:p>
        </p:txBody>
      </p:sp>
    </p:spTree>
    <p:extLst>
      <p:ext uri="{BB962C8B-B14F-4D97-AF65-F5344CB8AC3E}">
        <p14:creationId xmlns:p14="http://schemas.microsoft.com/office/powerpoint/2010/main" val="275757295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41FB69-EF23-658D-8DAC-0A1D5232B674}"/>
            </a:ext>
          </a:extLst>
        </p:cNvPr>
        <p:cNvGrpSpPr/>
        <p:nvPr/>
      </p:nvGrpSpPr>
      <p:grpSpPr>
        <a:xfrm>
          <a:off x="0" y="0"/>
          <a:ext cx="0" cy="0"/>
          <a:chOff x="0" y="0"/>
          <a:chExt cx="0" cy="0"/>
        </a:xfrm>
      </p:grpSpPr>
      <p:sp>
        <p:nvSpPr>
          <p:cNvPr id="46" name="Rectangle 45">
            <a:extLst>
              <a:ext uri="{FF2B5EF4-FFF2-40B4-BE49-F238E27FC236}">
                <a16:creationId xmlns:a16="http://schemas.microsoft.com/office/drawing/2014/main" id="{73EAE08A-DEE9-3DCD-743D-72294FFBA8B5}"/>
              </a:ext>
            </a:extLst>
          </p:cNvPr>
          <p:cNvSpPr/>
          <p:nvPr/>
        </p:nvSpPr>
        <p:spPr>
          <a:xfrm>
            <a:off x="251382" y="1987567"/>
            <a:ext cx="11940618" cy="4870433"/>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CH"/>
          </a:p>
        </p:txBody>
      </p:sp>
      <p:sp>
        <p:nvSpPr>
          <p:cNvPr id="2" name="Title 1">
            <a:extLst>
              <a:ext uri="{FF2B5EF4-FFF2-40B4-BE49-F238E27FC236}">
                <a16:creationId xmlns:a16="http://schemas.microsoft.com/office/drawing/2014/main" id="{DECB3BFA-1EB2-F3EA-1ECE-DB366DA2F0B7}"/>
              </a:ext>
            </a:extLst>
          </p:cNvPr>
          <p:cNvSpPr>
            <a:spLocks noGrp="1"/>
          </p:cNvSpPr>
          <p:nvPr>
            <p:ph type="title"/>
          </p:nvPr>
        </p:nvSpPr>
        <p:spPr>
          <a:xfrm>
            <a:off x="0" y="0"/>
            <a:ext cx="12192000" cy="791852"/>
          </a:xfrm>
          <a:solidFill>
            <a:srgbClr val="004F9F"/>
          </a:solidFill>
        </p:spPr>
        <p:txBody>
          <a:bodyPr>
            <a:normAutofit/>
          </a:bodyPr>
          <a:lstStyle/>
          <a:p>
            <a:r>
              <a:rPr lang="en-US" dirty="0">
                <a:solidFill>
                  <a:schemeClr val="bg1"/>
                </a:solidFill>
              </a:rPr>
              <a:t>WIS2 functions and components</a:t>
            </a:r>
          </a:p>
        </p:txBody>
      </p:sp>
      <p:sp>
        <p:nvSpPr>
          <p:cNvPr id="47" name="AutoShape 4">
            <a:extLst>
              <a:ext uri="{FF2B5EF4-FFF2-40B4-BE49-F238E27FC236}">
                <a16:creationId xmlns:a16="http://schemas.microsoft.com/office/drawing/2014/main" id="{88E47F27-CB74-DCFC-C109-24833D49BB63}"/>
              </a:ext>
            </a:extLst>
          </p:cNvPr>
          <p:cNvSpPr>
            <a:spLocks noChangeAspect="1" noChangeArrowheads="1"/>
          </p:cNvSpPr>
          <p:nvPr/>
        </p:nvSpPr>
        <p:spPr bwMode="auto">
          <a:xfrm>
            <a:off x="3786326" y="3214456"/>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CH"/>
          </a:p>
        </p:txBody>
      </p:sp>
      <p:sp>
        <p:nvSpPr>
          <p:cNvPr id="49" name="AutoShape 4">
            <a:extLst>
              <a:ext uri="{FF2B5EF4-FFF2-40B4-BE49-F238E27FC236}">
                <a16:creationId xmlns:a16="http://schemas.microsoft.com/office/drawing/2014/main" id="{85B44B7B-3810-36BC-BA74-D150A1871230}"/>
              </a:ext>
            </a:extLst>
          </p:cNvPr>
          <p:cNvSpPr>
            <a:spLocks noChangeAspect="1" noChangeArrowheads="1"/>
          </p:cNvSpPr>
          <p:nvPr/>
        </p:nvSpPr>
        <p:spPr bwMode="auto">
          <a:xfrm>
            <a:off x="816793" y="3219634"/>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CH"/>
          </a:p>
        </p:txBody>
      </p:sp>
      <p:pic>
        <p:nvPicPr>
          <p:cNvPr id="6" name="Picture 5">
            <a:extLst>
              <a:ext uri="{FF2B5EF4-FFF2-40B4-BE49-F238E27FC236}">
                <a16:creationId xmlns:a16="http://schemas.microsoft.com/office/drawing/2014/main" id="{007E5389-0D2C-7F54-F134-8791C301CD4F}"/>
              </a:ext>
            </a:extLst>
          </p:cNvPr>
          <p:cNvPicPr>
            <a:picLocks noChangeAspect="1"/>
          </p:cNvPicPr>
          <p:nvPr/>
        </p:nvPicPr>
        <p:blipFill>
          <a:blip r:embed="rId2"/>
          <a:stretch>
            <a:fillRect/>
          </a:stretch>
        </p:blipFill>
        <p:spPr>
          <a:xfrm>
            <a:off x="9915702" y="937861"/>
            <a:ext cx="2024916" cy="2099411"/>
          </a:xfrm>
          <a:prstGeom prst="rect">
            <a:avLst/>
          </a:prstGeom>
        </p:spPr>
      </p:pic>
      <p:graphicFrame>
        <p:nvGraphicFramePr>
          <p:cNvPr id="4" name="Table 3">
            <a:extLst>
              <a:ext uri="{FF2B5EF4-FFF2-40B4-BE49-F238E27FC236}">
                <a16:creationId xmlns:a16="http://schemas.microsoft.com/office/drawing/2014/main" id="{D4FB1910-9B9B-3F6D-6798-19634B31551F}"/>
              </a:ext>
            </a:extLst>
          </p:cNvPr>
          <p:cNvGraphicFramePr>
            <a:graphicFrameLocks noGrp="1"/>
          </p:cNvGraphicFramePr>
          <p:nvPr>
            <p:extLst>
              <p:ext uri="{D42A27DB-BD31-4B8C-83A1-F6EECF244321}">
                <p14:modId xmlns:p14="http://schemas.microsoft.com/office/powerpoint/2010/main" val="3625992419"/>
              </p:ext>
            </p:extLst>
          </p:nvPr>
        </p:nvGraphicFramePr>
        <p:xfrm>
          <a:off x="816793" y="1841558"/>
          <a:ext cx="9005433" cy="2560320"/>
        </p:xfrm>
        <a:graphic>
          <a:graphicData uri="http://schemas.openxmlformats.org/drawingml/2006/table">
            <a:tbl>
              <a:tblPr firstRow="1" bandRow="1">
                <a:tableStyleId>{5C22544A-7EE6-4342-B048-85BDC9FD1C3A}</a:tableStyleId>
              </a:tblPr>
              <a:tblGrid>
                <a:gridCol w="3001811">
                  <a:extLst>
                    <a:ext uri="{9D8B030D-6E8A-4147-A177-3AD203B41FA5}">
                      <a16:colId xmlns:a16="http://schemas.microsoft.com/office/drawing/2014/main" val="4230909249"/>
                    </a:ext>
                  </a:extLst>
                </a:gridCol>
                <a:gridCol w="3001811">
                  <a:extLst>
                    <a:ext uri="{9D8B030D-6E8A-4147-A177-3AD203B41FA5}">
                      <a16:colId xmlns:a16="http://schemas.microsoft.com/office/drawing/2014/main" val="614050445"/>
                    </a:ext>
                  </a:extLst>
                </a:gridCol>
                <a:gridCol w="3001811">
                  <a:extLst>
                    <a:ext uri="{9D8B030D-6E8A-4147-A177-3AD203B41FA5}">
                      <a16:colId xmlns:a16="http://schemas.microsoft.com/office/drawing/2014/main" val="818553327"/>
                    </a:ext>
                  </a:extLst>
                </a:gridCol>
              </a:tblGrid>
              <a:tr h="303106">
                <a:tc>
                  <a:txBody>
                    <a:bodyPr/>
                    <a:lstStyle/>
                    <a:p>
                      <a:r>
                        <a:rPr lang="en-CA" dirty="0"/>
                        <a:t>Function</a:t>
                      </a:r>
                    </a:p>
                  </a:txBody>
                  <a:tcPr/>
                </a:tc>
                <a:tc>
                  <a:txBody>
                    <a:bodyPr/>
                    <a:lstStyle/>
                    <a:p>
                      <a:r>
                        <a:rPr lang="en-CA" dirty="0"/>
                        <a:t>WIS2 Global Service</a:t>
                      </a:r>
                    </a:p>
                  </a:txBody>
                  <a:tcPr/>
                </a:tc>
                <a:tc>
                  <a:txBody>
                    <a:bodyPr/>
                    <a:lstStyle/>
                    <a:p>
                      <a:r>
                        <a:rPr lang="en-CA" dirty="0"/>
                        <a:t>WIS2 Standard</a:t>
                      </a:r>
                    </a:p>
                  </a:txBody>
                  <a:tcPr/>
                </a:tc>
                <a:extLst>
                  <a:ext uri="{0D108BD9-81ED-4DB2-BD59-A6C34878D82A}">
                    <a16:rowId xmlns:a16="http://schemas.microsoft.com/office/drawing/2014/main" val="2047454155"/>
                  </a:ext>
                </a:extLst>
              </a:tr>
              <a:tr h="370840">
                <a:tc>
                  <a:txBody>
                    <a:bodyPr/>
                    <a:lstStyle/>
                    <a:p>
                      <a:r>
                        <a:rPr lang="en-CA" dirty="0"/>
                        <a:t>Discovery</a:t>
                      </a:r>
                    </a:p>
                  </a:txBody>
                  <a:tcPr/>
                </a:tc>
                <a:tc>
                  <a:txBody>
                    <a:bodyPr/>
                    <a:lstStyle/>
                    <a:p>
                      <a:r>
                        <a:rPr lang="en-CA" dirty="0"/>
                        <a:t>Global Discovery Catalogue</a:t>
                      </a:r>
                    </a:p>
                  </a:txBody>
                  <a:tcPr/>
                </a:tc>
                <a:tc>
                  <a:txBody>
                    <a:bodyPr/>
                    <a:lstStyle/>
                    <a:p>
                      <a:r>
                        <a:rPr lang="en-CA" dirty="0"/>
                        <a:t>WMO Core Metadata Profile (WCMP2)</a:t>
                      </a:r>
                    </a:p>
                  </a:txBody>
                  <a:tcPr/>
                </a:tc>
                <a:extLst>
                  <a:ext uri="{0D108BD9-81ED-4DB2-BD59-A6C34878D82A}">
                    <a16:rowId xmlns:a16="http://schemas.microsoft.com/office/drawing/2014/main" val="3612332139"/>
                  </a:ext>
                </a:extLst>
              </a:tr>
              <a:tr h="370840">
                <a:tc>
                  <a:txBody>
                    <a:bodyPr/>
                    <a:lstStyle/>
                    <a:p>
                      <a:r>
                        <a:rPr lang="en-CA" dirty="0"/>
                        <a:t>Subscription</a:t>
                      </a:r>
                    </a:p>
                  </a:txBody>
                  <a:tcPr/>
                </a:tc>
                <a:tc>
                  <a:txBody>
                    <a:bodyPr/>
                    <a:lstStyle/>
                    <a:p>
                      <a:r>
                        <a:rPr lang="en-CA" dirty="0"/>
                        <a:t>Global Broker</a:t>
                      </a:r>
                    </a:p>
                  </a:txBody>
                  <a:tcPr/>
                </a:tc>
                <a:tc>
                  <a:txBody>
                    <a:bodyPr/>
                    <a:lstStyle/>
                    <a:p>
                      <a:r>
                        <a:rPr lang="en-CA" dirty="0"/>
                        <a:t>WIS2 Notification Message (WNM)</a:t>
                      </a:r>
                    </a:p>
                    <a:p>
                      <a:r>
                        <a:rPr lang="en-CA" dirty="0"/>
                        <a:t>WIS2 Topic Hierarchy (WTH)</a:t>
                      </a:r>
                    </a:p>
                  </a:txBody>
                  <a:tcPr/>
                </a:tc>
                <a:extLst>
                  <a:ext uri="{0D108BD9-81ED-4DB2-BD59-A6C34878D82A}">
                    <a16:rowId xmlns:a16="http://schemas.microsoft.com/office/drawing/2014/main" val="2609615259"/>
                  </a:ext>
                </a:extLst>
              </a:tr>
              <a:tr h="370840">
                <a:tc>
                  <a:txBody>
                    <a:bodyPr/>
                    <a:lstStyle/>
                    <a:p>
                      <a:r>
                        <a:rPr lang="en-CA" dirty="0"/>
                        <a:t>Download</a:t>
                      </a:r>
                    </a:p>
                  </a:txBody>
                  <a:tcPr/>
                </a:tc>
                <a:tc>
                  <a:txBody>
                    <a:bodyPr/>
                    <a:lstStyle/>
                    <a:p>
                      <a:r>
                        <a:rPr lang="en-CA" dirty="0"/>
                        <a:t>Global Cache</a:t>
                      </a:r>
                    </a:p>
                  </a:txBody>
                  <a:tcPr/>
                </a:tc>
                <a:tc>
                  <a:txBody>
                    <a:bodyPr/>
                    <a:lstStyle/>
                    <a:p>
                      <a:r>
                        <a:rPr lang="en-CA" dirty="0"/>
                        <a:t>WIS2 Notification Message (WNM)</a:t>
                      </a:r>
                    </a:p>
                  </a:txBody>
                  <a:tcPr/>
                </a:tc>
                <a:extLst>
                  <a:ext uri="{0D108BD9-81ED-4DB2-BD59-A6C34878D82A}">
                    <a16:rowId xmlns:a16="http://schemas.microsoft.com/office/drawing/2014/main" val="3281450223"/>
                  </a:ext>
                </a:extLst>
              </a:tr>
            </a:tbl>
          </a:graphicData>
        </a:graphic>
      </p:graphicFrame>
    </p:spTree>
    <p:extLst>
      <p:ext uri="{BB962C8B-B14F-4D97-AF65-F5344CB8AC3E}">
        <p14:creationId xmlns:p14="http://schemas.microsoft.com/office/powerpoint/2010/main" val="250810284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4B4704-B18B-41B7-2233-5AE70A34EB07}"/>
            </a:ext>
          </a:extLst>
        </p:cNvPr>
        <p:cNvGrpSpPr/>
        <p:nvPr/>
      </p:nvGrpSpPr>
      <p:grpSpPr>
        <a:xfrm>
          <a:off x="0" y="0"/>
          <a:ext cx="0" cy="0"/>
          <a:chOff x="0" y="0"/>
          <a:chExt cx="0" cy="0"/>
        </a:xfrm>
      </p:grpSpPr>
      <p:sp>
        <p:nvSpPr>
          <p:cNvPr id="17" name="Cloud 16">
            <a:extLst>
              <a:ext uri="{FF2B5EF4-FFF2-40B4-BE49-F238E27FC236}">
                <a16:creationId xmlns:a16="http://schemas.microsoft.com/office/drawing/2014/main" id="{988298BE-11D3-2426-BD0A-2E7FF4D73A44}"/>
              </a:ext>
            </a:extLst>
          </p:cNvPr>
          <p:cNvSpPr/>
          <p:nvPr/>
        </p:nvSpPr>
        <p:spPr>
          <a:xfrm>
            <a:off x="1761566" y="1059776"/>
            <a:ext cx="8444752" cy="5384156"/>
          </a:xfrm>
          <a:prstGeom prst="cloud">
            <a:avLst/>
          </a:prstGeom>
          <a:solidFill>
            <a:schemeClr val="accent1">
              <a:alpha val="5000"/>
            </a:schemeClr>
          </a:solidFill>
          <a:ln>
            <a:solidFill>
              <a:schemeClr val="accent1">
                <a:shade val="95000"/>
                <a:satMod val="105000"/>
                <a:alpha val="151"/>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21" name="Rectangle 20">
            <a:extLst>
              <a:ext uri="{FF2B5EF4-FFF2-40B4-BE49-F238E27FC236}">
                <a16:creationId xmlns:a16="http://schemas.microsoft.com/office/drawing/2014/main" id="{FC9CC011-D0D1-6220-0EC2-AC9AD73326A8}"/>
              </a:ext>
            </a:extLst>
          </p:cNvPr>
          <p:cNvSpPr/>
          <p:nvPr/>
        </p:nvSpPr>
        <p:spPr>
          <a:xfrm>
            <a:off x="-53788" y="0"/>
            <a:ext cx="12245788" cy="734218"/>
          </a:xfrm>
          <a:prstGeom prst="rect">
            <a:avLst/>
          </a:prstGeom>
          <a:solidFill>
            <a:srgbClr val="034D9E"/>
          </a:solidFill>
        </p:spPr>
        <p:style>
          <a:lnRef idx="1">
            <a:schemeClr val="accent1"/>
          </a:lnRef>
          <a:fillRef idx="3">
            <a:schemeClr val="accent1"/>
          </a:fillRef>
          <a:effectRef idx="2">
            <a:schemeClr val="accent1"/>
          </a:effectRef>
          <a:fontRef idx="minor">
            <a:schemeClr val="lt1"/>
          </a:fontRef>
        </p:style>
        <p:txBody>
          <a:bodyPr rtlCol="0" anchor="ctr"/>
          <a:lstStyle/>
          <a:p>
            <a:pPr algn="ctr"/>
            <a:r>
              <a:rPr lang="en-CA" sz="3200" b="1" dirty="0"/>
              <a:t>Publish, Find, Subscribe, Download</a:t>
            </a:r>
            <a:endParaRPr lang="en-CH" sz="3200" b="1" dirty="0"/>
          </a:p>
        </p:txBody>
      </p:sp>
      <p:cxnSp>
        <p:nvCxnSpPr>
          <p:cNvPr id="18" name="Straight Arrow Connector 17">
            <a:extLst>
              <a:ext uri="{FF2B5EF4-FFF2-40B4-BE49-F238E27FC236}">
                <a16:creationId xmlns:a16="http://schemas.microsoft.com/office/drawing/2014/main" id="{EB3EBB59-DF70-2AA6-B31F-225A88BB7562}"/>
              </a:ext>
            </a:extLst>
          </p:cNvPr>
          <p:cNvCxnSpPr>
            <a:cxnSpLocks/>
            <a:stCxn id="54" idx="2"/>
            <a:endCxn id="59" idx="0"/>
          </p:cNvCxnSpPr>
          <p:nvPr/>
        </p:nvCxnSpPr>
        <p:spPr>
          <a:xfrm>
            <a:off x="7117600" y="2466420"/>
            <a:ext cx="7467" cy="2393322"/>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grpSp>
        <p:nvGrpSpPr>
          <p:cNvPr id="30" name="Group 29">
            <a:extLst>
              <a:ext uri="{FF2B5EF4-FFF2-40B4-BE49-F238E27FC236}">
                <a16:creationId xmlns:a16="http://schemas.microsoft.com/office/drawing/2014/main" id="{3CAB3A7A-F190-3AE4-F5D1-C7D1B3A69BDF}"/>
              </a:ext>
            </a:extLst>
          </p:cNvPr>
          <p:cNvGrpSpPr/>
          <p:nvPr/>
        </p:nvGrpSpPr>
        <p:grpSpPr>
          <a:xfrm>
            <a:off x="1172178" y="3043051"/>
            <a:ext cx="3203882" cy="510900"/>
            <a:chOff x="1172178" y="3043051"/>
            <a:chExt cx="3203882" cy="510900"/>
          </a:xfrm>
        </p:grpSpPr>
        <p:cxnSp>
          <p:nvCxnSpPr>
            <p:cNvPr id="10" name="Straight Arrow Connector 9">
              <a:extLst>
                <a:ext uri="{FF2B5EF4-FFF2-40B4-BE49-F238E27FC236}">
                  <a16:creationId xmlns:a16="http://schemas.microsoft.com/office/drawing/2014/main" id="{712A267B-4860-7866-7FDA-C679BAD21FFC}"/>
                </a:ext>
              </a:extLst>
            </p:cNvPr>
            <p:cNvCxnSpPr>
              <a:cxnSpLocks/>
              <a:stCxn id="4" idx="3"/>
              <a:endCxn id="52" idx="1"/>
            </p:cNvCxnSpPr>
            <p:nvPr/>
          </p:nvCxnSpPr>
          <p:spPr>
            <a:xfrm flipV="1">
              <a:off x="1172178" y="3361286"/>
              <a:ext cx="3203882" cy="192665"/>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26" name="TextBox 25">
              <a:extLst>
                <a:ext uri="{FF2B5EF4-FFF2-40B4-BE49-F238E27FC236}">
                  <a16:creationId xmlns:a16="http://schemas.microsoft.com/office/drawing/2014/main" id="{18774B4E-BCBE-C71D-78E2-EE8B246F233E}"/>
                </a:ext>
              </a:extLst>
            </p:cNvPr>
            <p:cNvSpPr txBox="1"/>
            <p:nvPr/>
          </p:nvSpPr>
          <p:spPr>
            <a:xfrm>
              <a:off x="2876191" y="3043051"/>
              <a:ext cx="587020" cy="369332"/>
            </a:xfrm>
            <a:prstGeom prst="rect">
              <a:avLst/>
            </a:prstGeom>
            <a:noFill/>
          </p:spPr>
          <p:txBody>
            <a:bodyPr wrap="none" rtlCol="0">
              <a:spAutoFit/>
            </a:bodyPr>
            <a:lstStyle/>
            <a:p>
              <a:r>
                <a:rPr lang="en-US" dirty="0"/>
                <a:t>Find</a:t>
              </a:r>
            </a:p>
          </p:txBody>
        </p:sp>
      </p:grpSp>
      <p:grpSp>
        <p:nvGrpSpPr>
          <p:cNvPr id="29" name="Group 28">
            <a:extLst>
              <a:ext uri="{FF2B5EF4-FFF2-40B4-BE49-F238E27FC236}">
                <a16:creationId xmlns:a16="http://schemas.microsoft.com/office/drawing/2014/main" id="{9BE140A7-EB4A-2229-932D-1C1566EA4226}"/>
              </a:ext>
            </a:extLst>
          </p:cNvPr>
          <p:cNvGrpSpPr/>
          <p:nvPr/>
        </p:nvGrpSpPr>
        <p:grpSpPr>
          <a:xfrm>
            <a:off x="670812" y="1872867"/>
            <a:ext cx="5240429" cy="1590587"/>
            <a:chOff x="670812" y="1872867"/>
            <a:chExt cx="5240429" cy="1590587"/>
          </a:xfrm>
        </p:grpSpPr>
        <p:cxnSp>
          <p:nvCxnSpPr>
            <p:cNvPr id="13" name="Straight Arrow Connector 12">
              <a:extLst>
                <a:ext uri="{FF2B5EF4-FFF2-40B4-BE49-F238E27FC236}">
                  <a16:creationId xmlns:a16="http://schemas.microsoft.com/office/drawing/2014/main" id="{3A2E5FFA-F0DB-6098-8E45-1310FAD64D22}"/>
                </a:ext>
              </a:extLst>
            </p:cNvPr>
            <p:cNvCxnSpPr>
              <a:cxnSpLocks/>
              <a:endCxn id="54" idx="1"/>
            </p:cNvCxnSpPr>
            <p:nvPr/>
          </p:nvCxnSpPr>
          <p:spPr>
            <a:xfrm flipV="1">
              <a:off x="670812" y="2075853"/>
              <a:ext cx="5240429" cy="1387601"/>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27" name="TextBox 26">
              <a:extLst>
                <a:ext uri="{FF2B5EF4-FFF2-40B4-BE49-F238E27FC236}">
                  <a16:creationId xmlns:a16="http://schemas.microsoft.com/office/drawing/2014/main" id="{045DBF5D-65F6-ACC9-6093-B44462829641}"/>
                </a:ext>
              </a:extLst>
            </p:cNvPr>
            <p:cNvSpPr txBox="1"/>
            <p:nvPr/>
          </p:nvSpPr>
          <p:spPr>
            <a:xfrm>
              <a:off x="2945977" y="1872867"/>
              <a:ext cx="1090811" cy="369332"/>
            </a:xfrm>
            <a:prstGeom prst="rect">
              <a:avLst/>
            </a:prstGeom>
            <a:noFill/>
          </p:spPr>
          <p:txBody>
            <a:bodyPr wrap="none" rtlCol="0">
              <a:spAutoFit/>
            </a:bodyPr>
            <a:lstStyle/>
            <a:p>
              <a:r>
                <a:rPr lang="en-US" dirty="0"/>
                <a:t>Subscribe</a:t>
              </a:r>
            </a:p>
          </p:txBody>
        </p:sp>
      </p:grpSp>
      <p:grpSp>
        <p:nvGrpSpPr>
          <p:cNvPr id="31" name="Group 30">
            <a:extLst>
              <a:ext uri="{FF2B5EF4-FFF2-40B4-BE49-F238E27FC236}">
                <a16:creationId xmlns:a16="http://schemas.microsoft.com/office/drawing/2014/main" id="{52D1AAF4-EF8F-9B6B-DABC-B8D730F108CC}"/>
              </a:ext>
            </a:extLst>
          </p:cNvPr>
          <p:cNvGrpSpPr/>
          <p:nvPr/>
        </p:nvGrpSpPr>
        <p:grpSpPr>
          <a:xfrm>
            <a:off x="531094" y="3578770"/>
            <a:ext cx="5380147" cy="1671539"/>
            <a:chOff x="531094" y="3578770"/>
            <a:chExt cx="5380147" cy="1671539"/>
          </a:xfrm>
        </p:grpSpPr>
        <p:cxnSp>
          <p:nvCxnSpPr>
            <p:cNvPr id="22" name="Straight Arrow Connector 21">
              <a:extLst>
                <a:ext uri="{FF2B5EF4-FFF2-40B4-BE49-F238E27FC236}">
                  <a16:creationId xmlns:a16="http://schemas.microsoft.com/office/drawing/2014/main" id="{AD2067A9-D858-FBDA-5CB0-4EDAFF90C02E}"/>
                </a:ext>
              </a:extLst>
            </p:cNvPr>
            <p:cNvCxnSpPr>
              <a:cxnSpLocks/>
              <a:stCxn id="59" idx="1"/>
            </p:cNvCxnSpPr>
            <p:nvPr/>
          </p:nvCxnSpPr>
          <p:spPr>
            <a:xfrm flipH="1" flipV="1">
              <a:off x="531094" y="3578770"/>
              <a:ext cx="5380147" cy="1671539"/>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28" name="TextBox 27">
              <a:extLst>
                <a:ext uri="{FF2B5EF4-FFF2-40B4-BE49-F238E27FC236}">
                  <a16:creationId xmlns:a16="http://schemas.microsoft.com/office/drawing/2014/main" id="{9E22C85E-7591-A65D-A1C2-92978D90C3E6}"/>
                </a:ext>
              </a:extLst>
            </p:cNvPr>
            <p:cNvSpPr txBox="1"/>
            <p:nvPr/>
          </p:nvSpPr>
          <p:spPr>
            <a:xfrm>
              <a:off x="2595888" y="4483187"/>
              <a:ext cx="1142364" cy="646331"/>
            </a:xfrm>
            <a:prstGeom prst="rect">
              <a:avLst/>
            </a:prstGeom>
            <a:noFill/>
          </p:spPr>
          <p:txBody>
            <a:bodyPr wrap="none" rtlCol="0">
              <a:spAutoFit/>
            </a:bodyPr>
            <a:lstStyle/>
            <a:p>
              <a:r>
                <a:rPr lang="en-US" dirty="0"/>
                <a:t>Download</a:t>
              </a:r>
            </a:p>
            <a:p>
              <a:r>
                <a:rPr lang="en-US" dirty="0"/>
                <a:t>core data</a:t>
              </a:r>
            </a:p>
          </p:txBody>
        </p:sp>
      </p:grpSp>
      <p:pic>
        <p:nvPicPr>
          <p:cNvPr id="4" name="Picture 3">
            <a:extLst>
              <a:ext uri="{FF2B5EF4-FFF2-40B4-BE49-F238E27FC236}">
                <a16:creationId xmlns:a16="http://schemas.microsoft.com/office/drawing/2014/main" id="{D4DA274B-74B9-10F3-CC9F-D6721E94346F}"/>
              </a:ext>
            </a:extLst>
          </p:cNvPr>
          <p:cNvPicPr>
            <a:picLocks noChangeAspect="1"/>
          </p:cNvPicPr>
          <p:nvPr/>
        </p:nvPicPr>
        <p:blipFill>
          <a:blip r:embed="rId2"/>
          <a:stretch>
            <a:fillRect/>
          </a:stretch>
        </p:blipFill>
        <p:spPr>
          <a:xfrm>
            <a:off x="437206" y="2956785"/>
            <a:ext cx="734972" cy="1194331"/>
          </a:xfrm>
          <a:prstGeom prst="rect">
            <a:avLst/>
          </a:prstGeom>
        </p:spPr>
      </p:pic>
      <p:pic>
        <p:nvPicPr>
          <p:cNvPr id="5" name="Picture 4">
            <a:extLst>
              <a:ext uri="{FF2B5EF4-FFF2-40B4-BE49-F238E27FC236}">
                <a16:creationId xmlns:a16="http://schemas.microsoft.com/office/drawing/2014/main" id="{6E646F2F-8BAC-2C4E-36A4-6059524297A9}"/>
              </a:ext>
            </a:extLst>
          </p:cNvPr>
          <p:cNvPicPr>
            <a:picLocks noChangeAspect="1"/>
          </p:cNvPicPr>
          <p:nvPr/>
        </p:nvPicPr>
        <p:blipFill>
          <a:blip r:embed="rId3"/>
          <a:stretch>
            <a:fillRect/>
          </a:stretch>
        </p:blipFill>
        <p:spPr>
          <a:xfrm>
            <a:off x="10292687" y="1903979"/>
            <a:ext cx="970364" cy="1164438"/>
          </a:xfrm>
          <a:prstGeom prst="rect">
            <a:avLst/>
          </a:prstGeom>
        </p:spPr>
      </p:pic>
      <p:grpSp>
        <p:nvGrpSpPr>
          <p:cNvPr id="2" name="Group 1">
            <a:extLst>
              <a:ext uri="{FF2B5EF4-FFF2-40B4-BE49-F238E27FC236}">
                <a16:creationId xmlns:a16="http://schemas.microsoft.com/office/drawing/2014/main" id="{051A465E-7824-3D60-398E-147676B93F96}"/>
              </a:ext>
            </a:extLst>
          </p:cNvPr>
          <p:cNvGrpSpPr/>
          <p:nvPr/>
        </p:nvGrpSpPr>
        <p:grpSpPr>
          <a:xfrm>
            <a:off x="8402007" y="3227717"/>
            <a:ext cx="1468493" cy="675211"/>
            <a:chOff x="8402007" y="3227717"/>
            <a:chExt cx="1468493" cy="675211"/>
          </a:xfrm>
        </p:grpSpPr>
        <p:cxnSp>
          <p:nvCxnSpPr>
            <p:cNvPr id="25" name="Straight Arrow Connector 24">
              <a:extLst>
                <a:ext uri="{FF2B5EF4-FFF2-40B4-BE49-F238E27FC236}">
                  <a16:creationId xmlns:a16="http://schemas.microsoft.com/office/drawing/2014/main" id="{4A9EDE3C-6281-0FA4-B979-83072CDB2D9B}"/>
                </a:ext>
              </a:extLst>
            </p:cNvPr>
            <p:cNvCxnSpPr>
              <a:cxnSpLocks/>
              <a:stCxn id="72" idx="1"/>
            </p:cNvCxnSpPr>
            <p:nvPr/>
          </p:nvCxnSpPr>
          <p:spPr>
            <a:xfrm flipH="1" flipV="1">
              <a:off x="8402007" y="3597049"/>
              <a:ext cx="1468493" cy="305879"/>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34" name="TextBox 33">
              <a:extLst>
                <a:ext uri="{FF2B5EF4-FFF2-40B4-BE49-F238E27FC236}">
                  <a16:creationId xmlns:a16="http://schemas.microsoft.com/office/drawing/2014/main" id="{B95F31FE-DBEF-7C09-8D72-DDE41B9A30EB}"/>
                </a:ext>
              </a:extLst>
            </p:cNvPr>
            <p:cNvSpPr txBox="1"/>
            <p:nvPr/>
          </p:nvSpPr>
          <p:spPr>
            <a:xfrm>
              <a:off x="8830290" y="3227717"/>
              <a:ext cx="864339" cy="369332"/>
            </a:xfrm>
            <a:prstGeom prst="rect">
              <a:avLst/>
            </a:prstGeom>
            <a:noFill/>
          </p:spPr>
          <p:txBody>
            <a:bodyPr wrap="none" rtlCol="0">
              <a:spAutoFit/>
            </a:bodyPr>
            <a:lstStyle/>
            <a:p>
              <a:r>
                <a:rPr lang="en-US" dirty="0"/>
                <a:t>Publish</a:t>
              </a:r>
            </a:p>
          </p:txBody>
        </p:sp>
      </p:grpSp>
      <p:sp>
        <p:nvSpPr>
          <p:cNvPr id="45" name="Rectangle 44">
            <a:extLst>
              <a:ext uri="{FF2B5EF4-FFF2-40B4-BE49-F238E27FC236}">
                <a16:creationId xmlns:a16="http://schemas.microsoft.com/office/drawing/2014/main" id="{FBE33C75-0798-09E8-102D-C769855D4568}"/>
              </a:ext>
            </a:extLst>
          </p:cNvPr>
          <p:cNvSpPr/>
          <p:nvPr/>
        </p:nvSpPr>
        <p:spPr>
          <a:xfrm>
            <a:off x="4181355" y="965986"/>
            <a:ext cx="4220652" cy="5571735"/>
          </a:xfrm>
          <a:prstGeom prst="rect">
            <a:avLst/>
          </a:prstGeom>
          <a:solidFill>
            <a:schemeClr val="accent1">
              <a:alpha val="12000"/>
            </a:schemeClr>
          </a:solidFill>
          <a:ln w="22225">
            <a:solidFill>
              <a:schemeClr val="tx1"/>
            </a:solidFill>
          </a:ln>
        </p:spPr>
        <p:style>
          <a:lnRef idx="1">
            <a:schemeClr val="accent1"/>
          </a:lnRef>
          <a:fillRef idx="3">
            <a:schemeClr val="accent1"/>
          </a:fillRef>
          <a:effectRef idx="2">
            <a:schemeClr val="accent1"/>
          </a:effectRef>
          <a:fontRef idx="minor">
            <a:schemeClr val="lt1"/>
          </a:fontRef>
        </p:style>
        <p:txBody>
          <a:bodyPr rtlCol="0" anchor="t"/>
          <a:lstStyle/>
          <a:p>
            <a:r>
              <a:rPr lang="en-US" sz="2400" dirty="0">
                <a:solidFill>
                  <a:schemeClr val="tx1"/>
                </a:solidFill>
              </a:rPr>
              <a:t>WIS2 Global Services</a:t>
            </a:r>
          </a:p>
        </p:txBody>
      </p:sp>
      <p:sp>
        <p:nvSpPr>
          <p:cNvPr id="52" name="Rectangle 51">
            <a:extLst>
              <a:ext uri="{FF2B5EF4-FFF2-40B4-BE49-F238E27FC236}">
                <a16:creationId xmlns:a16="http://schemas.microsoft.com/office/drawing/2014/main" id="{ABCFFA4C-E120-854E-6933-6FB7C4AF99C8}"/>
              </a:ext>
            </a:extLst>
          </p:cNvPr>
          <p:cNvSpPr/>
          <p:nvPr/>
        </p:nvSpPr>
        <p:spPr>
          <a:xfrm>
            <a:off x="4376060" y="2970718"/>
            <a:ext cx="2585019" cy="781135"/>
          </a:xfrm>
          <a:prstGeom prst="rect">
            <a:avLst/>
          </a:prstGeom>
          <a:solidFill>
            <a:srgbClr val="00B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r"/>
            <a:r>
              <a:rPr lang="en-US" sz="1400" b="1" dirty="0">
                <a:solidFill>
                  <a:schemeClr val="tx1"/>
                </a:solidFill>
              </a:rPr>
              <a:t>Global Discovery Catalogue</a:t>
            </a:r>
            <a:endParaRPr lang="en-CH" sz="1400" b="1" dirty="0">
              <a:solidFill>
                <a:schemeClr val="tx1"/>
              </a:solidFill>
            </a:endParaRPr>
          </a:p>
        </p:txBody>
      </p:sp>
      <p:sp>
        <p:nvSpPr>
          <p:cNvPr id="54" name="Rectangle 53">
            <a:extLst>
              <a:ext uri="{FF2B5EF4-FFF2-40B4-BE49-F238E27FC236}">
                <a16:creationId xmlns:a16="http://schemas.microsoft.com/office/drawing/2014/main" id="{3045143F-4D6D-1792-626F-012249B07FF5}"/>
              </a:ext>
            </a:extLst>
          </p:cNvPr>
          <p:cNvSpPr/>
          <p:nvPr/>
        </p:nvSpPr>
        <p:spPr>
          <a:xfrm>
            <a:off x="5911241" y="1685286"/>
            <a:ext cx="2412717" cy="781134"/>
          </a:xfrm>
          <a:prstGeom prst="rect">
            <a:avLst/>
          </a:prstGeom>
          <a:solidFill>
            <a:schemeClr val="accent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b="1" dirty="0">
                <a:solidFill>
                  <a:schemeClr val="tx1"/>
                </a:solidFill>
              </a:rPr>
              <a:t>Global Broker</a:t>
            </a:r>
            <a:endParaRPr lang="en-CH" sz="1600" b="1" dirty="0">
              <a:solidFill>
                <a:schemeClr val="tx1"/>
              </a:solidFill>
            </a:endParaRPr>
          </a:p>
        </p:txBody>
      </p:sp>
      <p:sp>
        <p:nvSpPr>
          <p:cNvPr id="59" name="Rectangle 58">
            <a:extLst>
              <a:ext uri="{FF2B5EF4-FFF2-40B4-BE49-F238E27FC236}">
                <a16:creationId xmlns:a16="http://schemas.microsoft.com/office/drawing/2014/main" id="{C41FB7D3-5C2E-ABFB-BDC3-C9A8EA01D1C2}"/>
              </a:ext>
            </a:extLst>
          </p:cNvPr>
          <p:cNvSpPr/>
          <p:nvPr/>
        </p:nvSpPr>
        <p:spPr>
          <a:xfrm>
            <a:off x="5911241" y="4859742"/>
            <a:ext cx="2427652" cy="781134"/>
          </a:xfrm>
          <a:prstGeom prst="rect">
            <a:avLst/>
          </a:prstGeom>
          <a:solidFill>
            <a:schemeClr val="tx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b="1" dirty="0">
                <a:solidFill>
                  <a:schemeClr val="tx1"/>
                </a:solidFill>
              </a:rPr>
              <a:t>Global Cache</a:t>
            </a:r>
            <a:endParaRPr lang="en-CH" sz="1600" b="1">
              <a:solidFill>
                <a:schemeClr val="tx1"/>
              </a:solidFill>
            </a:endParaRPr>
          </a:p>
        </p:txBody>
      </p:sp>
      <p:sp>
        <p:nvSpPr>
          <p:cNvPr id="72" name="Rectangle 71">
            <a:extLst>
              <a:ext uri="{FF2B5EF4-FFF2-40B4-BE49-F238E27FC236}">
                <a16:creationId xmlns:a16="http://schemas.microsoft.com/office/drawing/2014/main" id="{0F1237B0-8C5E-D98A-CE9B-119F74E3117B}"/>
              </a:ext>
            </a:extLst>
          </p:cNvPr>
          <p:cNvSpPr/>
          <p:nvPr/>
        </p:nvSpPr>
        <p:spPr>
          <a:xfrm>
            <a:off x="9870500" y="3499841"/>
            <a:ext cx="1927870" cy="806174"/>
          </a:xfrm>
          <a:prstGeom prst="rect">
            <a:avLst/>
          </a:prstGeom>
          <a:solidFill>
            <a:schemeClr val="bg1"/>
          </a:solidFill>
          <a:ln cap="flat">
            <a:solidFill>
              <a:srgbClr val="1042D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r"/>
            <a:r>
              <a:rPr lang="en-US" b="1" dirty="0">
                <a:solidFill>
                  <a:srgbClr val="1042D3"/>
                </a:solidFill>
              </a:rPr>
              <a:t>WIS2 Node</a:t>
            </a:r>
            <a:endParaRPr lang="en-CH" b="1">
              <a:solidFill>
                <a:srgbClr val="1042D3"/>
              </a:solidFill>
            </a:endParaRPr>
          </a:p>
        </p:txBody>
      </p:sp>
      <p:grpSp>
        <p:nvGrpSpPr>
          <p:cNvPr id="3" name="Group 2">
            <a:extLst>
              <a:ext uri="{FF2B5EF4-FFF2-40B4-BE49-F238E27FC236}">
                <a16:creationId xmlns:a16="http://schemas.microsoft.com/office/drawing/2014/main" id="{DF0AD889-0275-97B4-4B42-F4C6FFEDA56A}"/>
              </a:ext>
            </a:extLst>
          </p:cNvPr>
          <p:cNvGrpSpPr/>
          <p:nvPr/>
        </p:nvGrpSpPr>
        <p:grpSpPr>
          <a:xfrm>
            <a:off x="1172178" y="3663082"/>
            <a:ext cx="9426698" cy="1113255"/>
            <a:chOff x="1172178" y="3663082"/>
            <a:chExt cx="9426698" cy="1113255"/>
          </a:xfrm>
        </p:grpSpPr>
        <p:cxnSp>
          <p:nvCxnSpPr>
            <p:cNvPr id="75" name="Straight Arrow Connector 74">
              <a:extLst>
                <a:ext uri="{FF2B5EF4-FFF2-40B4-BE49-F238E27FC236}">
                  <a16:creationId xmlns:a16="http://schemas.microsoft.com/office/drawing/2014/main" id="{8C187038-3CD3-E0B2-65FE-F4CECB5B1ABD}"/>
                </a:ext>
              </a:extLst>
            </p:cNvPr>
            <p:cNvCxnSpPr>
              <a:cxnSpLocks/>
            </p:cNvCxnSpPr>
            <p:nvPr/>
          </p:nvCxnSpPr>
          <p:spPr>
            <a:xfrm>
              <a:off x="1172178" y="3663082"/>
              <a:ext cx="8698322" cy="439388"/>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80" name="TextBox 79">
              <a:extLst>
                <a:ext uri="{FF2B5EF4-FFF2-40B4-BE49-F238E27FC236}">
                  <a16:creationId xmlns:a16="http://schemas.microsoft.com/office/drawing/2014/main" id="{7385F9DF-4120-850C-BBE7-14AD5D15C272}"/>
                </a:ext>
              </a:extLst>
            </p:cNvPr>
            <p:cNvSpPr txBox="1"/>
            <p:nvPr/>
          </p:nvSpPr>
          <p:spPr>
            <a:xfrm>
              <a:off x="8571013" y="4130006"/>
              <a:ext cx="2027863" cy="646331"/>
            </a:xfrm>
            <a:prstGeom prst="rect">
              <a:avLst/>
            </a:prstGeom>
            <a:noFill/>
          </p:spPr>
          <p:txBody>
            <a:bodyPr wrap="none" rtlCol="0">
              <a:spAutoFit/>
            </a:bodyPr>
            <a:lstStyle/>
            <a:p>
              <a:r>
                <a:rPr lang="en-US" dirty="0"/>
                <a:t>Download</a:t>
              </a:r>
            </a:p>
            <a:p>
              <a:r>
                <a:rPr lang="en-US" dirty="0"/>
                <a:t>recommended data</a:t>
              </a:r>
            </a:p>
          </p:txBody>
        </p:sp>
      </p:grpSp>
      <p:pic>
        <p:nvPicPr>
          <p:cNvPr id="84" name="Graphic 83" descr="Books outline">
            <a:extLst>
              <a:ext uri="{FF2B5EF4-FFF2-40B4-BE49-F238E27FC236}">
                <a16:creationId xmlns:a16="http://schemas.microsoft.com/office/drawing/2014/main" id="{31460782-3E1B-B71C-C9DC-5E1C4D6BFF94}"/>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4416978" y="3257865"/>
            <a:ext cx="385091" cy="385091"/>
          </a:xfrm>
          <a:prstGeom prst="rect">
            <a:avLst/>
          </a:prstGeom>
        </p:spPr>
      </p:pic>
      <p:pic>
        <p:nvPicPr>
          <p:cNvPr id="86" name="Graphic 85" descr="Network with solid fill">
            <a:extLst>
              <a:ext uri="{FF2B5EF4-FFF2-40B4-BE49-F238E27FC236}">
                <a16:creationId xmlns:a16="http://schemas.microsoft.com/office/drawing/2014/main" id="{2F52D72E-E810-CE4D-062B-7132B99FD271}"/>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5974910" y="1884561"/>
            <a:ext cx="357638" cy="357638"/>
          </a:xfrm>
          <a:prstGeom prst="rect">
            <a:avLst/>
          </a:prstGeom>
        </p:spPr>
      </p:pic>
      <p:pic>
        <p:nvPicPr>
          <p:cNvPr id="88" name="Graphic 87" descr="Database with solid fill">
            <a:extLst>
              <a:ext uri="{FF2B5EF4-FFF2-40B4-BE49-F238E27FC236}">
                <a16:creationId xmlns:a16="http://schemas.microsoft.com/office/drawing/2014/main" id="{4FC65A66-7FB6-C577-C408-0324C3AFBBF4}"/>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5972397" y="5042544"/>
            <a:ext cx="390784" cy="403751"/>
          </a:xfrm>
          <a:prstGeom prst="rect">
            <a:avLst/>
          </a:prstGeom>
        </p:spPr>
      </p:pic>
      <p:pic>
        <p:nvPicPr>
          <p:cNvPr id="94" name="Picture 93">
            <a:extLst>
              <a:ext uri="{FF2B5EF4-FFF2-40B4-BE49-F238E27FC236}">
                <a16:creationId xmlns:a16="http://schemas.microsoft.com/office/drawing/2014/main" id="{23E00D67-EA71-8094-A4A5-C2197619F345}"/>
              </a:ext>
            </a:extLst>
          </p:cNvPr>
          <p:cNvPicPr>
            <a:picLocks noChangeAspect="1"/>
          </p:cNvPicPr>
          <p:nvPr/>
        </p:nvPicPr>
        <p:blipFill>
          <a:blip r:embed="rId7"/>
          <a:stretch>
            <a:fillRect/>
          </a:stretch>
        </p:blipFill>
        <p:spPr>
          <a:xfrm>
            <a:off x="10027021" y="3663082"/>
            <a:ext cx="541241" cy="495178"/>
          </a:xfrm>
          <a:prstGeom prst="rect">
            <a:avLst/>
          </a:prstGeom>
        </p:spPr>
      </p:pic>
    </p:spTree>
    <p:extLst>
      <p:ext uri="{BB962C8B-B14F-4D97-AF65-F5344CB8AC3E}">
        <p14:creationId xmlns:p14="http://schemas.microsoft.com/office/powerpoint/2010/main" val="4405635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0"/>
                                        </p:tgtEl>
                                        <p:attrNameLst>
                                          <p:attrName>style.visibility</p:attrName>
                                        </p:attrNameLst>
                                      </p:cBhvr>
                                      <p:to>
                                        <p:strVal val="visible"/>
                                      </p:to>
                                    </p:set>
                                    <p:animEffect transition="in" filter="fade">
                                      <p:cBhvr>
                                        <p:cTn id="12" dur="500"/>
                                        <p:tgtEl>
                                          <p:spTgt spid="30"/>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9"/>
                                        </p:tgtEl>
                                        <p:attrNameLst>
                                          <p:attrName>style.visibility</p:attrName>
                                        </p:attrNameLst>
                                      </p:cBhvr>
                                      <p:to>
                                        <p:strVal val="visible"/>
                                      </p:to>
                                    </p:set>
                                    <p:animEffect transition="in" filter="fade">
                                      <p:cBhvr>
                                        <p:cTn id="17" dur="500"/>
                                        <p:tgtEl>
                                          <p:spTgt spid="29"/>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18"/>
                                        </p:tgtEl>
                                        <p:attrNameLst>
                                          <p:attrName>style.visibility</p:attrName>
                                        </p:attrNameLst>
                                      </p:cBhvr>
                                      <p:to>
                                        <p:strVal val="visible"/>
                                      </p:to>
                                    </p:set>
                                    <p:animEffect transition="in" filter="fade">
                                      <p:cBhvr>
                                        <p:cTn id="22" dur="500"/>
                                        <p:tgtEl>
                                          <p:spTgt spid="18"/>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31"/>
                                        </p:tgtEl>
                                        <p:attrNameLst>
                                          <p:attrName>style.visibility</p:attrName>
                                        </p:attrNameLst>
                                      </p:cBhvr>
                                      <p:to>
                                        <p:strVal val="visible"/>
                                      </p:to>
                                    </p:set>
                                    <p:animEffect transition="in" filter="fade">
                                      <p:cBhvr>
                                        <p:cTn id="27" dur="500"/>
                                        <p:tgtEl>
                                          <p:spTgt spid="31"/>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3"/>
                                        </p:tgtEl>
                                        <p:attrNameLst>
                                          <p:attrName>style.visibility</p:attrName>
                                        </p:attrNameLst>
                                      </p:cBhvr>
                                      <p:to>
                                        <p:strVal val="visible"/>
                                      </p:to>
                                    </p:set>
                                    <p:animEffect transition="in" filter="fade">
                                      <p:cBhvr>
                                        <p:cTn id="32"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054479-9C1A-0FB7-E0C2-1AF8A51E3D66}"/>
            </a:ext>
          </a:extLst>
        </p:cNvPr>
        <p:cNvGrpSpPr/>
        <p:nvPr/>
      </p:nvGrpSpPr>
      <p:grpSpPr>
        <a:xfrm>
          <a:off x="0" y="0"/>
          <a:ext cx="0" cy="0"/>
          <a:chOff x="0" y="0"/>
          <a:chExt cx="0" cy="0"/>
        </a:xfrm>
      </p:grpSpPr>
      <p:sp>
        <p:nvSpPr>
          <p:cNvPr id="124" name="TextBox 123">
            <a:extLst>
              <a:ext uri="{FF2B5EF4-FFF2-40B4-BE49-F238E27FC236}">
                <a16:creationId xmlns:a16="http://schemas.microsoft.com/office/drawing/2014/main" id="{6D335F9E-16BC-C6AA-59A7-992A3BD2E2A2}"/>
              </a:ext>
            </a:extLst>
          </p:cNvPr>
          <p:cNvSpPr txBox="1"/>
          <p:nvPr/>
        </p:nvSpPr>
        <p:spPr>
          <a:xfrm>
            <a:off x="4419112" y="131716"/>
            <a:ext cx="3353803" cy="646331"/>
          </a:xfrm>
          <a:prstGeom prst="rect">
            <a:avLst/>
          </a:prstGeom>
          <a:noFill/>
        </p:spPr>
        <p:txBody>
          <a:bodyPr wrap="none" rtlCol="0">
            <a:spAutoFit/>
          </a:bodyPr>
          <a:lstStyle/>
          <a:p>
            <a:pPr algn="ctr">
              <a:lnSpc>
                <a:spcPct val="90000"/>
              </a:lnSpc>
              <a:spcBef>
                <a:spcPct val="0"/>
              </a:spcBef>
              <a:tabLst>
                <a:tab pos="407526" algn="l"/>
                <a:tab pos="815052" algn="l"/>
                <a:tab pos="1222578" algn="l"/>
                <a:tab pos="1630104" algn="l"/>
                <a:tab pos="2037631" algn="l"/>
                <a:tab pos="2445156" algn="l"/>
                <a:tab pos="2852683" algn="l"/>
                <a:tab pos="3260208" algn="l"/>
                <a:tab pos="3667735" algn="l"/>
                <a:tab pos="4075260" algn="l"/>
                <a:tab pos="4482787" algn="l"/>
                <a:tab pos="4890312" algn="l"/>
                <a:tab pos="5297839" algn="l"/>
                <a:tab pos="5705364" algn="l"/>
                <a:tab pos="6112891" algn="l"/>
                <a:tab pos="6520416" algn="l"/>
                <a:tab pos="6927943" algn="l"/>
                <a:tab pos="7335468" algn="l"/>
                <a:tab pos="7742995" algn="l"/>
              </a:tabLst>
            </a:pPr>
            <a:r>
              <a:rPr lang="en-GB" sz="4000" dirty="0">
                <a:latin typeface="+mj-lt"/>
                <a:ea typeface="+mj-ea"/>
                <a:cs typeface="+mj-cs"/>
              </a:rPr>
              <a:t>Inspecting GDC</a:t>
            </a:r>
          </a:p>
        </p:txBody>
      </p:sp>
      <p:sp>
        <p:nvSpPr>
          <p:cNvPr id="96" name="Rectangle 2">
            <a:extLst>
              <a:ext uri="{FF2B5EF4-FFF2-40B4-BE49-F238E27FC236}">
                <a16:creationId xmlns:a16="http://schemas.microsoft.com/office/drawing/2014/main" id="{652BF5D2-5F53-4318-B5C2-A58EF5D5614C}"/>
              </a:ext>
            </a:extLst>
          </p:cNvPr>
          <p:cNvSpPr txBox="1">
            <a:spLocks noChangeArrowheads="1"/>
          </p:cNvSpPr>
          <p:nvPr/>
        </p:nvSpPr>
        <p:spPr>
          <a:xfrm>
            <a:off x="914401" y="925808"/>
            <a:ext cx="10613984" cy="4758284"/>
          </a:xfrm>
          <a:prstGeom prst="rect">
            <a:avLst/>
          </a:prstGeom>
          <a:ln/>
        </p:spPr>
        <p:txBody>
          <a:bodyPr>
            <a:noAutofit/>
          </a:bodyPr>
          <a:lst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a:buClr>
                <a:schemeClr val="tx1"/>
              </a:buClr>
              <a:buSzPct val="100000"/>
              <a:tabLst>
                <a:tab pos="384170" algn="l"/>
                <a:tab pos="768339" algn="l"/>
                <a:tab pos="1152509" algn="l"/>
                <a:tab pos="1536678" algn="l"/>
                <a:tab pos="1920848" algn="l"/>
                <a:tab pos="2305016" algn="l"/>
                <a:tab pos="2689187" algn="l"/>
                <a:tab pos="3073355" algn="l"/>
                <a:tab pos="3457526" algn="l"/>
                <a:tab pos="3841694" algn="l"/>
                <a:tab pos="4225865" algn="l"/>
                <a:tab pos="4610033" algn="l"/>
                <a:tab pos="4994204" algn="l"/>
                <a:tab pos="5378372" algn="l"/>
                <a:tab pos="5762543" algn="l"/>
                <a:tab pos="6146712" algn="l"/>
                <a:tab pos="6530882" algn="l"/>
                <a:tab pos="6915050" algn="l"/>
                <a:tab pos="7299220" algn="l"/>
              </a:tabLst>
            </a:pPr>
            <a:r>
              <a:rPr lang="en-GB" altLang="en-FR" sz="2800" dirty="0"/>
              <a:t>Reviewing a live GDC</a:t>
            </a:r>
          </a:p>
        </p:txBody>
      </p:sp>
    </p:spTree>
    <p:extLst>
      <p:ext uri="{BB962C8B-B14F-4D97-AF65-F5344CB8AC3E}">
        <p14:creationId xmlns:p14="http://schemas.microsoft.com/office/powerpoint/2010/main" val="295397690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803826-F20A-9205-7816-B1B72AC1A411}"/>
            </a:ext>
          </a:extLst>
        </p:cNvPr>
        <p:cNvGrpSpPr/>
        <p:nvPr/>
      </p:nvGrpSpPr>
      <p:grpSpPr>
        <a:xfrm>
          <a:off x="0" y="0"/>
          <a:ext cx="0" cy="0"/>
          <a:chOff x="0" y="0"/>
          <a:chExt cx="0" cy="0"/>
        </a:xfrm>
      </p:grpSpPr>
      <p:sp>
        <p:nvSpPr>
          <p:cNvPr id="46" name="Rectangle 45">
            <a:extLst>
              <a:ext uri="{FF2B5EF4-FFF2-40B4-BE49-F238E27FC236}">
                <a16:creationId xmlns:a16="http://schemas.microsoft.com/office/drawing/2014/main" id="{1071DFB1-DAB1-C467-0EBB-AE5C57B100FF}"/>
              </a:ext>
            </a:extLst>
          </p:cNvPr>
          <p:cNvSpPr/>
          <p:nvPr/>
        </p:nvSpPr>
        <p:spPr>
          <a:xfrm>
            <a:off x="251382" y="1987567"/>
            <a:ext cx="11940618" cy="4870433"/>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CH"/>
          </a:p>
        </p:txBody>
      </p:sp>
      <p:sp>
        <p:nvSpPr>
          <p:cNvPr id="2" name="Title 1">
            <a:extLst>
              <a:ext uri="{FF2B5EF4-FFF2-40B4-BE49-F238E27FC236}">
                <a16:creationId xmlns:a16="http://schemas.microsoft.com/office/drawing/2014/main" id="{4FCC4A93-4831-2916-692C-F872CFC43799}"/>
              </a:ext>
            </a:extLst>
          </p:cNvPr>
          <p:cNvSpPr>
            <a:spLocks noGrp="1"/>
          </p:cNvSpPr>
          <p:nvPr>
            <p:ph type="title"/>
          </p:nvPr>
        </p:nvSpPr>
        <p:spPr>
          <a:xfrm>
            <a:off x="-75414" y="0"/>
            <a:ext cx="12267414" cy="791852"/>
          </a:xfrm>
          <a:solidFill>
            <a:srgbClr val="004F9F"/>
          </a:solidFill>
        </p:spPr>
        <p:txBody>
          <a:bodyPr>
            <a:normAutofit/>
          </a:bodyPr>
          <a:lstStyle/>
          <a:p>
            <a:r>
              <a:rPr lang="en-US" dirty="0">
                <a:solidFill>
                  <a:schemeClr val="bg1"/>
                </a:solidFill>
              </a:rPr>
              <a:t>Measure twice, cut once</a:t>
            </a:r>
          </a:p>
        </p:txBody>
      </p:sp>
      <p:sp>
        <p:nvSpPr>
          <p:cNvPr id="3" name="TextBox 2">
            <a:extLst>
              <a:ext uri="{FF2B5EF4-FFF2-40B4-BE49-F238E27FC236}">
                <a16:creationId xmlns:a16="http://schemas.microsoft.com/office/drawing/2014/main" id="{9669EB66-2B90-0F0D-40FF-125F42031C86}"/>
              </a:ext>
            </a:extLst>
          </p:cNvPr>
          <p:cNvSpPr txBox="1"/>
          <p:nvPr/>
        </p:nvSpPr>
        <p:spPr>
          <a:xfrm>
            <a:off x="584719" y="1595371"/>
            <a:ext cx="11607281" cy="3741281"/>
          </a:xfrm>
          <a:prstGeom prst="rect">
            <a:avLst/>
          </a:prstGeom>
          <a:noFill/>
        </p:spPr>
        <p:txBody>
          <a:bodyPr wrap="square" rtlCol="0">
            <a:spAutoFit/>
          </a:bodyPr>
          <a:lstStyle/>
          <a:p>
            <a:pPr marL="342900" indent="-342900">
              <a:lnSpc>
                <a:spcPct val="150000"/>
              </a:lnSpc>
              <a:buFontTx/>
              <a:buChar char="-"/>
            </a:pPr>
            <a:r>
              <a:rPr lang="en-US" sz="2000" dirty="0">
                <a:solidFill>
                  <a:srgbClr val="004F9F"/>
                </a:solidFill>
                <a:latin typeface="Aptos" panose="020B0004020202020204" pitchFamily="34" charset="0"/>
                <a:ea typeface="Verdana" panose="020B0604030504040204" pitchFamily="34" charset="0"/>
              </a:rPr>
              <a:t>WIS2 is built on standards</a:t>
            </a:r>
          </a:p>
          <a:p>
            <a:pPr marL="342900" indent="-342900">
              <a:lnSpc>
                <a:spcPct val="150000"/>
              </a:lnSpc>
              <a:buFontTx/>
              <a:buChar char="-"/>
            </a:pPr>
            <a:r>
              <a:rPr lang="en-US" sz="2000" b="1" dirty="0">
                <a:solidFill>
                  <a:srgbClr val="004F9F"/>
                </a:solidFill>
                <a:latin typeface="Aptos" panose="020B0004020202020204" pitchFamily="34" charset="0"/>
                <a:ea typeface="Verdana" panose="020B0604030504040204" pitchFamily="34" charset="0"/>
              </a:rPr>
              <a:t>Any tools supporting the standards can discovery, subscribe and</a:t>
            </a:r>
            <a:br>
              <a:rPr lang="en-US" sz="2000" b="1" dirty="0">
                <a:solidFill>
                  <a:srgbClr val="004F9F"/>
                </a:solidFill>
                <a:latin typeface="Aptos" panose="020B0004020202020204" pitchFamily="34" charset="0"/>
                <a:ea typeface="Verdana" panose="020B0604030504040204" pitchFamily="34" charset="0"/>
              </a:rPr>
            </a:br>
            <a:r>
              <a:rPr lang="en-US" sz="2000" b="1" dirty="0">
                <a:solidFill>
                  <a:srgbClr val="004F9F"/>
                </a:solidFill>
                <a:latin typeface="Aptos" panose="020B0004020202020204" pitchFamily="34" charset="0"/>
                <a:ea typeface="Verdana" panose="020B0604030504040204" pitchFamily="34" charset="0"/>
              </a:rPr>
              <a:t>download data from WIS2</a:t>
            </a:r>
          </a:p>
          <a:p>
            <a:pPr marL="342900" indent="-342900">
              <a:lnSpc>
                <a:spcPct val="150000"/>
              </a:lnSpc>
              <a:buFontTx/>
              <a:buChar char="-"/>
            </a:pPr>
            <a:r>
              <a:rPr lang="en-US" sz="2000" dirty="0">
                <a:solidFill>
                  <a:srgbClr val="004F9F"/>
                </a:solidFill>
                <a:latin typeface="Aptos" panose="020B0004020202020204" pitchFamily="34" charset="0"/>
                <a:ea typeface="Verdana" panose="020B0604030504040204" pitchFamily="34" charset="0"/>
              </a:rPr>
              <a:t>Discover</a:t>
            </a:r>
          </a:p>
          <a:p>
            <a:pPr marL="800100" lvl="1" indent="-342900">
              <a:lnSpc>
                <a:spcPct val="150000"/>
              </a:lnSpc>
              <a:buFontTx/>
              <a:buChar char="-"/>
            </a:pPr>
            <a:r>
              <a:rPr lang="en-US" sz="2000" dirty="0">
                <a:solidFill>
                  <a:srgbClr val="004F9F"/>
                </a:solidFill>
                <a:latin typeface="Aptos" panose="020B0004020202020204" pitchFamily="34" charset="0"/>
                <a:ea typeface="Verdana" panose="020B0604030504040204" pitchFamily="34" charset="0"/>
              </a:rPr>
              <a:t>use the UI,  </a:t>
            </a:r>
            <a:r>
              <a:rPr lang="en-US" sz="2000" dirty="0" err="1">
                <a:solidFill>
                  <a:srgbClr val="004F9F"/>
                </a:solidFill>
                <a:latin typeface="Aptos" panose="020B0004020202020204" pitchFamily="34" charset="0"/>
                <a:ea typeface="Verdana" panose="020B0604030504040204" pitchFamily="34" charset="0"/>
              </a:rPr>
              <a:t>pywiscat</a:t>
            </a:r>
            <a:r>
              <a:rPr lang="en-US" sz="2000" dirty="0">
                <a:solidFill>
                  <a:srgbClr val="004F9F"/>
                </a:solidFill>
                <a:latin typeface="Aptos" panose="020B0004020202020204" pitchFamily="34" charset="0"/>
                <a:ea typeface="Verdana" panose="020B0604030504040204" pitchFamily="34" charset="0"/>
              </a:rPr>
              <a:t>, QGIS, etc.</a:t>
            </a:r>
          </a:p>
          <a:p>
            <a:pPr marL="342900" indent="-342900">
              <a:lnSpc>
                <a:spcPct val="150000"/>
              </a:lnSpc>
              <a:buFontTx/>
              <a:buChar char="-"/>
            </a:pPr>
            <a:r>
              <a:rPr lang="en-US" sz="2000" dirty="0">
                <a:solidFill>
                  <a:srgbClr val="004F9F"/>
                </a:solidFill>
                <a:latin typeface="Aptos" panose="020B0004020202020204" pitchFamily="34" charset="0"/>
                <a:ea typeface="Verdana" panose="020B0604030504040204" pitchFamily="34" charset="0"/>
              </a:rPr>
              <a:t>Subscribe / download</a:t>
            </a:r>
          </a:p>
          <a:p>
            <a:pPr marL="800100" lvl="1" indent="-342900">
              <a:lnSpc>
                <a:spcPct val="150000"/>
              </a:lnSpc>
              <a:buFontTx/>
              <a:buChar char="-"/>
            </a:pPr>
            <a:r>
              <a:rPr lang="en-US" sz="2000" dirty="0">
                <a:solidFill>
                  <a:srgbClr val="004F9F"/>
                </a:solidFill>
                <a:latin typeface="Aptos" panose="020B0004020202020204" pitchFamily="34" charset="0"/>
                <a:ea typeface="Verdana" panose="020B0604030504040204" pitchFamily="34" charset="0"/>
              </a:rPr>
              <a:t>WIS2 Downloader</a:t>
            </a:r>
          </a:p>
          <a:p>
            <a:pPr marL="800100" lvl="1" indent="-342900">
              <a:lnSpc>
                <a:spcPct val="150000"/>
              </a:lnSpc>
              <a:buFontTx/>
              <a:buChar char="-"/>
            </a:pPr>
            <a:r>
              <a:rPr lang="en-US" sz="2000" dirty="0" err="1">
                <a:solidFill>
                  <a:srgbClr val="004F9F"/>
                </a:solidFill>
                <a:latin typeface="Aptos" panose="020B0004020202020204" pitchFamily="34" charset="0"/>
                <a:ea typeface="Verdana" panose="020B0604030504040204" pitchFamily="34" charset="0"/>
              </a:rPr>
              <a:t>pywis-pubsub</a:t>
            </a:r>
            <a:endParaRPr lang="en-US" sz="2000" dirty="0">
              <a:solidFill>
                <a:srgbClr val="004F9F"/>
              </a:solidFill>
              <a:latin typeface="Aptos" panose="020B0004020202020204" pitchFamily="34" charset="0"/>
              <a:ea typeface="Verdana" panose="020B0604030504040204" pitchFamily="34" charset="0"/>
            </a:endParaRPr>
          </a:p>
        </p:txBody>
      </p:sp>
      <p:sp>
        <p:nvSpPr>
          <p:cNvPr id="47" name="AutoShape 4">
            <a:extLst>
              <a:ext uri="{FF2B5EF4-FFF2-40B4-BE49-F238E27FC236}">
                <a16:creationId xmlns:a16="http://schemas.microsoft.com/office/drawing/2014/main" id="{9280CCEC-8D6D-AB68-1249-00717469E018}"/>
              </a:ext>
            </a:extLst>
          </p:cNvPr>
          <p:cNvSpPr>
            <a:spLocks noChangeAspect="1" noChangeArrowheads="1"/>
          </p:cNvSpPr>
          <p:nvPr/>
        </p:nvSpPr>
        <p:spPr bwMode="auto">
          <a:xfrm>
            <a:off x="3786326" y="3214456"/>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CH"/>
          </a:p>
        </p:txBody>
      </p:sp>
      <p:sp>
        <p:nvSpPr>
          <p:cNvPr id="49" name="AutoShape 4">
            <a:extLst>
              <a:ext uri="{FF2B5EF4-FFF2-40B4-BE49-F238E27FC236}">
                <a16:creationId xmlns:a16="http://schemas.microsoft.com/office/drawing/2014/main" id="{642338CC-8E75-5353-8617-54CB9DA5A493}"/>
              </a:ext>
            </a:extLst>
          </p:cNvPr>
          <p:cNvSpPr>
            <a:spLocks noChangeAspect="1" noChangeArrowheads="1"/>
          </p:cNvSpPr>
          <p:nvPr/>
        </p:nvSpPr>
        <p:spPr bwMode="auto">
          <a:xfrm>
            <a:off x="816793" y="3219634"/>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CH"/>
          </a:p>
        </p:txBody>
      </p:sp>
      <p:sp>
        <p:nvSpPr>
          <p:cNvPr id="5" name="TextBox 4">
            <a:extLst>
              <a:ext uri="{FF2B5EF4-FFF2-40B4-BE49-F238E27FC236}">
                <a16:creationId xmlns:a16="http://schemas.microsoft.com/office/drawing/2014/main" id="{BAF9B5DA-298A-5A20-689F-601DA6720B08}"/>
              </a:ext>
            </a:extLst>
          </p:cNvPr>
          <p:cNvSpPr txBox="1"/>
          <p:nvPr/>
        </p:nvSpPr>
        <p:spPr>
          <a:xfrm>
            <a:off x="8066780" y="6511418"/>
            <a:ext cx="4336444" cy="246221"/>
          </a:xfrm>
          <a:prstGeom prst="rect">
            <a:avLst/>
          </a:prstGeom>
          <a:noFill/>
        </p:spPr>
        <p:txBody>
          <a:bodyPr wrap="none" rtlCol="0">
            <a:spAutoFit/>
          </a:bodyPr>
          <a:lstStyle/>
          <a:p>
            <a:r>
              <a:rPr lang="en-GB" sz="1000" baseline="30000" dirty="0"/>
              <a:t>1</a:t>
            </a:r>
            <a:r>
              <a:rPr lang="en-GB" sz="1000" dirty="0"/>
              <a:t> Guide to WIS (WMO No. 1061), Vol II, </a:t>
            </a:r>
            <a:r>
              <a:rPr lang="en-GB" sz="1000" b="0" i="0" dirty="0">
                <a:solidFill>
                  <a:srgbClr val="1F1F1F"/>
                </a:solidFill>
                <a:effectLst/>
                <a:latin typeface="Google Sans"/>
              </a:rPr>
              <a:t>§1.1.4 </a:t>
            </a:r>
            <a:r>
              <a:rPr lang="en-GB" sz="1000" b="0" i="0" dirty="0">
                <a:solidFill>
                  <a:srgbClr val="1F1F1F"/>
                </a:solidFill>
                <a:effectLst/>
                <a:latin typeface="Google Sans"/>
                <a:hlinkClick r:id="rId2"/>
              </a:rPr>
              <a:t>Why are datasets so important</a:t>
            </a:r>
            <a:endParaRPr lang="en-GB" sz="1000" dirty="0"/>
          </a:p>
        </p:txBody>
      </p:sp>
      <p:pic>
        <p:nvPicPr>
          <p:cNvPr id="6" name="Picture 5">
            <a:extLst>
              <a:ext uri="{FF2B5EF4-FFF2-40B4-BE49-F238E27FC236}">
                <a16:creationId xmlns:a16="http://schemas.microsoft.com/office/drawing/2014/main" id="{813A757A-AD71-B011-B25A-BBB6502A8919}"/>
              </a:ext>
            </a:extLst>
          </p:cNvPr>
          <p:cNvPicPr>
            <a:picLocks noChangeAspect="1"/>
          </p:cNvPicPr>
          <p:nvPr/>
        </p:nvPicPr>
        <p:blipFill>
          <a:blip r:embed="rId3"/>
          <a:stretch>
            <a:fillRect/>
          </a:stretch>
        </p:blipFill>
        <p:spPr>
          <a:xfrm>
            <a:off x="9381040" y="1100376"/>
            <a:ext cx="2024916" cy="2099411"/>
          </a:xfrm>
          <a:prstGeom prst="rect">
            <a:avLst/>
          </a:prstGeom>
        </p:spPr>
      </p:pic>
    </p:spTree>
    <p:extLst>
      <p:ext uri="{BB962C8B-B14F-4D97-AF65-F5344CB8AC3E}">
        <p14:creationId xmlns:p14="http://schemas.microsoft.com/office/powerpoint/2010/main" val="193660819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114ECC-46C3-492B-B1F9-0FB96EF2F26B}"/>
            </a:ext>
          </a:extLst>
        </p:cNvPr>
        <p:cNvGrpSpPr/>
        <p:nvPr/>
      </p:nvGrpSpPr>
      <p:grpSpPr>
        <a:xfrm>
          <a:off x="0" y="0"/>
          <a:ext cx="0" cy="0"/>
          <a:chOff x="0" y="0"/>
          <a:chExt cx="0" cy="0"/>
        </a:xfrm>
      </p:grpSpPr>
      <p:sp>
        <p:nvSpPr>
          <p:cNvPr id="46" name="Rectangle 45">
            <a:extLst>
              <a:ext uri="{FF2B5EF4-FFF2-40B4-BE49-F238E27FC236}">
                <a16:creationId xmlns:a16="http://schemas.microsoft.com/office/drawing/2014/main" id="{3A5BC5B0-1CC2-068C-5AD4-32A88371C2A8}"/>
              </a:ext>
            </a:extLst>
          </p:cNvPr>
          <p:cNvSpPr/>
          <p:nvPr/>
        </p:nvSpPr>
        <p:spPr>
          <a:xfrm>
            <a:off x="251382" y="1987567"/>
            <a:ext cx="11940618" cy="4870433"/>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CH"/>
          </a:p>
        </p:txBody>
      </p:sp>
      <p:sp>
        <p:nvSpPr>
          <p:cNvPr id="2" name="Title 1">
            <a:extLst>
              <a:ext uri="{FF2B5EF4-FFF2-40B4-BE49-F238E27FC236}">
                <a16:creationId xmlns:a16="http://schemas.microsoft.com/office/drawing/2014/main" id="{DE90C845-88C7-D2C9-2261-D4252BE539A8}"/>
              </a:ext>
            </a:extLst>
          </p:cNvPr>
          <p:cNvSpPr>
            <a:spLocks noGrp="1"/>
          </p:cNvSpPr>
          <p:nvPr>
            <p:ph type="title"/>
          </p:nvPr>
        </p:nvSpPr>
        <p:spPr>
          <a:xfrm>
            <a:off x="-75414" y="0"/>
            <a:ext cx="12267414" cy="791852"/>
          </a:xfrm>
          <a:solidFill>
            <a:srgbClr val="004F9F"/>
          </a:solidFill>
        </p:spPr>
        <p:txBody>
          <a:bodyPr>
            <a:normAutofit/>
          </a:bodyPr>
          <a:lstStyle/>
          <a:p>
            <a:r>
              <a:rPr lang="en-US" dirty="0">
                <a:solidFill>
                  <a:schemeClr val="bg1"/>
                </a:solidFill>
              </a:rPr>
              <a:t>wis2-gdc: the GDC RI</a:t>
            </a:r>
          </a:p>
        </p:txBody>
      </p:sp>
      <p:sp>
        <p:nvSpPr>
          <p:cNvPr id="3" name="TextBox 2">
            <a:extLst>
              <a:ext uri="{FF2B5EF4-FFF2-40B4-BE49-F238E27FC236}">
                <a16:creationId xmlns:a16="http://schemas.microsoft.com/office/drawing/2014/main" id="{C83D42A8-3904-5B99-4A16-C6AB82E4E511}"/>
              </a:ext>
            </a:extLst>
          </p:cNvPr>
          <p:cNvSpPr txBox="1"/>
          <p:nvPr/>
        </p:nvSpPr>
        <p:spPr>
          <a:xfrm>
            <a:off x="377073" y="791852"/>
            <a:ext cx="11689236" cy="5632311"/>
          </a:xfrm>
          <a:prstGeom prst="rect">
            <a:avLst/>
          </a:prstGeom>
          <a:noFill/>
        </p:spPr>
        <p:txBody>
          <a:bodyPr wrap="square" rtlCol="0">
            <a:spAutoFit/>
          </a:bodyPr>
          <a:lstStyle/>
          <a:p>
            <a:pPr marL="285750" indent="-285750">
              <a:buFont typeface="Arial" panose="020B0604020202020204" pitchFamily="34" charset="0"/>
              <a:buChar char="•"/>
            </a:pPr>
            <a:r>
              <a:rPr lang="en-CA" sz="2000" dirty="0"/>
              <a:t>WIS2 GDC </a:t>
            </a:r>
            <a:r>
              <a:rPr lang="en-CA" sz="2000" b="1" dirty="0"/>
              <a:t>server</a:t>
            </a:r>
          </a:p>
          <a:p>
            <a:pPr marL="285750" indent="-285750">
              <a:buFont typeface="Arial" panose="020B0604020202020204" pitchFamily="34" charset="0"/>
              <a:buChar char="•"/>
            </a:pPr>
            <a:r>
              <a:rPr lang="en-CA" sz="2000" dirty="0"/>
              <a:t>To provide a Global Discovery Catalogue, Members may use whichever software components they consider most appropriate to comply with the WIS2 technical regulations.</a:t>
            </a:r>
          </a:p>
          <a:p>
            <a:pPr marL="285750" indent="-285750">
              <a:buFont typeface="Arial" panose="020B0604020202020204" pitchFamily="34" charset="0"/>
              <a:buChar char="•"/>
            </a:pPr>
            <a:r>
              <a:rPr lang="en-CA" sz="2000" dirty="0"/>
              <a:t>To assist Members in participating in WIS2, a free and open-source Global Discovery Catalogue Reference Implementation, wis2-gdc, is available for download and use. wis2-gdc builds on mature and robust free and open-source software components that are widely adopted for operational use.</a:t>
            </a:r>
          </a:p>
          <a:p>
            <a:pPr marL="285750" indent="-285750">
              <a:buFont typeface="Arial" panose="020B0604020202020204" pitchFamily="34" charset="0"/>
              <a:buChar char="•"/>
            </a:pPr>
            <a:r>
              <a:rPr lang="en-CA" sz="2000" dirty="0"/>
              <a:t>wis2-gdc provides the functionality required for the Global Discovery Catalogue, including the following technical functions:</a:t>
            </a:r>
          </a:p>
          <a:p>
            <a:pPr marL="742950" lvl="1" indent="-285750">
              <a:buFont typeface="Arial" panose="020B0604020202020204" pitchFamily="34" charset="0"/>
              <a:buChar char="•"/>
            </a:pPr>
            <a:r>
              <a:rPr lang="en-CA" sz="2000" dirty="0"/>
              <a:t>Discovery metadata subscription and publication from the Global Broker;</a:t>
            </a:r>
          </a:p>
          <a:p>
            <a:pPr marL="742950" lvl="1" indent="-285750">
              <a:buFont typeface="Arial" panose="020B0604020202020204" pitchFamily="34" charset="0"/>
              <a:buChar char="•"/>
            </a:pPr>
            <a:r>
              <a:rPr lang="en-CA" sz="2000" dirty="0"/>
              <a:t>Discovery metadata download from the Global Cache;</a:t>
            </a:r>
          </a:p>
          <a:p>
            <a:pPr marL="742950" lvl="1" indent="-285750">
              <a:buFont typeface="Arial" panose="020B0604020202020204" pitchFamily="34" charset="0"/>
              <a:buChar char="•"/>
            </a:pPr>
            <a:r>
              <a:rPr lang="en-CA" sz="2000" dirty="0"/>
              <a:t>Discovery metadata validation, ingest and publication;</a:t>
            </a:r>
          </a:p>
          <a:p>
            <a:pPr marL="742950" lvl="1" indent="-285750">
              <a:buFont typeface="Arial" panose="020B0604020202020204" pitchFamily="34" charset="0"/>
              <a:buChar char="•"/>
            </a:pPr>
            <a:r>
              <a:rPr lang="en-CA" sz="2000" dirty="0"/>
              <a:t>WCMP2 compliance;</a:t>
            </a:r>
          </a:p>
          <a:p>
            <a:pPr marL="742950" lvl="1" indent="-285750">
              <a:buFont typeface="Arial" panose="020B0604020202020204" pitchFamily="34" charset="0"/>
              <a:buChar char="•"/>
            </a:pPr>
            <a:r>
              <a:rPr lang="en-CA" sz="2000" dirty="0"/>
              <a:t>Quality assessment (KPIs);</a:t>
            </a:r>
          </a:p>
          <a:p>
            <a:pPr marL="742950" lvl="1" indent="-285750">
              <a:buFont typeface="Arial" panose="020B0604020202020204" pitchFamily="34" charset="0"/>
              <a:buChar char="•"/>
            </a:pPr>
            <a:r>
              <a:rPr lang="en-CA" sz="2000" dirty="0"/>
              <a:t>OGC API - Records - Part 1: Core compliance;</a:t>
            </a:r>
          </a:p>
          <a:p>
            <a:pPr marL="742950" lvl="1" indent="-285750">
              <a:buFont typeface="Arial" panose="020B0604020202020204" pitchFamily="34" charset="0"/>
              <a:buChar char="•"/>
            </a:pPr>
            <a:r>
              <a:rPr lang="en-CA" sz="2000" dirty="0"/>
              <a:t>Metrics reporting;</a:t>
            </a:r>
          </a:p>
          <a:p>
            <a:pPr marL="742950" lvl="1" indent="-285750">
              <a:buFont typeface="Arial" panose="020B0604020202020204" pitchFamily="34" charset="0"/>
              <a:buChar char="•"/>
            </a:pPr>
            <a:r>
              <a:rPr lang="en-CA" sz="2000" dirty="0"/>
              <a:t>Implementation of metrics.</a:t>
            </a:r>
          </a:p>
          <a:p>
            <a:pPr marL="285750" indent="-285750">
              <a:buFont typeface="Arial" panose="020B0604020202020204" pitchFamily="34" charset="0"/>
              <a:buChar char="•"/>
            </a:pPr>
            <a:r>
              <a:rPr lang="en-CA" sz="2000" dirty="0"/>
              <a:t>wis2-gdc is managed as a free and open source project. Source code, issue tracking and discussions are hosted openly on GitHub: </a:t>
            </a:r>
            <a:r>
              <a:rPr lang="en-CA" sz="2000" u="sng" dirty="0">
                <a:hlinkClick r:id="rId2"/>
              </a:rPr>
              <a:t>github.com/wmo-im/wis2-gdc</a:t>
            </a:r>
            <a:endParaRPr lang="en-CA" sz="2000" dirty="0"/>
          </a:p>
        </p:txBody>
      </p:sp>
      <p:sp>
        <p:nvSpPr>
          <p:cNvPr id="47" name="AutoShape 4">
            <a:extLst>
              <a:ext uri="{FF2B5EF4-FFF2-40B4-BE49-F238E27FC236}">
                <a16:creationId xmlns:a16="http://schemas.microsoft.com/office/drawing/2014/main" id="{74DD2E2D-1BE2-129C-B66F-D52944C2B298}"/>
              </a:ext>
            </a:extLst>
          </p:cNvPr>
          <p:cNvSpPr>
            <a:spLocks noChangeAspect="1" noChangeArrowheads="1"/>
          </p:cNvSpPr>
          <p:nvPr/>
        </p:nvSpPr>
        <p:spPr bwMode="auto">
          <a:xfrm>
            <a:off x="3786326" y="3214456"/>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CH"/>
          </a:p>
        </p:txBody>
      </p:sp>
      <p:sp>
        <p:nvSpPr>
          <p:cNvPr id="49" name="AutoShape 4">
            <a:extLst>
              <a:ext uri="{FF2B5EF4-FFF2-40B4-BE49-F238E27FC236}">
                <a16:creationId xmlns:a16="http://schemas.microsoft.com/office/drawing/2014/main" id="{12C30670-05CA-F7AB-BB24-6FAE61B231DB}"/>
              </a:ext>
            </a:extLst>
          </p:cNvPr>
          <p:cNvSpPr>
            <a:spLocks noChangeAspect="1" noChangeArrowheads="1"/>
          </p:cNvSpPr>
          <p:nvPr/>
        </p:nvSpPr>
        <p:spPr bwMode="auto">
          <a:xfrm>
            <a:off x="816793" y="3219634"/>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CH"/>
          </a:p>
        </p:txBody>
      </p:sp>
      <p:sp>
        <p:nvSpPr>
          <p:cNvPr id="5" name="TextBox 4">
            <a:extLst>
              <a:ext uri="{FF2B5EF4-FFF2-40B4-BE49-F238E27FC236}">
                <a16:creationId xmlns:a16="http://schemas.microsoft.com/office/drawing/2014/main" id="{3299C7E3-31B7-366B-66C8-F83358350E6D}"/>
              </a:ext>
            </a:extLst>
          </p:cNvPr>
          <p:cNvSpPr txBox="1"/>
          <p:nvPr/>
        </p:nvSpPr>
        <p:spPr>
          <a:xfrm>
            <a:off x="8066780" y="6511418"/>
            <a:ext cx="4336444" cy="246221"/>
          </a:xfrm>
          <a:prstGeom prst="rect">
            <a:avLst/>
          </a:prstGeom>
          <a:noFill/>
        </p:spPr>
        <p:txBody>
          <a:bodyPr wrap="none" rtlCol="0">
            <a:spAutoFit/>
          </a:bodyPr>
          <a:lstStyle/>
          <a:p>
            <a:r>
              <a:rPr lang="en-GB" sz="1000" baseline="30000" dirty="0"/>
              <a:t>1</a:t>
            </a:r>
            <a:r>
              <a:rPr lang="en-GB" sz="1000" dirty="0"/>
              <a:t> Guide to WIS (WMO No. 1061), Vol II, </a:t>
            </a:r>
            <a:r>
              <a:rPr lang="en-GB" sz="1000" b="0" i="0" dirty="0">
                <a:solidFill>
                  <a:srgbClr val="1F1F1F"/>
                </a:solidFill>
                <a:effectLst/>
                <a:latin typeface="Google Sans"/>
              </a:rPr>
              <a:t>§1.1.4 </a:t>
            </a:r>
            <a:r>
              <a:rPr lang="en-GB" sz="1000" b="0" i="0" dirty="0">
                <a:solidFill>
                  <a:srgbClr val="1F1F1F"/>
                </a:solidFill>
                <a:effectLst/>
                <a:latin typeface="Google Sans"/>
                <a:hlinkClick r:id="rId3"/>
              </a:rPr>
              <a:t>Why are datasets so important</a:t>
            </a:r>
            <a:endParaRPr lang="en-GB" sz="1000" dirty="0"/>
          </a:p>
        </p:txBody>
      </p:sp>
    </p:spTree>
    <p:extLst>
      <p:ext uri="{BB962C8B-B14F-4D97-AF65-F5344CB8AC3E}">
        <p14:creationId xmlns:p14="http://schemas.microsoft.com/office/powerpoint/2010/main" val="199289635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a:extLst>
              <a:ext uri="{FF2B5EF4-FFF2-40B4-BE49-F238E27FC236}">
                <a16:creationId xmlns:a16="http://schemas.microsoft.com/office/drawing/2014/main" id="{0D989396-DDA1-7452-3BEA-88073A1C713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90638" y="0"/>
            <a:ext cx="9609137" cy="6858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4349398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9E4F89-97A3-9A0E-EEB5-BE5A8861B819}"/>
            </a:ext>
          </a:extLst>
        </p:cNvPr>
        <p:cNvGrpSpPr/>
        <p:nvPr/>
      </p:nvGrpSpPr>
      <p:grpSpPr>
        <a:xfrm>
          <a:off x="0" y="0"/>
          <a:ext cx="0" cy="0"/>
          <a:chOff x="0" y="0"/>
          <a:chExt cx="0" cy="0"/>
        </a:xfrm>
      </p:grpSpPr>
      <p:sp>
        <p:nvSpPr>
          <p:cNvPr id="46" name="Rectangle 45">
            <a:extLst>
              <a:ext uri="{FF2B5EF4-FFF2-40B4-BE49-F238E27FC236}">
                <a16:creationId xmlns:a16="http://schemas.microsoft.com/office/drawing/2014/main" id="{CFECC73F-BE3D-002E-F99A-90BA4A0304AE}"/>
              </a:ext>
            </a:extLst>
          </p:cNvPr>
          <p:cNvSpPr/>
          <p:nvPr/>
        </p:nvSpPr>
        <p:spPr>
          <a:xfrm>
            <a:off x="251382" y="1987567"/>
            <a:ext cx="11940618" cy="4870433"/>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CH"/>
          </a:p>
        </p:txBody>
      </p:sp>
      <p:sp>
        <p:nvSpPr>
          <p:cNvPr id="2" name="Title 1">
            <a:extLst>
              <a:ext uri="{FF2B5EF4-FFF2-40B4-BE49-F238E27FC236}">
                <a16:creationId xmlns:a16="http://schemas.microsoft.com/office/drawing/2014/main" id="{8FDE8463-5FB4-0F7F-18DF-2F1A77169473}"/>
              </a:ext>
            </a:extLst>
          </p:cNvPr>
          <p:cNvSpPr>
            <a:spLocks noGrp="1"/>
          </p:cNvSpPr>
          <p:nvPr>
            <p:ph type="title"/>
          </p:nvPr>
        </p:nvSpPr>
        <p:spPr>
          <a:xfrm>
            <a:off x="-75414" y="0"/>
            <a:ext cx="12267414" cy="791852"/>
          </a:xfrm>
          <a:solidFill>
            <a:srgbClr val="004F9F"/>
          </a:solidFill>
        </p:spPr>
        <p:txBody>
          <a:bodyPr>
            <a:normAutofit/>
          </a:bodyPr>
          <a:lstStyle/>
          <a:p>
            <a:r>
              <a:rPr lang="en-US" dirty="0">
                <a:solidFill>
                  <a:schemeClr val="bg1"/>
                </a:solidFill>
              </a:rPr>
              <a:t>Sensor Centre for GDCs</a:t>
            </a:r>
          </a:p>
        </p:txBody>
      </p:sp>
      <p:sp>
        <p:nvSpPr>
          <p:cNvPr id="3" name="TextBox 2">
            <a:extLst>
              <a:ext uri="{FF2B5EF4-FFF2-40B4-BE49-F238E27FC236}">
                <a16:creationId xmlns:a16="http://schemas.microsoft.com/office/drawing/2014/main" id="{C052109D-EBCD-561C-883E-258EA95B6A49}"/>
              </a:ext>
            </a:extLst>
          </p:cNvPr>
          <p:cNvSpPr txBox="1"/>
          <p:nvPr/>
        </p:nvSpPr>
        <p:spPr>
          <a:xfrm>
            <a:off x="377073" y="791852"/>
            <a:ext cx="11689236" cy="2862322"/>
          </a:xfrm>
          <a:prstGeom prst="rect">
            <a:avLst/>
          </a:prstGeom>
          <a:noFill/>
        </p:spPr>
        <p:txBody>
          <a:bodyPr wrap="square" rtlCol="0">
            <a:spAutoFit/>
          </a:bodyPr>
          <a:lstStyle/>
          <a:p>
            <a:pPr marL="285750" indent="-285750">
              <a:buFont typeface="Arial" panose="020B0604020202020204" pitchFamily="34" charset="0"/>
              <a:buChar char="•"/>
            </a:pPr>
            <a:r>
              <a:rPr lang="en-CA" sz="2000" dirty="0"/>
              <a:t>Current guidance to be proposed at INFCOM-4:</a:t>
            </a:r>
          </a:p>
          <a:p>
            <a:pPr marL="285750" indent="-285750">
              <a:buFont typeface="Arial" panose="020B0604020202020204" pitchFamily="34" charset="0"/>
              <a:buChar char="•"/>
            </a:pPr>
            <a:endParaRPr lang="en-CA" sz="2000" dirty="0"/>
          </a:p>
          <a:p>
            <a:pPr marL="285750" indent="-285750">
              <a:buFont typeface="Arial" panose="020B0604020202020204" pitchFamily="34" charset="0"/>
              <a:buChar char="•"/>
            </a:pPr>
            <a:r>
              <a:rPr lang="en-CA" sz="2000" dirty="0">
                <a:hlinkClick r:id="rId2"/>
              </a:rPr>
              <a:t>github.com/wmo-im/wis2-guide/blob/INFCOM-4/guide/sections/part3/sensor-centres.adoc#3341-technical-considerations </a:t>
            </a:r>
            <a:endParaRPr lang="en-CA" sz="2000" dirty="0"/>
          </a:p>
          <a:p>
            <a:pPr marL="285750" indent="-285750">
              <a:buFont typeface="Arial" panose="020B0604020202020204" pitchFamily="34" charset="0"/>
              <a:buChar char="•"/>
            </a:pPr>
            <a:endParaRPr lang="en-CA" sz="2000" dirty="0"/>
          </a:p>
          <a:p>
            <a:pPr marL="285750" indent="-285750">
              <a:buFont typeface="Arial" panose="020B0604020202020204" pitchFamily="34" charset="0"/>
              <a:buChar char="•"/>
            </a:pPr>
            <a:r>
              <a:rPr lang="en-CA" sz="2000" dirty="0"/>
              <a:t>Functionality added to </a:t>
            </a:r>
            <a:r>
              <a:rPr lang="en-CA" sz="2000" dirty="0" err="1"/>
              <a:t>pywiscat</a:t>
            </a:r>
            <a:endParaRPr lang="en-CA" sz="2000" dirty="0"/>
          </a:p>
          <a:p>
            <a:pPr marL="742950" lvl="1" indent="-285750">
              <a:buFont typeface="Arial" panose="020B0604020202020204" pitchFamily="34" charset="0"/>
              <a:buChar char="•"/>
            </a:pPr>
            <a:r>
              <a:rPr lang="en-CA" sz="2000" dirty="0">
                <a:hlinkClick r:id="rId3"/>
              </a:rPr>
              <a:t>github.com/wmo-im/pywiscat?tab=readme-ov-file#running</a:t>
            </a:r>
            <a:endParaRPr lang="en-CA" sz="2000" dirty="0"/>
          </a:p>
          <a:p>
            <a:pPr marL="742950" lvl="1" indent="-285750">
              <a:buFont typeface="Arial" panose="020B0604020202020204" pitchFamily="34" charset="0"/>
              <a:buChar char="•"/>
            </a:pPr>
            <a:r>
              <a:rPr lang="en-CA" sz="2000" dirty="0"/>
              <a:t>Download all GDC archives</a:t>
            </a:r>
          </a:p>
          <a:p>
            <a:pPr marL="742950" lvl="1" indent="-285750">
              <a:buFont typeface="Arial" panose="020B0604020202020204" pitchFamily="34" charset="0"/>
              <a:buChar char="•"/>
            </a:pPr>
            <a:r>
              <a:rPr lang="en-CA" sz="2000" dirty="0"/>
              <a:t>Run comparative analysis</a:t>
            </a:r>
          </a:p>
        </p:txBody>
      </p:sp>
      <p:sp>
        <p:nvSpPr>
          <p:cNvPr id="47" name="AutoShape 4">
            <a:extLst>
              <a:ext uri="{FF2B5EF4-FFF2-40B4-BE49-F238E27FC236}">
                <a16:creationId xmlns:a16="http://schemas.microsoft.com/office/drawing/2014/main" id="{B861D0BB-596E-C678-A805-90B7B675AB58}"/>
              </a:ext>
            </a:extLst>
          </p:cNvPr>
          <p:cNvSpPr>
            <a:spLocks noChangeAspect="1" noChangeArrowheads="1"/>
          </p:cNvSpPr>
          <p:nvPr/>
        </p:nvSpPr>
        <p:spPr bwMode="auto">
          <a:xfrm>
            <a:off x="3786326" y="3214456"/>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CH"/>
          </a:p>
        </p:txBody>
      </p:sp>
      <p:sp>
        <p:nvSpPr>
          <p:cNvPr id="49" name="AutoShape 4">
            <a:extLst>
              <a:ext uri="{FF2B5EF4-FFF2-40B4-BE49-F238E27FC236}">
                <a16:creationId xmlns:a16="http://schemas.microsoft.com/office/drawing/2014/main" id="{721A8789-C76A-7696-D0CA-45676F132EF5}"/>
              </a:ext>
            </a:extLst>
          </p:cNvPr>
          <p:cNvSpPr>
            <a:spLocks noChangeAspect="1" noChangeArrowheads="1"/>
          </p:cNvSpPr>
          <p:nvPr/>
        </p:nvSpPr>
        <p:spPr bwMode="auto">
          <a:xfrm>
            <a:off x="816793" y="3219634"/>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CH"/>
          </a:p>
        </p:txBody>
      </p:sp>
      <p:sp>
        <p:nvSpPr>
          <p:cNvPr id="5" name="TextBox 4">
            <a:extLst>
              <a:ext uri="{FF2B5EF4-FFF2-40B4-BE49-F238E27FC236}">
                <a16:creationId xmlns:a16="http://schemas.microsoft.com/office/drawing/2014/main" id="{65A908A4-C573-8787-7106-0E76F1540522}"/>
              </a:ext>
            </a:extLst>
          </p:cNvPr>
          <p:cNvSpPr txBox="1"/>
          <p:nvPr/>
        </p:nvSpPr>
        <p:spPr>
          <a:xfrm>
            <a:off x="8066780" y="6511418"/>
            <a:ext cx="4336444" cy="246221"/>
          </a:xfrm>
          <a:prstGeom prst="rect">
            <a:avLst/>
          </a:prstGeom>
          <a:noFill/>
        </p:spPr>
        <p:txBody>
          <a:bodyPr wrap="none" rtlCol="0">
            <a:spAutoFit/>
          </a:bodyPr>
          <a:lstStyle/>
          <a:p>
            <a:r>
              <a:rPr lang="en-GB" sz="1000" baseline="30000" dirty="0"/>
              <a:t>1</a:t>
            </a:r>
            <a:r>
              <a:rPr lang="en-GB" sz="1000" dirty="0"/>
              <a:t> Guide to WIS (WMO No. 1061), Vol II, </a:t>
            </a:r>
            <a:r>
              <a:rPr lang="en-GB" sz="1000" b="0" i="0" dirty="0">
                <a:solidFill>
                  <a:srgbClr val="1F1F1F"/>
                </a:solidFill>
                <a:effectLst/>
                <a:latin typeface="Google Sans"/>
              </a:rPr>
              <a:t>§1.1.4 </a:t>
            </a:r>
            <a:r>
              <a:rPr lang="en-GB" sz="1000" b="0" i="0" dirty="0">
                <a:solidFill>
                  <a:srgbClr val="1F1F1F"/>
                </a:solidFill>
                <a:effectLst/>
                <a:latin typeface="Google Sans"/>
                <a:hlinkClick r:id="rId4"/>
              </a:rPr>
              <a:t>Why are datasets so important</a:t>
            </a:r>
            <a:endParaRPr lang="en-GB" sz="1000" dirty="0"/>
          </a:p>
        </p:txBody>
      </p:sp>
    </p:spTree>
    <p:extLst>
      <p:ext uri="{BB962C8B-B14F-4D97-AF65-F5344CB8AC3E}">
        <p14:creationId xmlns:p14="http://schemas.microsoft.com/office/powerpoint/2010/main" val="47836736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0C46FE-9AD2-E76C-97CD-5F31680AFE19}"/>
            </a:ext>
          </a:extLst>
        </p:cNvPr>
        <p:cNvGrpSpPr/>
        <p:nvPr/>
      </p:nvGrpSpPr>
      <p:grpSpPr>
        <a:xfrm>
          <a:off x="0" y="0"/>
          <a:ext cx="0" cy="0"/>
          <a:chOff x="0" y="0"/>
          <a:chExt cx="0" cy="0"/>
        </a:xfrm>
      </p:grpSpPr>
      <p:sp>
        <p:nvSpPr>
          <p:cNvPr id="46" name="Rectangle 45">
            <a:extLst>
              <a:ext uri="{FF2B5EF4-FFF2-40B4-BE49-F238E27FC236}">
                <a16:creationId xmlns:a16="http://schemas.microsoft.com/office/drawing/2014/main" id="{C6E3230D-48CC-C346-4380-FDAEA8A5537B}"/>
              </a:ext>
            </a:extLst>
          </p:cNvPr>
          <p:cNvSpPr/>
          <p:nvPr/>
        </p:nvSpPr>
        <p:spPr>
          <a:xfrm>
            <a:off x="251382" y="1987567"/>
            <a:ext cx="11940618" cy="4870433"/>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CH"/>
          </a:p>
        </p:txBody>
      </p:sp>
      <p:sp>
        <p:nvSpPr>
          <p:cNvPr id="2" name="Title 1">
            <a:extLst>
              <a:ext uri="{FF2B5EF4-FFF2-40B4-BE49-F238E27FC236}">
                <a16:creationId xmlns:a16="http://schemas.microsoft.com/office/drawing/2014/main" id="{C3B974F2-832D-1028-2E18-8A68BD9AA347}"/>
              </a:ext>
            </a:extLst>
          </p:cNvPr>
          <p:cNvSpPr>
            <a:spLocks noGrp="1"/>
          </p:cNvSpPr>
          <p:nvPr>
            <p:ph type="title"/>
          </p:nvPr>
        </p:nvSpPr>
        <p:spPr>
          <a:xfrm>
            <a:off x="-75414" y="0"/>
            <a:ext cx="12267414" cy="791852"/>
          </a:xfrm>
          <a:solidFill>
            <a:srgbClr val="004F9F"/>
          </a:solidFill>
        </p:spPr>
        <p:txBody>
          <a:bodyPr>
            <a:normAutofit/>
          </a:bodyPr>
          <a:lstStyle/>
          <a:p>
            <a:r>
              <a:rPr lang="en-US" dirty="0">
                <a:solidFill>
                  <a:schemeClr val="bg1"/>
                </a:solidFill>
              </a:rPr>
              <a:t>wis2-gdc exercise</a:t>
            </a:r>
          </a:p>
        </p:txBody>
      </p:sp>
      <p:sp>
        <p:nvSpPr>
          <p:cNvPr id="3" name="TextBox 2">
            <a:extLst>
              <a:ext uri="{FF2B5EF4-FFF2-40B4-BE49-F238E27FC236}">
                <a16:creationId xmlns:a16="http://schemas.microsoft.com/office/drawing/2014/main" id="{7D724641-A827-CF36-823D-68A4C0B355C3}"/>
              </a:ext>
            </a:extLst>
          </p:cNvPr>
          <p:cNvSpPr txBox="1"/>
          <p:nvPr/>
        </p:nvSpPr>
        <p:spPr>
          <a:xfrm>
            <a:off x="377073" y="791852"/>
            <a:ext cx="11689236" cy="1569660"/>
          </a:xfrm>
          <a:prstGeom prst="rect">
            <a:avLst/>
          </a:prstGeom>
          <a:noFill/>
        </p:spPr>
        <p:txBody>
          <a:bodyPr wrap="square" rtlCol="0">
            <a:spAutoFit/>
          </a:bodyPr>
          <a:lstStyle/>
          <a:p>
            <a:pPr marL="285750" indent="-285750">
              <a:buFont typeface="Arial" panose="020B0604020202020204" pitchFamily="34" charset="0"/>
              <a:buChar char="•"/>
            </a:pPr>
            <a:r>
              <a:rPr lang="en-CA" sz="2000" dirty="0"/>
              <a:t>Follow steps at:</a:t>
            </a:r>
          </a:p>
          <a:p>
            <a:pPr marL="285750" indent="-285750">
              <a:buFont typeface="Arial" panose="020B0604020202020204" pitchFamily="34" charset="0"/>
              <a:buChar char="•"/>
            </a:pPr>
            <a:endParaRPr lang="en-CA" sz="2000" dirty="0"/>
          </a:p>
          <a:p>
            <a:pPr marL="285750" indent="-285750">
              <a:buFont typeface="Arial" panose="020B0604020202020204" pitchFamily="34" charset="0"/>
              <a:buChar char="•"/>
            </a:pPr>
            <a:r>
              <a:rPr lang="en-CA" dirty="0">
                <a:hlinkClick r:id="rId2"/>
              </a:rPr>
              <a:t>github.com/wmo-im/wis2-champions/blob/main/Bali-workshop-MAR2026/presentations/day3/wis2-gdc-exercise.md</a:t>
            </a:r>
            <a:endParaRPr lang="en-CA" dirty="0"/>
          </a:p>
          <a:p>
            <a:pPr lvl="1"/>
            <a:endParaRPr lang="en-CA" dirty="0"/>
          </a:p>
          <a:p>
            <a:pPr marL="742950" lvl="1" indent="-285750">
              <a:buFont typeface="Arial" panose="020B0604020202020204" pitchFamily="34" charset="0"/>
              <a:buChar char="•"/>
            </a:pPr>
            <a:endParaRPr lang="en-CA" sz="2000" dirty="0"/>
          </a:p>
        </p:txBody>
      </p:sp>
      <p:sp>
        <p:nvSpPr>
          <p:cNvPr id="47" name="AutoShape 4">
            <a:extLst>
              <a:ext uri="{FF2B5EF4-FFF2-40B4-BE49-F238E27FC236}">
                <a16:creationId xmlns:a16="http://schemas.microsoft.com/office/drawing/2014/main" id="{22D4EA8C-672D-05A1-EBBE-40EE4B54120B}"/>
              </a:ext>
            </a:extLst>
          </p:cNvPr>
          <p:cNvSpPr>
            <a:spLocks noChangeAspect="1" noChangeArrowheads="1"/>
          </p:cNvSpPr>
          <p:nvPr/>
        </p:nvSpPr>
        <p:spPr bwMode="auto">
          <a:xfrm>
            <a:off x="3786326" y="3214456"/>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CH"/>
          </a:p>
        </p:txBody>
      </p:sp>
      <p:sp>
        <p:nvSpPr>
          <p:cNvPr id="49" name="AutoShape 4">
            <a:extLst>
              <a:ext uri="{FF2B5EF4-FFF2-40B4-BE49-F238E27FC236}">
                <a16:creationId xmlns:a16="http://schemas.microsoft.com/office/drawing/2014/main" id="{A8CAB8F5-8EBC-13AA-EF27-2953513D4AE0}"/>
              </a:ext>
            </a:extLst>
          </p:cNvPr>
          <p:cNvSpPr>
            <a:spLocks noChangeAspect="1" noChangeArrowheads="1"/>
          </p:cNvSpPr>
          <p:nvPr/>
        </p:nvSpPr>
        <p:spPr bwMode="auto">
          <a:xfrm>
            <a:off x="816793" y="3219634"/>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CH"/>
          </a:p>
        </p:txBody>
      </p:sp>
    </p:spTree>
    <p:extLst>
      <p:ext uri="{BB962C8B-B14F-4D97-AF65-F5344CB8AC3E}">
        <p14:creationId xmlns:p14="http://schemas.microsoft.com/office/powerpoint/2010/main" val="201757942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B8E26D-0EE3-44A3-393B-4A329454D75B}"/>
            </a:ext>
          </a:extLst>
        </p:cNvPr>
        <p:cNvGrpSpPr/>
        <p:nvPr/>
      </p:nvGrpSpPr>
      <p:grpSpPr>
        <a:xfrm>
          <a:off x="0" y="0"/>
          <a:ext cx="0" cy="0"/>
          <a:chOff x="0" y="0"/>
          <a:chExt cx="0" cy="0"/>
        </a:xfrm>
      </p:grpSpPr>
      <p:sp>
        <p:nvSpPr>
          <p:cNvPr id="46" name="Rectangle 45">
            <a:extLst>
              <a:ext uri="{FF2B5EF4-FFF2-40B4-BE49-F238E27FC236}">
                <a16:creationId xmlns:a16="http://schemas.microsoft.com/office/drawing/2014/main" id="{EA01301B-6244-AC91-2FDA-90D8EEDA6833}"/>
              </a:ext>
            </a:extLst>
          </p:cNvPr>
          <p:cNvSpPr/>
          <p:nvPr/>
        </p:nvSpPr>
        <p:spPr>
          <a:xfrm>
            <a:off x="251382" y="1987567"/>
            <a:ext cx="11940618" cy="4870433"/>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CH"/>
          </a:p>
        </p:txBody>
      </p:sp>
      <p:sp>
        <p:nvSpPr>
          <p:cNvPr id="2" name="Title 1">
            <a:extLst>
              <a:ext uri="{FF2B5EF4-FFF2-40B4-BE49-F238E27FC236}">
                <a16:creationId xmlns:a16="http://schemas.microsoft.com/office/drawing/2014/main" id="{8322DD75-7530-C4CC-1F7E-4D2A73C2D93D}"/>
              </a:ext>
            </a:extLst>
          </p:cNvPr>
          <p:cNvSpPr>
            <a:spLocks noGrp="1"/>
          </p:cNvSpPr>
          <p:nvPr>
            <p:ph type="title"/>
          </p:nvPr>
        </p:nvSpPr>
        <p:spPr>
          <a:xfrm>
            <a:off x="-75414" y="0"/>
            <a:ext cx="12267414" cy="791852"/>
          </a:xfrm>
          <a:solidFill>
            <a:srgbClr val="004F9F"/>
          </a:solidFill>
        </p:spPr>
        <p:txBody>
          <a:bodyPr>
            <a:normAutofit/>
          </a:bodyPr>
          <a:lstStyle/>
          <a:p>
            <a:r>
              <a:rPr lang="en-US" dirty="0" err="1">
                <a:solidFill>
                  <a:schemeClr val="bg1"/>
                </a:solidFill>
              </a:rPr>
              <a:t>pywiscat</a:t>
            </a:r>
            <a:r>
              <a:rPr lang="en-US" dirty="0">
                <a:solidFill>
                  <a:schemeClr val="bg1"/>
                </a:solidFill>
              </a:rPr>
              <a:t>: the Python GDC CLI</a:t>
            </a:r>
          </a:p>
        </p:txBody>
      </p:sp>
      <p:sp>
        <p:nvSpPr>
          <p:cNvPr id="3" name="TextBox 2">
            <a:extLst>
              <a:ext uri="{FF2B5EF4-FFF2-40B4-BE49-F238E27FC236}">
                <a16:creationId xmlns:a16="http://schemas.microsoft.com/office/drawing/2014/main" id="{0700F5AC-3E61-5A77-2117-41E24ACF1529}"/>
              </a:ext>
            </a:extLst>
          </p:cNvPr>
          <p:cNvSpPr txBox="1"/>
          <p:nvPr/>
        </p:nvSpPr>
        <p:spPr>
          <a:xfrm>
            <a:off x="608376" y="1499205"/>
            <a:ext cx="11689236" cy="4093428"/>
          </a:xfrm>
          <a:prstGeom prst="rect">
            <a:avLst/>
          </a:prstGeom>
          <a:noFill/>
        </p:spPr>
        <p:txBody>
          <a:bodyPr wrap="square" rtlCol="0">
            <a:spAutoFit/>
          </a:bodyPr>
          <a:lstStyle/>
          <a:p>
            <a:pPr marL="285750" indent="-285750">
              <a:buFont typeface="Arial" panose="020B0604020202020204" pitchFamily="34" charset="0"/>
              <a:buChar char="•"/>
            </a:pPr>
            <a:r>
              <a:rPr lang="en-CA" sz="2000" dirty="0"/>
              <a:t>WIS2 GDC </a:t>
            </a:r>
            <a:r>
              <a:rPr lang="en-CA" sz="2000" b="1" dirty="0"/>
              <a:t>client</a:t>
            </a:r>
          </a:p>
          <a:p>
            <a:pPr marL="285750" indent="-285750">
              <a:buFont typeface="Arial" panose="020B0604020202020204" pitchFamily="34" charset="0"/>
              <a:buChar char="•"/>
            </a:pPr>
            <a:r>
              <a:rPr lang="en-CA" sz="2000" dirty="0"/>
              <a:t>Utility to interact with WIS2 GDCs</a:t>
            </a:r>
          </a:p>
          <a:p>
            <a:pPr marL="285750" indent="-285750">
              <a:buFont typeface="Arial" panose="020B0604020202020204" pitchFamily="34" charset="0"/>
              <a:buChar char="•"/>
            </a:pPr>
            <a:r>
              <a:rPr lang="en-CA" sz="2000" dirty="0"/>
              <a:t>Hides GDC query and search behind a Python Command Line Interface (CLI)</a:t>
            </a:r>
          </a:p>
          <a:p>
            <a:pPr marL="285750" indent="-285750">
              <a:buFont typeface="Arial" panose="020B0604020202020204" pitchFamily="34" charset="0"/>
              <a:buChar char="•"/>
            </a:pPr>
            <a:r>
              <a:rPr lang="en-CA" sz="2000" dirty="0">
                <a:hlinkClick r:id="rId2"/>
              </a:rPr>
              <a:t>github.com/wmo-im/pywiscat</a:t>
            </a:r>
            <a:endParaRPr lang="en-CA" sz="2000" dirty="0"/>
          </a:p>
          <a:p>
            <a:pPr marL="285750" indent="-285750">
              <a:buFont typeface="Arial" panose="020B0604020202020204" pitchFamily="34" charset="0"/>
              <a:buChar char="•"/>
            </a:pPr>
            <a:r>
              <a:rPr lang="en-CA" sz="2000" dirty="0"/>
              <a:t>Installed on your VM:</a:t>
            </a:r>
          </a:p>
          <a:p>
            <a:pPr marL="742950" lvl="1" indent="-285750">
              <a:buFont typeface="Arial" panose="020B0604020202020204" pitchFamily="34" charset="0"/>
              <a:buChar char="•"/>
            </a:pPr>
            <a:r>
              <a:rPr lang="en-CA" sz="2000" dirty="0" err="1"/>
              <a:t>pywiscat</a:t>
            </a:r>
            <a:r>
              <a:rPr lang="en-CA" sz="2000" dirty="0"/>
              <a:t> –version</a:t>
            </a:r>
          </a:p>
          <a:p>
            <a:pPr marL="742950" lvl="1" indent="-285750">
              <a:buFont typeface="Arial" panose="020B0604020202020204" pitchFamily="34" charset="0"/>
              <a:buChar char="•"/>
            </a:pPr>
            <a:r>
              <a:rPr lang="en-CA" sz="2000" dirty="0" err="1"/>
              <a:t>pywiscat</a:t>
            </a:r>
            <a:endParaRPr lang="en-CA" sz="2000" dirty="0"/>
          </a:p>
          <a:p>
            <a:pPr marL="285750" indent="-285750">
              <a:buFont typeface="Arial" panose="020B0604020202020204" pitchFamily="34" charset="0"/>
              <a:buChar char="•"/>
            </a:pPr>
            <a:endParaRPr lang="en-CA" sz="2000" dirty="0"/>
          </a:p>
          <a:p>
            <a:pPr marL="285750" indent="-285750">
              <a:buFont typeface="Arial" panose="020B0604020202020204" pitchFamily="34" charset="0"/>
              <a:buChar char="•"/>
            </a:pPr>
            <a:r>
              <a:rPr lang="en-CA" sz="2000" dirty="0"/>
              <a:t>Exercise: query the GDC using your choice of tools</a:t>
            </a:r>
          </a:p>
          <a:p>
            <a:pPr marL="742950" lvl="1" indent="-285750">
              <a:buFont typeface="Arial" panose="020B0604020202020204" pitchFamily="34" charset="0"/>
              <a:buChar char="•"/>
            </a:pPr>
            <a:r>
              <a:rPr lang="en-CA" sz="2000" dirty="0"/>
              <a:t>Web browser</a:t>
            </a:r>
          </a:p>
          <a:p>
            <a:pPr marL="742950" lvl="1" indent="-285750">
              <a:buFont typeface="Arial" panose="020B0604020202020204" pitchFamily="34" charset="0"/>
              <a:buChar char="•"/>
            </a:pPr>
            <a:r>
              <a:rPr lang="en-CA" sz="2000" dirty="0"/>
              <a:t>Python requests</a:t>
            </a:r>
          </a:p>
          <a:p>
            <a:pPr marL="742950" lvl="1" indent="-285750">
              <a:buFont typeface="Arial" panose="020B0604020202020204" pitchFamily="34" charset="0"/>
              <a:buChar char="•"/>
            </a:pPr>
            <a:r>
              <a:rPr lang="en-CA" sz="2000" dirty="0" err="1"/>
              <a:t>pywiscat</a:t>
            </a:r>
            <a:endParaRPr lang="en-CA" sz="2000" dirty="0"/>
          </a:p>
          <a:p>
            <a:pPr marL="742950" lvl="1" indent="-285750">
              <a:buFont typeface="Arial" panose="020B0604020202020204" pitchFamily="34" charset="0"/>
              <a:buChar char="•"/>
            </a:pPr>
            <a:r>
              <a:rPr lang="en-CA" sz="2000" dirty="0"/>
              <a:t>Something else/develop your own!</a:t>
            </a:r>
          </a:p>
        </p:txBody>
      </p:sp>
      <p:sp>
        <p:nvSpPr>
          <p:cNvPr id="47" name="AutoShape 4">
            <a:extLst>
              <a:ext uri="{FF2B5EF4-FFF2-40B4-BE49-F238E27FC236}">
                <a16:creationId xmlns:a16="http://schemas.microsoft.com/office/drawing/2014/main" id="{CA9F2E20-C126-DAA7-1FEC-7F00BB3BE8C9}"/>
              </a:ext>
            </a:extLst>
          </p:cNvPr>
          <p:cNvSpPr>
            <a:spLocks noChangeAspect="1" noChangeArrowheads="1"/>
          </p:cNvSpPr>
          <p:nvPr/>
        </p:nvSpPr>
        <p:spPr bwMode="auto">
          <a:xfrm>
            <a:off x="3786326" y="3214456"/>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CH"/>
          </a:p>
        </p:txBody>
      </p:sp>
      <p:sp>
        <p:nvSpPr>
          <p:cNvPr id="49" name="AutoShape 4">
            <a:extLst>
              <a:ext uri="{FF2B5EF4-FFF2-40B4-BE49-F238E27FC236}">
                <a16:creationId xmlns:a16="http://schemas.microsoft.com/office/drawing/2014/main" id="{CC9BA85C-627B-73D2-1E8F-A81F50C83AAB}"/>
              </a:ext>
            </a:extLst>
          </p:cNvPr>
          <p:cNvSpPr>
            <a:spLocks noChangeAspect="1" noChangeArrowheads="1"/>
          </p:cNvSpPr>
          <p:nvPr/>
        </p:nvSpPr>
        <p:spPr bwMode="auto">
          <a:xfrm>
            <a:off x="816793" y="3219634"/>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CH"/>
          </a:p>
        </p:txBody>
      </p:sp>
      <p:sp>
        <p:nvSpPr>
          <p:cNvPr id="5" name="TextBox 4">
            <a:extLst>
              <a:ext uri="{FF2B5EF4-FFF2-40B4-BE49-F238E27FC236}">
                <a16:creationId xmlns:a16="http://schemas.microsoft.com/office/drawing/2014/main" id="{477F5678-171C-FCE7-D06B-810E079549D1}"/>
              </a:ext>
            </a:extLst>
          </p:cNvPr>
          <p:cNvSpPr txBox="1"/>
          <p:nvPr/>
        </p:nvSpPr>
        <p:spPr>
          <a:xfrm>
            <a:off x="8066780" y="6511418"/>
            <a:ext cx="4336444" cy="246221"/>
          </a:xfrm>
          <a:prstGeom prst="rect">
            <a:avLst/>
          </a:prstGeom>
          <a:noFill/>
        </p:spPr>
        <p:txBody>
          <a:bodyPr wrap="none" rtlCol="0">
            <a:spAutoFit/>
          </a:bodyPr>
          <a:lstStyle/>
          <a:p>
            <a:r>
              <a:rPr lang="en-GB" sz="1000" baseline="30000" dirty="0"/>
              <a:t>1</a:t>
            </a:r>
            <a:r>
              <a:rPr lang="en-GB" sz="1000" dirty="0"/>
              <a:t> Guide to WIS (WMO No. 1061), Vol II, </a:t>
            </a:r>
            <a:r>
              <a:rPr lang="en-GB" sz="1000" b="0" i="0" dirty="0">
                <a:solidFill>
                  <a:srgbClr val="1F1F1F"/>
                </a:solidFill>
                <a:effectLst/>
                <a:latin typeface="Google Sans"/>
              </a:rPr>
              <a:t>§1.1.4 </a:t>
            </a:r>
            <a:r>
              <a:rPr lang="en-GB" sz="1000" b="0" i="0" dirty="0">
                <a:solidFill>
                  <a:srgbClr val="1F1F1F"/>
                </a:solidFill>
                <a:effectLst/>
                <a:latin typeface="Google Sans"/>
                <a:hlinkClick r:id="rId3"/>
              </a:rPr>
              <a:t>Why are datasets so important</a:t>
            </a:r>
            <a:endParaRPr lang="en-GB" sz="1000" dirty="0"/>
          </a:p>
        </p:txBody>
      </p:sp>
    </p:spTree>
    <p:extLst>
      <p:ext uri="{BB962C8B-B14F-4D97-AF65-F5344CB8AC3E}">
        <p14:creationId xmlns:p14="http://schemas.microsoft.com/office/powerpoint/2010/main" val="323089136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C0F41481-C6BF-C213-3477-846899AA2513}"/>
              </a:ext>
            </a:extLst>
          </p:cNvPr>
          <p:cNvSpPr>
            <a:spLocks noGrp="1"/>
          </p:cNvSpPr>
          <p:nvPr>
            <p:ph type="title"/>
          </p:nvPr>
        </p:nvSpPr>
        <p:spPr>
          <a:xfrm>
            <a:off x="944217" y="2573798"/>
            <a:ext cx="10515600" cy="1710404"/>
          </a:xfrm>
        </p:spPr>
        <p:txBody>
          <a:bodyPr>
            <a:normAutofit fontScale="90000"/>
          </a:bodyPr>
          <a:lstStyle/>
          <a:p>
            <a:r>
              <a:rPr lang="en-US" dirty="0"/>
              <a:t>Thank you</a:t>
            </a:r>
            <a:br>
              <a:rPr lang="en-US" dirty="0"/>
            </a:br>
            <a:r>
              <a:rPr lang="en-US" dirty="0"/>
              <a:t>Merci</a:t>
            </a:r>
            <a:br>
              <a:rPr lang="en-US" dirty="0"/>
            </a:br>
            <a:r>
              <a:rPr lang="en-US" dirty="0"/>
              <a:t>G</a:t>
            </a:r>
            <a:r>
              <a:rPr lang="en-CA" dirty="0" err="1"/>
              <a:t>racias</a:t>
            </a:r>
            <a:br>
              <a:rPr lang="en-US" dirty="0"/>
            </a:br>
            <a:endParaRPr lang="fr-FR" sz="1800" dirty="0"/>
          </a:p>
        </p:txBody>
      </p:sp>
    </p:spTree>
    <p:extLst>
      <p:ext uri="{BB962C8B-B14F-4D97-AF65-F5344CB8AC3E}">
        <p14:creationId xmlns:p14="http://schemas.microsoft.com/office/powerpoint/2010/main" val="2356137281"/>
      </p:ext>
    </p:extLst>
  </p:cSld>
  <p:clrMapOvr>
    <a:masterClrMapping/>
  </p:clrMapOvr>
</p:sld>
</file>

<file path=ppt/theme/theme1.xml><?xml version="1.0" encoding="utf-8"?>
<a:theme xmlns:a="http://schemas.openxmlformats.org/drawingml/2006/main" name="1_WMO_WHITE_Powerpoint_en_fr">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WMO2016_Powerpoint_WIDESCREEN_dark_en_fr.pptx" id="{AD855B32-0B61-42E2-A21A-160E17B4778C}" vid="{CAA5DDCF-2EA0-4709-ACA0-E3AB81CA8027}"/>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_activity xmlns="07df4b02-2634-4913-b2a1-f788f994a0fa"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15585CC5CA741C488DCE8014D9DA0253" ma:contentTypeVersion="17" ma:contentTypeDescription="Create a new document." ma:contentTypeScope="" ma:versionID="beb44114a97e3a05714e501070f74285">
  <xsd:schema xmlns:xsd="http://www.w3.org/2001/XMLSchema" xmlns:xs="http://www.w3.org/2001/XMLSchema" xmlns:p="http://schemas.microsoft.com/office/2006/metadata/properties" xmlns:ns3="07df4b02-2634-4913-b2a1-f788f994a0fa" xmlns:ns4="fd0d016c-c8c6-419f-8b19-58ce7732d002" targetNamespace="http://schemas.microsoft.com/office/2006/metadata/properties" ma:root="true" ma:fieldsID="43dfb435d6eea3e0b687d1f99d3e3fc1" ns3:_="" ns4:_="">
    <xsd:import namespace="07df4b02-2634-4913-b2a1-f788f994a0fa"/>
    <xsd:import namespace="fd0d016c-c8c6-419f-8b19-58ce7732d002"/>
    <xsd:element name="properties">
      <xsd:complexType>
        <xsd:sequence>
          <xsd:element name="documentManagement">
            <xsd:complexType>
              <xsd:all>
                <xsd:element ref="ns3:MediaServiceMetadata" minOccurs="0"/>
                <xsd:element ref="ns3:MediaServiceFastMetadata" minOccurs="0"/>
                <xsd:element ref="ns3:MediaServiceAutoKeyPoints" minOccurs="0"/>
                <xsd:element ref="ns3:MediaServiceKeyPoints" minOccurs="0"/>
                <xsd:element ref="ns3:MediaServiceAutoTags" minOccurs="0"/>
                <xsd:element ref="ns3:MediaServiceGenerationTime" minOccurs="0"/>
                <xsd:element ref="ns3:MediaServiceEventHashCode" minOccurs="0"/>
                <xsd:element ref="ns4:SharedWithUsers" minOccurs="0"/>
                <xsd:element ref="ns4:SharedWithDetails" minOccurs="0"/>
                <xsd:element ref="ns4:SharingHintHash" minOccurs="0"/>
                <xsd:element ref="ns3:MediaServiceDateTaken" minOccurs="0"/>
                <xsd:element ref="ns3:MediaLengthInSeconds" minOccurs="0"/>
                <xsd:element ref="ns3:MediaServiceOCR" minOccurs="0"/>
                <xsd:element ref="ns3:_activity" minOccurs="0"/>
                <xsd:element ref="ns3:MediaServiceObjectDetectorVersions" minOccurs="0"/>
                <xsd:element ref="ns3:MediaServiceSystemTags" minOccurs="0"/>
                <xsd:element ref="ns3: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07df4b02-2634-4913-b2a1-f788f994a0fa"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AutoTags" ma:index="12" nillable="true" ma:displayName="Tags" ma:internalName="MediaServiceAutoTags"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EventHashCode" ma:index="14" nillable="true" ma:displayName="MediaServiceEventHashCode" ma:hidden="true" ma:internalName="MediaServiceEventHashCode" ma:readOnly="true">
      <xsd:simpleType>
        <xsd:restriction base="dms:Text"/>
      </xsd:simpleType>
    </xsd:element>
    <xsd:element name="MediaServiceDateTaken" ma:index="18" nillable="true" ma:displayName="MediaServiceDateTaken" ma:hidden="true" ma:internalName="MediaServiceDateTaken" ma:readOnly="true">
      <xsd:simpleType>
        <xsd:restriction base="dms:Text"/>
      </xsd:simpleType>
    </xsd:element>
    <xsd:element name="MediaLengthInSeconds" ma:index="19" nillable="true" ma:displayName="MediaLengthInSeconds" ma:hidden="true" ma:internalName="MediaLengthInSeconds" ma:readOnly="true">
      <xsd:simpleType>
        <xsd:restriction base="dms:Unknown"/>
      </xsd:simpleType>
    </xsd:element>
    <xsd:element name="MediaServiceOCR" ma:index="20" nillable="true" ma:displayName="Extracted Text" ma:internalName="MediaServiceOCR" ma:readOnly="true">
      <xsd:simpleType>
        <xsd:restriction base="dms:Note">
          <xsd:maxLength value="255"/>
        </xsd:restriction>
      </xsd:simpleType>
    </xsd:element>
    <xsd:element name="_activity" ma:index="21" nillable="true" ma:displayName="_activity" ma:hidden="true" ma:internalName="_activity">
      <xsd:simpleType>
        <xsd:restriction base="dms:Note"/>
      </xsd:simpleType>
    </xsd:element>
    <xsd:element name="MediaServiceObjectDetectorVersions" ma:index="22" nillable="true" ma:displayName="MediaServiceObjectDetectorVersions" ma:hidden="true" ma:indexed="true" ma:internalName="MediaServiceObjectDetectorVersions" ma:readOnly="true">
      <xsd:simpleType>
        <xsd:restriction base="dms:Text"/>
      </xsd:simpleType>
    </xsd:element>
    <xsd:element name="MediaServiceSystemTags" ma:index="23" nillable="true" ma:displayName="MediaServiceSystemTags" ma:hidden="true" ma:internalName="MediaServiceSystemTags" ma:readOnly="true">
      <xsd:simpleType>
        <xsd:restriction base="dms:Note"/>
      </xsd:simpleType>
    </xsd:element>
    <xsd:element name="MediaServiceSearchProperties" ma:index="24"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fd0d016c-c8c6-419f-8b19-58ce7732d002" elementFormDefault="qualified">
    <xsd:import namespace="http://schemas.microsoft.com/office/2006/documentManagement/types"/>
    <xsd:import namespace="http://schemas.microsoft.com/office/infopath/2007/PartnerControls"/>
    <xsd:element name="SharedWithUsers" ma:index="15"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6" nillable="true" ma:displayName="Shared With Details" ma:internalName="SharedWithDetails" ma:readOnly="true">
      <xsd:simpleType>
        <xsd:restriction base="dms:Note">
          <xsd:maxLength value="255"/>
        </xsd:restriction>
      </xsd:simpleType>
    </xsd:element>
    <xsd:element name="SharingHintHash" ma:index="17" nillable="true" ma:displayName="Sharing Hint Hash" ma:hidden="true" ma:internalName="SharingHintHash"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F727FCF3-D210-4447-9999-135BE84AA52C}">
  <ds:schemaRefs>
    <ds:schemaRef ds:uri="http://schemas.microsoft.com/sharepoint/v3/contenttype/forms"/>
  </ds:schemaRefs>
</ds:datastoreItem>
</file>

<file path=customXml/itemProps2.xml><?xml version="1.0" encoding="utf-8"?>
<ds:datastoreItem xmlns:ds="http://schemas.openxmlformats.org/officeDocument/2006/customXml" ds:itemID="{4FA777BE-1691-46D3-B5EF-D93DCFCAC224}">
  <ds:schemaRefs>
    <ds:schemaRef ds:uri="http://schemas.microsoft.com/office/2006/documentManagement/types"/>
    <ds:schemaRef ds:uri="http://schemas.openxmlformats.org/package/2006/metadata/core-properties"/>
    <ds:schemaRef ds:uri="07df4b02-2634-4913-b2a1-f788f994a0fa"/>
    <ds:schemaRef ds:uri="http://www.w3.org/XML/1998/namespace"/>
    <ds:schemaRef ds:uri="http://schemas.microsoft.com/office/infopath/2007/PartnerControls"/>
    <ds:schemaRef ds:uri="fd0d016c-c8c6-419f-8b19-58ce7732d002"/>
    <ds:schemaRef ds:uri="http://schemas.microsoft.com/office/2006/metadata/properties"/>
    <ds:schemaRef ds:uri="http://purl.org/dc/dcmitype/"/>
    <ds:schemaRef ds:uri="http://purl.org/dc/terms/"/>
    <ds:schemaRef ds:uri="http://purl.org/dc/elements/1.1/"/>
  </ds:schemaRefs>
</ds:datastoreItem>
</file>

<file path=customXml/itemProps3.xml><?xml version="1.0" encoding="utf-8"?>
<ds:datastoreItem xmlns:ds="http://schemas.openxmlformats.org/officeDocument/2006/customXml" ds:itemID="{6DB01859-7AF9-49AC-83AE-2247BBB95E7C}">
  <ds:schemaRefs>
    <ds:schemaRef ds:uri="07df4b02-2634-4913-b2a1-f788f994a0fa"/>
    <ds:schemaRef ds:uri="fd0d016c-c8c6-419f-8b19-58ce7732d002"/>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docMetadata/LabelInfo.xml><?xml version="1.0" encoding="utf-8"?>
<clbl:labelList xmlns:clbl="http://schemas.microsoft.com/office/2020/mipLabelMetadata">
  <clbl:label id="{e962d134-526b-49fe-8fc7-dd80537250d0}" enabled="1" method="Standard" siteId="{eaa6be54-4687-40c4-9827-c044bd8e8d3c}" removed="0"/>
</clbl:labelList>
</file>

<file path=docProps/app.xml><?xml version="1.0" encoding="utf-8"?>
<Properties xmlns="http://schemas.openxmlformats.org/officeDocument/2006/extended-properties" xmlns:vt="http://schemas.openxmlformats.org/officeDocument/2006/docPropsVTypes">
  <Template/>
  <TotalTime>15330</TotalTime>
  <Words>2602</Words>
  <Application>Microsoft Macintosh PowerPoint</Application>
  <PresentationFormat>Widescreen</PresentationFormat>
  <Paragraphs>345</Paragraphs>
  <Slides>31</Slides>
  <Notes>12</Notes>
  <HiddenSlides>0</HiddenSlides>
  <MMClips>0</MMClips>
  <ScaleCrop>false</ScaleCrop>
  <HeadingPairs>
    <vt:vector size="6" baseType="variant">
      <vt:variant>
        <vt:lpstr>Fonts Used</vt:lpstr>
      </vt:variant>
      <vt:variant>
        <vt:i4>7</vt:i4>
      </vt:variant>
      <vt:variant>
        <vt:lpstr>Theme</vt:lpstr>
      </vt:variant>
      <vt:variant>
        <vt:i4>4</vt:i4>
      </vt:variant>
      <vt:variant>
        <vt:lpstr>Slide Titles</vt:lpstr>
      </vt:variant>
      <vt:variant>
        <vt:i4>31</vt:i4>
      </vt:variant>
    </vt:vector>
  </HeadingPairs>
  <TitlesOfParts>
    <vt:vector size="42" baseType="lpstr">
      <vt:lpstr>Aptos</vt:lpstr>
      <vt:lpstr>Arial</vt:lpstr>
      <vt:lpstr>Calibri</vt:lpstr>
      <vt:lpstr>Calibri Light</vt:lpstr>
      <vt:lpstr>Courier New</vt:lpstr>
      <vt:lpstr>Google Sans</vt:lpstr>
      <vt:lpstr>Verdana</vt:lpstr>
      <vt:lpstr>1_WMO_WHITE_Powerpoint_en_fr</vt:lpstr>
      <vt:lpstr>Office Theme</vt:lpstr>
      <vt:lpstr>Office Theme</vt:lpstr>
      <vt:lpstr>Office Theme</vt:lpstr>
      <vt:lpstr>WIS2 Metadata and Global Discovery Catalogue Deep Dive      2026-04-01</vt:lpstr>
      <vt:lpstr>PowerPoint Presentation</vt:lpstr>
      <vt:lpstr>PowerPoint Presentation</vt:lpstr>
      <vt:lpstr>PowerPoint Presentation</vt:lpstr>
      <vt:lpstr>PowerPoint Presentation</vt:lpstr>
      <vt:lpstr>PowerPoint Presentation</vt:lpstr>
      <vt:lpstr>Datasets in WIS2</vt:lpstr>
      <vt:lpstr>The Dataset concept</vt:lpstr>
      <vt:lpstr>Sharing data in WIS 2.0</vt:lpstr>
      <vt:lpstr>Sharing data in WIS 2.0</vt:lpstr>
      <vt:lpstr>Sharing metadata in WIS 2.0</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Searchable Catalogue</vt:lpstr>
      <vt:lpstr>PowerPoint Presentation</vt:lpstr>
      <vt:lpstr>WIS2 functions and components</vt:lpstr>
      <vt:lpstr>PowerPoint Presentation</vt:lpstr>
      <vt:lpstr>PowerPoint Presentation</vt:lpstr>
      <vt:lpstr>Measure twice, cut once</vt:lpstr>
      <vt:lpstr>wis2-gdc: the GDC RI</vt:lpstr>
      <vt:lpstr>PowerPoint Presentation</vt:lpstr>
      <vt:lpstr>Sensor Centre for GDCs</vt:lpstr>
      <vt:lpstr>wis2-gdc exercise</vt:lpstr>
      <vt:lpstr>pywiscat: the Python GDC CLI</vt:lpstr>
      <vt:lpstr>Thank you Merci Gracias </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WIS2 Metadata and Global Discovery Catalogue Deep Dive</dc:title>
  <dc:subject/>
  <dc:creator>Tom Kralidis</dc:creator>
  <cp:keywords/>
  <dc:description/>
  <cp:lastModifiedBy>Tom Kralidis</cp:lastModifiedBy>
  <cp:revision>110</cp:revision>
  <dcterms:created xsi:type="dcterms:W3CDTF">2022-11-22T08:46:11Z</dcterms:created>
  <dcterms:modified xsi:type="dcterms:W3CDTF">2026-04-01T01:00:00Z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0x01010015585CC5CA741C488DCE8014D9DA0253</vt:lpwstr>
  </property>
</Properties>
</file>