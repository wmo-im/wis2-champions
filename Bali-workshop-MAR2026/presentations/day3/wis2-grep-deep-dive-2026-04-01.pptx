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  <p:sldMasterId id="2147483661" r:id="rId6"/>
  </p:sldMasterIdLst>
  <p:notesMasterIdLst>
    <p:notesMasterId r:id="rId22"/>
  </p:notesMasterIdLst>
  <p:sldIdLst>
    <p:sldId id="4211" r:id="rId7"/>
    <p:sldId id="4365" r:id="rId8"/>
    <p:sldId id="4212" r:id="rId9"/>
    <p:sldId id="4366" r:id="rId10"/>
    <p:sldId id="4367" r:id="rId11"/>
    <p:sldId id="257" r:id="rId12"/>
    <p:sldId id="258" r:id="rId13"/>
    <p:sldId id="259" r:id="rId14"/>
    <p:sldId id="260" r:id="rId15"/>
    <p:sldId id="261" r:id="rId16"/>
    <p:sldId id="4374" r:id="rId17"/>
    <p:sldId id="4375" r:id="rId18"/>
    <p:sldId id="4369" r:id="rId19"/>
    <p:sldId id="4379" r:id="rId20"/>
    <p:sldId id="26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lara Josipovic" initials="KJ" lastIdx="1" clrIdx="0">
    <p:extLst>
      <p:ext uri="{19B8F6BF-5375-455C-9EA6-DF929625EA0E}">
        <p15:presenceInfo xmlns:p15="http://schemas.microsoft.com/office/powerpoint/2012/main" userId="S::kjosipovic@wmo.int::3db77c78-b6f0-40c7-a5c2-2c2a2ad414e3" providerId="AD"/>
      </p:ext>
    </p:extLst>
  </p:cmAuthor>
  <p:cmAuthor id="2" name="Klausen Jörg" initials="KJ" lastIdx="1" clrIdx="1">
    <p:extLst>
      <p:ext uri="{19B8F6BF-5375-455C-9EA6-DF929625EA0E}">
        <p15:presenceInfo xmlns:p15="http://schemas.microsoft.com/office/powerpoint/2012/main" userId="S::Joerg.Klausen@meteoswiss.ch::6feead85-38f3-4ce8-991d-80abadb215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66"/>
    <p:restoredTop sz="94398"/>
  </p:normalViewPr>
  <p:slideViewPr>
    <p:cSldViewPr snapToGrid="0" snapToObjects="1">
      <p:cViewPr varScale="1">
        <p:scale>
          <a:sx n="118" d="100"/>
          <a:sy n="118" d="100"/>
        </p:scale>
        <p:origin x="1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F0F94-263A-E048-AB2F-BC4DCAB5EBA1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C1290-4516-ED42-966E-BC4F5D24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63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BD07EC-6360-493B-A5C5-7E3237A65453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502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C799-4231-2346-88CD-50EB4F7D6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A7F83-D93D-B848-B8B4-C00862A7B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10179-53D6-2541-984B-2302772D1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A9576-B9E5-EC45-822F-70872F47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7FFFE-58EC-AD47-BCC4-79F7901E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1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A14A7-5367-6641-89B3-ED5206D4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EACD7-D93B-FE43-8595-62E80F9C1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CB0E1-F717-8543-8276-E0FF351BF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C43B9-2296-0545-AA12-2E6E33536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8FCBA-5B72-1847-A4B5-B5B6FBAE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64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917ED-B526-3741-9437-CAA67CD3D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CB9E6-61FE-0E4A-9EA7-A54AAE054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C00FF-8B7B-2849-8F0B-844EBBDCB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0EA24-2FF2-8645-B2F8-2B04E162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47AD9-32FD-5D40-8739-004AAA5C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8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CF550-CB93-6440-9E7D-1990C023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4B28-9891-9C48-BBF7-3FA840B14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933CE-EA8D-4D49-A832-CFE5A31CF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8EF8E-143E-4648-850C-FFE87BCD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E1F61-4260-9C4D-AB89-CE7BE42C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0F333-43E3-5847-B0EC-E9AB122D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8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806A-B7D2-7140-9436-1143278A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E6735-5C95-C54F-8E6D-915607B71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5059F-B372-DB48-B36F-AA1616F3B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6C662-5F07-F443-B63B-58577DB75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AC9D6-AFA3-A546-BB82-E3D4FE01C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A8E6B6-73E5-CA41-8BD4-041E50F46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D955FE-D63C-D841-944B-31661EB3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D28364-DF09-0447-BD31-D77CF631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9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A369-3332-8449-82FA-53904157D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4008B-3EEF-6E40-9202-C50512A3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30F60-22F5-CF4F-8300-0C23FA8D6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26F9C5-71CD-DF4D-87AE-1E560337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1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D5756-9533-5947-8AA4-A55E45B5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4A894-2BDD-664C-9734-01944B8EE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38AFC-927D-0E4C-8765-513AA32F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4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0B2AB-6FB0-3F4B-B296-90A3EB5B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6C93C-3293-7641-AEA6-C4007B00A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A7650-C748-FB4E-9BA6-288E3E3F4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EDD49-D3A1-B74F-A8BB-1077D7DC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82356-7C2E-8A4E-9BC3-2381AEED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408F6-B699-7C45-B509-8772F6DF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01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179F-7EA1-A64F-AA5A-4307727C6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14D99-0F9D-1849-B080-00CC58551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78331-B9EE-984C-BF89-C28E8A1BA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ECBAC-97ED-0B47-A77B-78F83C64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CB222-F7B7-A440-BD6A-F188B516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D5C41-6ADD-3445-9543-8CBA4F2CC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97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04409-47BD-B745-9631-8FBF6F0C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0928A-9CEF-C94B-9E3D-ECF41CE9C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DCF3C-E871-1246-AA8C-C00AA837E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2C893-02D2-3A40-92BD-4F289774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0ACCC-903D-8849-B627-3B3B1442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36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679AA-F95A-6C49-924E-ED19D1BA6F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B20FD-2E08-4D4E-ABFE-5B18E37C8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732CF-C083-EB49-AADB-8BF4409C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EBAD8-8AEC-6745-9184-44F30BB2B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D1102-6943-F445-BF9F-18E890F0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20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23C0AB1-DC1A-370D-2DBC-7F636C925F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685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rgbClr val="005BAA"/>
                </a:solidFill>
              </a:defRPr>
            </a:lvl1pPr>
          </a:lstStyle>
          <a:p>
            <a:r>
              <a:rPr lang="en-GB"/>
              <a:t>Content</a:t>
            </a:r>
            <a:endParaRPr lang="en-FR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E4AFEC8-D7E6-FB46-B2C8-3E1FF518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1451"/>
            <a:ext cx="9144000" cy="32269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721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/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796776-E13E-EE70-1024-61D0E548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Cover – Insert title</a:t>
            </a:r>
            <a:endParaRPr lang="en-FR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A33BDE-5827-B978-8782-68D8565E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3347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E42707-DAB0-9642-AB96-BCDAFE10A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C5FAD-B53E-A44E-ACCE-FA8671073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C309E-16C9-9949-AF70-5ED125810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EED87-2C30-6C46-8CD5-5737BBF046EB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5BAAE-3D1C-F24D-97C2-A7BE90B75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00EC8-E292-F447-B047-35F0458B2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1B117-5D75-FF4D-911A-5C22644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37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43E974-FF92-2065-59B5-7198AC9AFE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7" y="0"/>
            <a:ext cx="12474857" cy="7017488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C96D-DE28-DCBB-6A7D-6E7FC08F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WMO PPT Style #1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7825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cr-dvd.com/products/sony-slv-n700-vcr-4-head-hi-fi-stereo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gc.org/is/17-069r4/17-069r4.html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ogc.org/is/18-062r2/18-062r2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mo-im/wis2-grep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mo-im/wis2-grep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mo-im/wis2-champions/blob/main/Bali-workshop-MAR2026/presentations/day3/wis2-grep-exercise.md" TargetMode="Externa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41481-C6BF-C213-3477-846899AA2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2573798"/>
            <a:ext cx="10515600" cy="171040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WIS2 Global Replay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Deep Dive</a:t>
            </a:r>
            <a:br>
              <a:rPr lang="en-US" sz="44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2026-04-01</a:t>
            </a:r>
            <a:endParaRPr lang="fr-FR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B0E0F-8211-0250-7AA3-68D9023CFF33}"/>
              </a:ext>
            </a:extLst>
          </p:cNvPr>
          <p:cNvSpPr txBox="1"/>
          <p:nvPr/>
        </p:nvSpPr>
        <p:spPr>
          <a:xfrm>
            <a:off x="4328465" y="3469341"/>
            <a:ext cx="35350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Tom Kralidis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Senior Geospatial Architect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WIS 2.0, WIS 2.0 in a box</a:t>
            </a:r>
            <a:endParaRPr kumimoji="0" lang="en-CA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59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5EA0-6702-8368-073F-810D4EC9A1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9E261-4D31-6F0A-6EE8-70229C97B7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Requirement for a Global Replay Service (</a:t>
            </a:r>
            <a:r>
              <a:rPr lang="en-US" dirty="0" err="1"/>
              <a:t>GRep</a:t>
            </a:r>
            <a:r>
              <a:rPr lang="en-US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Component 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Technical considerations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Reference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9221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37B1538-CA7C-EC61-6F3A-EBEBD3328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13" y="0"/>
            <a:ext cx="9731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366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EC27E7E-5701-169B-9C04-B6A67279F1C4}"/>
              </a:ext>
            </a:extLst>
          </p:cNvPr>
          <p:cNvSpPr/>
          <p:nvPr/>
        </p:nvSpPr>
        <p:spPr>
          <a:xfrm>
            <a:off x="5733535" y="3880022"/>
            <a:ext cx="2397211" cy="1927654"/>
          </a:xfrm>
          <a:prstGeom prst="ellipse">
            <a:avLst/>
          </a:prstGeom>
          <a:solidFill>
            <a:srgbClr val="FF0000">
              <a:alpha val="1514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3CA764F-EFFE-F494-9ECA-09B4DCDEE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0"/>
            <a:ext cx="11655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771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CD17-5CC8-51D0-F7C2-A04516599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90D8-C7AA-41D2-8262-1F2733043A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Requirement for a Global Replay Service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BFF17-5D8C-DCE7-BA77-B349556164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Notification messages / monitoring events are emitted at time of publication to WIS2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Clients subscribed may encounter connection outages for a given period of time (i.e. 4 hours)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4 hours of messages lost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Diagnosing metadata 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retrieve?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 demand “replay” of notifications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B8410EF-4FCA-0D60-BE90-4007F4ACA1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01" b="28385"/>
          <a:stretch>
            <a:fillRect/>
          </a:stretch>
        </p:blipFill>
        <p:spPr bwMode="auto">
          <a:xfrm>
            <a:off x="6981566" y="4053016"/>
            <a:ext cx="2494005" cy="105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EE9774-751C-C898-3D51-432DC00F070F}"/>
              </a:ext>
            </a:extLst>
          </p:cNvPr>
          <p:cNvSpPr txBox="1"/>
          <p:nvPr/>
        </p:nvSpPr>
        <p:spPr>
          <a:xfrm>
            <a:off x="1708484" y="6256421"/>
            <a:ext cx="842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</a:t>
            </a:r>
            <a:r>
              <a:rPr lang="en-US" dirty="0">
                <a:hlinkClick r:id="rId3"/>
              </a:rPr>
              <a:t>vcr-dvd.com/products/sony-slv-n700-vcr-4-head-hi-fi-stereo</a:t>
            </a:r>
            <a:r>
              <a:rPr lang="en-US" dirty="0"/>
              <a:t> (2025-07-07)</a:t>
            </a:r>
          </a:p>
        </p:txBody>
      </p:sp>
    </p:spTree>
    <p:extLst>
      <p:ext uri="{BB962C8B-B14F-4D97-AF65-F5344CB8AC3E}">
        <p14:creationId xmlns:p14="http://schemas.microsoft.com/office/powerpoint/2010/main" val="4266839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6" y="5217160"/>
            <a:ext cx="2929597" cy="1640840"/>
          </a:xfrm>
          <a:prstGeom prst="rect">
            <a:avLst/>
          </a:prstGeom>
          <a:ln w="12700">
            <a:miter lim="400000"/>
          </a:ln>
        </p:spPr>
      </p:pic>
      <p:sp>
        <p:nvSpPr>
          <p:cNvPr id="185" name="The aim of a Global Replay is to provide access and subscription to past WIS Notification Messages.…"/>
          <p:cNvSpPr txBox="1"/>
          <p:nvPr/>
        </p:nvSpPr>
        <p:spPr>
          <a:xfrm>
            <a:off x="279131" y="816935"/>
            <a:ext cx="11633737" cy="6001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/>
          <a:p>
            <a:pPr defTabSz="457200">
              <a:defRPr sz="3600" b="1" i="1"/>
            </a:pPr>
            <a:r>
              <a:rPr sz="2400" dirty="0"/>
              <a:t>The aim of a Global Replay is to provide access and subscription to past WIS Notification Messages.</a:t>
            </a:r>
          </a:p>
          <a:p>
            <a:pPr defTabSz="457200">
              <a:defRPr sz="3600"/>
            </a:pPr>
            <a:endParaRPr sz="2400" dirty="0"/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400" dirty="0"/>
              <a:t>WIS2 may include a Global Replay.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400" dirty="0"/>
              <a:t>The Global Replay provides the Global Cache, Global Discovery Catalogue and data consumers with a mechanism to search, query and subscribe to past notification messages and monitoring events of interest as published by the Global Broker.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400" dirty="0"/>
              <a:t>A Global Replay subscribes to all notification messages and monitoring events as published by Global Broker. It stores the notification message and monitoring events.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400" dirty="0"/>
              <a:t>A Global Replay shall store copies of notification messages and monitoring events for a duration compatible with the real-time or near real-time schedule of the data and not less than:</a:t>
            </a:r>
          </a:p>
          <a:p>
            <a:pPr marL="370974" lvl="1" indent="-180474" defTabSz="457200">
              <a:buSzPct val="100000"/>
              <a:buChar char="•"/>
              <a:tabLst>
                <a:tab pos="114300" algn="l"/>
                <a:tab pos="228600" algn="l"/>
              </a:tabLst>
              <a:defRPr sz="3600"/>
            </a:pPr>
            <a:r>
              <a:rPr sz="2400" dirty="0"/>
              <a:t>3 days for notification messages.</a:t>
            </a:r>
          </a:p>
          <a:p>
            <a:pPr marL="370974" lvl="1" indent="-180474" defTabSz="457200">
              <a:buSzPct val="100000"/>
              <a:buChar char="•"/>
              <a:tabLst>
                <a:tab pos="114300" algn="l"/>
                <a:tab pos="228600" algn="l"/>
              </a:tabLst>
              <a:defRPr sz="3600"/>
            </a:pPr>
            <a:r>
              <a:rPr sz="2400" dirty="0"/>
              <a:t>7 days for monitoring events.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400" dirty="0"/>
              <a:t>A Global Replay will discard notification messages and monitoring events once the retention period has expired.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B50F6-1E7D-F119-3A45-E6CDB6A1AE34}"/>
              </a:ext>
            </a:extLst>
          </p:cNvPr>
          <p:cNvSpPr txBox="1">
            <a:spLocks/>
          </p:cNvSpPr>
          <p:nvPr/>
        </p:nvSpPr>
        <p:spPr>
          <a:xfrm>
            <a:off x="2481943" y="131763"/>
            <a:ext cx="9144000" cy="685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Component definition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6" y="5217160"/>
            <a:ext cx="2929597" cy="1640840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The Global Replay provides Global Services and data consumers with a mechanism to search, query and subscribe to notification messages and monitoring events of interest.…"/>
          <p:cNvSpPr txBox="1"/>
          <p:nvPr/>
        </p:nvSpPr>
        <p:spPr>
          <a:xfrm>
            <a:off x="306254" y="1348747"/>
            <a:ext cx="11579492" cy="4278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/>
          <a:p>
            <a:pPr marL="170447" indent="-170447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1700" dirty="0"/>
              <a:t>The Global Replay provides Global Services and data consumers with a mechanism to search, query and subscribe to notification messages and monitoring events of interest.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 dirty="0"/>
              <a:t>The Global Replay implements the </a:t>
            </a:r>
            <a:r>
              <a:rPr sz="1700" u="sng" dirty="0">
                <a:hlinkClick r:id="rId3"/>
              </a:rPr>
              <a:t>OGC API – Features – Part 1: Core standard</a:t>
            </a:r>
            <a:r>
              <a:rPr sz="1700" dirty="0"/>
              <a:t>, adhering to the following conformance classes and their dependencies:</a:t>
            </a:r>
          </a:p>
          <a:p>
            <a:pPr marL="370974" lvl="1" indent="-180474" defTabSz="457200">
              <a:buSzPct val="100000"/>
              <a:buChar char="•"/>
              <a:tabLst>
                <a:tab pos="114300" algn="l"/>
                <a:tab pos="228600" algn="l"/>
              </a:tabLst>
              <a:defRPr sz="3400"/>
            </a:pPr>
            <a:r>
              <a:rPr sz="1700" dirty="0"/>
              <a:t>Core</a:t>
            </a:r>
          </a:p>
          <a:p>
            <a:pPr marL="370974" lvl="1" indent="-180474" defTabSz="457200">
              <a:buSzPct val="100000"/>
              <a:buChar char="•"/>
              <a:tabLst>
                <a:tab pos="114300" algn="l"/>
                <a:tab pos="228600" algn="l"/>
              </a:tabLst>
              <a:defRPr sz="3400"/>
            </a:pPr>
            <a:r>
              <a:rPr sz="1700" dirty="0" err="1"/>
              <a:t>GeoJSON</a:t>
            </a:r>
            <a:endParaRPr sz="1700" dirty="0"/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 dirty="0"/>
              <a:t>The Global Replay implements the </a:t>
            </a:r>
            <a:r>
              <a:rPr sz="1700" u="sng" dirty="0">
                <a:hlinkClick r:id="rId4"/>
              </a:rPr>
              <a:t>OGC API – Processes - Part 1: Core standard</a:t>
            </a:r>
            <a:r>
              <a:rPr sz="1700" dirty="0"/>
              <a:t>, adhering to the following conformance classes and their dependencies:</a:t>
            </a:r>
          </a:p>
          <a:p>
            <a:pPr marL="370974" lvl="1" indent="-180474" defTabSz="457200">
              <a:buSzPct val="100000"/>
              <a:buChar char="•"/>
              <a:tabLst>
                <a:tab pos="114300" algn="l"/>
                <a:tab pos="228600" algn="l"/>
              </a:tabLst>
              <a:defRPr sz="3400"/>
            </a:pPr>
            <a:r>
              <a:rPr sz="1700" dirty="0"/>
              <a:t>Core</a:t>
            </a:r>
          </a:p>
          <a:p>
            <a:pPr marL="370974" lvl="1" indent="-180474" defTabSz="457200">
              <a:buSzPct val="100000"/>
              <a:buChar char="•"/>
              <a:tabLst>
                <a:tab pos="114300" algn="l"/>
                <a:tab pos="228600" algn="l"/>
              </a:tabLst>
              <a:defRPr sz="3400"/>
            </a:pPr>
            <a:r>
              <a:rPr sz="1700" dirty="0"/>
              <a:t>OGC Process Description</a:t>
            </a:r>
          </a:p>
          <a:p>
            <a:pPr marL="370974" lvl="1" indent="-180474" defTabSz="457200">
              <a:buSzPct val="100000"/>
              <a:buChar char="•"/>
              <a:tabLst>
                <a:tab pos="114300" algn="l"/>
                <a:tab pos="228600" algn="l"/>
              </a:tabLst>
              <a:defRPr sz="3400"/>
            </a:pPr>
            <a:r>
              <a:rPr sz="1700" dirty="0"/>
              <a:t>JSON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 dirty="0"/>
              <a:t>A Global Replay shall subscribe to all Global Broker instances, to the topics </a:t>
            </a:r>
            <a:r>
              <a:rPr sz="1700" dirty="0">
                <a:latin typeface="Courier New"/>
                <a:ea typeface="Courier New"/>
                <a:cs typeface="Courier New"/>
                <a:sym typeface="Courier New"/>
              </a:rPr>
              <a:t>origin/a/wis2/#</a:t>
            </a:r>
            <a:r>
              <a:rPr sz="1700" dirty="0"/>
              <a:t>, </a:t>
            </a:r>
            <a:r>
              <a:rPr sz="1700" dirty="0">
                <a:latin typeface="Courier New"/>
                <a:ea typeface="Courier New"/>
                <a:cs typeface="Courier New"/>
                <a:sym typeface="Courier New"/>
              </a:rPr>
              <a:t>cache/a/wis2/#</a:t>
            </a:r>
            <a:r>
              <a:rPr sz="1700" dirty="0"/>
              <a:t> and </a:t>
            </a:r>
            <a:r>
              <a:rPr sz="1700" dirty="0">
                <a:latin typeface="Courier New"/>
                <a:ea typeface="Courier New"/>
                <a:cs typeface="Courier New"/>
                <a:sym typeface="Courier New"/>
              </a:rPr>
              <a:t>monitor/a/wis2/#</a:t>
            </a:r>
            <a:r>
              <a:rPr sz="1700" dirty="0"/>
              <a:t>.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 dirty="0"/>
              <a:t>A Global Replay shall use the notification message and monitoring event identifier to deduplicate notifications and events.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 dirty="0"/>
              <a:t>The Global Replay will make notification messages available via the API collection identifier wis2-notification-messages.</a:t>
            </a:r>
          </a:p>
          <a:p>
            <a:pPr marL="170447" indent="-170447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1700" dirty="0"/>
              <a:t>The Global Replay will make monitoring events available via the API collection identifier wis2-monitoring-events.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068DA7-BFDB-6481-F5E9-AE4EF15BC82C}"/>
              </a:ext>
            </a:extLst>
          </p:cNvPr>
          <p:cNvSpPr txBox="1">
            <a:spLocks/>
          </p:cNvSpPr>
          <p:nvPr/>
        </p:nvSpPr>
        <p:spPr>
          <a:xfrm>
            <a:off x="2481943" y="131763"/>
            <a:ext cx="9144000" cy="685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Technical considerations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6" y="5217160"/>
            <a:ext cx="2929597" cy="1640840"/>
          </a:xfrm>
          <a:prstGeom prst="rect">
            <a:avLst/>
          </a:prstGeom>
          <a:ln w="12700">
            <a:miter lim="400000"/>
          </a:ln>
        </p:spPr>
      </p:pic>
      <p:sp>
        <p:nvSpPr>
          <p:cNvPr id="195" name="The Global Replay will provide an API process to trigger the republication of previously sent messages, allowing users to subscribe to messages with various criteria (spatial and / or temporal extent, topic selection) via the Global Broker.…"/>
          <p:cNvSpPr txBox="1"/>
          <p:nvPr/>
        </p:nvSpPr>
        <p:spPr>
          <a:xfrm>
            <a:off x="295224" y="902433"/>
            <a:ext cx="11601552" cy="5324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/>
          <a:p>
            <a:pPr marL="110290" indent="-110290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000" dirty="0"/>
              <a:t>The Global Replay will provide an API process to trigger the republication of previously sent messages, allowing users to subscribe to messages with various criteria (spatial and / or temporal extent, topic selection) via the Global Broker.</a:t>
            </a:r>
          </a:p>
          <a:p>
            <a:pPr marL="300789" lvl="1" indent="-110289" defTabSz="457200">
              <a:buSzPct val="100000"/>
              <a:buChar char="•"/>
              <a:tabLst>
                <a:tab pos="114300" algn="l"/>
                <a:tab pos="228600" algn="l"/>
              </a:tabLst>
              <a:defRPr sz="3600"/>
            </a:pPr>
            <a:r>
              <a:rPr sz="2000" dirty="0"/>
              <a:t>the API process request accepts the following inputs:</a:t>
            </a:r>
          </a:p>
          <a:p>
            <a:pPr marL="491289" lvl="2" indent="-110289" defTabSz="457200">
              <a:buSzPct val="100000"/>
              <a:buChar char="•"/>
              <a:tabLst>
                <a:tab pos="228600" algn="l"/>
                <a:tab pos="342900" algn="l"/>
              </a:tabLst>
              <a:defRPr sz="3600"/>
            </a:pP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datetime</a:t>
            </a:r>
            <a:r>
              <a:rPr sz="2000" dirty="0"/>
              <a:t>: a temporal range of messages to republish (example </a:t>
            </a: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2025-04-06T17:21:26Z/2025-04-06T19:21:26Z</a:t>
            </a:r>
            <a:r>
              <a:rPr sz="2000" dirty="0"/>
              <a:t>).</a:t>
            </a:r>
          </a:p>
          <a:p>
            <a:pPr marL="491289" lvl="2" indent="-110289" defTabSz="457200">
              <a:buSzPct val="100000"/>
              <a:buChar char="•"/>
              <a:tabLst>
                <a:tab pos="228600" algn="l"/>
                <a:tab pos="342900" algn="l"/>
              </a:tabLst>
              <a:defRPr sz="3600"/>
            </a:pP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subscriber-id</a:t>
            </a:r>
            <a:r>
              <a:rPr sz="2000" dirty="0"/>
              <a:t>: a unique identifier (UUID) defined by the user/client. This identifier may be reused.</a:t>
            </a:r>
          </a:p>
          <a:p>
            <a:pPr marL="491289" lvl="2" indent="-110289" defTabSz="457200">
              <a:buSzPct val="100000"/>
              <a:buChar char="•"/>
              <a:tabLst>
                <a:tab pos="228600" algn="l"/>
                <a:tab pos="342900" algn="l"/>
              </a:tabLst>
              <a:defRPr sz="3600"/>
            </a:pP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topic</a:t>
            </a:r>
            <a:r>
              <a:rPr sz="2000" dirty="0"/>
              <a:t>: the topic on which to trigger message replication (</a:t>
            </a:r>
            <a:r>
              <a:rPr sz="2000" dirty="0" err="1"/>
              <a:t>centre</a:t>
            </a:r>
            <a:r>
              <a:rPr sz="2000" dirty="0"/>
              <a:t>-id required, allowing + and # for subsequent topic levels)</a:t>
            </a:r>
          </a:p>
          <a:p>
            <a:pPr marL="300789" lvl="1" indent="-110289" defTabSz="457200">
              <a:buSzPct val="100000"/>
              <a:buChar char="•"/>
              <a:tabLst>
                <a:tab pos="114300" algn="l"/>
                <a:tab pos="228600" algn="l"/>
              </a:tabLst>
              <a:defRPr sz="3600"/>
            </a:pPr>
            <a:r>
              <a:rPr sz="2000" dirty="0"/>
              <a:t>the resulting topic subscription in the API process response will be r</a:t>
            </a: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eplay/a/wis2/&lt;</a:t>
            </a:r>
            <a:r>
              <a:rPr sz="2000" dirty="0" err="1">
                <a:latin typeface="Courier New"/>
                <a:ea typeface="Courier New"/>
                <a:cs typeface="Courier New"/>
                <a:sym typeface="Courier New"/>
              </a:rPr>
              <a:t>centre</a:t>
            </a: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-id&gt;/&lt;subscriber-id&gt;/&lt;topic&gt;</a:t>
            </a:r>
            <a:r>
              <a:rPr sz="2000" dirty="0"/>
              <a:t>, where:</a:t>
            </a:r>
          </a:p>
          <a:p>
            <a:pPr marL="491289" lvl="2" indent="-110289" defTabSz="457200">
              <a:buSzPct val="100000"/>
              <a:buChar char="•"/>
              <a:tabLst>
                <a:tab pos="228600" algn="l"/>
                <a:tab pos="342900" algn="l"/>
              </a:tabLst>
              <a:defRPr sz="3600"/>
            </a:pPr>
            <a:r>
              <a:rPr sz="2000" dirty="0"/>
              <a:t>topic is the full topic of the message as previously published to WIS2.</a:t>
            </a:r>
          </a:p>
          <a:p>
            <a:pPr marL="300789" lvl="1" indent="-110289" defTabSz="457200">
              <a:buSzPct val="100000"/>
              <a:buChar char="•"/>
              <a:tabLst>
                <a:tab pos="114300" algn="l"/>
                <a:tab pos="228600" algn="l"/>
              </a:tabLst>
              <a:defRPr sz="3600"/>
            </a:pPr>
            <a:r>
              <a:rPr sz="2000" dirty="0"/>
              <a:t>the API process will set temporal boundary limits to 15 minutes. When exceeded, it will result in an error message prohibiting the republishing of messages.</a:t>
            </a:r>
          </a:p>
          <a:p>
            <a:pPr marL="300789" lvl="1" indent="-110289" defTabSz="457200">
              <a:buSzPct val="100000"/>
              <a:buChar char="•"/>
              <a:tabLst>
                <a:tab pos="114300" algn="l"/>
                <a:tab pos="228600" algn="l"/>
              </a:tabLst>
              <a:defRPr sz="3600"/>
            </a:pPr>
            <a:r>
              <a:rPr sz="2000" dirty="0"/>
              <a:t>an example topic would be </a:t>
            </a: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replay/a/wis2/ca-</a:t>
            </a:r>
            <a:r>
              <a:rPr sz="2000" dirty="0" err="1">
                <a:latin typeface="Courier New"/>
                <a:ea typeface="Courier New"/>
                <a:cs typeface="Courier New"/>
                <a:sym typeface="Courier New"/>
              </a:rPr>
              <a:t>eccc</a:t>
            </a: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sz="2000" dirty="0" err="1">
                <a:latin typeface="Courier New"/>
                <a:ea typeface="Courier New"/>
                <a:cs typeface="Courier New"/>
                <a:sym typeface="Courier New"/>
              </a:rPr>
              <a:t>msc</a:t>
            </a: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-global-replay/fdb6dae4-95fe-465a-80fb-498ebd61dce8/cache/a/wis2/</a:t>
            </a:r>
            <a:r>
              <a:rPr sz="2000" dirty="0" err="1">
                <a:latin typeface="Courier New"/>
                <a:ea typeface="Courier New"/>
                <a:cs typeface="Courier New"/>
                <a:sym typeface="Courier New"/>
              </a:rPr>
              <a:t>br-inmet</a:t>
            </a:r>
            <a:r>
              <a:rPr sz="2000" dirty="0">
                <a:latin typeface="Courier New"/>
                <a:ea typeface="Courier New"/>
                <a:cs typeface="Courier New"/>
                <a:sym typeface="Courier New"/>
              </a:rPr>
              <a:t>/data/core/weather/surface-based-observations/</a:t>
            </a:r>
            <a:r>
              <a:rPr sz="2000" dirty="0" err="1">
                <a:latin typeface="Courier New"/>
                <a:ea typeface="Courier New"/>
                <a:cs typeface="Courier New"/>
                <a:sym typeface="Courier New"/>
              </a:rPr>
              <a:t>synop</a:t>
            </a:r>
            <a:endParaRPr sz="20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6AFC-B502-CB2E-37F4-D0DAE5D31CEA}"/>
              </a:ext>
            </a:extLst>
          </p:cNvPr>
          <p:cNvSpPr txBox="1">
            <a:spLocks/>
          </p:cNvSpPr>
          <p:nvPr/>
        </p:nvSpPr>
        <p:spPr>
          <a:xfrm>
            <a:off x="2481943" y="131763"/>
            <a:ext cx="9144000" cy="685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Technical considerations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6" y="5217160"/>
            <a:ext cx="2929597" cy="1640840"/>
          </a:xfrm>
          <a:prstGeom prst="rect">
            <a:avLst/>
          </a:prstGeom>
          <a:ln w="12700">
            <a:miter lim="400000"/>
          </a:ln>
        </p:spPr>
      </p:pic>
      <p:sp>
        <p:nvSpPr>
          <p:cNvPr id="200" name="A single Global Replay instance is sufficient for WIS2.…"/>
          <p:cNvSpPr txBox="1"/>
          <p:nvPr/>
        </p:nvSpPr>
        <p:spPr>
          <a:xfrm>
            <a:off x="290074" y="1226236"/>
            <a:ext cx="11611853" cy="4278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/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A single Global Replay instance is sufficient for WIS2.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Multiple Global Replay instances may be deployed for resilience.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Global Replay instances operate independently of each other; each Global Replay instance will hold notification messages and monitoring events according to the required retention period. Global Replays do not need to synchronize with each other.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A Global Replay is populated with notification messages and monitoring events received via a Global Broker instance.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A Global Replay is connected to at least two (2) Global Brokers.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A Global Replay instance will discard duplicate messages as needed.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A Global Replay can validate notification messages against the standard format (see </a:t>
            </a:r>
            <a:r>
              <a:rPr sz="1700" i="1"/>
              <a:t>Manual on WIS</a:t>
            </a:r>
            <a:r>
              <a:rPr sz="1700"/>
              <a:t>, Volume II – Appendix E. WIS2 Notification Message). Valid messages will be stored. Invalid or malformed messages will be discarded.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A Global Replay can validate monitoring events against the WIS Monitoring Events Message Encoding (see </a:t>
            </a:r>
            <a:r>
              <a:rPr sz="1700" i="1"/>
              <a:t>Manual on WIS</a:t>
            </a:r>
            <a:r>
              <a:rPr sz="1700"/>
              <a:t>, Volume II – Appendix TODO. WIS2 Monitoring Events Message Encoding). Valid WIS Monitoring Events Message Encoding Messages will be stored. Invalid or malformed monitoring events will be discarded.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A Global Replay will remove notification messages after the required retention period.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A Global Replay will remove monitoring events after the required retention period.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A Global Replay may choose to implement access control for controlling usage.</a:t>
            </a:r>
          </a:p>
          <a:p>
            <a:pPr marL="110289" indent="-110289" defTabSz="457200">
              <a:buSzPct val="100000"/>
              <a:buChar char="•"/>
              <a:tabLst>
                <a:tab pos="12700" algn="l"/>
                <a:tab pos="114300" algn="l"/>
              </a:tabLst>
              <a:defRPr sz="3400"/>
            </a:pPr>
            <a:r>
              <a:rPr sz="1700"/>
              <a:t>As a convention Global Replay centre-id will be </a:t>
            </a:r>
            <a:r>
              <a:rPr sz="1700">
                <a:latin typeface="Courier New"/>
                <a:ea typeface="Courier New"/>
                <a:cs typeface="Courier New"/>
                <a:sym typeface="Courier New"/>
              </a:rPr>
              <a:t>tld-{centre-name}-global-replay</a:t>
            </a:r>
            <a:r>
              <a:rPr sz="170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B8D61-F53F-7B64-3B95-74AB558CCC0A}"/>
              </a:ext>
            </a:extLst>
          </p:cNvPr>
          <p:cNvSpPr txBox="1">
            <a:spLocks/>
          </p:cNvSpPr>
          <p:nvPr/>
        </p:nvSpPr>
        <p:spPr>
          <a:xfrm>
            <a:off x="2481943" y="131763"/>
            <a:ext cx="9144000" cy="685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Technical considerations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6" y="5217160"/>
            <a:ext cx="2929597" cy="1640840"/>
          </a:xfrm>
          <a:prstGeom prst="rect">
            <a:avLst/>
          </a:prstGeom>
          <a:ln w="12700">
            <a:miter lim="400000"/>
          </a:ln>
        </p:spPr>
      </p:pic>
      <p:sp>
        <p:nvSpPr>
          <p:cNvPr id="204" name="3.2.1.3 Global Replay Reference Implementation: wis2-grep…"/>
          <p:cNvSpPr txBox="1"/>
          <p:nvPr/>
        </p:nvSpPr>
        <p:spPr>
          <a:xfrm>
            <a:off x="258343" y="800786"/>
            <a:ext cx="11675314" cy="6001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45720" bIns="45720">
            <a:spAutoFit/>
          </a:bodyPr>
          <a:lstStyle/>
          <a:p>
            <a:pPr defTabSz="457200">
              <a:defRPr sz="3600"/>
            </a:pPr>
            <a:r>
              <a:rPr sz="2400" dirty="0"/>
              <a:t>To provide a Global Replay, members may use whichever software components they consider most appropriate to comply with WIS2 Technical Regulations.</a:t>
            </a:r>
          </a:p>
          <a:p>
            <a:pPr defTabSz="457200">
              <a:defRPr sz="3600"/>
            </a:pPr>
            <a:r>
              <a:rPr sz="2400" dirty="0"/>
              <a:t>To assist Members participation in WIS2, a free and open-source Global Replay Reference Implementation is made available for download and use. wis2-grep builds on mature and robust free and open-source software components that are widely adopted for operational use.</a:t>
            </a:r>
          </a:p>
          <a:p>
            <a:pPr defTabSz="457200">
              <a:defRPr sz="3600"/>
            </a:pPr>
            <a:r>
              <a:rPr sz="2400" dirty="0"/>
              <a:t>wis2-grep provides functionality required for the Global Replay, providing the following technical functions: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400" dirty="0"/>
              <a:t>notification messages and monitoring event subscription from a Global Broker </a:t>
            </a:r>
            <a:r>
              <a:rPr sz="2400" dirty="0" err="1"/>
              <a:t>insrtance</a:t>
            </a:r>
            <a:endParaRPr sz="2400" dirty="0"/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400" dirty="0"/>
              <a:t>notification message and monitoring event ingest and API publication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400" dirty="0"/>
              <a:t>user defined subscription for MQTT message replay from a Global Broker instance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400" dirty="0"/>
              <a:t>OGC API - Features - Part 1: Core compliance</a:t>
            </a:r>
          </a:p>
          <a:p>
            <a:pPr marL="180474" indent="-180474" defTabSz="457200">
              <a:buSzPct val="100000"/>
              <a:buChar char="•"/>
              <a:tabLst>
                <a:tab pos="12700" algn="l"/>
                <a:tab pos="114300" algn="l"/>
              </a:tabLst>
              <a:defRPr sz="3600"/>
            </a:pPr>
            <a:r>
              <a:rPr sz="2400" dirty="0"/>
              <a:t>OGC API - Processes - Part 1: Core compliance</a:t>
            </a:r>
          </a:p>
          <a:p>
            <a:pPr defTabSz="457200">
              <a:defRPr sz="3600"/>
            </a:pPr>
            <a:endParaRPr sz="2400" dirty="0"/>
          </a:p>
          <a:p>
            <a:pPr defTabSz="457200">
              <a:defRPr sz="3600"/>
            </a:pPr>
            <a:r>
              <a:rPr sz="2400" dirty="0"/>
              <a:t>wis2-grep is managed as a free and open source project. Source code, issue tracking and discussions are hosted in the open on GitHub: </a:t>
            </a:r>
            <a:r>
              <a:rPr sz="2400" u="sng" dirty="0">
                <a:hlinkClick r:id="rId3"/>
              </a:rPr>
              <a:t>https://github.com/wmo-im/wis2-grep</a:t>
            </a:r>
            <a:r>
              <a:rPr sz="240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9B3126-6B48-A86E-16AF-6541DF4504DD}"/>
              </a:ext>
            </a:extLst>
          </p:cNvPr>
          <p:cNvSpPr txBox="1">
            <a:spLocks/>
          </p:cNvSpPr>
          <p:nvPr/>
        </p:nvSpPr>
        <p:spPr>
          <a:xfrm>
            <a:off x="2481943" y="131763"/>
            <a:ext cx="9144000" cy="68517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wis2-grep: the WIS2 </a:t>
            </a:r>
            <a:r>
              <a:rPr lang="en-US" dirty="0" err="1"/>
              <a:t>GRep</a:t>
            </a:r>
            <a:r>
              <a:rPr lang="en-US" dirty="0"/>
              <a:t> RI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4620C-AE6A-B915-2749-75341B66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8E70-9276-2042-14E5-1167BD99D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6817"/>
            <a:ext cx="9144000" cy="685172"/>
          </a:xfrm>
        </p:spPr>
        <p:txBody>
          <a:bodyPr/>
          <a:lstStyle/>
          <a:p>
            <a:r>
              <a:rPr lang="en-US" dirty="0"/>
              <a:t>WIS2 </a:t>
            </a:r>
            <a:r>
              <a:rPr lang="en-US" dirty="0" err="1"/>
              <a:t>GRep</a:t>
            </a:r>
            <a:r>
              <a:rPr lang="en-US" dirty="0"/>
              <a:t> Technical considerations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84516-B0AB-DFFD-B212-121B2085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5" y="1155357"/>
            <a:ext cx="7772400" cy="2940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C46C9B-0825-7DBD-909C-36249FA4E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845" y="1155357"/>
            <a:ext cx="7772400" cy="530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3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DD449-BB47-16F2-4267-02CA9E6C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5C0C-D38B-5033-EF31-BABC90D554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Reference Implementation: wis2-grep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BCC10-9D97-4D71-7ED6-5224D91F0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799" y="2041451"/>
            <a:ext cx="10804359" cy="4166844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3600" dirty="0"/>
              <a:t>Docker Compose stack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800" dirty="0" err="1">
                <a:cs typeface="Courier New" panose="02070309020205020404" pitchFamily="49" charset="0"/>
              </a:rPr>
              <a:t>pygeoapi</a:t>
            </a:r>
            <a:endParaRPr lang="en-US" sz="2800" dirty="0">
              <a:cs typeface="Courier New" panose="02070309020205020404" pitchFamily="49" charset="0"/>
            </a:endParaRP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Elasticsearch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800" dirty="0" err="1">
                <a:cs typeface="Courier New" panose="02070309020205020404" pitchFamily="49" charset="0"/>
              </a:rPr>
              <a:t>Mosquitto</a:t>
            </a:r>
            <a:endParaRPr lang="en-US" sz="2800" dirty="0">
              <a:cs typeface="Courier New" panose="02070309020205020404" pitchFamily="49" charset="0"/>
            </a:endParaRP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</a:rPr>
              <a:t>Python</a:t>
            </a: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2600" dirty="0" err="1">
                <a:cs typeface="Courier New" panose="02070309020205020404" pitchFamily="49" charset="0"/>
              </a:rPr>
              <a:t>pywis-pubsub</a:t>
            </a:r>
            <a:endParaRPr lang="en-US" sz="2600" dirty="0">
              <a:cs typeface="Courier New" panose="02070309020205020404" pitchFamily="49" charset="0"/>
            </a:endParaRP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2600" dirty="0" err="1">
                <a:cs typeface="Courier New" panose="02070309020205020404" pitchFamily="49" charset="0"/>
              </a:rPr>
              <a:t>OWSLib</a:t>
            </a:r>
            <a:endParaRPr lang="en-US" sz="2600" dirty="0">
              <a:cs typeface="Courier New" panose="02070309020205020404" pitchFamily="49" charset="0"/>
            </a:endParaRP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cs typeface="Courier New" panose="02070309020205020404" pitchFamily="49" charset="0"/>
                <a:hlinkClick r:id="rId2"/>
              </a:rPr>
              <a:t>github.com/wmo-im/wis2-grep</a:t>
            </a:r>
            <a:endParaRPr lang="en-US" sz="28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824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IS2 Global Replay Service C4 component diagram">
            <a:extLst>
              <a:ext uri="{FF2B5EF4-FFF2-40B4-BE49-F238E27FC236}">
                <a16:creationId xmlns:a16="http://schemas.microsoft.com/office/drawing/2014/main" id="{AFAE1C8A-60A9-98A1-5F45-3F40A330E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988" y="0"/>
            <a:ext cx="9850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138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C46FE-9AD2-E76C-97CD-5F31680AF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C6E3230D-48CC-C346-4380-FDAEA8A5537B}"/>
              </a:ext>
            </a:extLst>
          </p:cNvPr>
          <p:cNvSpPr/>
          <p:nvPr/>
        </p:nvSpPr>
        <p:spPr>
          <a:xfrm>
            <a:off x="251382" y="1987567"/>
            <a:ext cx="11940618" cy="48704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B974F2-832D-1028-2E18-8A68BD9A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5414" y="0"/>
            <a:ext cx="12267414" cy="791852"/>
          </a:xfrm>
          <a:solidFill>
            <a:srgbClr val="004F9F"/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wis2-grep exercise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24641-A827-CF36-823D-68A4C0B355C3}"/>
              </a:ext>
            </a:extLst>
          </p:cNvPr>
          <p:cNvSpPr txBox="1"/>
          <p:nvPr/>
        </p:nvSpPr>
        <p:spPr>
          <a:xfrm>
            <a:off x="377073" y="791852"/>
            <a:ext cx="116892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Follow steps 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hlinkClick r:id="rId2"/>
              </a:rPr>
              <a:t>github.com/wmo-im/wis2-champions/blob/main/Bali-workshop-MAR2026/presentations/day3/wis2-grep-exercise.md</a:t>
            </a:r>
            <a:endParaRPr lang="en-CA" dirty="0"/>
          </a:p>
          <a:p>
            <a:pPr lvl="1"/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sz="2000" dirty="0"/>
          </a:p>
        </p:txBody>
      </p:sp>
      <p:sp>
        <p:nvSpPr>
          <p:cNvPr id="47" name="AutoShape 4">
            <a:extLst>
              <a:ext uri="{FF2B5EF4-FFF2-40B4-BE49-F238E27FC236}">
                <a16:creationId xmlns:a16="http://schemas.microsoft.com/office/drawing/2014/main" id="{22D4EA8C-672D-05A1-EBBE-40EE4B5412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86326" y="321445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H"/>
          </a:p>
        </p:txBody>
      </p:sp>
      <p:sp>
        <p:nvSpPr>
          <p:cNvPr id="49" name="AutoShape 4">
            <a:extLst>
              <a:ext uri="{FF2B5EF4-FFF2-40B4-BE49-F238E27FC236}">
                <a16:creationId xmlns:a16="http://schemas.microsoft.com/office/drawing/2014/main" id="{A8CAB8F5-8EBC-13AA-EF27-2953513D4A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16793" y="321963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17579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A28B-339C-72E2-024A-193EBA3D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19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FR" sz="6000" b="1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Thank you</a:t>
            </a:r>
            <a:endParaRPr lang="en-FR" sz="6000" b="1" dirty="0">
              <a:solidFill>
                <a:schemeClr val="bg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72FBD4-668B-EB1A-B593-B2BE34336172}"/>
              </a:ext>
            </a:extLst>
          </p:cNvPr>
          <p:cNvSpPr txBox="1"/>
          <p:nvPr/>
        </p:nvSpPr>
        <p:spPr>
          <a:xfrm>
            <a:off x="3824879" y="5950894"/>
            <a:ext cx="4542242" cy="523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ctr" rtl="0">
              <a:lnSpc>
                <a:spcPct val="150000"/>
              </a:lnSpc>
            </a:pPr>
            <a:r>
              <a:rPr lang="en-US" sz="3200" b="0" i="0" u="none" strike="noStrike" baseline="300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wmo.int</a:t>
            </a:r>
          </a:p>
        </p:txBody>
      </p:sp>
    </p:spTree>
    <p:extLst>
      <p:ext uri="{BB962C8B-B14F-4D97-AF65-F5344CB8AC3E}">
        <p14:creationId xmlns:p14="http://schemas.microsoft.com/office/powerpoint/2010/main" val="2600864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F6497A16C24847AD78F11B87F7D548" ma:contentTypeVersion="16" ma:contentTypeDescription="Create a new document." ma:contentTypeScope="" ma:versionID="b24a09ef88d31fe2c332dfc9acf6ef94">
  <xsd:schema xmlns:xsd="http://www.w3.org/2001/XMLSchema" xmlns:xs="http://www.w3.org/2001/XMLSchema" xmlns:p="http://schemas.microsoft.com/office/2006/metadata/properties" xmlns:ns2="0238f0ac-9b23-40a1-9bea-3608b3f97744" xmlns:ns3="9dd362d0-63f2-4e3c-ac06-664d054c738d" targetNamespace="http://schemas.microsoft.com/office/2006/metadata/properties" ma:root="true" ma:fieldsID="7541654dec875a3a88b8e896f4da81bb" ns2:_="" ns3:_="">
    <xsd:import namespace="0238f0ac-9b23-40a1-9bea-3608b3f97744"/>
    <xsd:import namespace="9dd362d0-63f2-4e3c-ac06-664d054c738d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_dlc_DocId" minOccurs="0"/>
                <xsd:element ref="ns3:_dlc_DocIdUrl" minOccurs="0"/>
                <xsd:element ref="ns3:_dlc_DocIdPersistId" minOccurs="0"/>
                <xsd:element ref="ns2:ImageMetadataListItemId" minOccurs="0"/>
                <xsd:element ref="ns2:ImageMetadataListFieldId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38f0ac-9b23-40a1-9bea-3608b3f9774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92a3b380-abf6-46f2-87bb-c2c114de1c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ImageMetadataListItemId" ma:index="20" nillable="true" ma:displayName="ImageMetadataListItemId" ma:hidden="true" ma:indexed="true" ma:internalName="ImageMetadataListItemId">
      <xsd:simpleType>
        <xsd:restriction base="dms:Unknown"/>
      </xsd:simpleType>
    </xsd:element>
    <xsd:element name="ImageMetadataListFieldId" ma:index="21" nillable="true" ma:displayName="ImageMetadataListFieldId" ma:hidden="true" ma:indexed="true" ma:internalName="ImageMetadataListFieldId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d362d0-63f2-4e3c-ac06-664d054c738d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b17dc8f-c558-43f2-ab9d-5ed955ab729e}" ma:internalName="TaxCatchAll" ma:showField="CatchAllData" ma:web="9dd362d0-63f2-4e3c-ac06-664d054c7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17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18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9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MetadataListFieldId xmlns="0238f0ac-9b23-40a1-9bea-3608b3f97744" xsi:nil="true"/>
    <_dlc_DocId xmlns="9dd362d0-63f2-4e3c-ac06-664d054c738d">WMOOMM-1555984692-689</_dlc_DocId>
    <TaxCatchAll xmlns="9dd362d0-63f2-4e3c-ac06-664d054c738d" xsi:nil="true"/>
    <lcf76f155ced4ddcb4097134ff3c332f xmlns="0238f0ac-9b23-40a1-9bea-3608b3f97744">
      <Terms xmlns="http://schemas.microsoft.com/office/infopath/2007/PartnerControls"/>
    </lcf76f155ced4ddcb4097134ff3c332f>
    <ImageMetadataListItemId xmlns="0238f0ac-9b23-40a1-9bea-3608b3f97744" xsi:nil="true"/>
    <_dlc_DocIdUrl xmlns="9dd362d0-63f2-4e3c-ac06-664d054c738d">
      <Url>https://wmoomm.sharepoint.com/sites/Hub/_layouts/15/DocIdRedir.aspx?ID=WMOOMM-1555984692-689</Url>
      <Description>WMOOMM-1555984692-689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EF1A46-B682-40F7-BBC5-399330EB74E6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9A07A5B3-48F2-4A82-B805-E2035ABF9C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38f0ac-9b23-40a1-9bea-3608b3f97744"/>
    <ds:schemaRef ds:uri="9dd362d0-63f2-4e3c-ac06-664d054c73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BA3B44-D623-4C2A-AA23-C7D80C044A73}">
  <ds:schemaRefs>
    <ds:schemaRef ds:uri="0238f0ac-9b23-40a1-9bea-3608b3f97744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9dd362d0-63f2-4e3c-ac06-664d054c738d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5E565FD8-2DDA-4874-A528-7291DA8AE3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3459</TotalTime>
  <Words>1128</Words>
  <Application>Microsoft Macintosh PowerPoint</Application>
  <PresentationFormat>Widescreen</PresentationFormat>
  <Paragraphs>89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Courier New</vt:lpstr>
      <vt:lpstr>Office Theme</vt:lpstr>
      <vt:lpstr>1_Office Theme</vt:lpstr>
      <vt:lpstr>WIS2 Global Replay Deep Dive      2026-04-01</vt:lpstr>
      <vt:lpstr>Outline</vt:lpstr>
      <vt:lpstr>PowerPoint Presentation</vt:lpstr>
      <vt:lpstr>PowerPoint Presentation</vt:lpstr>
      <vt:lpstr>Requirement for a Global Replay Service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WIS2 GRep Technical considerations</vt:lpstr>
      <vt:lpstr>Reference Implementation: wis2-grep</vt:lpstr>
      <vt:lpstr>PowerPoint Presentation</vt:lpstr>
      <vt:lpstr>wis2-grep exercise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WIS2 Global Replay Deep Dive</dc:title>
  <dc:subject/>
  <dc:creator>Tom Kralidis</dc:creator>
  <cp:keywords/>
  <dc:description/>
  <cp:lastModifiedBy>Tom Kralidis</cp:lastModifiedBy>
  <cp:revision>208</cp:revision>
  <dcterms:created xsi:type="dcterms:W3CDTF">2024-01-11T14:19:20Z</dcterms:created>
  <dcterms:modified xsi:type="dcterms:W3CDTF">2026-03-31T15:36:20Z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0x01010063F6497A16C24847AD78F11B87F7D548</vt:lpwstr>
  </property>
  <property fmtid="{D5CDD505-2E9C-101B-9397-08002B2CF9AE}" pid="3" name="_dlc_DocIdItemGuid">
    <vt:lpwstr>d9410c5b-4b37-4c8f-8899-06403149ffc9</vt:lpwstr>
  </property>
  <property fmtid="{D5CDD505-2E9C-101B-9397-08002B2CF9AE}" pid="4" name="MediaServiceImageTags">
    <vt:lpwstr/>
  </property>
</Properties>
</file>