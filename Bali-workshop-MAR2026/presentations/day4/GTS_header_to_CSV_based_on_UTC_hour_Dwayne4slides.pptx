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  <p:sldMasterId id="2147483688" r:id="rId5"/>
    <p:sldMasterId id="214748368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embeddedFontLst>
    <p:embeddedFont>
      <p:font typeface="Lato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4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3.xml"/><Relationship Id="rId21" Type="http://schemas.openxmlformats.org/officeDocument/2006/relationships/font" Target="fonts/OpenSans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font" Target="fonts/Lato-regular.fntdata"/><Relationship Id="rId14" Type="http://schemas.openxmlformats.org/officeDocument/2006/relationships/slide" Target="slides/slide7.xml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OpenSans-regular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Lat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40f69d051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40f69d051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40f69d051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40f69d05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40f69d051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40f69d051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40f69d051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40f69d05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40f69d05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40f69d05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40f69d051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40f69d051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40f69d051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40f69d051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722313" y="3305177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3000"/>
              <a:buFont typeface="Arial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Master">
  <p:cSld name="Content Mast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104117" y="4909293"/>
            <a:ext cx="8559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5"/>
          <p:cNvSpPr txBox="1"/>
          <p:nvPr>
            <p:ph type="title"/>
          </p:nvPr>
        </p:nvSpPr>
        <p:spPr>
          <a:xfrm>
            <a:off x="167782" y="41464"/>
            <a:ext cx="78867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ctrTitle"/>
          </p:nvPr>
        </p:nvSpPr>
        <p:spPr>
          <a:xfrm>
            <a:off x="685800" y="1597821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627518" y="165314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457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4648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627518" y="165314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wmo2016_powerpoint_standard_v2-2.jpg" id="76" name="Google Shape;7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863771"/>
            <a:ext cx="1988820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27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">
  <p:cSld name="Content Slid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ctrTitle"/>
          </p:nvPr>
        </p:nvSpPr>
        <p:spPr>
          <a:xfrm>
            <a:off x="1143000" y="841772"/>
            <a:ext cx="68580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3300"/>
              <a:buFont typeface="Arial"/>
              <a:buNone/>
              <a:defRPr sz="3300">
                <a:solidFill>
                  <a:srgbClr val="005BA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" type="subTitle"/>
          </p:nvPr>
        </p:nvSpPr>
        <p:spPr>
          <a:xfrm>
            <a:off x="1143000" y="1531088"/>
            <a:ext cx="6858000" cy="2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628650" y="56665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3300"/>
              <a:buFont typeface="Arial"/>
              <a:buNone/>
              <a:defRPr b="1">
                <a:solidFill>
                  <a:srgbClr val="005BA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628650" y="1662032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with bullet points slide">
  <p:cSld name="Text with bullet points slid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type="title"/>
          </p:nvPr>
        </p:nvSpPr>
        <p:spPr>
          <a:xfrm>
            <a:off x="628650" y="49567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33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628650" y="164668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ientific Slide with Graph/Image">
  <p:cSld name="Scientific Slide with Graph/Imag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/>
          <p:nvPr>
            <p:ph idx="2" type="pic"/>
          </p:nvPr>
        </p:nvSpPr>
        <p:spPr>
          <a:xfrm>
            <a:off x="4687584" y="794550"/>
            <a:ext cx="4248600" cy="34206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438898" y="1095070"/>
            <a:ext cx="39303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5BAA"/>
              </a:buClr>
              <a:buSzPts val="3300"/>
              <a:buFont typeface="Arial"/>
              <a:buNone/>
              <a:defRPr b="1" i="0" sz="3300" u="none" cap="none" strike="noStrike">
                <a:solidFill>
                  <a:srgbClr val="005BA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24"/>
          <p:cNvSpPr txBox="1"/>
          <p:nvPr>
            <p:ph idx="3" type="body"/>
          </p:nvPr>
        </p:nvSpPr>
        <p:spPr>
          <a:xfrm>
            <a:off x="438898" y="1826232"/>
            <a:ext cx="39303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3655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655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655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655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Slide" type="twoTxTwoObj">
  <p:cSld name="TWO_OBJECTS_WITH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3300"/>
              <a:buFont typeface="Arial"/>
              <a:buNone/>
              <a:defRPr b="1">
                <a:solidFill>
                  <a:srgbClr val="005BA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2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5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type="title"/>
          </p:nvPr>
        </p:nvSpPr>
        <p:spPr>
          <a:xfrm>
            <a:off x="0" y="1577578"/>
            <a:ext cx="9144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3300"/>
              <a:buFont typeface="Arial"/>
              <a:buNone/>
              <a:defRPr>
                <a:solidFill>
                  <a:srgbClr val="005BA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/>
        </p:nvSpPr>
        <p:spPr>
          <a:xfrm>
            <a:off x="2868659" y="3429060"/>
            <a:ext cx="3406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" sz="2400" u="none" strike="noStrike">
                <a:solidFill>
                  <a:srgbClr val="005BAA"/>
                </a:solidFill>
                <a:latin typeface="Arial"/>
                <a:ea typeface="Arial"/>
                <a:cs typeface="Arial"/>
                <a:sym typeface="Arial"/>
              </a:rPr>
              <a:t>wmo.int</a:t>
            </a:r>
            <a:endParaRPr sz="110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Blank Slid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9"/>
          <p:cNvSpPr txBox="1"/>
          <p:nvPr>
            <p:ph type="title"/>
          </p:nvPr>
        </p:nvSpPr>
        <p:spPr>
          <a:xfrm>
            <a:off x="722313" y="3305177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3000"/>
              <a:buFont typeface="Arial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" type="body"/>
          </p:nvPr>
        </p:nvSpPr>
        <p:spPr>
          <a:xfrm>
            <a:off x="722313" y="2180035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9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Master">
  <p:cSld name="Content Mast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/>
          <p:nvPr>
            <p:ph idx="1" type="body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30"/>
          <p:cNvSpPr txBox="1"/>
          <p:nvPr>
            <p:ph idx="12" type="sldNum"/>
          </p:nvPr>
        </p:nvSpPr>
        <p:spPr>
          <a:xfrm>
            <a:off x="8104117" y="4909293"/>
            <a:ext cx="855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spcBef>
                <a:spcPts val="0"/>
              </a:spcBef>
              <a:buNone/>
              <a:defRPr b="0" sz="7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30"/>
          <p:cNvSpPr txBox="1"/>
          <p:nvPr>
            <p:ph type="title"/>
          </p:nvPr>
        </p:nvSpPr>
        <p:spPr>
          <a:xfrm>
            <a:off x="167782" y="41464"/>
            <a:ext cx="78867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1"/>
          <p:cNvSpPr txBox="1"/>
          <p:nvPr>
            <p:ph type="ctrTitle"/>
          </p:nvPr>
        </p:nvSpPr>
        <p:spPr>
          <a:xfrm>
            <a:off x="685800" y="1597821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31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31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2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3"/>
          <p:cNvSpPr txBox="1"/>
          <p:nvPr>
            <p:ph type="title"/>
          </p:nvPr>
        </p:nvSpPr>
        <p:spPr>
          <a:xfrm>
            <a:off x="627518" y="165314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3"/>
          <p:cNvSpPr txBox="1"/>
          <p:nvPr>
            <p:ph idx="1" type="body"/>
          </p:nvPr>
        </p:nvSpPr>
        <p:spPr>
          <a:xfrm>
            <a:off x="457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33"/>
          <p:cNvSpPr txBox="1"/>
          <p:nvPr>
            <p:ph idx="2" type="body"/>
          </p:nvPr>
        </p:nvSpPr>
        <p:spPr>
          <a:xfrm>
            <a:off x="4648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33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4"/>
          <p:cNvSpPr txBox="1"/>
          <p:nvPr>
            <p:ph type="title"/>
          </p:nvPr>
        </p:nvSpPr>
        <p:spPr>
          <a:xfrm>
            <a:off x="627518" y="165314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idx="1" type="body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34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wmo2016_powerpoint_standard_v2-2.jpg" id="131" name="Google Shape;13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863771"/>
            <a:ext cx="1988820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5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27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">
  <p:cSld name="Content Slide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 txBox="1"/>
          <p:nvPr>
            <p:ph type="ctrTitle"/>
          </p:nvPr>
        </p:nvSpPr>
        <p:spPr>
          <a:xfrm>
            <a:off x="1143000" y="841772"/>
            <a:ext cx="68580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3300"/>
              <a:buFont typeface="Arial"/>
              <a:buNone/>
              <a:defRPr sz="3300">
                <a:solidFill>
                  <a:srgbClr val="005BA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1" type="subTitle"/>
          </p:nvPr>
        </p:nvSpPr>
        <p:spPr>
          <a:xfrm>
            <a:off x="1143000" y="1531088"/>
            <a:ext cx="6858000" cy="24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/>
          <p:nvPr>
            <p:ph type="title"/>
          </p:nvPr>
        </p:nvSpPr>
        <p:spPr>
          <a:xfrm>
            <a:off x="628650" y="56665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3300"/>
              <a:buFont typeface="Arial"/>
              <a:buNone/>
              <a:defRPr b="1">
                <a:solidFill>
                  <a:srgbClr val="005BA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7"/>
          <p:cNvSpPr txBox="1"/>
          <p:nvPr>
            <p:ph idx="1" type="body"/>
          </p:nvPr>
        </p:nvSpPr>
        <p:spPr>
          <a:xfrm>
            <a:off x="628650" y="1662032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with bullet points slide">
  <p:cSld name="Text with bullet points slide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8"/>
          <p:cNvSpPr txBox="1"/>
          <p:nvPr>
            <p:ph type="title"/>
          </p:nvPr>
        </p:nvSpPr>
        <p:spPr>
          <a:xfrm>
            <a:off x="628650" y="49567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33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38"/>
          <p:cNvSpPr txBox="1"/>
          <p:nvPr>
            <p:ph idx="1" type="body"/>
          </p:nvPr>
        </p:nvSpPr>
        <p:spPr>
          <a:xfrm>
            <a:off x="628650" y="1646688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ientific Slide with Graph/Image">
  <p:cSld name="Scientific Slide with Graph/Image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9"/>
          <p:cNvSpPr/>
          <p:nvPr>
            <p:ph idx="2" type="pic"/>
          </p:nvPr>
        </p:nvSpPr>
        <p:spPr>
          <a:xfrm>
            <a:off x="4687584" y="794550"/>
            <a:ext cx="4248600" cy="34206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39"/>
          <p:cNvSpPr txBox="1"/>
          <p:nvPr>
            <p:ph idx="1" type="body"/>
          </p:nvPr>
        </p:nvSpPr>
        <p:spPr>
          <a:xfrm>
            <a:off x="438898" y="1095070"/>
            <a:ext cx="39303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5BAA"/>
              </a:buClr>
              <a:buSzPts val="3300"/>
              <a:buFont typeface="Arial"/>
              <a:buNone/>
              <a:defRPr b="1" i="0" sz="3300" u="none" cap="none" strike="noStrike">
                <a:solidFill>
                  <a:srgbClr val="005BA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39"/>
          <p:cNvSpPr txBox="1"/>
          <p:nvPr>
            <p:ph idx="3" type="body"/>
          </p:nvPr>
        </p:nvSpPr>
        <p:spPr>
          <a:xfrm>
            <a:off x="438898" y="1826232"/>
            <a:ext cx="39303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3655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655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655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655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Slide" type="twoTxTwoObj">
  <p:cSld name="TWO_OBJECTS_WITH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0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3300"/>
              <a:buFont typeface="Arial"/>
              <a:buNone/>
              <a:defRPr b="1">
                <a:solidFill>
                  <a:srgbClr val="005BA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40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3" name="Google Shape;153;p40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40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40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1"/>
          <p:cNvSpPr txBox="1"/>
          <p:nvPr>
            <p:ph type="title"/>
          </p:nvPr>
        </p:nvSpPr>
        <p:spPr>
          <a:xfrm>
            <a:off x="0" y="1577578"/>
            <a:ext cx="9144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3300"/>
              <a:buFont typeface="Arial"/>
              <a:buNone/>
              <a:defRPr>
                <a:solidFill>
                  <a:srgbClr val="005BA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41"/>
          <p:cNvSpPr txBox="1"/>
          <p:nvPr/>
        </p:nvSpPr>
        <p:spPr>
          <a:xfrm>
            <a:off x="2868659" y="3429060"/>
            <a:ext cx="3406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" sz="2400" u="none" strike="noStrike">
                <a:solidFill>
                  <a:srgbClr val="005BAA"/>
                </a:solidFill>
                <a:latin typeface="Arial"/>
                <a:ea typeface="Arial"/>
                <a:cs typeface="Arial"/>
                <a:sym typeface="Arial"/>
              </a:rPr>
              <a:t>wmo.int</a:t>
            </a:r>
            <a:endParaRPr sz="110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Blank Slide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38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2608464"/>
            <a:ext cx="9144004" cy="253503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627518" y="165314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3300"/>
              <a:buFont typeface="Arial"/>
              <a:buNone/>
              <a:defRPr b="1" i="0" sz="3300" u="none" cap="none" strike="noStrike">
                <a:solidFill>
                  <a:srgbClr val="005B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2608464"/>
            <a:ext cx="9143996" cy="253503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8"/>
          <p:cNvSpPr txBox="1"/>
          <p:nvPr>
            <p:ph type="title"/>
          </p:nvPr>
        </p:nvSpPr>
        <p:spPr>
          <a:xfrm>
            <a:off x="627518" y="165314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AA"/>
              </a:buClr>
              <a:buSzPts val="3300"/>
              <a:buFont typeface="Arial"/>
              <a:buNone/>
              <a:defRPr b="1" i="0" sz="3300" u="none" cap="none" strike="noStrike">
                <a:solidFill>
                  <a:srgbClr val="005B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wis2box.wis.wmo.int/en/latest/user/gts-headers-in-wis2.html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iscaribbeancmo.org/oapi/collections/messages/items?wigos_station_identifier=0-20000-0-78905&amp;sortby=-pubtime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3"/>
          <p:cNvSpPr txBox="1"/>
          <p:nvPr>
            <p:ph idx="1" type="body"/>
          </p:nvPr>
        </p:nvSpPr>
        <p:spPr>
          <a:xfrm>
            <a:off x="311700" y="648825"/>
            <a:ext cx="8520600" cy="330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Note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example uses CSV files being sent to </a:t>
            </a:r>
            <a:r>
              <a:rPr lang="en"/>
              <a:t>the</a:t>
            </a:r>
            <a:r>
              <a:rPr lang="en"/>
              <a:t> wis2box, using the csv2Bufr converter, However the principle can be applied to any file being sent to the wis2box needing GTS headers to be added.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4"/>
          <p:cNvSpPr txBox="1"/>
          <p:nvPr>
            <p:ph type="title"/>
          </p:nvPr>
        </p:nvSpPr>
        <p:spPr>
          <a:xfrm>
            <a:off x="311700" y="691599"/>
            <a:ext cx="8520600" cy="3399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A</a:t>
            </a:r>
            <a:r>
              <a:rPr b="0" lang="en"/>
              <a:t>dding GTS header to a CSV file based on UTC hour</a:t>
            </a:r>
            <a:endParaRPr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5"/>
          <p:cNvSpPr txBox="1"/>
          <p:nvPr>
            <p:ph type="title"/>
          </p:nvPr>
        </p:nvSpPr>
        <p:spPr>
          <a:xfrm>
            <a:off x="311700" y="0"/>
            <a:ext cx="8520600" cy="992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GTS Headers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WIS2.0 documentation -</a:t>
            </a:r>
            <a:r>
              <a:rPr lang="en" sz="2400"/>
              <a:t>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https://docs.wis2box.wis.wmo.int/en/latest/user/gts-headers-in-wis2.html</a:t>
            </a:r>
            <a:r>
              <a:rPr lang="en"/>
              <a:t> </a:t>
            </a:r>
            <a:endParaRPr/>
          </a:p>
        </p:txBody>
      </p:sp>
      <p:sp>
        <p:nvSpPr>
          <p:cNvPr id="175" name="Google Shape;175;p45"/>
          <p:cNvSpPr txBox="1"/>
          <p:nvPr>
            <p:ph idx="1" type="body"/>
          </p:nvPr>
        </p:nvSpPr>
        <p:spPr>
          <a:xfrm>
            <a:off x="200400" y="921641"/>
            <a:ext cx="8631900" cy="4114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If you want to add GTS headers to your WIS2 notifications, a CSV file, mapping your GTS header to incoming file names will need to be created and stored within your wis2box.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This CSV file, should be named exactly “gts_headers_mapping.csv” and should be placed in the directory defined using the </a:t>
            </a:r>
            <a:r>
              <a:rPr b="1" lang="en" sz="1700"/>
              <a:t>WIS2BOX_HOST_DATADIR</a:t>
            </a:r>
            <a:r>
              <a:rPr lang="en" sz="1800"/>
              <a:t> environment variable.</a:t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900"/>
              <a:t>The CSV should contain the following columns: 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string_in_filepath</a:t>
            </a:r>
            <a:r>
              <a:rPr lang="en" sz="1900"/>
              <a:t>, TTAAii, and CCCC</a:t>
            </a:r>
            <a:endParaRPr sz="1900"/>
          </a:p>
        </p:txBody>
      </p:sp>
      <p:pic>
        <p:nvPicPr>
          <p:cNvPr id="176" name="Google Shape;17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2448" y="3479512"/>
            <a:ext cx="5005875" cy="16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6"/>
          <p:cNvSpPr txBox="1"/>
          <p:nvPr>
            <p:ph type="title"/>
          </p:nvPr>
        </p:nvSpPr>
        <p:spPr>
          <a:xfrm>
            <a:off x="2477850" y="33400"/>
            <a:ext cx="4188300" cy="514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GTS Headers</a:t>
            </a:r>
            <a:endParaRPr sz="2400"/>
          </a:p>
        </p:txBody>
      </p:sp>
      <p:pic>
        <p:nvPicPr>
          <p:cNvPr id="182" name="Google Shape;18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68888"/>
            <a:ext cx="4147125" cy="276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6"/>
          <p:cNvSpPr txBox="1"/>
          <p:nvPr>
            <p:ph type="title"/>
          </p:nvPr>
        </p:nvSpPr>
        <p:spPr>
          <a:xfrm>
            <a:off x="1022700" y="479513"/>
            <a:ext cx="2279400" cy="387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chemeClr val="dk1"/>
                </a:solidFill>
              </a:rPr>
              <a:t>CSV file in wis2box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184" name="Google Shape;184;p46"/>
          <p:cNvSpPr txBox="1"/>
          <p:nvPr>
            <p:ph type="title"/>
          </p:nvPr>
        </p:nvSpPr>
        <p:spPr>
          <a:xfrm>
            <a:off x="5289412" y="479513"/>
            <a:ext cx="3135000" cy="387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chemeClr val="dk1"/>
                </a:solidFill>
              </a:rPr>
              <a:t>Internal csv format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185" name="Google Shape;185;p46"/>
          <p:cNvSpPr txBox="1"/>
          <p:nvPr/>
        </p:nvSpPr>
        <p:spPr>
          <a:xfrm>
            <a:off x="2010425" y="4009100"/>
            <a:ext cx="23604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Turks and Caicos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Dominica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Cayman Islands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Belize</a:t>
            </a:r>
            <a:endParaRPr/>
          </a:p>
        </p:txBody>
      </p:sp>
      <p:pic>
        <p:nvPicPr>
          <p:cNvPr id="186" name="Google Shape;18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1225" y="1019513"/>
            <a:ext cx="4380376" cy="3648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7"/>
          <p:cNvSpPr txBox="1"/>
          <p:nvPr>
            <p:ph type="title"/>
          </p:nvPr>
        </p:nvSpPr>
        <p:spPr>
          <a:xfrm>
            <a:off x="2431575" y="0"/>
            <a:ext cx="4188300" cy="514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GTS Headers</a:t>
            </a:r>
            <a:endParaRPr sz="2400"/>
          </a:p>
        </p:txBody>
      </p:sp>
      <p:sp>
        <p:nvSpPr>
          <p:cNvPr id="192" name="Google Shape;192;p47"/>
          <p:cNvSpPr txBox="1"/>
          <p:nvPr>
            <p:ph type="title"/>
          </p:nvPr>
        </p:nvSpPr>
        <p:spPr>
          <a:xfrm>
            <a:off x="1463800" y="455400"/>
            <a:ext cx="5808600" cy="387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chemeClr val="dk1"/>
                </a:solidFill>
              </a:rPr>
              <a:t>Files sent to WIS2box with GTS tags</a:t>
            </a:r>
            <a:endParaRPr b="0" sz="1800">
              <a:solidFill>
                <a:schemeClr val="dk1"/>
              </a:solidFill>
            </a:endParaRPr>
          </a:p>
        </p:txBody>
      </p:sp>
      <p:pic>
        <p:nvPicPr>
          <p:cNvPr id="193" name="Google Shape;19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406" y="815231"/>
            <a:ext cx="8214574" cy="427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8"/>
          <p:cNvSpPr txBox="1"/>
          <p:nvPr>
            <p:ph type="title"/>
          </p:nvPr>
        </p:nvSpPr>
        <p:spPr>
          <a:xfrm>
            <a:off x="75" y="104475"/>
            <a:ext cx="9208800" cy="10980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Example of SURFACE sending messages and adding GTS headers to WIS2box(Dominica)</a:t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1300" u="sng">
                <a:solidFill>
                  <a:schemeClr val="hlink"/>
                </a:solidFill>
                <a:hlinkClick r:id="rId3"/>
              </a:rPr>
              <a:t>https://wiscaribbeancmo.org/oapi/collections/messages/items?wigos_station_identifier=0-20000-0-78905&amp;sortby=-pubtime</a:t>
            </a:r>
            <a:r>
              <a:rPr b="0" lang="en" sz="1300">
                <a:solidFill>
                  <a:schemeClr val="dk1"/>
                </a:solidFill>
              </a:rPr>
              <a:t> </a:t>
            </a:r>
            <a:endParaRPr b="0" sz="1300">
              <a:solidFill>
                <a:schemeClr val="dk1"/>
              </a:solidFill>
            </a:endParaRPr>
          </a:p>
        </p:txBody>
      </p:sp>
      <p:pic>
        <p:nvPicPr>
          <p:cNvPr id="199" name="Google Shape;19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42765"/>
            <a:ext cx="8839200" cy="3395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9"/>
          <p:cNvSpPr txBox="1"/>
          <p:nvPr>
            <p:ph type="title"/>
          </p:nvPr>
        </p:nvSpPr>
        <p:spPr>
          <a:xfrm>
            <a:off x="-207425" y="509250"/>
            <a:ext cx="4188300" cy="514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GTS Headers</a:t>
            </a:r>
            <a:endParaRPr sz="2400"/>
          </a:p>
        </p:txBody>
      </p:sp>
      <p:sp>
        <p:nvSpPr>
          <p:cNvPr id="205" name="Google Shape;205;p49"/>
          <p:cNvSpPr txBox="1"/>
          <p:nvPr>
            <p:ph type="title"/>
          </p:nvPr>
        </p:nvSpPr>
        <p:spPr>
          <a:xfrm>
            <a:off x="0" y="1994975"/>
            <a:ext cx="3388800" cy="762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chemeClr val="dk1"/>
                </a:solidFill>
              </a:rPr>
              <a:t>Logic inside sample script to append headers to csv file</a:t>
            </a:r>
            <a:endParaRPr b="0" sz="1800">
              <a:solidFill>
                <a:schemeClr val="dk1"/>
              </a:solidFill>
            </a:endParaRPr>
          </a:p>
        </p:txBody>
      </p:sp>
      <p:pic>
        <p:nvPicPr>
          <p:cNvPr id="206" name="Google Shape;206;p49" title="w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2275" y="411802"/>
            <a:ext cx="5961724" cy="4526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