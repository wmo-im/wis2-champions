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6"/>
    <p:sldMasterId id="2147483681" r:id="rId7"/>
    <p:sldMasterId id="2147483691" r:id="rId8"/>
  </p:sldMasterIdLst>
  <p:notesMasterIdLst>
    <p:notesMasterId r:id="rId41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6" r:id="rId38"/>
    <p:sldId id="287" r:id="rId39"/>
    <p:sldId id="288" r:id="rId40"/>
  </p:sldIdLst>
  <p:sldSz cx="12192000" cy="6858000"/>
  <p:notesSz cx="6858000" cy="9144000"/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B3B2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87" autoAdjust="0"/>
    <p:restoredTop sz="89345" autoAdjust="0"/>
  </p:normalViewPr>
  <p:slideViewPr>
    <p:cSldViewPr snapToGrid="0">
      <p:cViewPr varScale="1">
        <p:scale>
          <a:sx n="99" d="100"/>
          <a:sy n="99" d="100"/>
        </p:scale>
        <p:origin x="8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3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0F357-B811-4FC5-8E65-2B8BD505A5B3}" type="datetimeFigureOut">
              <a:rPr lang="aa-ET" smtClean="0"/>
              <a:t>04/02/2026</a:t>
            </a:fld>
            <a:endParaRPr lang="aa-E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a-E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1AC9F-6AFE-4B8B-9CC1-10F44419EB41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144517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CC09337-932E-DF18-5552-8A10A7DD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Cover – Insert title</a:t>
            </a:r>
            <a:endParaRPr lang="x-none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0165C1A-53B3-D986-E0E9-DDD54523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2131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3C0AB1-DC1A-370D-2DBC-7F636C925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Content</a:t>
            </a:r>
            <a:endParaRPr lang="x-none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4AFEC8-D7E6-FB46-B2C8-3E1FF518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122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4C69AE-3299-1F59-997F-1709C1DD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Lorem Ipsum</a:t>
            </a:r>
            <a:endParaRPr lang="x-none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EDA0CF7-60D6-4B86-6F50-ECF55C6DB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1234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3AAD9ED-75F1-0289-7EF5-74AB2DFDD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2C05C5-F63A-53B8-E6BB-6E73E6E7490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59AFEE7-E5E4-8C50-6361-BB9205652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6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7684-9640-7B9F-691F-3B5A26663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FF9C-C20C-490B-6F06-81BD2D8FB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69EF0-726B-80A7-9DCD-6896F352D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901CD-B4D9-4C0A-A8C1-D42233A2E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5A26A-1F4A-80E3-3CF1-B5AF98EE4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765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C3EAE96-DCE0-88A1-D4B1-3E38DC198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Thank you.</a:t>
            </a:r>
            <a:endParaRPr lang="x-none" dirty="0"/>
          </a:p>
        </p:txBody>
      </p:sp>
      <p:sp>
        <p:nvSpPr>
          <p:cNvPr id="9" name="CuadroTexto 3">
            <a:extLst>
              <a:ext uri="{FF2B5EF4-FFF2-40B4-BE49-F238E27FC236}">
                <a16:creationId xmlns:a16="http://schemas.microsoft.com/office/drawing/2014/main" id="{002E4A1E-1EB0-0593-1C8D-3884AC9BB310}"/>
              </a:ext>
            </a:extLst>
          </p:cNvPr>
          <p:cNvSpPr txBox="1"/>
          <p:nvPr userDrawn="1"/>
        </p:nvSpPr>
        <p:spPr>
          <a:xfrm>
            <a:off x="3824879" y="4572080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</a:pPr>
            <a:r>
              <a:rPr lang="en-US" sz="3200" baseline="30000" dirty="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76304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51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9259AF2F-52C6-9B46-B8B2-0579234AE62E}" type="slidenum">
              <a:rPr lang="en-US" smtClean="0">
                <a:solidFill>
                  <a:prstClr val="black"/>
                </a:solidFill>
              </a:rPr>
              <a:pPr defTabSz="45720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67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9259AF2F-52C6-9B46-B8B2-0579234AE62E}" type="slidenum">
              <a:rPr lang="en-US" smtClean="0">
                <a:solidFill>
                  <a:prstClr val="black"/>
                </a:solidFill>
              </a:rPr>
              <a:pPr defTabSz="45720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13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CC09337-932E-DF18-5552-8A10A7DD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Cover – Insert title</a:t>
            </a:r>
            <a:endParaRPr lang="x-none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0165C1A-53B3-D986-E0E9-DDD54523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3978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3C0AB1-DC1A-370D-2DBC-7F636C925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Content</a:t>
            </a:r>
            <a:endParaRPr lang="x-none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4AFEC8-D7E6-FB46-B2C8-3E1FF518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268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4C69AE-3299-1F59-997F-1709C1DD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Lorem Ipsum</a:t>
            </a:r>
            <a:endParaRPr lang="x-none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EDA0CF7-60D6-4B86-6F50-ECF55C6DB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9490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3AAD9ED-75F1-0289-7EF5-74AB2DFDD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2C05C5-F63A-53B8-E6BB-6E73E6E7490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59AFEE7-E5E4-8C50-6361-BB9205652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056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7684-9640-7B9F-691F-3B5A26663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FF9C-C20C-490B-6F06-81BD2D8FB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69EF0-726B-80A7-9DCD-6896F352D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901CD-B4D9-4C0A-A8C1-D42233A2E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5A26A-1F4A-80E3-3CF1-B5AF98EE4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9531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C3EAE96-DCE0-88A1-D4B1-3E38DC198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Thank you.</a:t>
            </a:r>
            <a:endParaRPr lang="x-none" dirty="0"/>
          </a:p>
        </p:txBody>
      </p:sp>
      <p:sp>
        <p:nvSpPr>
          <p:cNvPr id="9" name="CuadroTexto 3">
            <a:extLst>
              <a:ext uri="{FF2B5EF4-FFF2-40B4-BE49-F238E27FC236}">
                <a16:creationId xmlns:a16="http://schemas.microsoft.com/office/drawing/2014/main" id="{002E4A1E-1EB0-0593-1C8D-3884AC9BB310}"/>
              </a:ext>
            </a:extLst>
          </p:cNvPr>
          <p:cNvSpPr txBox="1"/>
          <p:nvPr userDrawn="1"/>
        </p:nvSpPr>
        <p:spPr>
          <a:xfrm>
            <a:off x="3824879" y="4572080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50000"/>
              </a:lnSpc>
            </a:pPr>
            <a:r>
              <a:rPr lang="en-US" sz="3200" baseline="30000" dirty="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3833400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003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9259AF2F-52C6-9B46-B8B2-0579234AE62E}" type="slidenum">
              <a:rPr lang="en-US" smtClean="0">
                <a:solidFill>
                  <a:prstClr val="black"/>
                </a:solidFill>
              </a:rPr>
              <a:pPr defTabSz="45720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863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9259AF2F-52C6-9B46-B8B2-0579234AE62E}" type="slidenum">
              <a:rPr lang="en-US" smtClean="0">
                <a:solidFill>
                  <a:prstClr val="black"/>
                </a:solidFill>
              </a:rPr>
              <a:pPr defTabSz="457200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327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6812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50492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7088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8585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119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C007C7-A317-B3BD-4F67-1F0F9741F8A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0" y="3477952"/>
            <a:ext cx="12192000" cy="3380048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8A9C213-3E26-B848-BF1A-9E6EC69B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WMO PPT Style #2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6072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C007C7-A317-B3BD-4F67-1F0F9741F8A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0" y="3477952"/>
            <a:ext cx="12192000" cy="3380048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8A9C213-3E26-B848-BF1A-9E6EC69B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WMO PPT Style #2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15629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476624"/>
            <a:ext cx="2684435" cy="338137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763" y="0"/>
            <a:ext cx="12187555" cy="728980"/>
          </a:xfrm>
          <a:custGeom>
            <a:avLst/>
            <a:gdLst/>
            <a:ahLst/>
            <a:cxnLst/>
            <a:rect l="l" t="t" r="r" b="b"/>
            <a:pathLst>
              <a:path w="12187555" h="728980">
                <a:moveTo>
                  <a:pt x="0" y="0"/>
                </a:moveTo>
                <a:lnTo>
                  <a:pt x="0" y="728599"/>
                </a:lnTo>
                <a:lnTo>
                  <a:pt x="12187236" y="728599"/>
                </a:lnTo>
                <a:lnTo>
                  <a:pt x="12187236" y="0"/>
                </a:lnTo>
                <a:lnTo>
                  <a:pt x="0" y="0"/>
                </a:lnTo>
                <a:close/>
              </a:path>
            </a:pathLst>
          </a:custGeom>
          <a:solidFill>
            <a:srgbClr val="034D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3" y="0"/>
            <a:ext cx="12187555" cy="728980"/>
          </a:xfrm>
          <a:custGeom>
            <a:avLst/>
            <a:gdLst/>
            <a:ahLst/>
            <a:cxnLst/>
            <a:rect l="l" t="t" r="r" b="b"/>
            <a:pathLst>
              <a:path w="12187555" h="728980">
                <a:moveTo>
                  <a:pt x="0" y="0"/>
                </a:moveTo>
                <a:lnTo>
                  <a:pt x="0" y="728599"/>
                </a:lnTo>
                <a:lnTo>
                  <a:pt x="12187236" y="728599"/>
                </a:lnTo>
              </a:path>
            </a:pathLst>
          </a:custGeom>
          <a:ln w="1270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63824" y="68580"/>
            <a:ext cx="6864350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975" y="1311338"/>
            <a:ext cx="5358765" cy="2967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87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214" y="2043430"/>
            <a:ext cx="10515600" cy="1325563"/>
          </a:xfrm>
        </p:spPr>
        <p:txBody>
          <a:bodyPr/>
          <a:lstStyle/>
          <a:p>
            <a:r>
              <a:rPr dirty="0">
                <a:solidFill>
                  <a:srgbClr val="003366"/>
                </a:solidFill>
              </a:rPr>
              <a:t>WIS2 Downloader</a:t>
            </a:r>
            <a:r>
              <a:rPr lang="en-US" dirty="0">
                <a:solidFill>
                  <a:srgbClr val="003366"/>
                </a:solidFill>
              </a:rPr>
              <a:t>:</a:t>
            </a:r>
            <a:br>
              <a:rPr lang="en-US" dirty="0">
                <a:solidFill>
                  <a:srgbClr val="003366"/>
                </a:solidFill>
              </a:rPr>
            </a:br>
            <a:r>
              <a:rPr lang="en-US" dirty="0">
                <a:solidFill>
                  <a:srgbClr val="003366"/>
                </a:solidFill>
              </a:rPr>
              <a:t>A detailed look inside</a:t>
            </a:r>
            <a:endParaRPr dirty="0">
              <a:solidFill>
                <a:srgbClr val="003366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9DBFE1-BC7C-CDDF-25FC-E9786727CAF3}"/>
              </a:ext>
            </a:extLst>
          </p:cNvPr>
          <p:cNvSpPr txBox="1">
            <a:spLocks/>
          </p:cNvSpPr>
          <p:nvPr/>
        </p:nvSpPr>
        <p:spPr>
          <a:xfrm>
            <a:off x="2603536" y="3993329"/>
            <a:ext cx="6984928" cy="2611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004F9E"/>
                </a:solidFill>
                <a:latin typeface="Calibri"/>
              </a:rPr>
              <a:t>Alberto Helguera</a:t>
            </a:r>
            <a:endParaRPr lang="en-US" sz="2400" dirty="0">
              <a:solidFill>
                <a:srgbClr val="004F9E"/>
              </a:solidFill>
              <a:latin typeface="Calibri"/>
            </a:endParaRPr>
          </a:p>
          <a:p>
            <a:r>
              <a:rPr lang="en-US" sz="2400" dirty="0">
                <a:solidFill>
                  <a:srgbClr val="004F9E"/>
                </a:solidFill>
                <a:latin typeface="Calibri"/>
              </a:rPr>
              <a:t>WMO Secretariat</a:t>
            </a:r>
          </a:p>
          <a:p>
            <a:r>
              <a:rPr lang="en-US" sz="2400" dirty="0">
                <a:solidFill>
                  <a:srgbClr val="004F9E"/>
                </a:solidFill>
                <a:latin typeface="Calibri"/>
              </a:rPr>
              <a:t>WIS Section, Infrastructure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>
                <a:solidFill>
                  <a:srgbClr val="003366"/>
                </a:solidFill>
              </a:rPr>
              <a:t>Introduction &amp; Background</a:t>
            </a:r>
          </a:p>
          <a:p>
            <a:r>
              <a:rPr sz="1900" b="1">
                <a:solidFill>
                  <a:srgbClr val="003366"/>
                </a:solidFill>
              </a:rPr>
              <a:t>Quick Start</a:t>
            </a:r>
          </a:p>
          <a:p>
            <a:r>
              <a:rPr sz="1900" b="1">
                <a:solidFill>
                  <a:srgbClr val="003366"/>
                </a:solidFill>
              </a:rPr>
              <a:t>User Guide</a:t>
            </a:r>
          </a:p>
          <a:p>
            <a:r>
              <a:rPr sz="1900" b="1">
                <a:solidFill>
                  <a:srgbClr val="003366"/>
                </a:solidFill>
              </a:rPr>
              <a:t>REST API Reference</a:t>
            </a:r>
          </a:p>
          <a:p>
            <a:r>
              <a:rPr sz="1900" b="1">
                <a:solidFill>
                  <a:srgbClr val="003366"/>
                </a:solidFill>
              </a:rPr>
              <a:t>Administration Guide</a:t>
            </a:r>
          </a:p>
          <a:p>
            <a:r>
              <a:rPr sz="1900" b="1">
                <a:solidFill>
                  <a:srgbClr val="003366"/>
                </a:solidFill>
              </a:rPr>
              <a:t>Developer Guide</a:t>
            </a:r>
          </a:p>
          <a:p>
            <a:r>
              <a:rPr sz="1900" b="1">
                <a:solidFill>
                  <a:srgbClr val="003366"/>
                </a:solidFill>
              </a:rPr>
              <a:t>Summary &amp;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What is WIS2?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900" b="1" dirty="0">
                <a:solidFill>
                  <a:srgbClr val="003366"/>
                </a:solidFill>
              </a:rPr>
              <a:t>WMO Information System 2.0 (WIS2)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Next-generation framework for meteorological data exchange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Replaces the legacy Global Telecommunication System (GTS)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Uses open standards: MQTT, HTTP, WMO Core Metadata Profile</a:t>
            </a:r>
          </a:p>
          <a:p>
            <a:pPr algn="l"/>
            <a:r>
              <a:rPr sz="1900" b="1" dirty="0">
                <a:solidFill>
                  <a:srgbClr val="003366"/>
                </a:solidFill>
              </a:rPr>
              <a:t>Global Broker Network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Publicly accessible MQTT brokers operated by WMO Members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Data published as WIS2 Notifications with download links</a:t>
            </a:r>
          </a:p>
          <a:p>
            <a:pPr algn="l"/>
            <a:r>
              <a:rPr sz="1900" b="1" dirty="0">
                <a:solidFill>
                  <a:srgbClr val="003366"/>
                </a:solidFill>
              </a:rPr>
              <a:t>Transition period: 2025 - 2030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NMHSs migrate progressively; GTS remains operational in parallel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What is WIS2 Downloader?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3355210"/>
          </a:xfrm>
        </p:spPr>
        <p:txBody>
          <a:bodyPr wrap="square"/>
          <a:lstStyle/>
          <a:p>
            <a:pPr algn="l"/>
            <a:r>
              <a:rPr sz="1900" b="1" dirty="0">
                <a:solidFill>
                  <a:srgbClr val="003366"/>
                </a:solidFill>
              </a:rPr>
              <a:t>Open-source tool for automated data acquisition from WIS2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Subscribes to WIS2 Global Brokers via MQTT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Automatically downloads meteorological data files</a:t>
            </a:r>
          </a:p>
          <a:p>
            <a:pPr lvl="1" algn="l"/>
            <a:r>
              <a:rPr sz="1700" b="0" dirty="0" err="1">
                <a:solidFill>
                  <a:srgbClr val="005BA6"/>
                </a:solidFill>
              </a:rPr>
              <a:t>Containerised</a:t>
            </a:r>
            <a:r>
              <a:rPr sz="1700" b="0" dirty="0">
                <a:solidFill>
                  <a:srgbClr val="005BA6"/>
                </a:solidFill>
              </a:rPr>
              <a:t> deployment using Docker &amp; Docker Compose</a:t>
            </a:r>
          </a:p>
          <a:p>
            <a:pPr algn="l"/>
            <a:r>
              <a:rPr sz="1900" b="1" dirty="0">
                <a:solidFill>
                  <a:srgbClr val="003366"/>
                </a:solidFill>
              </a:rPr>
              <a:t>Designed for NMHSs, researchers, and WIS2 node operators</a:t>
            </a:r>
          </a:p>
          <a:p>
            <a:pPr algn="l"/>
            <a:r>
              <a:rPr sz="1900" b="1" dirty="0">
                <a:solidFill>
                  <a:srgbClr val="003366"/>
                </a:solidFill>
              </a:rPr>
              <a:t>Key design goals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Ease of deployment - one command to start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Reliability - deduplication, SHA-512 verification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Flexibility - topic wildcards, filter rules, multiple brokers</a:t>
            </a:r>
          </a:p>
          <a:p>
            <a:pPr lvl="1" algn="l"/>
            <a:r>
              <a:rPr sz="1700" b="0" dirty="0">
                <a:solidFill>
                  <a:srgbClr val="005BA6"/>
                </a:solidFill>
              </a:rPr>
              <a:t>Observability - Prometheus metrics &amp; Grafana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03366"/>
                </a:solidFill>
              </a:rPr>
              <a:t>Key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86465"/>
            <a:ext cx="10515600" cy="3815467"/>
          </a:xfrm>
        </p:spPr>
        <p:txBody>
          <a:bodyPr wrap="square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003366"/>
                </a:solidFill>
              </a:rPr>
              <a:t>Web UI with multi-language support (EN, FR, ES, AR, ZH, RU)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003366"/>
                </a:solidFill>
              </a:rPr>
              <a:t>REST API for programmatic subscription management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003366"/>
                </a:solidFill>
              </a:rPr>
              <a:t>MQTT topic wildcards (+ single level, # multi-level)</a:t>
            </a:r>
            <a:endParaRPr lang="en-US" sz="1900" b="1" dirty="0">
              <a:solidFill>
                <a:srgbClr val="003366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003366"/>
                </a:solidFill>
              </a:rPr>
              <a:t>Topic search included via UI using GDC data</a:t>
            </a:r>
            <a:endParaRPr sz="1900" b="1" dirty="0">
              <a:solidFill>
                <a:srgbClr val="003366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003366"/>
                </a:solidFill>
              </a:rPr>
              <a:t>Pre- and post-download filtering by media type or custom rules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003366"/>
                </a:solidFill>
              </a:rPr>
              <a:t>Automatic deduplication using Redis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003366"/>
                </a:solidFill>
              </a:rPr>
              <a:t>SHA-512 integrity verification of downloaded files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003366"/>
                </a:solidFill>
              </a:rPr>
              <a:t>File </a:t>
            </a:r>
            <a:r>
              <a:rPr sz="1900" b="1" dirty="0" err="1">
                <a:solidFill>
                  <a:srgbClr val="003366"/>
                </a:solidFill>
              </a:rPr>
              <a:t>organisation</a:t>
            </a:r>
            <a:r>
              <a:rPr sz="1900" b="1" dirty="0">
                <a:solidFill>
                  <a:srgbClr val="003366"/>
                </a:solidFill>
              </a:rPr>
              <a:t>: </a:t>
            </a:r>
            <a:r>
              <a:rPr lang="en-US" sz="1900" b="1" dirty="0" err="1">
                <a:solidFill>
                  <a:srgbClr val="003366"/>
                </a:solidFill>
              </a:rPr>
              <a:t>DownloadPath</a:t>
            </a:r>
            <a:r>
              <a:rPr sz="1900" b="1" dirty="0">
                <a:solidFill>
                  <a:srgbClr val="003366"/>
                </a:solidFill>
              </a:rPr>
              <a:t>/YYYY/MM/DD/&lt;filename&gt;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003366"/>
                </a:solidFill>
              </a:rPr>
              <a:t>Prometheus metrics + Grafana dashboards out of the box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900" b="1" dirty="0">
                <a:solidFill>
                  <a:srgbClr val="003366"/>
                </a:solidFill>
              </a:rPr>
              <a:t>Horizontal scaling: multiple workers or subscriber instances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System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>
                <a:solidFill>
                  <a:srgbClr val="003366"/>
                </a:solidFill>
              </a:rPr>
              <a:t>Software prerequisites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Docker 20.10 or later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Docker Compose 2.0 or later</a:t>
            </a:r>
          </a:p>
          <a:p>
            <a:r>
              <a:rPr sz="1900" b="1">
                <a:solidFill>
                  <a:srgbClr val="003366"/>
                </a:solidFill>
              </a:rPr>
              <a:t>Network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Outbound access to WIS2 Global Broker on port 443 (MQTT over TLS)</a:t>
            </a:r>
          </a:p>
          <a:p>
            <a:r>
              <a:rPr sz="1900" b="1">
                <a:solidFill>
                  <a:srgbClr val="003366"/>
                </a:solidFill>
              </a:rPr>
              <a:t>Hardware (minimum for production)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4 GB RAM (8 GB recommended)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Sufficient disk space for downloaded data</a:t>
            </a:r>
          </a:p>
          <a:p>
            <a:r>
              <a:rPr sz="1900" b="1">
                <a:solidFill>
                  <a:srgbClr val="003366"/>
                </a:solidFill>
              </a:rPr>
              <a:t>Permissions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Linux: create downloads directory owned by UID 10001 / GID 988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Windows/macOS: Docker handles volume permissions automatically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Quick Start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Installation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41792"/>
            <a:ext cx="10515600" cy="1500187"/>
          </a:xfrm>
        </p:spPr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Clone from GitHub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git clone https://github.com/World-Meteorological-Organization/wis2downloader</a:t>
            </a:r>
          </a:p>
          <a:p>
            <a:r>
              <a:rPr sz="1900" b="1" dirty="0">
                <a:solidFill>
                  <a:srgbClr val="003366"/>
                </a:solidFill>
              </a:rPr>
              <a:t>Run the setup script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bash setup.sh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Generates </a:t>
            </a:r>
            <a:r>
              <a:rPr lang="en-US" sz="1700" b="0" dirty="0">
                <a:solidFill>
                  <a:srgbClr val="005BA6"/>
                </a:solidFill>
              </a:rPr>
              <a:t>.env with </a:t>
            </a:r>
            <a:r>
              <a:rPr sz="1700" b="0" dirty="0">
                <a:solidFill>
                  <a:srgbClr val="005BA6"/>
                </a:solidFill>
              </a:rPr>
              <a:t>a random FLASK_SECRET_KEY and REDIS_PASSWORD</a:t>
            </a:r>
          </a:p>
          <a:p>
            <a:r>
              <a:rPr sz="1900" b="1" dirty="0">
                <a:solidFill>
                  <a:srgbClr val="003366"/>
                </a:solidFill>
              </a:rPr>
              <a:t>Create the downloads directory (Linux)</a:t>
            </a:r>
          </a:p>
          <a:p>
            <a:pPr lvl="1"/>
            <a:r>
              <a:rPr sz="1700" b="0" dirty="0" err="1">
                <a:solidFill>
                  <a:srgbClr val="005BA6"/>
                </a:solidFill>
              </a:rPr>
              <a:t>mkdir</a:t>
            </a:r>
            <a:r>
              <a:rPr sz="1700" b="0" dirty="0">
                <a:solidFill>
                  <a:srgbClr val="005BA6"/>
                </a:solidFill>
              </a:rPr>
              <a:t> -p downloads &amp;&amp; </a:t>
            </a:r>
            <a:r>
              <a:rPr sz="1700" b="0" dirty="0" err="1">
                <a:solidFill>
                  <a:srgbClr val="005BA6"/>
                </a:solidFill>
              </a:rPr>
              <a:t>sudo</a:t>
            </a:r>
            <a:r>
              <a:rPr sz="1700" b="0" dirty="0">
                <a:solidFill>
                  <a:srgbClr val="005BA6"/>
                </a:solidFill>
              </a:rPr>
              <a:t> </a:t>
            </a:r>
            <a:r>
              <a:rPr sz="1700" b="0" dirty="0" err="1">
                <a:solidFill>
                  <a:srgbClr val="005BA6"/>
                </a:solidFill>
              </a:rPr>
              <a:t>chown</a:t>
            </a:r>
            <a:r>
              <a:rPr sz="1700" b="0" dirty="0">
                <a:solidFill>
                  <a:srgbClr val="005BA6"/>
                </a:solidFill>
              </a:rPr>
              <a:t> 10001:988 downloads</a:t>
            </a:r>
            <a:endParaRPr lang="en-US" sz="1700" b="0" dirty="0">
              <a:solidFill>
                <a:srgbClr val="005BA6"/>
              </a:solidFill>
            </a:endParaRPr>
          </a:p>
          <a:p>
            <a:pPr lvl="1"/>
            <a:r>
              <a:rPr lang="en-US" sz="1800" b="1" dirty="0">
                <a:solidFill>
                  <a:srgbClr val="003366"/>
                </a:solidFill>
              </a:rPr>
              <a:t>Edit the WIS2DOWNLOADER_BASE_URL env variable</a:t>
            </a:r>
          </a:p>
          <a:p>
            <a:pPr lvl="1"/>
            <a:r>
              <a:rPr lang="en-US" sz="1700" dirty="0">
                <a:solidFill>
                  <a:srgbClr val="005BA6"/>
                </a:solidFill>
              </a:rPr>
              <a:t>Example: </a:t>
            </a:r>
          </a:p>
          <a:p>
            <a:pPr lvl="1"/>
            <a:r>
              <a:rPr lang="en-US" sz="1700" dirty="0">
                <a:solidFill>
                  <a:srgbClr val="005BA6"/>
                </a:solidFill>
              </a:rPr>
              <a:t>WIS2DOWNLOADER_BASE_URL= http://alberto.champion.wis2dev.io</a:t>
            </a:r>
            <a:endParaRPr sz="1700" b="0" dirty="0">
              <a:solidFill>
                <a:srgbClr val="005BA6"/>
              </a:solidFill>
            </a:endParaRPr>
          </a:p>
          <a:p>
            <a:r>
              <a:rPr sz="1900" b="1" dirty="0">
                <a:solidFill>
                  <a:srgbClr val="003366"/>
                </a:solidFill>
              </a:rPr>
              <a:t>Start all services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docker compose up -d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First Steps after Launch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Web interface - http://</a:t>
            </a:r>
            <a:r>
              <a:rPr lang="en-US" sz="1900" b="1" dirty="0">
                <a:solidFill>
                  <a:srgbClr val="003366"/>
                </a:solidFill>
              </a:rPr>
              <a:t>BASE_URL</a:t>
            </a:r>
            <a:endParaRPr sz="1900" b="1" dirty="0">
              <a:solidFill>
                <a:srgbClr val="003366"/>
              </a:solidFill>
            </a:endParaRPr>
          </a:p>
          <a:p>
            <a:pPr lvl="1"/>
            <a:r>
              <a:rPr sz="1700" b="0" dirty="0">
                <a:solidFill>
                  <a:srgbClr val="005BA6"/>
                </a:solidFill>
              </a:rPr>
              <a:t>Browse the WIS2 catalogue or topic tree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Create your first subscription</a:t>
            </a:r>
          </a:p>
          <a:p>
            <a:r>
              <a:rPr sz="1900" b="1" dirty="0">
                <a:solidFill>
                  <a:srgbClr val="003366"/>
                </a:solidFill>
              </a:rPr>
              <a:t>REST API - http://</a:t>
            </a:r>
            <a:r>
              <a:rPr lang="en-US" sz="1900" b="1" dirty="0">
                <a:solidFill>
                  <a:srgbClr val="003366"/>
                </a:solidFill>
              </a:rPr>
              <a:t> BASE_URL/</a:t>
            </a:r>
            <a:r>
              <a:rPr lang="en-US" sz="1900" b="1" dirty="0" err="1">
                <a:solidFill>
                  <a:srgbClr val="003366"/>
                </a:solidFill>
              </a:rPr>
              <a:t>api</a:t>
            </a:r>
            <a:endParaRPr sz="1900" b="1" dirty="0">
              <a:solidFill>
                <a:srgbClr val="003366"/>
              </a:solidFill>
            </a:endParaRPr>
          </a:p>
          <a:p>
            <a:pPr lvl="1"/>
            <a:r>
              <a:rPr sz="1700" b="0" dirty="0">
                <a:solidFill>
                  <a:srgbClr val="005BA6"/>
                </a:solidFill>
              </a:rPr>
              <a:t>POST /subscriptions  to create a subscription programmatically</a:t>
            </a:r>
          </a:p>
          <a:p>
            <a:r>
              <a:rPr sz="1900" b="1" dirty="0">
                <a:solidFill>
                  <a:srgbClr val="003366"/>
                </a:solidFill>
              </a:rPr>
              <a:t>Grafana dashboard - http://</a:t>
            </a:r>
            <a:r>
              <a:rPr lang="en-US" sz="1900" b="1" dirty="0">
                <a:solidFill>
                  <a:srgbClr val="003366"/>
                </a:solidFill>
              </a:rPr>
              <a:t> BASE_URL/</a:t>
            </a:r>
            <a:r>
              <a:rPr lang="en-US" sz="1900" b="1" dirty="0" err="1">
                <a:solidFill>
                  <a:srgbClr val="003366"/>
                </a:solidFill>
              </a:rPr>
              <a:t>grafana</a:t>
            </a:r>
            <a:endParaRPr sz="1900" b="1" dirty="0">
              <a:solidFill>
                <a:srgbClr val="003366"/>
              </a:solidFill>
            </a:endParaRPr>
          </a:p>
          <a:p>
            <a:pPr lvl="1"/>
            <a:r>
              <a:rPr sz="1700" b="0" dirty="0">
                <a:solidFill>
                  <a:srgbClr val="005BA6"/>
                </a:solidFill>
              </a:rPr>
              <a:t>Monitor download counts, bytes, queue length in real time</a:t>
            </a:r>
          </a:p>
          <a:p>
            <a:r>
              <a:rPr sz="1900" b="1" dirty="0">
                <a:solidFill>
                  <a:srgbClr val="003366"/>
                </a:solidFill>
              </a:rPr>
              <a:t>Verify downloads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Files appear in downloads/YYYY/MM/DD/ immediately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User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Web Interface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Six main views - navigate with Alt+1 through Alt+</a:t>
            </a:r>
            <a:r>
              <a:rPr lang="en-US" sz="1900" b="1" dirty="0">
                <a:solidFill>
                  <a:srgbClr val="003366"/>
                </a:solidFill>
              </a:rPr>
              <a:t>+7</a:t>
            </a:r>
            <a:endParaRPr sz="1900" b="1" dirty="0">
              <a:solidFill>
                <a:srgbClr val="003366"/>
              </a:solidFill>
            </a:endParaRPr>
          </a:p>
          <a:p>
            <a:pPr lvl="1"/>
            <a:r>
              <a:rPr lang="en-US" sz="1700" b="0" dirty="0">
                <a:solidFill>
                  <a:srgbClr val="005BA6"/>
                </a:solidFill>
              </a:rPr>
              <a:t>Metrics </a:t>
            </a:r>
            <a:r>
              <a:rPr sz="1700" b="0" dirty="0">
                <a:solidFill>
                  <a:srgbClr val="005BA6"/>
                </a:solidFill>
              </a:rPr>
              <a:t>|  Catalogue  |  Topic Tree</a:t>
            </a:r>
            <a:r>
              <a:rPr lang="en-US" sz="1700" b="0" dirty="0">
                <a:solidFill>
                  <a:srgbClr val="005BA6"/>
                </a:solidFill>
              </a:rPr>
              <a:t> | Manual Subscri</a:t>
            </a:r>
            <a:r>
              <a:rPr lang="en-US" sz="1700" dirty="0">
                <a:solidFill>
                  <a:srgbClr val="005BA6"/>
                </a:solidFill>
              </a:rPr>
              <a:t>ption</a:t>
            </a:r>
            <a:endParaRPr sz="1700" b="0" dirty="0">
              <a:solidFill>
                <a:srgbClr val="005BA6"/>
              </a:solidFill>
            </a:endParaRPr>
          </a:p>
          <a:p>
            <a:pPr lvl="1"/>
            <a:r>
              <a:rPr lang="en-US" sz="1700" b="0" dirty="0">
                <a:solidFill>
                  <a:srgbClr val="005BA6"/>
                </a:solidFill>
              </a:rPr>
              <a:t>Manage Downloads</a:t>
            </a:r>
            <a:r>
              <a:rPr sz="1700" b="0" dirty="0">
                <a:solidFill>
                  <a:srgbClr val="005BA6"/>
                </a:solidFill>
              </a:rPr>
              <a:t>  |  Settings</a:t>
            </a:r>
            <a:r>
              <a:rPr lang="en-US" sz="1700" b="0" dirty="0">
                <a:solidFill>
                  <a:srgbClr val="005BA6"/>
                </a:solidFill>
              </a:rPr>
              <a:t> | Help </a:t>
            </a:r>
            <a:endParaRPr sz="1700" b="0" dirty="0">
              <a:solidFill>
                <a:srgbClr val="005BA6"/>
              </a:solidFill>
            </a:endParaRPr>
          </a:p>
          <a:p>
            <a:r>
              <a:rPr sz="1900" b="1" dirty="0">
                <a:solidFill>
                  <a:srgbClr val="003366"/>
                </a:solidFill>
              </a:rPr>
              <a:t>Catalogue search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Queries three GDC (Global Discovery Catalogue) endpoints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Full-text and faceted search</a:t>
            </a:r>
          </a:p>
          <a:p>
            <a:r>
              <a:rPr sz="1900" b="1" dirty="0">
                <a:solidFill>
                  <a:srgbClr val="003366"/>
                </a:solidFill>
              </a:rPr>
              <a:t>Topic tree browser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Hierarchical view of all available WIS2 topics</a:t>
            </a:r>
          </a:p>
          <a:p>
            <a:r>
              <a:rPr sz="1900" b="1" dirty="0">
                <a:solidFill>
                  <a:srgbClr val="003366"/>
                </a:solidFill>
              </a:rPr>
              <a:t>Language switcher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English, French, Spanish, Arabic, Chinese, Russian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Understanding WIS2 Topics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>
                <a:solidFill>
                  <a:srgbClr val="003366"/>
                </a:solidFill>
              </a:rPr>
              <a:t>MQTT topic hierarchy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{origin|cache}/a/wis2/{centre-id}/data/{data-policy}/{domain}/...</a:t>
            </a:r>
          </a:p>
          <a:p>
            <a:r>
              <a:rPr sz="1900" b="1">
                <a:solidFill>
                  <a:srgbClr val="003366"/>
                </a:solidFill>
              </a:rPr>
              <a:t>Wildcard characters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+  matches a single topic level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#  matches all remaining levels (must be last)</a:t>
            </a:r>
          </a:p>
          <a:p>
            <a:r>
              <a:rPr sz="1900" b="1">
                <a:solidFill>
                  <a:srgbClr val="003366"/>
                </a:solidFill>
              </a:rPr>
              <a:t>Example subscriptions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origin/a/wis2/+/data/core/#  - all core data from any centre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origin/a/wis2/ro-roshydromet/data/core/weather/surface-based-observations/#</a:t>
            </a:r>
          </a:p>
          <a:p>
            <a:r>
              <a:rPr sz="1900" b="1">
                <a:solidFill>
                  <a:srgbClr val="003366"/>
                </a:solidFill>
              </a:rPr>
              <a:t>Data policies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core - freely available, no restrictions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recommended - available with conditions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Managing Subscriptions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Create via Web UI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Enter topic pattern and optional target sub-directory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Add filter rules interactively</a:t>
            </a:r>
          </a:p>
          <a:p>
            <a:r>
              <a:rPr sz="1900" b="1" dirty="0">
                <a:solidFill>
                  <a:srgbClr val="003366"/>
                </a:solidFill>
              </a:rPr>
              <a:t>Create via REST API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POST /subscriptions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{ "topic": "origin/a/wis2/+/data/core/#", "target": "</a:t>
            </a:r>
            <a:r>
              <a:rPr sz="1700" b="0" dirty="0" err="1">
                <a:solidFill>
                  <a:srgbClr val="005BA6"/>
                </a:solidFill>
              </a:rPr>
              <a:t>mydata</a:t>
            </a:r>
            <a:r>
              <a:rPr sz="1700" b="0" dirty="0">
                <a:solidFill>
                  <a:srgbClr val="005BA6"/>
                </a:solidFill>
              </a:rPr>
              <a:t>" }</a:t>
            </a:r>
          </a:p>
          <a:p>
            <a:r>
              <a:rPr sz="1900" b="1" dirty="0">
                <a:solidFill>
                  <a:srgbClr val="003366"/>
                </a:solidFill>
              </a:rPr>
              <a:t>List active subscriptions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GET /subscriptions</a:t>
            </a:r>
          </a:p>
          <a:p>
            <a:r>
              <a:rPr sz="1900" b="1" dirty="0">
                <a:solidFill>
                  <a:srgbClr val="003366"/>
                </a:solidFill>
              </a:rPr>
              <a:t>Delete a subscription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DELETE /subscriptions/{topic</a:t>
            </a:r>
            <a:r>
              <a:rPr lang="en-US" sz="1700" b="0" dirty="0">
                <a:solidFill>
                  <a:srgbClr val="005BA6"/>
                </a:solidFill>
              </a:rPr>
              <a:t>}</a:t>
            </a:r>
            <a:endParaRPr sz="1700" b="0" dirty="0">
              <a:solidFill>
                <a:srgbClr val="005BA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Filtering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Optional filter object attached to each subscription</a:t>
            </a:r>
          </a:p>
          <a:p>
            <a:r>
              <a:rPr sz="1900" b="1" dirty="0">
                <a:solidFill>
                  <a:srgbClr val="003366"/>
                </a:solidFill>
              </a:rPr>
              <a:t>Ordered rule evaluation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Rules are evaluated in order; first match wins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Default action when no rule matches: accept</a:t>
            </a:r>
          </a:p>
          <a:p>
            <a:r>
              <a:rPr sz="1900" b="1" dirty="0">
                <a:solidFill>
                  <a:srgbClr val="003366"/>
                </a:solidFill>
              </a:rPr>
              <a:t>Filter stages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Pre-</a:t>
            </a:r>
            <a:r>
              <a:rPr lang="en-US" sz="1700" b="0" dirty="0">
                <a:solidFill>
                  <a:srgbClr val="005BA6"/>
                </a:solidFill>
              </a:rPr>
              <a:t>download</a:t>
            </a:r>
            <a:r>
              <a:rPr sz="1700" b="0" dirty="0">
                <a:solidFill>
                  <a:srgbClr val="005BA6"/>
                </a:solidFill>
              </a:rPr>
              <a:t> - evaluate WIS2 notification metadata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P</a:t>
            </a:r>
            <a:r>
              <a:rPr lang="en-US" sz="1700" b="0" dirty="0">
                <a:solidFill>
                  <a:srgbClr val="005BA6"/>
                </a:solidFill>
              </a:rPr>
              <a:t>ost</a:t>
            </a:r>
            <a:r>
              <a:rPr sz="1700" b="0" dirty="0">
                <a:solidFill>
                  <a:srgbClr val="005BA6"/>
                </a:solidFill>
              </a:rPr>
              <a:t>-download - evaluate the downloaded file content</a:t>
            </a:r>
          </a:p>
          <a:p>
            <a:r>
              <a:rPr sz="1900" b="1" dirty="0">
                <a:solidFill>
                  <a:srgbClr val="003366"/>
                </a:solidFill>
              </a:rPr>
              <a:t>Built-in conditions</a:t>
            </a:r>
          </a:p>
          <a:p>
            <a:pPr lvl="1"/>
            <a:r>
              <a:rPr sz="1700" b="0" dirty="0" err="1">
                <a:solidFill>
                  <a:srgbClr val="005BA6"/>
                </a:solidFill>
              </a:rPr>
              <a:t>accepted_media_types</a:t>
            </a:r>
            <a:r>
              <a:rPr sz="1700" b="0" dirty="0">
                <a:solidFill>
                  <a:srgbClr val="005BA6"/>
                </a:solidFill>
              </a:rPr>
              <a:t> - allow list of MIME types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Default: BUFR, GRIB, </a:t>
            </a:r>
            <a:r>
              <a:rPr sz="1700" b="0" dirty="0" err="1">
                <a:solidFill>
                  <a:srgbClr val="005BA6"/>
                </a:solidFill>
              </a:rPr>
              <a:t>NetCDF</a:t>
            </a:r>
            <a:r>
              <a:rPr sz="1700" b="0" dirty="0">
                <a:solidFill>
                  <a:srgbClr val="005BA6"/>
                </a:solidFill>
              </a:rPr>
              <a:t>, HDF, GIF, JPEG, PNG, TIFF, PDF, text</a:t>
            </a:r>
          </a:p>
          <a:p>
            <a:r>
              <a:rPr sz="1900" b="1" dirty="0">
                <a:solidFill>
                  <a:srgbClr val="003366"/>
                </a:solidFill>
              </a:rPr>
              <a:t>Custom conditions can be added by developers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File Organisation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Base directory: </a:t>
            </a:r>
            <a:r>
              <a:rPr lang="en-US" sz="1900" b="1" dirty="0">
                <a:solidFill>
                  <a:srgbClr val="003366"/>
                </a:solidFill>
              </a:rPr>
              <a:t>./</a:t>
            </a:r>
            <a:r>
              <a:rPr sz="1900" b="1" dirty="0">
                <a:solidFill>
                  <a:srgbClr val="003366"/>
                </a:solidFill>
              </a:rPr>
              <a:t>downloads</a:t>
            </a:r>
          </a:p>
          <a:p>
            <a:r>
              <a:rPr sz="1900" b="1" dirty="0">
                <a:solidFill>
                  <a:srgbClr val="003366"/>
                </a:solidFill>
              </a:rPr>
              <a:t>Date-based sub-directories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downloads/YYYY/MM/DD</a:t>
            </a:r>
            <a:r>
              <a:rPr lang="en-US" sz="1700" b="0" dirty="0">
                <a:solidFill>
                  <a:srgbClr val="005BA6"/>
                </a:solidFill>
              </a:rPr>
              <a:t>/&lt;original-filename&gt;</a:t>
            </a:r>
          </a:p>
          <a:p>
            <a:pPr lvl="1"/>
            <a:r>
              <a:rPr lang="en-US" sz="1700" b="0" dirty="0">
                <a:solidFill>
                  <a:srgbClr val="005BA6"/>
                </a:solidFill>
              </a:rPr>
              <a:t>Date derived from download timestamp (UTC)</a:t>
            </a:r>
          </a:p>
          <a:p>
            <a:r>
              <a:rPr sz="1900" b="1" dirty="0">
                <a:solidFill>
                  <a:srgbClr val="003366"/>
                </a:solidFill>
              </a:rPr>
              <a:t>Optional target sub-directory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Specified per subscription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downloads</a:t>
            </a:r>
            <a:r>
              <a:rPr lang="en-US" sz="1700" dirty="0">
                <a:solidFill>
                  <a:srgbClr val="005BA6"/>
                </a:solidFill>
              </a:rPr>
              <a:t> /&lt;target &gt;</a:t>
            </a:r>
            <a:r>
              <a:rPr sz="1700" b="0" dirty="0">
                <a:solidFill>
                  <a:srgbClr val="005BA6"/>
                </a:solidFill>
              </a:rPr>
              <a:t>/YYYY/MM/DD</a:t>
            </a:r>
            <a:r>
              <a:rPr lang="en-US" sz="1700" b="0" dirty="0">
                <a:solidFill>
                  <a:srgbClr val="005BA6"/>
                </a:solidFill>
              </a:rPr>
              <a:t>/&lt;filename&gt;</a:t>
            </a:r>
            <a:endParaRPr sz="1700" b="0" dirty="0">
              <a:solidFill>
                <a:srgbClr val="005BA6"/>
              </a:solidFill>
            </a:endParaRPr>
          </a:p>
          <a:p>
            <a:r>
              <a:rPr sz="1900" b="1" dirty="0">
                <a:solidFill>
                  <a:srgbClr val="003366"/>
                </a:solidFill>
              </a:rPr>
              <a:t>Original filenames are preserved</a:t>
            </a:r>
          </a:p>
          <a:p>
            <a:r>
              <a:rPr sz="1900" b="1" dirty="0">
                <a:solidFill>
                  <a:srgbClr val="003366"/>
                </a:solidFill>
              </a:rPr>
              <a:t>Duplicate detection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Redis tracks notification IDs to avoid re-downloading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SHA-512 checksum verified against notification metadata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729" y="119989"/>
            <a:ext cx="10515600" cy="1325563"/>
          </a:xfrm>
        </p:spPr>
        <p:txBody>
          <a:bodyPr/>
          <a:lstStyle/>
          <a:p>
            <a:r>
              <a:rPr dirty="0">
                <a:solidFill>
                  <a:srgbClr val="003366"/>
                </a:solidFill>
              </a:rPr>
              <a:t>Monitoring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8729" y="965652"/>
            <a:ext cx="10515600" cy="1500187"/>
          </a:xfrm>
        </p:spPr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Health check endpoint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GET </a:t>
            </a:r>
            <a:r>
              <a:rPr lang="en-US" sz="1700" b="0" dirty="0">
                <a:solidFill>
                  <a:srgbClr val="005BA6"/>
                </a:solidFill>
              </a:rPr>
              <a:t>/</a:t>
            </a:r>
            <a:r>
              <a:rPr lang="en-US" sz="1700" b="0" dirty="0" err="1">
                <a:solidFill>
                  <a:srgbClr val="005BA6"/>
                </a:solidFill>
              </a:rPr>
              <a:t>api</a:t>
            </a:r>
            <a:r>
              <a:rPr sz="1700" b="0" dirty="0">
                <a:solidFill>
                  <a:srgbClr val="005BA6"/>
                </a:solidFill>
              </a:rPr>
              <a:t>/health  - always returns 200 OK</a:t>
            </a:r>
          </a:p>
          <a:p>
            <a:r>
              <a:rPr sz="1900" b="1" dirty="0">
                <a:solidFill>
                  <a:srgbClr val="003366"/>
                </a:solidFill>
              </a:rPr>
              <a:t>Prometheus metrics endpoint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GET </a:t>
            </a:r>
            <a:r>
              <a:rPr lang="en-US" sz="1700" b="0" dirty="0">
                <a:solidFill>
                  <a:srgbClr val="005BA6"/>
                </a:solidFill>
              </a:rPr>
              <a:t>/</a:t>
            </a:r>
            <a:r>
              <a:rPr lang="en-US" sz="1700" b="0" dirty="0" err="1">
                <a:solidFill>
                  <a:srgbClr val="005BA6"/>
                </a:solidFill>
              </a:rPr>
              <a:t>api</a:t>
            </a:r>
            <a:r>
              <a:rPr sz="1700" b="0" dirty="0">
                <a:solidFill>
                  <a:srgbClr val="005BA6"/>
                </a:solidFill>
              </a:rPr>
              <a:t>/metrics</a:t>
            </a:r>
          </a:p>
          <a:p>
            <a:r>
              <a:rPr sz="1900" b="1" dirty="0">
                <a:solidFill>
                  <a:srgbClr val="003366"/>
                </a:solidFill>
              </a:rPr>
              <a:t>Key metrics exposed</a:t>
            </a:r>
          </a:p>
          <a:p>
            <a:pPr lvl="1"/>
            <a:r>
              <a:rPr sz="1700" b="0" dirty="0" err="1">
                <a:solidFill>
                  <a:srgbClr val="005BA6"/>
                </a:solidFill>
              </a:rPr>
              <a:t>notifications_total</a:t>
            </a:r>
            <a:r>
              <a:rPr sz="1700" b="0" dirty="0">
                <a:solidFill>
                  <a:srgbClr val="005BA6"/>
                </a:solidFill>
              </a:rPr>
              <a:t>  - WIS2 notifications received</a:t>
            </a:r>
          </a:p>
          <a:p>
            <a:pPr lvl="1"/>
            <a:r>
              <a:rPr sz="1700" b="0" dirty="0" err="1">
                <a:solidFill>
                  <a:srgbClr val="005BA6"/>
                </a:solidFill>
              </a:rPr>
              <a:t>downloads_total</a:t>
            </a:r>
            <a:r>
              <a:rPr sz="1700" b="0" dirty="0">
                <a:solidFill>
                  <a:srgbClr val="005BA6"/>
                </a:solidFill>
              </a:rPr>
              <a:t>  - files successfully downloaded</a:t>
            </a:r>
          </a:p>
          <a:p>
            <a:pPr lvl="1"/>
            <a:r>
              <a:rPr sz="1700" b="0" dirty="0" err="1">
                <a:solidFill>
                  <a:srgbClr val="005BA6"/>
                </a:solidFill>
              </a:rPr>
              <a:t>downloads_bytes_total</a:t>
            </a:r>
            <a:r>
              <a:rPr sz="1700" b="0" dirty="0">
                <a:solidFill>
                  <a:srgbClr val="005BA6"/>
                </a:solidFill>
              </a:rPr>
              <a:t>  - total bytes downloaded</a:t>
            </a:r>
          </a:p>
          <a:p>
            <a:pPr lvl="1"/>
            <a:r>
              <a:rPr sz="1700" b="0" dirty="0" err="1">
                <a:solidFill>
                  <a:srgbClr val="005BA6"/>
                </a:solidFill>
              </a:rPr>
              <a:t>skipped_total</a:t>
            </a:r>
            <a:r>
              <a:rPr sz="1700" b="0" dirty="0">
                <a:solidFill>
                  <a:srgbClr val="005BA6"/>
                </a:solidFill>
              </a:rPr>
              <a:t>  - notifications skipped by filters</a:t>
            </a:r>
          </a:p>
          <a:p>
            <a:pPr lvl="1"/>
            <a:r>
              <a:rPr sz="1700" b="0" dirty="0" err="1">
                <a:solidFill>
                  <a:srgbClr val="005BA6"/>
                </a:solidFill>
              </a:rPr>
              <a:t>failed_total</a:t>
            </a:r>
            <a:r>
              <a:rPr sz="1700" b="0" dirty="0">
                <a:solidFill>
                  <a:srgbClr val="005BA6"/>
                </a:solidFill>
              </a:rPr>
              <a:t>  - download failures</a:t>
            </a:r>
          </a:p>
          <a:p>
            <a:pPr lvl="1"/>
            <a:r>
              <a:rPr sz="1700" b="0" dirty="0" err="1">
                <a:solidFill>
                  <a:srgbClr val="005BA6"/>
                </a:solidFill>
              </a:rPr>
              <a:t>celery_queue_length</a:t>
            </a:r>
            <a:r>
              <a:rPr sz="1700" b="0" dirty="0">
                <a:solidFill>
                  <a:srgbClr val="005BA6"/>
                </a:solidFill>
              </a:rPr>
              <a:t>  - pending download tasks</a:t>
            </a:r>
            <a:endParaRPr lang="en-US" sz="1700" b="0" dirty="0">
              <a:solidFill>
                <a:srgbClr val="005BA6"/>
              </a:solidFill>
            </a:endParaRPr>
          </a:p>
          <a:p>
            <a:pPr lvl="1"/>
            <a:r>
              <a:rPr lang="en-US" sz="1700" dirty="0" err="1">
                <a:solidFill>
                  <a:srgbClr val="005BA6"/>
                </a:solidFill>
              </a:rPr>
              <a:t>disk_total_bytes</a:t>
            </a:r>
            <a:r>
              <a:rPr lang="en-US" sz="1700" dirty="0">
                <a:solidFill>
                  <a:srgbClr val="005BA6"/>
                </a:solidFill>
              </a:rPr>
              <a:t> – total space on disk</a:t>
            </a:r>
          </a:p>
          <a:p>
            <a:pPr lvl="1"/>
            <a:r>
              <a:rPr lang="en-US" sz="1700" dirty="0" err="1">
                <a:solidFill>
                  <a:srgbClr val="005BA6"/>
                </a:solidFill>
              </a:rPr>
              <a:t>disk_used_bytes</a:t>
            </a:r>
            <a:r>
              <a:rPr lang="en-US" sz="1700" dirty="0">
                <a:solidFill>
                  <a:srgbClr val="005BA6"/>
                </a:solidFill>
              </a:rPr>
              <a:t> – used space on disk</a:t>
            </a:r>
          </a:p>
          <a:p>
            <a:pPr lvl="1"/>
            <a:r>
              <a:rPr lang="en-US" sz="1700" dirty="0" err="1">
                <a:solidFill>
                  <a:srgbClr val="005BA6"/>
                </a:solidFill>
              </a:rPr>
              <a:t>disk_free_bytes</a:t>
            </a:r>
            <a:r>
              <a:rPr lang="en-US" sz="1700" dirty="0">
                <a:solidFill>
                  <a:srgbClr val="005BA6"/>
                </a:solidFill>
              </a:rPr>
              <a:t> – unused space on disk</a:t>
            </a:r>
          </a:p>
          <a:p>
            <a:pPr lvl="1"/>
            <a:r>
              <a:rPr lang="en-US" sz="1700" dirty="0" err="1">
                <a:solidFill>
                  <a:srgbClr val="005BA6"/>
                </a:solidFill>
              </a:rPr>
              <a:t>disk_downloads_bytes</a:t>
            </a:r>
            <a:r>
              <a:rPr lang="en-US" sz="1700" dirty="0">
                <a:solidFill>
                  <a:srgbClr val="005BA6"/>
                </a:solidFill>
              </a:rPr>
              <a:t> – disk space taken by downloads folder</a:t>
            </a:r>
            <a:endParaRPr sz="1700" dirty="0">
              <a:solidFill>
                <a:srgbClr val="005BA6"/>
              </a:solidFill>
            </a:endParaRPr>
          </a:p>
          <a:p>
            <a:r>
              <a:rPr sz="1900" b="1" dirty="0">
                <a:solidFill>
                  <a:srgbClr val="003366"/>
                </a:solidFill>
              </a:rPr>
              <a:t>Grafana dashboards with Prometheus and Loki data sources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REST API Reference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REST API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Base URL:  http://</a:t>
            </a:r>
            <a:r>
              <a:rPr lang="en-US" sz="1900" b="1" dirty="0">
                <a:solidFill>
                  <a:srgbClr val="003366"/>
                </a:solidFill>
              </a:rPr>
              <a:t>BASE_URL/api</a:t>
            </a:r>
            <a:endParaRPr sz="1900" b="1" dirty="0">
              <a:solidFill>
                <a:srgbClr val="003366"/>
              </a:solidFill>
            </a:endParaRPr>
          </a:p>
          <a:p>
            <a:r>
              <a:rPr sz="1900" b="1" dirty="0" err="1">
                <a:solidFill>
                  <a:srgbClr val="003366"/>
                </a:solidFill>
              </a:rPr>
              <a:t>OpenAPI</a:t>
            </a:r>
            <a:r>
              <a:rPr sz="1900" b="1" dirty="0">
                <a:solidFill>
                  <a:srgbClr val="003366"/>
                </a:solidFill>
              </a:rPr>
              <a:t> specification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GET /</a:t>
            </a:r>
            <a:r>
              <a:rPr sz="1700" b="0" dirty="0" err="1">
                <a:solidFill>
                  <a:srgbClr val="005BA6"/>
                </a:solidFill>
              </a:rPr>
              <a:t>openapi</a:t>
            </a:r>
            <a:r>
              <a:rPr sz="1700" b="0" dirty="0">
                <a:solidFill>
                  <a:srgbClr val="005BA6"/>
                </a:solidFill>
              </a:rPr>
              <a:t>  - machine-readable spec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GET /swagger  - interactive Swagger UI</a:t>
            </a:r>
          </a:p>
          <a:p>
            <a:r>
              <a:rPr sz="1900" b="1" dirty="0">
                <a:solidFill>
                  <a:srgbClr val="003366"/>
                </a:solidFill>
              </a:rPr>
              <a:t>Three endpoint groups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Subscriptions - CRUD operations on topic subscriptions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Monitoring - health check and Prometheus metrics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Documentation - </a:t>
            </a:r>
            <a:r>
              <a:rPr sz="1700" b="0" dirty="0" err="1">
                <a:solidFill>
                  <a:srgbClr val="005BA6"/>
                </a:solidFill>
              </a:rPr>
              <a:t>OpenAPI</a:t>
            </a:r>
            <a:r>
              <a:rPr sz="1700" b="0" dirty="0">
                <a:solidFill>
                  <a:srgbClr val="005BA6"/>
                </a:solidFill>
              </a:rPr>
              <a:t> spec and Swagger UI</a:t>
            </a:r>
          </a:p>
          <a:p>
            <a:r>
              <a:rPr sz="1900" b="1" dirty="0">
                <a:solidFill>
                  <a:srgbClr val="003366"/>
                </a:solidFill>
              </a:rPr>
              <a:t>No built-in authentication on the API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Protect with reverse proxy, firewall, or VPN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Subscription API Endpoints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>
                <a:solidFill>
                  <a:srgbClr val="003366"/>
                </a:solidFill>
              </a:rPr>
              <a:t>GET    /subscriptions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List all active subscriptions  (200 or 503)</a:t>
            </a:r>
          </a:p>
          <a:p>
            <a:r>
              <a:rPr sz="1900" b="1">
                <a:solidFill>
                  <a:srgbClr val="003366"/>
                </a:solidFill>
              </a:rPr>
              <a:t>POST   /subscriptions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Body: { "topic": "...", "target": "...", "filters": {...} }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Returns 202 (accepted), 400 (bad request), or 503</a:t>
            </a:r>
          </a:p>
          <a:p>
            <a:r>
              <a:rPr sz="1900" b="1">
                <a:solidFill>
                  <a:srgbClr val="003366"/>
                </a:solidFill>
              </a:rPr>
              <a:t>GET    /subscriptions/{topic}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Retrieve a specific subscription by topic  (200, 400, 404, 503)</a:t>
            </a:r>
          </a:p>
          <a:p>
            <a:r>
              <a:rPr sz="1900" b="1">
                <a:solidFill>
                  <a:srgbClr val="003366"/>
                </a:solidFill>
              </a:rPr>
              <a:t>DELETE /subscriptions/{topic}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Remove a subscription  (200, 400, or 503)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Monitoring API Endpoints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>
                <a:solidFill>
                  <a:srgbClr val="003366"/>
                </a:solidFill>
              </a:rPr>
              <a:t>GET /health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Lightweight health probe - always returns HTTP 200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Use in container health checks and load balancer probes</a:t>
            </a:r>
          </a:p>
          <a:p>
            <a:r>
              <a:rPr sz="1900" b="1">
                <a:solidFill>
                  <a:srgbClr val="003366"/>
                </a:solidFill>
              </a:rPr>
              <a:t>GET /metrics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Prometheus text-format metrics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Scrape with Prometheus; visualise in Grafana</a:t>
            </a:r>
          </a:p>
          <a:p>
            <a:r>
              <a:rPr sz="1900" b="1">
                <a:solidFill>
                  <a:srgbClr val="003366"/>
                </a:solidFill>
              </a:rPr>
              <a:t>GET /openapi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Full OpenAPI 3 specification in JSON</a:t>
            </a:r>
          </a:p>
          <a:p>
            <a:r>
              <a:rPr sz="1900" b="1">
                <a:solidFill>
                  <a:srgbClr val="003366"/>
                </a:solidFill>
              </a:rPr>
              <a:t>GET /swagger  or  GET /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Swagger UI for interactive API exploration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Administration Guide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Security Considerations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WIS2 Downloader has NO built-in authentication or </a:t>
            </a:r>
            <a:r>
              <a:rPr sz="1900" b="1" dirty="0" err="1">
                <a:solidFill>
                  <a:srgbClr val="003366"/>
                </a:solidFill>
              </a:rPr>
              <a:t>authorisation</a:t>
            </a:r>
            <a:endParaRPr sz="1900" b="1" dirty="0">
              <a:solidFill>
                <a:srgbClr val="003366"/>
              </a:solidFill>
            </a:endParaRPr>
          </a:p>
          <a:p>
            <a:pPr lvl="1"/>
            <a:r>
              <a:rPr sz="1700" b="0" dirty="0">
                <a:solidFill>
                  <a:srgbClr val="005BA6"/>
                </a:solidFill>
              </a:rPr>
              <a:t>Web interface and REST API are open by default</a:t>
            </a:r>
          </a:p>
          <a:p>
            <a:r>
              <a:rPr sz="1900" b="1" dirty="0">
                <a:solidFill>
                  <a:srgbClr val="003366"/>
                </a:solidFill>
              </a:rPr>
              <a:t>Required hardening steps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Set a strong, unique REDIS_PASSWORD (generated by setup.sh)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Use a cryptographically random FLASK_SECRET_KEY</a:t>
            </a:r>
          </a:p>
          <a:p>
            <a:r>
              <a:rPr sz="1900" b="1" dirty="0">
                <a:solidFill>
                  <a:srgbClr val="003366"/>
                </a:solidFill>
              </a:rPr>
              <a:t>Network-level protection (choose one or combine)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Reverse proxy with authentication (NGINX, </a:t>
            </a:r>
            <a:r>
              <a:rPr sz="1700" b="0" dirty="0" err="1">
                <a:solidFill>
                  <a:srgbClr val="005BA6"/>
                </a:solidFill>
              </a:rPr>
              <a:t>Traefik</a:t>
            </a:r>
            <a:r>
              <a:rPr sz="1700" b="0" dirty="0">
                <a:solidFill>
                  <a:srgbClr val="005BA6"/>
                </a:solidFill>
              </a:rPr>
              <a:t>, Caddy)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Firewall rules restricting access to trusted IP ranges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VPN - expose services only inside a private network</a:t>
            </a:r>
          </a:p>
          <a:p>
            <a:r>
              <a:rPr sz="1900" b="1" dirty="0">
                <a:solidFill>
                  <a:srgbClr val="003366"/>
                </a:solidFill>
              </a:rPr>
              <a:t>Container isolation: non-root user wis2 (UID 10001 / GID 988)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Scaling the Downloader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>
                <a:solidFill>
                  <a:srgbClr val="003366"/>
                </a:solidFill>
              </a:rPr>
              <a:t>Increase download throughput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Raise Celery worker concurrency in docker-compose.yml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Deploy additional Celery worker containers</a:t>
            </a:r>
          </a:p>
          <a:p>
            <a:r>
              <a:rPr sz="1900" b="1">
                <a:solidFill>
                  <a:srgbClr val="003366"/>
                </a:solidFill>
              </a:rPr>
              <a:t>Subscribe to multiple Global Brokers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Run additional subscriber service instances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Each subscriber connects to a different Global Broker</a:t>
            </a:r>
          </a:p>
          <a:p>
            <a:r>
              <a:rPr sz="1900" b="1">
                <a:solidFill>
                  <a:srgbClr val="003366"/>
                </a:solidFill>
              </a:rPr>
              <a:t>Shared state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All instances share a single Redis backend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Redis deduplication prevents duplicate downloads across instances</a:t>
            </a:r>
          </a:p>
          <a:p>
            <a:r>
              <a:rPr sz="1900" b="1">
                <a:solidFill>
                  <a:srgbClr val="003366"/>
                </a:solidFill>
              </a:rPr>
              <a:t>All scaling is horizontal - no application code changes required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Maintenance Tasks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>
                <a:solidFill>
                  <a:srgbClr val="003366"/>
                </a:solidFill>
              </a:rPr>
              <a:t>Data retention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Compress old downloads: tar -czf archive.tar.gz downloads/YYYY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Remove old date directories to free disk space</a:t>
            </a:r>
          </a:p>
          <a:p>
            <a:r>
              <a:rPr sz="1900" b="1">
                <a:solidFill>
                  <a:srgbClr val="003366"/>
                </a:solidFill>
              </a:rPr>
              <a:t>Redis snapshots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Redis RDB persistence enabled by default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Back up the redis-data volume regularly</a:t>
            </a:r>
          </a:p>
          <a:p>
            <a:r>
              <a:rPr sz="1900" b="1">
                <a:solidFill>
                  <a:srgbClr val="003366"/>
                </a:solidFill>
              </a:rPr>
              <a:t>Clearing state via Redis CLI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redis-cli DEL subscriptions  - remove all subscriptions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redis-cli FLUSHDB  - clear all cached data (use with caution)</a:t>
            </a:r>
          </a:p>
          <a:p>
            <a:r>
              <a:rPr sz="1900" b="1">
                <a:solidFill>
                  <a:srgbClr val="003366"/>
                </a:solidFill>
              </a:rPr>
              <a:t>Updating the downloader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docker compose pull &amp;&amp; docker compose up -d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Developer Guide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96" y="513010"/>
            <a:ext cx="10653404" cy="486533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Module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>
                <a:solidFill>
                  <a:srgbClr val="003366"/>
                </a:solidFill>
              </a:rPr>
              <a:t>modules/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shared/      - Redis client, logging, filter engine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subscriber/  - MQTT connectivity and notification handling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subscription_manager/  - Flask REST API + Redis persistence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task_manager/  - Celery workers, download logic, SHA-512 check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ui/  - NiceGUI web application, catalogue search, i18n</a:t>
            </a:r>
          </a:p>
          <a:p>
            <a:r>
              <a:rPr sz="1900" b="1">
                <a:solidFill>
                  <a:srgbClr val="003366"/>
                </a:solidFill>
              </a:rPr>
              <a:t>Key design patterns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Deduplication using three Redis keys per notification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Modular filter engine - pluggable rule conditions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Metrics stored as atomic Redis hashes</a:t>
            </a:r>
          </a:p>
          <a:p>
            <a:pPr lvl="1"/>
            <a:r>
              <a:rPr sz="1700" b="0">
                <a:solidFill>
                  <a:srgbClr val="005BA6"/>
                </a:solidFill>
              </a:rPr>
              <a:t>GDC hierarchy cached in Redis to reduce API calls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67" y="128593"/>
            <a:ext cx="10515600" cy="1325563"/>
          </a:xfrm>
        </p:spPr>
        <p:txBody>
          <a:bodyPr/>
          <a:lstStyle/>
          <a:p>
            <a:r>
              <a:rPr dirty="0">
                <a:solidFill>
                  <a:srgbClr val="003366"/>
                </a:solidFill>
              </a:rPr>
              <a:t>End-to-End Data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90" y="1191540"/>
            <a:ext cx="11784383" cy="453528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Extending the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Add a new filter condition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Implement the </a:t>
            </a:r>
            <a:r>
              <a:rPr sz="1700" b="0" dirty="0" err="1">
                <a:solidFill>
                  <a:srgbClr val="005BA6"/>
                </a:solidFill>
              </a:rPr>
              <a:t>FilterCondition</a:t>
            </a:r>
            <a:r>
              <a:rPr sz="1700" b="0" dirty="0">
                <a:solidFill>
                  <a:srgbClr val="005BA6"/>
                </a:solidFill>
              </a:rPr>
              <a:t> interface in modules/shared/filters/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Register condition in the filter engine factory</a:t>
            </a:r>
          </a:p>
          <a:p>
            <a:r>
              <a:rPr sz="1900" b="1" dirty="0">
                <a:solidFill>
                  <a:srgbClr val="003366"/>
                </a:solidFill>
              </a:rPr>
              <a:t>Add a new web UI view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Create a </a:t>
            </a:r>
            <a:r>
              <a:rPr sz="1700" b="0" dirty="0" err="1">
                <a:solidFill>
                  <a:srgbClr val="005BA6"/>
                </a:solidFill>
              </a:rPr>
              <a:t>NiceGUI</a:t>
            </a:r>
            <a:r>
              <a:rPr sz="1700" b="0" dirty="0">
                <a:solidFill>
                  <a:srgbClr val="005BA6"/>
                </a:solidFill>
              </a:rPr>
              <a:t> page module in modules/</a:t>
            </a:r>
            <a:r>
              <a:rPr sz="1700" b="0" dirty="0" err="1">
                <a:solidFill>
                  <a:srgbClr val="005BA6"/>
                </a:solidFill>
              </a:rPr>
              <a:t>ui</a:t>
            </a:r>
            <a:r>
              <a:rPr sz="1700" b="0" dirty="0">
                <a:solidFill>
                  <a:srgbClr val="005BA6"/>
                </a:solidFill>
              </a:rPr>
              <a:t>/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Register the route and keyboard shortcut</a:t>
            </a:r>
          </a:p>
          <a:p>
            <a:r>
              <a:rPr sz="1900" b="1" dirty="0">
                <a:solidFill>
                  <a:srgbClr val="003366"/>
                </a:solidFill>
              </a:rPr>
              <a:t>Add a new language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Create a translations/&lt;lang&gt;.</a:t>
            </a:r>
            <a:r>
              <a:rPr sz="1700" b="0" dirty="0" err="1">
                <a:solidFill>
                  <a:srgbClr val="005BA6"/>
                </a:solidFill>
              </a:rPr>
              <a:t>json</a:t>
            </a:r>
            <a:r>
              <a:rPr sz="1700" b="0" dirty="0">
                <a:solidFill>
                  <a:srgbClr val="005BA6"/>
                </a:solidFill>
              </a:rPr>
              <a:t> file with all UI keys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English is the automatic fallback for missing keys</a:t>
            </a:r>
          </a:p>
          <a:p>
            <a:r>
              <a:rPr sz="1900" b="1" dirty="0">
                <a:solidFill>
                  <a:srgbClr val="003366"/>
                </a:solidFill>
              </a:rPr>
              <a:t>Add new Prometheus metrics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Define metric names in modules/shared/metrics.py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Increment counters in </a:t>
            </a:r>
            <a:r>
              <a:rPr sz="1700" b="0" dirty="0" err="1">
                <a:solidFill>
                  <a:srgbClr val="005BA6"/>
                </a:solidFill>
              </a:rPr>
              <a:t>task_manager</a:t>
            </a:r>
            <a:r>
              <a:rPr sz="1700" b="0" dirty="0">
                <a:solidFill>
                  <a:srgbClr val="005BA6"/>
                </a:solidFill>
              </a:rPr>
              <a:t> or subscriber code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Key Takeaways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4250292"/>
          </a:xfrm>
        </p:spPr>
        <p:txBody>
          <a:bodyPr wrap="square"/>
          <a:lstStyle/>
          <a:p>
            <a:r>
              <a:rPr sz="1900" b="1" dirty="0">
                <a:solidFill>
                  <a:srgbClr val="003366"/>
                </a:solidFill>
              </a:rPr>
              <a:t>WIS2 Downloader simplifies WIS2 data acquisition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Docker-based deployment, up and running in minutes</a:t>
            </a:r>
          </a:p>
          <a:p>
            <a:r>
              <a:rPr sz="1900" b="1" dirty="0">
                <a:solidFill>
                  <a:srgbClr val="003366"/>
                </a:solidFill>
              </a:rPr>
              <a:t>Flexible subscription model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MQTT topic wildcards cover broad or narrow data interests</a:t>
            </a:r>
          </a:p>
          <a:p>
            <a:r>
              <a:rPr sz="1900" b="1" dirty="0">
                <a:solidFill>
                  <a:srgbClr val="003366"/>
                </a:solidFill>
              </a:rPr>
              <a:t>Production-ready features out of the box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Deduplication, SHA-512 verification, filtering, metrics</a:t>
            </a:r>
          </a:p>
          <a:p>
            <a:r>
              <a:rPr sz="1900" b="1" dirty="0">
                <a:solidFill>
                  <a:srgbClr val="003366"/>
                </a:solidFill>
              </a:rPr>
              <a:t>Horizontally scalable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Add workers or subscribers without code changes</a:t>
            </a:r>
          </a:p>
          <a:p>
            <a:r>
              <a:rPr sz="1900" b="1" dirty="0">
                <a:solidFill>
                  <a:srgbClr val="003366"/>
                </a:solidFill>
              </a:rPr>
              <a:t>Secure by configuration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No built-in auth - protect at network level with proxy/firewall/VPN</a:t>
            </a:r>
          </a:p>
          <a:p>
            <a:r>
              <a:rPr sz="1900" b="1" dirty="0">
                <a:solidFill>
                  <a:srgbClr val="003366"/>
                </a:solidFill>
              </a:rPr>
              <a:t>Active open-source project by WMO</a:t>
            </a:r>
          </a:p>
          <a:p>
            <a:pPr lvl="1"/>
            <a:r>
              <a:rPr sz="1700" b="0" dirty="0">
                <a:solidFill>
                  <a:srgbClr val="005BA6"/>
                </a:solidFill>
              </a:rPr>
              <a:t>github.com/World-Meteorological-Organization/wis2downloader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3366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haredContentType xmlns="Microsoft.SharePoint.Taxonomy.ContentTypeSync" SourceId="92a3b380-abf6-46f2-87bb-c2c114de1c9e" ContentTypeId="0x01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7C743B0C14BF418674EDFBC5E19CEC" ma:contentTypeVersion="22" ma:contentTypeDescription="Create a new document." ma:contentTypeScope="" ma:versionID="b7611a4f4c63f282aee2c79da466ba1a">
  <xsd:schema xmlns:xsd="http://www.w3.org/2001/XMLSchema" xmlns:xs="http://www.w3.org/2001/XMLSchema" xmlns:p="http://schemas.microsoft.com/office/2006/metadata/properties" xmlns:ns2="715fcdb6-58ff-4d84-993c-bb26a5b54815" xmlns:ns3="9996376c-d155-4c06-a6f7-9446654fe5b0" xmlns:ns4="d9077237-dcd8-428c-850a-f3e97ec3fc15" targetNamespace="http://schemas.microsoft.com/office/2006/metadata/properties" ma:root="true" ma:fieldsID="11b323c045453132b85a4ff935654bb5" ns2:_="" ns3:_="" ns4:_="">
    <xsd:import namespace="715fcdb6-58ff-4d84-993c-bb26a5b54815"/>
    <xsd:import namespace="9996376c-d155-4c06-a6f7-9446654fe5b0"/>
    <xsd:import namespace="d9077237-dcd8-428c-850a-f3e97ec3fc15"/>
    <xsd:element name="properties">
      <xsd:complexType>
        <xsd:sequence>
          <xsd:element name="documentManagement">
            <xsd:complexType>
              <xsd:all>
                <xsd:element ref="ns2:WMOWFApprovalStatus" minOccurs="0"/>
                <xsd:element ref="ns3:_dlc_DocId" minOccurs="0"/>
                <xsd:element ref="ns3:_dlc_DocIdUrl" minOccurs="0"/>
                <xsd:element ref="ns3:_dlc_DocIdPersistId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lcf76f155ced4ddcb4097134ff3c332f" minOccurs="0"/>
                <xsd:element ref="ns3:TaxCatchAll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fcdb6-58ff-4d84-993c-bb26a5b54815" elementFormDefault="qualified">
    <xsd:import namespace="http://schemas.microsoft.com/office/2006/documentManagement/types"/>
    <xsd:import namespace="http://schemas.microsoft.com/office/infopath/2007/PartnerControls"/>
    <xsd:element name="WMOWFApprovalStatus" ma:index="2" nillable="true" ma:displayName="Workflow Approval Status" ma:default="Not Submitted" ma:format="Dropdown" ma:internalName="WMOWFApprovalStatus">
      <xsd:simpleType>
        <xsd:restriction base="dms:Choice">
          <xsd:enumeration value="Not Submitted"/>
          <xsd:enumeration value="Pending for Review"/>
          <xsd:enumeration value="Pending for Consolidation"/>
          <xsd:enumeration value="Pending for Approval"/>
          <xsd:enumeration value="Approved"/>
          <xsd:enumeration value="Rejected by Approver"/>
          <xsd:enumeration value="Cancelled by Requestor"/>
          <xsd:enumeration value="In Progress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96376c-d155-4c06-a6f7-9446654fe5b0" elementFormDefault="qualified">
    <xsd:import namespace="http://schemas.microsoft.com/office/2006/documentManagement/types"/>
    <xsd:import namespace="http://schemas.microsoft.com/office/infopath/2007/PartnerControls"/>
    <xsd:element name="_dlc_DocId" ma:index="7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8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9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0" nillable="true" ma:displayName="Taxonomy Catch All Column" ma:hidden="true" ma:list="{7dd2bddf-9943-4602-9a84-928f445cc5c9}" ma:internalName="TaxCatchAll" ma:showField="CatchAllData" ma:web="9996376c-d155-4c06-a6f7-9446654fe5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7237-dcd8-428c-850a-f3e97ec3fc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2a3b380-abf6-46f2-87bb-c2c114de1c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996376c-d155-4c06-a6f7-9446654fe5b0" xsi:nil="true"/>
    <lcf76f155ced4ddcb4097134ff3c332f xmlns="d9077237-dcd8-428c-850a-f3e97ec3fc15">
      <Terms xmlns="http://schemas.microsoft.com/office/infopath/2007/PartnerControls"/>
    </lcf76f155ced4ddcb4097134ff3c332f>
    <WMOWFApprovalStatus xmlns="715fcdb6-58ff-4d84-993c-bb26a5b54815">Not Submitted</WMOWFApprovalStatus>
    <_dlc_DocId xmlns="9996376c-d155-4c06-a6f7-9446654fe5b0">WMOWIS-85932053-6450268</_dlc_DocId>
    <_dlc_DocIdUrl xmlns="9996376c-d155-4c06-a6f7-9446654fe5b0">
      <Url>https://wmoomm.sharepoint.com/sites/Infrastructure-WIS/_layouts/15/DocIdRedir.aspx?ID=WMOWIS-85932053-6450268</Url>
      <Description>WMOWIS-85932053-6450268</Description>
    </_dlc_DocIdUrl>
  </documentManagement>
</p:properties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8BE4227F-095C-4C81-9AB8-6EA67F4B64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41F62B-A0F1-48FF-83F6-630A239B75B4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0C1BDD77-3B9D-4F6A-B4F2-22924A7EB0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5fcdb6-58ff-4d84-993c-bb26a5b54815"/>
    <ds:schemaRef ds:uri="9996376c-d155-4c06-a6f7-9446654fe5b0"/>
    <ds:schemaRef ds:uri="d9077237-dcd8-428c-850a-f3e97ec3fc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57B972B-DAF9-46BA-BF61-E7CC1EBA706B}">
  <ds:schemaRefs>
    <ds:schemaRef ds:uri="3c76eea2-c21a-46e1-8f98-cfc2ba460d51"/>
    <ds:schemaRef ds:uri="96d886eb-95f6-47f3-bdfb-70dab5061c6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32697be0-4917-4b48-9b03-a68f538f312a"/>
    <ds:schemaRef ds:uri="9996376c-d155-4c06-a6f7-9446654fe5b0"/>
    <ds:schemaRef ds:uri="d9077237-dcd8-428c-850a-f3e97ec3fc15"/>
    <ds:schemaRef ds:uri="715fcdb6-58ff-4d84-993c-bb26a5b54815"/>
  </ds:schemaRefs>
</ds:datastoreItem>
</file>

<file path=customXml/itemProps5.xml><?xml version="1.0" encoding="utf-8"?>
<ds:datastoreItem xmlns:ds="http://schemas.openxmlformats.org/officeDocument/2006/customXml" ds:itemID="{08F5DF82-D920-45C1-9CC4-34C165BA9175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e962d134-526b-49fe-8fc7-dd80537250d0}" enabled="1" method="Standard" siteId="{eaa6be54-4687-40c4-9827-c044bd8e8d3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17914</TotalTime>
  <Words>1733</Words>
  <Application>Microsoft Office PowerPoint</Application>
  <PresentationFormat>Widescreen</PresentationFormat>
  <Paragraphs>267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Custom Design</vt:lpstr>
      <vt:lpstr>1_Custom Design</vt:lpstr>
      <vt:lpstr>Office Theme</vt:lpstr>
      <vt:lpstr>WIS2 Downloader: A detailed look inside</vt:lpstr>
      <vt:lpstr>Agenda</vt:lpstr>
      <vt:lpstr>Introduction</vt:lpstr>
      <vt:lpstr>What is WIS2?</vt:lpstr>
      <vt:lpstr>What is WIS2 Downloader?</vt:lpstr>
      <vt:lpstr>Key Features</vt:lpstr>
      <vt:lpstr>System Requirements</vt:lpstr>
      <vt:lpstr>Quick Start</vt:lpstr>
      <vt:lpstr>Installation</vt:lpstr>
      <vt:lpstr>First Steps after Launch</vt:lpstr>
      <vt:lpstr>User Guide</vt:lpstr>
      <vt:lpstr>Web Interface</vt:lpstr>
      <vt:lpstr>Understanding WIS2 Topics</vt:lpstr>
      <vt:lpstr>Managing Subscriptions</vt:lpstr>
      <vt:lpstr>Filtering System</vt:lpstr>
      <vt:lpstr>File Organisation</vt:lpstr>
      <vt:lpstr>Monitoring</vt:lpstr>
      <vt:lpstr>REST API Reference</vt:lpstr>
      <vt:lpstr>REST API Overview</vt:lpstr>
      <vt:lpstr>Subscription API Endpoints</vt:lpstr>
      <vt:lpstr>Monitoring API Endpoints</vt:lpstr>
      <vt:lpstr>Administration Guide</vt:lpstr>
      <vt:lpstr>Security Considerations</vt:lpstr>
      <vt:lpstr>Scaling the Downloader</vt:lpstr>
      <vt:lpstr>Maintenance Tasks</vt:lpstr>
      <vt:lpstr>Developer Guide</vt:lpstr>
      <vt:lpstr>System Architecture</vt:lpstr>
      <vt:lpstr>Module Structure</vt:lpstr>
      <vt:lpstr>End-to-End Data Flow</vt:lpstr>
      <vt:lpstr>Extending the System</vt:lpstr>
      <vt:lpstr>Key Takeaways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Etienne Charpentier</dc:creator>
  <cp:lastModifiedBy>Alberto Helguera Fleitas</cp:lastModifiedBy>
  <cp:revision>117</cp:revision>
  <dcterms:created xsi:type="dcterms:W3CDTF">2021-11-18T10:14:05Z</dcterms:created>
  <dcterms:modified xsi:type="dcterms:W3CDTF">2026-04-02T01:35:17Z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0x0101002B7C743B0C14BF418674EDFBC5E19CEC</vt:lpwstr>
  </property>
  <property fmtid="{D5CDD505-2E9C-101B-9397-08002B2CF9AE}" pid="3" name="MediaServiceImageTags">
    <vt:lpwstr/>
  </property>
  <property fmtid="{D5CDD505-2E9C-101B-9397-08002B2CF9AE}" pid="4" name="_dlc_DocIdItemGuid">
    <vt:lpwstr>ad30fbf0-a0ca-4ede-a4d9-fd06faacb0b6</vt:lpwstr>
  </property>
</Properties>
</file>