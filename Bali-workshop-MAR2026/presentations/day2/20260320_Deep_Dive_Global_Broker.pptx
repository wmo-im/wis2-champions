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2" r:id="rId6"/>
    <p:sldMasterId id="2147483682" r:id="rId7"/>
  </p:sldMasterIdLst>
  <p:notesMasterIdLst>
    <p:notesMasterId r:id="rId35"/>
  </p:notesMasterIdLst>
  <p:sldIdLst>
    <p:sldId id="256" r:id="rId8"/>
    <p:sldId id="422" r:id="rId9"/>
    <p:sldId id="2147472741" r:id="rId10"/>
    <p:sldId id="2147472744" r:id="rId11"/>
    <p:sldId id="4199" r:id="rId12"/>
    <p:sldId id="4200" r:id="rId13"/>
    <p:sldId id="2147472727" r:id="rId14"/>
    <p:sldId id="2147472725" r:id="rId15"/>
    <p:sldId id="2147472749" r:id="rId16"/>
    <p:sldId id="2147472750" r:id="rId17"/>
    <p:sldId id="2147472752" r:id="rId18"/>
    <p:sldId id="2147472753" r:id="rId19"/>
    <p:sldId id="2147472754" r:id="rId20"/>
    <p:sldId id="2147472755" r:id="rId21"/>
    <p:sldId id="2147472756" r:id="rId22"/>
    <p:sldId id="2147472758" r:id="rId23"/>
    <p:sldId id="642" r:id="rId24"/>
    <p:sldId id="643" r:id="rId25"/>
    <p:sldId id="644" r:id="rId26"/>
    <p:sldId id="649" r:id="rId27"/>
    <p:sldId id="650" r:id="rId28"/>
    <p:sldId id="645" r:id="rId29"/>
    <p:sldId id="2147472757" r:id="rId30"/>
    <p:sldId id="2147472759" r:id="rId31"/>
    <p:sldId id="2147472760" r:id="rId32"/>
    <p:sldId id="2147472761" r:id="rId33"/>
    <p:sldId id="260" r:id="rId34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62"/>
    <p:restoredTop sz="94928"/>
  </p:normalViewPr>
  <p:slideViewPr>
    <p:cSldViewPr snapToGrid="0">
      <p:cViewPr>
        <p:scale>
          <a:sx n="152" d="100"/>
          <a:sy n="152" d="100"/>
        </p:scale>
        <p:origin x="544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349E3-BD58-4A2F-B5C1-8E30844E5399}" type="datetimeFigureOut">
              <a:t>20/03/2026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3D0E6-72E8-4603-8950-287316970F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22FE-6E3F-06E7-D36D-98F15080C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A29C9-7297-EF1D-F8D5-7027FB6C7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B40AE-38AA-62D0-C380-A5C0DC454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2E438-1463-1033-8FA8-F59C26253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CD7448-BA1D-3742-9819-D3EC6E0D6AB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493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AACF1-7FDA-5866-0EB2-0CA49168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299D6-DB66-6B8E-C40A-F5C213513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49FC9-4244-8944-75B2-702FC63F7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D1058-78C0-27B6-C4D2-C480B2928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541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40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E475-2D6E-6A9E-DAB0-AAA4D669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C5078-1A42-DFF3-F8CC-F483EBCF7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5D92A-77DC-ED7E-5844-64B4923AF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25B69-E7DD-67B6-FBE5-A994AEF7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32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6EF4-BB43-83A5-97A8-B96C1C6D1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4AF9A-3AC5-11A7-7306-184540F66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118C3-59F2-0E6E-216D-539D55512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7F21F-A9ED-A266-16B2-4A0718D89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81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17F7-F47C-3E09-5BB2-456284F0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025EC-8111-A8F1-4593-A50126FCF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1F666-43C5-96A3-109B-812B3C20A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154B1-E52B-82B8-4A97-178934B2E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426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1AF00-1B63-469E-B0C1-CE6A4DB2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09856-D131-265B-25D3-2AE50627C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E466A-126C-5C4E-AD7A-CE15AE1C3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C2DBD-5266-0454-031D-44E79B9D6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3222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8169-6F56-FACC-5892-E40F368C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ED3F1-56CF-DD7B-B3C6-9B8851E17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E4F4C-59FF-815C-A232-0F20A2004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B5D2D-AC24-81C9-606C-CE22EF7F7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9008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C2520-8F5C-6AF4-1F34-418422CF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D2F0C-C160-A9FB-337C-4D7F65BA2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1921E-E119-E77D-91CE-FC7ED49A1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9630E-6068-71F6-BEEA-CF42DAA07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82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A945-7E54-617F-DFD9-1BB24DAD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E5ACE-C209-4B16-35BC-686243C8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6E5C2-8959-02C5-C563-33EB2F19F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A2708-B79F-81B2-5851-EE05BE444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80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CD53-5605-9CB9-7B89-7D56C7B3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0328B-F30D-3471-9E4A-7C2E52ECC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DEBA5-0978-2174-BD66-48EE804E4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11E9-80F3-990C-40B6-2FD86A77F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665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A419F-E802-06A7-623C-DBE0081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7A2A9-D666-FAB7-80C8-2C3299596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22037-4749-CF02-8039-4D5623F60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7E90E-0740-57FB-E904-E06791979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731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519D-1495-8328-7317-C854C3E6E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D3909-9B25-A7F2-2291-8812C4E84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B0AA0-B10D-4D86-56CE-CD3BBE0AC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0FD8-2D4A-AFB4-6131-0C532D38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163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1970-B69E-0B00-C80C-28244062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4519C-C60E-5BA1-E10B-7D0515CD6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FFF00-FD75-0E0E-9BCC-9904EE024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6D23B-09B8-518D-736D-3C219928B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102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13C2-DB2A-BD89-5DDE-2AF7F13B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6A20D-B521-87FF-A584-EB47BB5C6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DF2B9B-7BED-9854-5128-7D0B7BBB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E8F45-6772-AE98-0755-99386C23D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C333F-4D50-41E2-97EA-DF4E14010F1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806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470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3637AC-ADC8-93B9-85DF-F33A35518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A7D7FA-A6C1-15E9-248F-222403659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674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3590D3C-988E-2567-60EB-0A4602CD3C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 b="1"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0E4EEFA-0995-9CCD-6D7F-70B9EBD45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11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D4D1A9-9F6B-C561-7AC4-05C86FF1A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7FCF368-AB64-5FEB-A4ED-1837EE8E806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33C1AC0-3A73-603A-A859-24A89A5E3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512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D452C-9105-195E-DD50-B85571BF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CA40B-4ECB-51F3-7BA4-D0C43996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CB4D9-3A4B-1F8B-5219-5EE058F87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03604-72C3-D5CE-C09C-E05C72BF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53E66-3D7A-FC9C-DAAB-7750C4812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</a:p>
          <a:p>
            <a:pPr lvl="0"/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20831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C293F6-E8B6-92CA-8DD3-F46267F226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64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85E8BFE3-BE3F-06D0-2E51-B1A3E835A55D}"/>
              </a:ext>
            </a:extLst>
          </p:cNvPr>
          <p:cNvSpPr txBox="1"/>
          <p:nvPr userDrawn="1"/>
        </p:nvSpPr>
        <p:spPr>
          <a:xfrm>
            <a:off x="3958443" y="4346049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58393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122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CC09337-932E-DF18-5552-8A10A7DD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165C1A-53B3-D986-E0E9-DDD5452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26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006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4C69AE-3299-1F59-997F-1709C1DD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EDA0CF7-60D6-4B86-6F50-ECF55C6DB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96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AAD9ED-75F1-0289-7EF5-74AB2DFDD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50112" y="1059400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32C05C5-F63A-53B8-E6BB-6E73E6E7490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5197" y="1460093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9AFEE7-E5E4-8C50-6361-BB9205652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5197" y="2434976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9712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7684-9640-7B9F-691F-3B5A26663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FF9C-C20C-490B-6F06-81BD2D8FB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69EF0-726B-80A7-9DCD-6896F352D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4901CD-B4D9-4C0A-A8C1-D42233A2E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A26A-1F4A-80E3-3CF1-B5AF98EE4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0"/>
            </a:lvl1pPr>
            <a:lvl2pPr marL="457200" indent="0" algn="l">
              <a:buNone/>
              <a:defRPr sz="2200"/>
            </a:lvl2pPr>
            <a:lvl3pPr marL="914400" indent="0" algn="l">
              <a:buNone/>
              <a:defRPr sz="2200"/>
            </a:lvl3pPr>
            <a:lvl4pPr marL="1371600" indent="0" algn="l">
              <a:buNone/>
              <a:defRPr sz="2200"/>
            </a:lvl4pPr>
            <a:lvl5pPr marL="1828800" indent="0" algn="l">
              <a:buNone/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854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C3EAE96-DCE0-88A1-D4B1-3E38DC198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002E4A1E-1EB0-0593-1C8D-3884AC9BB310}"/>
              </a:ext>
            </a:extLst>
          </p:cNvPr>
          <p:cNvSpPr txBox="1"/>
          <p:nvPr userDrawn="1"/>
        </p:nvSpPr>
        <p:spPr>
          <a:xfrm>
            <a:off x="3824879" y="4572080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37578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389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35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0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265176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13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991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16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AD252D8-47A9-4F50-0A77-F7F2B5C75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4E0E61-AEC0-9130-9970-54CD0B1FE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/>
            </a:lvl1pPr>
            <a:lvl2pPr algn="ctr">
              <a:defRPr sz="280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359333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1E8E-B63B-2812-4914-7B39E38C71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Content</a:t>
            </a:r>
            <a:endParaRPr lang="en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65A07-4D49-E8EF-40E0-498B3F03B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0710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bullet poi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CE9B65-7C16-AD40-4E8F-376EFB31D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60902"/>
            <a:ext cx="10515600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 dirty="0"/>
              <a:t>Lorem Ipsum</a:t>
            </a:r>
            <a:endParaRPr lang="en-FR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EF2646-4A29-9DC6-94A1-9C78C840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9558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713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tific Slide with Graph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3CBA443-1DB4-591B-10FB-89F19A331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884739"/>
            <a:ext cx="5664915" cy="45609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F71B37-838A-25F4-2891-96F126B3BD4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31085" y="1285432"/>
            <a:ext cx="5240250" cy="835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05BA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64250E-B7FE-5C77-8772-835E1D3B0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085" y="2260315"/>
            <a:ext cx="5240250" cy="318541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97938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51E2-0AA8-B538-88F2-E8FEE737F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Comparison Slide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FE506-04E4-4D79-51C0-DE1A5396B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EB5BD-B42E-8768-14F6-DA6AD364E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263CD-AEDB-2834-CF69-D950F370B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A0949F-23D7-43BC-86B5-A59EEC23A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43105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EBD8F-B49C-E9AF-967A-FE2625C11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03437"/>
            <a:ext cx="12192000" cy="1325563"/>
          </a:xfrm>
        </p:spPr>
        <p:txBody>
          <a:bodyPr/>
          <a:lstStyle>
            <a:lvl1pPr>
              <a:defRPr>
                <a:solidFill>
                  <a:srgbClr val="005BAA"/>
                </a:solidFill>
              </a:defRPr>
            </a:lvl1pPr>
          </a:lstStyle>
          <a:p>
            <a:r>
              <a:rPr lang="en-GB" dirty="0"/>
              <a:t>Thank you.</a:t>
            </a:r>
            <a:endParaRPr lang="en-FR" dirty="0"/>
          </a:p>
        </p:txBody>
      </p:sp>
      <p:sp>
        <p:nvSpPr>
          <p:cNvPr id="10" name="CuadroTexto 3">
            <a:extLst>
              <a:ext uri="{FF2B5EF4-FFF2-40B4-BE49-F238E27FC236}">
                <a16:creationId xmlns:a16="http://schemas.microsoft.com/office/drawing/2014/main" id="{9CC6D77E-AF65-470D-B774-7812FAD3C4A3}"/>
              </a:ext>
            </a:extLst>
          </p:cNvPr>
          <p:cNvSpPr txBox="1"/>
          <p:nvPr userDrawn="1"/>
        </p:nvSpPr>
        <p:spPr>
          <a:xfrm>
            <a:off x="3824879" y="5024143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rgbClr val="005BAA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1516502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1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ge to Edge Photo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63ED7F9-AC2F-AB90-E59E-6D3DCE7D9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078" y="1013439"/>
            <a:ext cx="4274474" cy="1600200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FR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6C12E21-29DC-AD1F-41A5-AE890AAD2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90053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4530C31-AD13-5759-E472-94A0E4916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8078" y="2941814"/>
            <a:ext cx="4274474" cy="266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6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#1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803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2" r:id="rId4"/>
    <p:sldLayoutId id="2147483653" r:id="rId5"/>
    <p:sldLayoutId id="2147483658" r:id="rId6"/>
    <p:sldLayoutId id="2147483659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C007C7-A317-B3BD-4F67-1F0F9741F8A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0" y="3477952"/>
            <a:ext cx="12192000" cy="3380048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8A9C213-3E26-B848-BF1A-9E6EC69BD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#2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93318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65" r:id="rId5"/>
    <p:sldLayoutId id="2147483671" r:id="rId6"/>
    <p:sldLayoutId id="2147483681" r:id="rId7"/>
    <p:sldLayoutId id="2147483684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8A25AD-8EE8-C80F-37B6-E5BC4C2CBA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5776713"/>
            <a:ext cx="12195019" cy="108128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DCF8C2-75E9-6016-486F-1EAB5024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#3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03081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3" r:id="rId2"/>
    <p:sldLayoutId id="2147483675" r:id="rId3"/>
    <p:sldLayoutId id="2147483676" r:id="rId4"/>
    <p:sldLayoutId id="2147483679" r:id="rId5"/>
    <p:sldLayoutId id="2147483677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5B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91F7C8-B977-11A8-F895-8D99CAC0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Photography Slides</a:t>
            </a:r>
            <a:endParaRPr lang="en-FR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FDA4F3-78CD-1AB6-C649-9A0EF319D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1" y="0"/>
            <a:ext cx="12191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microsoft.com/office/2007/relationships/hdphoto" Target="../media/hdphoto1.wdp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microsoft.com/office/2007/relationships/hdphoto" Target="../media/hdphoto2.wdp"/><Relationship Id="rId15" Type="http://schemas.openxmlformats.org/officeDocument/2006/relationships/image" Target="../media/image23.jpeg"/><Relationship Id="rId10" Type="http://schemas.openxmlformats.org/officeDocument/2006/relationships/image" Target="../media/image18.jpe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svg"/><Relationship Id="rId5" Type="http://schemas.openxmlformats.org/officeDocument/2006/relationships/image" Target="../media/image24.sv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svg"/><Relationship Id="rId5" Type="http://schemas.openxmlformats.org/officeDocument/2006/relationships/image" Target="../media/image24.svg"/><Relationship Id="rId4" Type="http://schemas.microsoft.com/office/2007/relationships/hdphoto" Target="../media/hdphoto1.wdp"/><Relationship Id="rId9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8.jpe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qttx.app/cl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jsonbeautifier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events.io/" TargetMode="Externa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mo-im.github.io/wis2-monitoring-events/standard/wis2-monitoring-events-DRAFT.html" TargetMode="External"/><Relationship Id="rId2" Type="http://schemas.openxmlformats.org/officeDocument/2006/relationships/hyperlink" Target="https://github.com/cloudevents/spec/blob/v1.0.2/cloudevents/spec.md" TargetMode="Externa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63E35-7C2F-CF05-8A9D-C2464ECD6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781"/>
            <a:ext cx="10515600" cy="4351338"/>
          </a:xfrm>
        </p:spPr>
        <p:txBody>
          <a:bodyPr>
            <a:normAutofit/>
          </a:bodyPr>
          <a:lstStyle/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fr-FR" sz="3600" b="1" i="1" dirty="0">
                <a:latin typeface="Aptos" panose="020B0004020202020204" pitchFamily="34" charset="0"/>
              </a:rPr>
              <a:t>Deep Dive on the Global Broker</a:t>
            </a:r>
          </a:p>
          <a:p>
            <a:pPr marL="0" indent="0">
              <a:buNone/>
            </a:pPr>
            <a:r>
              <a:rPr lang="fr-FR" sz="3600" b="1" i="1" dirty="0" err="1">
                <a:latin typeface="Aptos" panose="020B0004020202020204" pitchFamily="34" charset="0"/>
              </a:rPr>
              <a:t>Including</a:t>
            </a:r>
            <a:r>
              <a:rPr lang="fr-FR" sz="3600" b="1" i="1" dirty="0">
                <a:latin typeface="Aptos" panose="020B0004020202020204" pitchFamily="34" charset="0"/>
              </a:rPr>
              <a:t> WTH, WNM and WMEM</a:t>
            </a:r>
            <a:endParaRPr lang="en-US" sz="3600" b="1" i="1" dirty="0">
              <a:latin typeface="Aptos" panose="020B0004020202020204" pitchFamily="34" charset="0"/>
            </a:endParaRPr>
          </a:p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endParaRPr lang="en-US" sz="2600" i="1" dirty="0">
              <a:solidFill>
                <a:schemeClr val="bg1"/>
              </a:solidFill>
              <a:latin typeface="+mn-lt"/>
              <a:ea typeface="+mn-ea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Rémy Giraud, France</a:t>
            </a:r>
          </a:p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  <a:latin typeface="+mn-lt"/>
                <a:ea typeface="+mn-ea"/>
                <a:cs typeface="Calibri" panose="020F0502020204030204" pitchFamily="34" charset="0"/>
              </a:rPr>
              <a:t>SC-IMT Chair</a:t>
            </a:r>
          </a:p>
          <a:p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55D4E-58D7-5924-ECE5-E52B0960CA98}"/>
              </a:ext>
            </a:extLst>
          </p:cNvPr>
          <p:cNvSpPr txBox="1"/>
          <p:nvPr/>
        </p:nvSpPr>
        <p:spPr>
          <a:xfrm>
            <a:off x="1188244" y="304800"/>
            <a:ext cx="981551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</a:rPr>
              <a:t>WIS2 Champions Training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</a:rPr>
              <a:t>​</a:t>
            </a:r>
            <a:br>
              <a:rPr lang="en-GB" sz="2800" b="1" dirty="0">
                <a:solidFill>
                  <a:schemeClr val="bg1"/>
                </a:solidFill>
              </a:rPr>
            </a:br>
            <a:r>
              <a:rPr lang="en-GB" sz="2000" b="1" i="1" dirty="0">
                <a:solidFill>
                  <a:schemeClr val="bg1"/>
                </a:solidFill>
              </a:rPr>
              <a:t>(30 March – 4 April 2026 - Bali)</a:t>
            </a:r>
            <a:r>
              <a:rPr lang="en-GB" sz="2000" b="1" dirty="0">
                <a:solidFill>
                  <a:schemeClr val="bg1"/>
                </a:solidFill>
              </a:rPr>
              <a:t>​</a:t>
            </a:r>
            <a:br>
              <a:rPr lang="en-GB" sz="2800" b="1" dirty="0">
                <a:solidFill>
                  <a:schemeClr val="bg1"/>
                </a:solidFill>
              </a:rPr>
            </a:br>
            <a:endParaRPr lang="en-GB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59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7EA2EF2-EAF5-48FB-A301-1E55CE2F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Wis2 Architecture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7263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D64C-81BD-96D9-BD56-1BB0026D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04021E8-F121-E544-AE2D-76F2F73DDEB4}"/>
              </a:ext>
            </a:extLst>
          </p:cNvPr>
          <p:cNvGrpSpPr/>
          <p:nvPr/>
        </p:nvGrpSpPr>
        <p:grpSpPr>
          <a:xfrm>
            <a:off x="2351695" y="1539882"/>
            <a:ext cx="926187" cy="914400"/>
            <a:chOff x="4851042" y="4429399"/>
            <a:chExt cx="1256145" cy="120033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85E2930-5DE5-B5E6-AECE-5109573D2041}"/>
                </a:ext>
              </a:extLst>
            </p:cNvPr>
            <p:cNvSpPr/>
            <p:nvPr/>
          </p:nvSpPr>
          <p:spPr>
            <a:xfrm>
              <a:off x="4851042" y="4429399"/>
              <a:ext cx="1256145" cy="120033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1" name="Graphic 40" descr="Bar chart with solid fill">
              <a:extLst>
                <a:ext uri="{FF2B5EF4-FFF2-40B4-BE49-F238E27FC236}">
                  <a16:creationId xmlns:a16="http://schemas.microsoft.com/office/drawing/2014/main" id="{22F80526-A028-D9B1-B6D3-A04571B8E9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85089" y="4571279"/>
              <a:ext cx="914401" cy="91439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DEFB9F-B315-C217-31CC-8CCF502F7425}"/>
              </a:ext>
            </a:extLst>
          </p:cNvPr>
          <p:cNvGrpSpPr/>
          <p:nvPr/>
        </p:nvGrpSpPr>
        <p:grpSpPr>
          <a:xfrm>
            <a:off x="6002134" y="2918624"/>
            <a:ext cx="926187" cy="914400"/>
            <a:chOff x="3107885" y="2667808"/>
            <a:chExt cx="1256145" cy="120033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8B5887D-2023-9EF4-5DDB-FA6E0FF6FB14}"/>
                </a:ext>
              </a:extLst>
            </p:cNvPr>
            <p:cNvSpPr/>
            <p:nvPr/>
          </p:nvSpPr>
          <p:spPr>
            <a:xfrm>
              <a:off x="3107885" y="2667808"/>
              <a:ext cx="1256145" cy="120033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710FC4DF-4C6D-5CEF-55A4-F06F127103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0369" y="2810772"/>
              <a:ext cx="914400" cy="91439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06C4E8D-24C2-0D02-E23D-8EC5B6ABAFFC}"/>
              </a:ext>
            </a:extLst>
          </p:cNvPr>
          <p:cNvSpPr txBox="1"/>
          <p:nvPr/>
        </p:nvSpPr>
        <p:spPr>
          <a:xfrm>
            <a:off x="6934931" y="3094144"/>
            <a:ext cx="7136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Cache</a:t>
            </a:r>
            <a:endParaRPr kumimoji="0" lang="en-CH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918BF8-0151-9E57-3AE1-EA2FF57A5567}"/>
              </a:ext>
            </a:extLst>
          </p:cNvPr>
          <p:cNvSpPr txBox="1"/>
          <p:nvPr/>
        </p:nvSpPr>
        <p:spPr>
          <a:xfrm>
            <a:off x="2113432" y="2986422"/>
            <a:ext cx="10485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Discovery Catalogue</a:t>
            </a:r>
            <a:endParaRPr kumimoji="0" lang="en-CH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390EBB-CFCA-A266-FF47-7DAFC4A6F8C0}"/>
              </a:ext>
            </a:extLst>
          </p:cNvPr>
          <p:cNvSpPr txBox="1"/>
          <p:nvPr/>
        </p:nvSpPr>
        <p:spPr>
          <a:xfrm>
            <a:off x="4525282" y="3094144"/>
            <a:ext cx="942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Broker</a:t>
            </a:r>
            <a:endParaRPr kumimoji="0" lang="en-CH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DD4E4D-AC38-9EAD-2C3E-4D6B3F2D9607}"/>
              </a:ext>
            </a:extLst>
          </p:cNvPr>
          <p:cNvSpPr txBox="1"/>
          <p:nvPr/>
        </p:nvSpPr>
        <p:spPr>
          <a:xfrm>
            <a:off x="3311130" y="1688240"/>
            <a:ext cx="10423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Monitoring</a:t>
            </a:r>
            <a:endParaRPr kumimoji="0" lang="en-CH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44A0EA-16B7-5D63-CC21-C3F41D08418F}"/>
              </a:ext>
            </a:extLst>
          </p:cNvPr>
          <p:cNvSpPr/>
          <p:nvPr/>
        </p:nvSpPr>
        <p:spPr>
          <a:xfrm>
            <a:off x="5560207" y="3926994"/>
            <a:ext cx="1800000" cy="123371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Provides users HTTP download of core data cached from WIS2 nodes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BFF862-2568-8708-7BB6-9D9C2915E5DE}"/>
              </a:ext>
            </a:extLst>
          </p:cNvPr>
          <p:cNvSpPr/>
          <p:nvPr/>
        </p:nvSpPr>
        <p:spPr>
          <a:xfrm>
            <a:off x="3134239" y="3926994"/>
            <a:ext cx="1800000" cy="123371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Sends notifications of new data to be downloaded from Global Caches or WIS2 nodes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393038-F0A2-F832-C1F0-5A16D03C67B0}"/>
              </a:ext>
            </a:extLst>
          </p:cNvPr>
          <p:cNvSpPr/>
          <p:nvPr/>
        </p:nvSpPr>
        <p:spPr>
          <a:xfrm>
            <a:off x="714519" y="3926994"/>
            <a:ext cx="1800000" cy="12337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Provides an API to discover datasets and services </a:t>
            </a:r>
          </a:p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C43B3A-3EB2-1663-2A47-247AB878D4D1}"/>
              </a:ext>
            </a:extLst>
          </p:cNvPr>
          <p:cNvCxnSpPr>
            <a:cxnSpLocks/>
            <a:endCxn id="36" idx="7"/>
          </p:cNvCxnSpPr>
          <p:nvPr/>
        </p:nvCxnSpPr>
        <p:spPr>
          <a:xfrm flipH="1">
            <a:off x="1946995" y="1125907"/>
            <a:ext cx="8791862" cy="1926628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7F1621-9608-836D-9C41-C734BF77ABE0}"/>
              </a:ext>
            </a:extLst>
          </p:cNvPr>
          <p:cNvCxnSpPr>
            <a:cxnSpLocks/>
            <a:endCxn id="23" idx="7"/>
          </p:cNvCxnSpPr>
          <p:nvPr/>
        </p:nvCxnSpPr>
        <p:spPr>
          <a:xfrm flipH="1">
            <a:off x="4368237" y="1655386"/>
            <a:ext cx="5967698" cy="1397149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4230DE-7970-00BD-CA74-1651275ACC0E}"/>
              </a:ext>
            </a:extLst>
          </p:cNvPr>
          <p:cNvCxnSpPr>
            <a:cxnSpLocks/>
            <a:endCxn id="35" idx="7"/>
          </p:cNvCxnSpPr>
          <p:nvPr/>
        </p:nvCxnSpPr>
        <p:spPr>
          <a:xfrm flipH="1">
            <a:off x="6792684" y="2062003"/>
            <a:ext cx="3902837" cy="99053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2A6517A-5A90-E094-0D7C-4A8130FB4BA8}"/>
              </a:ext>
            </a:extLst>
          </p:cNvPr>
          <p:cNvSpPr txBox="1"/>
          <p:nvPr/>
        </p:nvSpPr>
        <p:spPr>
          <a:xfrm rot="20853257">
            <a:off x="6122184" y="2180679"/>
            <a:ext cx="149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Subscribes to topics 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404321-6BBA-3BDD-B5EF-15AA6158BD56}"/>
              </a:ext>
            </a:extLst>
          </p:cNvPr>
          <p:cNvSpPr txBox="1"/>
          <p:nvPr/>
        </p:nvSpPr>
        <p:spPr>
          <a:xfrm rot="20780909">
            <a:off x="7544887" y="2358117"/>
            <a:ext cx="1616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Downloads core data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A695A-9426-1F1E-3327-D8587546995F}"/>
              </a:ext>
            </a:extLst>
          </p:cNvPr>
          <p:cNvGrpSpPr/>
          <p:nvPr/>
        </p:nvGrpSpPr>
        <p:grpSpPr>
          <a:xfrm>
            <a:off x="3577687" y="2918624"/>
            <a:ext cx="926187" cy="914400"/>
            <a:chOff x="3100578" y="2626881"/>
            <a:chExt cx="926187" cy="9144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2E6143-B72A-FEC0-6894-FB501E36FC89}"/>
                </a:ext>
              </a:extLst>
            </p:cNvPr>
            <p:cNvSpPr/>
            <p:nvPr/>
          </p:nvSpPr>
          <p:spPr>
            <a:xfrm>
              <a:off x="3100578" y="2626881"/>
              <a:ext cx="926187" cy="914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4" name="Graphic 63" descr="Network with solid fill">
              <a:extLst>
                <a:ext uri="{FF2B5EF4-FFF2-40B4-BE49-F238E27FC236}">
                  <a16:creationId xmlns:a16="http://schemas.microsoft.com/office/drawing/2014/main" id="{F5CA3003-FBD6-740E-E332-39C231689D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67308" y="2639091"/>
              <a:ext cx="789683" cy="789683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9EC270-4A22-7488-F7DE-F056AE479319}"/>
              </a:ext>
            </a:extLst>
          </p:cNvPr>
          <p:cNvGrpSpPr/>
          <p:nvPr/>
        </p:nvGrpSpPr>
        <p:grpSpPr>
          <a:xfrm>
            <a:off x="1156445" y="2918624"/>
            <a:ext cx="926187" cy="914400"/>
            <a:chOff x="6018575" y="2624111"/>
            <a:chExt cx="926187" cy="91440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84760A7-2D33-4245-000F-6962615A68B8}"/>
                </a:ext>
              </a:extLst>
            </p:cNvPr>
            <p:cNvSpPr/>
            <p:nvPr/>
          </p:nvSpPr>
          <p:spPr>
            <a:xfrm>
              <a:off x="6018575" y="2624111"/>
              <a:ext cx="926187" cy="9144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72" name="Graphic 71" descr="Books outline">
              <a:extLst>
                <a:ext uri="{FF2B5EF4-FFF2-40B4-BE49-F238E27FC236}">
                  <a16:creationId xmlns:a16="http://schemas.microsoft.com/office/drawing/2014/main" id="{4D6DD14A-2DAF-8188-2716-F924D71195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05969" y="2732194"/>
              <a:ext cx="751399" cy="751399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D9088E1-BB61-6625-8D05-E6280B48C3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764" y="4397363"/>
            <a:ext cx="899051" cy="8225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81641-E345-4509-670C-F29F636F37DE}"/>
              </a:ext>
            </a:extLst>
          </p:cNvPr>
          <p:cNvSpPr txBox="1"/>
          <p:nvPr/>
        </p:nvSpPr>
        <p:spPr>
          <a:xfrm>
            <a:off x="7820797" y="5254327"/>
            <a:ext cx="136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WIS2 node</a:t>
            </a:r>
            <a:endParaRPr kumimoji="0" lang="en-CH" sz="20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90622D-8C32-4016-8658-0B94BCD0486B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8504290" y="2378408"/>
            <a:ext cx="1907312" cy="201895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24B98D-1BF9-D53D-5033-F161D5053FDD}"/>
              </a:ext>
            </a:extLst>
          </p:cNvPr>
          <p:cNvSpPr txBox="1"/>
          <p:nvPr/>
        </p:nvSpPr>
        <p:spPr>
          <a:xfrm rot="18743655">
            <a:off x="8267199" y="3038560"/>
            <a:ext cx="2366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Downloads recommended data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0B9A15EB-175F-B1E0-7A37-3E39BE40E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307" y="630929"/>
            <a:ext cx="904768" cy="9047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918C44-6B99-44EB-1577-D6B6DF747294}"/>
              </a:ext>
            </a:extLst>
          </p:cNvPr>
          <p:cNvSpPr txBox="1"/>
          <p:nvPr/>
        </p:nvSpPr>
        <p:spPr>
          <a:xfrm rot="20853349">
            <a:off x="5248253" y="1855111"/>
            <a:ext cx="149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Discovers datasets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1F59AE4C-B103-98F1-B709-29D88E3B4D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3142" y="1538311"/>
            <a:ext cx="904768" cy="904768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E74DB2F-C37D-115F-64BA-AA98106D9A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384" y="4777724"/>
            <a:ext cx="899051" cy="822536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A92F97E5-0E50-E8A2-D14E-804A370E0CF8}"/>
              </a:ext>
            </a:extLst>
          </p:cNvPr>
          <p:cNvSpPr txBox="1"/>
          <p:nvPr/>
        </p:nvSpPr>
        <p:spPr>
          <a:xfrm>
            <a:off x="8937417" y="5634688"/>
            <a:ext cx="136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WIS2 node</a:t>
            </a:r>
            <a:endParaRPr kumimoji="0" lang="en-CH" sz="20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4D60652-4F34-EC30-CCF8-F1BB14962950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9620910" y="2443079"/>
            <a:ext cx="1292180" cy="233464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CE4C010-01B2-1BF4-DD57-CEDFF9210125}"/>
              </a:ext>
            </a:extLst>
          </p:cNvPr>
          <p:cNvSpPr txBox="1"/>
          <p:nvPr/>
        </p:nvSpPr>
        <p:spPr>
          <a:xfrm rot="17913310">
            <a:off x="8960667" y="3390874"/>
            <a:ext cx="2366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Downloads recommended data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D53E5A71-1A98-38B7-4D8D-C120D51DEC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0577" y="5043276"/>
            <a:ext cx="899051" cy="82253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3255512-17C2-EAAD-47B6-E49B110E51EF}"/>
              </a:ext>
            </a:extLst>
          </p:cNvPr>
          <p:cNvSpPr txBox="1"/>
          <p:nvPr/>
        </p:nvSpPr>
        <p:spPr>
          <a:xfrm>
            <a:off x="10146610" y="5900240"/>
            <a:ext cx="136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WIS2 node</a:t>
            </a:r>
            <a:endParaRPr kumimoji="0" lang="en-CH" sz="20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B1F8F3D-C62E-57A7-3774-8E3CF5B12727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10830103" y="2316191"/>
            <a:ext cx="646972" cy="272708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0800E00-3E5D-3DE9-B926-B3541DAC584B}"/>
              </a:ext>
            </a:extLst>
          </p:cNvPr>
          <p:cNvSpPr txBox="1"/>
          <p:nvPr/>
        </p:nvSpPr>
        <p:spPr>
          <a:xfrm rot="17034295">
            <a:off x="9799116" y="3597000"/>
            <a:ext cx="2366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Downloads recommended data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9A4BF66-29CE-40E7-DB71-E47A12EA35E0}"/>
              </a:ext>
            </a:extLst>
          </p:cNvPr>
          <p:cNvSpPr txBox="1"/>
          <p:nvPr/>
        </p:nvSpPr>
        <p:spPr>
          <a:xfrm>
            <a:off x="11362765" y="3771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4CC349-DA86-B813-554F-985F4C05CBC1}"/>
              </a:ext>
            </a:extLst>
          </p:cNvPr>
          <p:cNvSpPr/>
          <p:nvPr/>
        </p:nvSpPr>
        <p:spPr>
          <a:xfrm>
            <a:off x="562098" y="1348309"/>
            <a:ext cx="6999373" cy="4027255"/>
          </a:xfrm>
          <a:prstGeom prst="roundRect">
            <a:avLst>
              <a:gd name="adj" fmla="val 7113"/>
            </a:avLst>
          </a:prstGeom>
          <a:noFill/>
          <a:ln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picture containing text, balloon, transport, aircraft&#10;&#10;Description automatically generated">
            <a:extLst>
              <a:ext uri="{FF2B5EF4-FFF2-40B4-BE49-F238E27FC236}">
                <a16:creationId xmlns:a16="http://schemas.microsoft.com/office/drawing/2014/main" id="{EB801859-B167-0AF8-ED46-15C690816D0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-26000"/>
                    </a14:imgEffect>
                    <a14:imgEffect>
                      <a14:colorTemperature colorTemp="5686"/>
                    </a14:imgEffect>
                    <a14:imgEffect>
                      <a14:saturation sat="47000"/>
                    </a14:imgEffect>
                    <a14:imgEffect>
                      <a14:brightnessContrast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784382"/>
            <a:ext cx="1472111" cy="1472111"/>
          </a:xfrm>
          <a:prstGeom prst="rect">
            <a:avLst/>
          </a:prstGeom>
        </p:spPr>
      </p:pic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DC6713E7-FBD2-D2B2-0812-ECE515E6C5A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2197" r="7526"/>
          <a:stretch/>
        </p:blipFill>
        <p:spPr>
          <a:xfrm>
            <a:off x="11362765" y="1078590"/>
            <a:ext cx="726320" cy="9047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FE242A-A0F2-18E9-0BCC-1E1CA0E6FADF}"/>
              </a:ext>
            </a:extLst>
          </p:cNvPr>
          <p:cNvSpPr txBox="1"/>
          <p:nvPr/>
        </p:nvSpPr>
        <p:spPr>
          <a:xfrm>
            <a:off x="10227934" y="1336457"/>
            <a:ext cx="136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users</a:t>
            </a:r>
            <a:endParaRPr kumimoji="0" lang="en-CH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6560DED-DF32-3BDC-360D-9FBF86508518}"/>
              </a:ext>
            </a:extLst>
          </p:cNvPr>
          <p:cNvSpPr/>
          <p:nvPr/>
        </p:nvSpPr>
        <p:spPr>
          <a:xfrm>
            <a:off x="5965371" y="5640779"/>
            <a:ext cx="2386941" cy="586693"/>
          </a:xfrm>
          <a:custGeom>
            <a:avLst/>
            <a:gdLst>
              <a:gd name="connsiteX0" fmla="*/ 2386941 w 2386941"/>
              <a:gd name="connsiteY0" fmla="*/ 110837 h 586693"/>
              <a:gd name="connsiteX1" fmla="*/ 1666504 w 2386941"/>
              <a:gd name="connsiteY1" fmla="*/ 562099 h 586693"/>
              <a:gd name="connsiteX2" fmla="*/ 676894 w 2386941"/>
              <a:gd name="connsiteY2" fmla="*/ 471055 h 586693"/>
              <a:gd name="connsiteX3" fmla="*/ 0 w 2386941"/>
              <a:gd name="connsiteY3" fmla="*/ 0 h 58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6941" h="586693">
                <a:moveTo>
                  <a:pt x="2386941" y="110837"/>
                </a:moveTo>
                <a:cubicBezTo>
                  <a:pt x="2169226" y="306450"/>
                  <a:pt x="1951512" y="502063"/>
                  <a:pt x="1666504" y="562099"/>
                </a:cubicBezTo>
                <a:cubicBezTo>
                  <a:pt x="1381496" y="622135"/>
                  <a:pt x="954645" y="564738"/>
                  <a:pt x="676894" y="471055"/>
                </a:cubicBezTo>
                <a:cubicBezTo>
                  <a:pt x="399143" y="377372"/>
                  <a:pt x="199571" y="188686"/>
                  <a:pt x="0" y="0"/>
                </a:cubicBezTo>
              </a:path>
            </a:pathLst>
          </a:cu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F6A9D17-CD22-0C66-D662-42119786AC06}"/>
              </a:ext>
            </a:extLst>
          </p:cNvPr>
          <p:cNvSpPr/>
          <p:nvPr/>
        </p:nvSpPr>
        <p:spPr>
          <a:xfrm>
            <a:off x="5767449" y="5701113"/>
            <a:ext cx="2737263" cy="704735"/>
          </a:xfrm>
          <a:custGeom>
            <a:avLst/>
            <a:gdLst>
              <a:gd name="connsiteX0" fmla="*/ 2386941 w 2386941"/>
              <a:gd name="connsiteY0" fmla="*/ 110837 h 586693"/>
              <a:gd name="connsiteX1" fmla="*/ 1666504 w 2386941"/>
              <a:gd name="connsiteY1" fmla="*/ 562099 h 586693"/>
              <a:gd name="connsiteX2" fmla="*/ 676894 w 2386941"/>
              <a:gd name="connsiteY2" fmla="*/ 471055 h 586693"/>
              <a:gd name="connsiteX3" fmla="*/ 0 w 2386941"/>
              <a:gd name="connsiteY3" fmla="*/ 0 h 58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6941" h="586693">
                <a:moveTo>
                  <a:pt x="2386941" y="110837"/>
                </a:moveTo>
                <a:cubicBezTo>
                  <a:pt x="2169226" y="306450"/>
                  <a:pt x="1951512" y="502063"/>
                  <a:pt x="1666504" y="562099"/>
                </a:cubicBezTo>
                <a:cubicBezTo>
                  <a:pt x="1381496" y="622135"/>
                  <a:pt x="954645" y="564738"/>
                  <a:pt x="676894" y="471055"/>
                </a:cubicBezTo>
                <a:cubicBezTo>
                  <a:pt x="399143" y="377372"/>
                  <a:pt x="199571" y="188686"/>
                  <a:pt x="0" y="0"/>
                </a:cubicBezTo>
              </a:path>
            </a:pathLst>
          </a:cu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BFCED66-F17A-5648-D396-B8EE29431F64}"/>
              </a:ext>
            </a:extLst>
          </p:cNvPr>
          <p:cNvSpPr/>
          <p:nvPr/>
        </p:nvSpPr>
        <p:spPr>
          <a:xfrm>
            <a:off x="5560207" y="5819157"/>
            <a:ext cx="3096905" cy="779998"/>
          </a:xfrm>
          <a:custGeom>
            <a:avLst/>
            <a:gdLst>
              <a:gd name="connsiteX0" fmla="*/ 2386941 w 2386941"/>
              <a:gd name="connsiteY0" fmla="*/ 110837 h 586693"/>
              <a:gd name="connsiteX1" fmla="*/ 1666504 w 2386941"/>
              <a:gd name="connsiteY1" fmla="*/ 562099 h 586693"/>
              <a:gd name="connsiteX2" fmla="*/ 676894 w 2386941"/>
              <a:gd name="connsiteY2" fmla="*/ 471055 h 586693"/>
              <a:gd name="connsiteX3" fmla="*/ 0 w 2386941"/>
              <a:gd name="connsiteY3" fmla="*/ 0 h 58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6941" h="586693">
                <a:moveTo>
                  <a:pt x="2386941" y="110837"/>
                </a:moveTo>
                <a:cubicBezTo>
                  <a:pt x="2169226" y="306450"/>
                  <a:pt x="1951512" y="502063"/>
                  <a:pt x="1666504" y="562099"/>
                </a:cubicBezTo>
                <a:cubicBezTo>
                  <a:pt x="1381496" y="622135"/>
                  <a:pt x="954645" y="564738"/>
                  <a:pt x="676894" y="471055"/>
                </a:cubicBezTo>
                <a:cubicBezTo>
                  <a:pt x="399143" y="377372"/>
                  <a:pt x="199571" y="188686"/>
                  <a:pt x="0" y="0"/>
                </a:cubicBezTo>
              </a:path>
            </a:pathLst>
          </a:cu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782086-842B-4728-3FC1-770618F6EFE2}"/>
              </a:ext>
            </a:extLst>
          </p:cNvPr>
          <p:cNvSpPr txBox="1"/>
          <p:nvPr/>
        </p:nvSpPr>
        <p:spPr>
          <a:xfrm>
            <a:off x="5646759" y="6566610"/>
            <a:ext cx="3418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Scale to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highly-available, global data sharing</a:t>
            </a:r>
            <a:endParaRPr kumimoji="0" lang="en-CH" sz="1200" b="1" i="0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435110-F4CC-DE82-7325-BE46585AB46C}"/>
              </a:ext>
            </a:extLst>
          </p:cNvPr>
          <p:cNvSpPr txBox="1">
            <a:spLocks/>
          </p:cNvSpPr>
          <p:nvPr/>
        </p:nvSpPr>
        <p:spPr>
          <a:xfrm>
            <a:off x="2731687" y="125176"/>
            <a:ext cx="5818761" cy="6276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US" sz="2400" dirty="0"/>
              <a:t>Global Services</a:t>
            </a:r>
            <a:endParaRPr lang="en-CH" sz="2400" dirty="0"/>
          </a:p>
        </p:txBody>
      </p:sp>
    </p:spTree>
    <p:extLst>
      <p:ext uri="{BB962C8B-B14F-4D97-AF65-F5344CB8AC3E}">
        <p14:creationId xmlns:p14="http://schemas.microsoft.com/office/powerpoint/2010/main" val="288307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1B12-4844-4F81-9CFD-60063E34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E4B8034-E004-2F6D-9836-D372307404D3}"/>
              </a:ext>
            </a:extLst>
          </p:cNvPr>
          <p:cNvGrpSpPr/>
          <p:nvPr/>
        </p:nvGrpSpPr>
        <p:grpSpPr>
          <a:xfrm>
            <a:off x="9406593" y="3519705"/>
            <a:ext cx="893315" cy="1134908"/>
            <a:chOff x="8046719" y="5254216"/>
            <a:chExt cx="1191086" cy="151321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4DEE9A0-CA2C-A5D6-0C3F-82E81C13E77D}"/>
                </a:ext>
              </a:extLst>
            </p:cNvPr>
            <p:cNvSpPr/>
            <p:nvPr/>
          </p:nvSpPr>
          <p:spPr>
            <a:xfrm>
              <a:off x="8046719" y="5588467"/>
              <a:ext cx="1175851" cy="1175333"/>
            </a:xfrm>
            <a:prstGeom prst="roundRect">
              <a:avLst>
                <a:gd name="adj" fmla="val 2604"/>
              </a:avLst>
            </a:prstGeom>
            <a:solidFill>
              <a:sysClr val="window" lastClr="FFFFFF"/>
            </a:solidFill>
            <a:ln w="28575" cap="flat" cmpd="sng" algn="ctr">
              <a:solidFill>
                <a:srgbClr val="1849D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GB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62B96C8-A37E-3A74-949E-981AD49F6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18061" y="5254216"/>
              <a:ext cx="664522" cy="67671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AE95041-D4AE-A568-F880-2A878F70A96C}"/>
                </a:ext>
              </a:extLst>
            </p:cNvPr>
            <p:cNvSpPr/>
            <p:nvPr/>
          </p:nvSpPr>
          <p:spPr>
            <a:xfrm>
              <a:off x="8408547" y="5343038"/>
              <a:ext cx="483550" cy="4835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685800">
                <a:defRPr/>
              </a:pPr>
              <a:endParaRPr lang="en-GB" sz="1350" kern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78C4F5E-1AA5-2B8D-755E-B55E5F7D3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75743" y="5324989"/>
              <a:ext cx="538998" cy="51964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88A63D-BDEA-65CC-D024-E84C2285B9E7}"/>
                </a:ext>
              </a:extLst>
            </p:cNvPr>
            <p:cNvSpPr txBox="1"/>
            <p:nvPr/>
          </p:nvSpPr>
          <p:spPr>
            <a:xfrm>
              <a:off x="8058612" y="5905651"/>
              <a:ext cx="1179193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>
                  <a:solidFill>
                    <a:srgbClr val="1849D4"/>
                  </a:solidFill>
                  <a:latin typeface="Calibri" panose="020F0502020204030204"/>
                </a:rPr>
                <a:t>Global</a:t>
              </a:r>
            </a:p>
            <a:p>
              <a:pPr algn="ctr"/>
              <a:r>
                <a:rPr lang="en-GB" sz="1200">
                  <a:solidFill>
                    <a:srgbClr val="1849D4"/>
                  </a:solidFill>
                  <a:latin typeface="Calibri" panose="020F0502020204030204"/>
                </a:rPr>
                <a:t>Discovery</a:t>
              </a:r>
            </a:p>
            <a:p>
              <a:pPr algn="ctr"/>
              <a:r>
                <a:rPr lang="en-GB" sz="1200">
                  <a:solidFill>
                    <a:srgbClr val="1849D4"/>
                  </a:solidFill>
                  <a:latin typeface="Calibri" panose="020F0502020204030204"/>
                </a:rPr>
                <a:t>Catalogue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F09BE4-BADA-ABF9-AD79-FC0FC6345774}"/>
              </a:ext>
            </a:extLst>
          </p:cNvPr>
          <p:cNvGrpSpPr/>
          <p:nvPr/>
        </p:nvGrpSpPr>
        <p:grpSpPr>
          <a:xfrm>
            <a:off x="9411053" y="2277132"/>
            <a:ext cx="893315" cy="1135268"/>
            <a:chOff x="6712811" y="3048776"/>
            <a:chExt cx="1191086" cy="151369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B20C9BD-F98C-B829-06BB-861099DA07EC}"/>
                </a:ext>
              </a:extLst>
            </p:cNvPr>
            <p:cNvGrpSpPr/>
            <p:nvPr/>
          </p:nvGrpSpPr>
          <p:grpSpPr>
            <a:xfrm>
              <a:off x="6712811" y="3387134"/>
              <a:ext cx="1191086" cy="1175333"/>
              <a:chOff x="5036819" y="3700401"/>
              <a:chExt cx="1191086" cy="1175333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4EC03F5E-4E8D-999E-2CBC-5A44A62EC2C9}"/>
                  </a:ext>
                </a:extLst>
              </p:cNvPr>
              <p:cNvSpPr/>
              <p:nvPr/>
            </p:nvSpPr>
            <p:spPr>
              <a:xfrm>
                <a:off x="5036819" y="3700401"/>
                <a:ext cx="1175851" cy="1175333"/>
              </a:xfrm>
              <a:prstGeom prst="roundRect">
                <a:avLst>
                  <a:gd name="adj" fmla="val 2604"/>
                </a:avLst>
              </a:prstGeom>
              <a:solidFill>
                <a:sysClr val="window" lastClr="FFFFFF"/>
              </a:solidFill>
              <a:ln w="28575" cap="flat" cmpd="sng" algn="ctr">
                <a:solidFill>
                  <a:srgbClr val="1849D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441367A-8F37-D6D5-3F64-2B147DEF6F38}"/>
                  </a:ext>
                </a:extLst>
              </p:cNvPr>
              <p:cNvSpPr txBox="1"/>
              <p:nvPr/>
            </p:nvSpPr>
            <p:spPr>
              <a:xfrm>
                <a:off x="5048712" y="4017585"/>
                <a:ext cx="117919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Global</a:t>
                </a:r>
              </a:p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Cache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E7BF0A4-614F-13FA-A35A-581C7F7292A7}"/>
                </a:ext>
              </a:extLst>
            </p:cNvPr>
            <p:cNvGrpSpPr/>
            <p:nvPr/>
          </p:nvGrpSpPr>
          <p:grpSpPr>
            <a:xfrm>
              <a:off x="6968475" y="3048776"/>
              <a:ext cx="664523" cy="676715"/>
              <a:chOff x="6976094" y="2574516"/>
              <a:chExt cx="664523" cy="676715"/>
            </a:xfrm>
          </p:grpSpPr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B0AB7711-FDE0-549E-FD57-E373A8AF9F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6094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69FF037D-7F70-603B-B5F8-307367341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44932" y="2644373"/>
                <a:ext cx="526845" cy="528534"/>
              </a:xfrm>
              <a:prstGeom prst="ellipse">
                <a:avLst/>
              </a:prstGeom>
              <a:solidFill>
                <a:schemeClr val="bg1"/>
              </a:solidFill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D7E7F845-3073-AAF8-9F08-F23423D2E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6095" y="2574516"/>
                <a:ext cx="664522" cy="676715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EBD8D71-F502-0AFB-67CC-87020448A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colorTemperature colorTemp="4700"/>
                        </a14:imgEffect>
                        <a14:imgEffect>
                          <a14:brightnessContrast bright="-2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064641" y="2664144"/>
                <a:ext cx="487430" cy="488992"/>
              </a:xfrm>
              <a:prstGeom prst="ellipse">
                <a:avLst/>
              </a:prstGeom>
              <a:solidFill>
                <a:schemeClr val="bg1"/>
              </a:solidFill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D1BC97-3A8B-D005-2254-8770BBC2F8B2}"/>
              </a:ext>
            </a:extLst>
          </p:cNvPr>
          <p:cNvGrpSpPr/>
          <p:nvPr/>
        </p:nvGrpSpPr>
        <p:grpSpPr>
          <a:xfrm>
            <a:off x="9402134" y="1053616"/>
            <a:ext cx="893315" cy="1135268"/>
            <a:chOff x="3696977" y="3363068"/>
            <a:chExt cx="1191086" cy="151369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2D13B32-9897-8466-BCFD-F50CCC86943E}"/>
                </a:ext>
              </a:extLst>
            </p:cNvPr>
            <p:cNvGrpSpPr/>
            <p:nvPr/>
          </p:nvGrpSpPr>
          <p:grpSpPr>
            <a:xfrm>
              <a:off x="3696977" y="3701426"/>
              <a:ext cx="1191086" cy="1175333"/>
              <a:chOff x="5036819" y="3700401"/>
              <a:chExt cx="1191086" cy="1175333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95050191-BDAA-D2E7-B6AD-F35880EE0A5E}"/>
                  </a:ext>
                </a:extLst>
              </p:cNvPr>
              <p:cNvSpPr/>
              <p:nvPr/>
            </p:nvSpPr>
            <p:spPr>
              <a:xfrm>
                <a:off x="5036819" y="3700401"/>
                <a:ext cx="1175851" cy="1175333"/>
              </a:xfrm>
              <a:prstGeom prst="roundRect">
                <a:avLst>
                  <a:gd name="adj" fmla="val 2604"/>
                </a:avLst>
              </a:prstGeom>
              <a:solidFill>
                <a:sysClr val="window" lastClr="FFFFFF"/>
              </a:solidFill>
              <a:ln w="28575" cap="flat" cmpd="sng" algn="ctr">
                <a:solidFill>
                  <a:srgbClr val="1849D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075F928-25A9-D818-6D2D-27594FC210D2}"/>
                  </a:ext>
                </a:extLst>
              </p:cNvPr>
              <p:cNvSpPr txBox="1"/>
              <p:nvPr/>
            </p:nvSpPr>
            <p:spPr>
              <a:xfrm>
                <a:off x="5048712" y="4017585"/>
                <a:ext cx="117919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Global</a:t>
                </a:r>
              </a:p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Broker</a:t>
                </a:r>
              </a:p>
            </p:txBody>
          </p:sp>
        </p:grp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7FF0B27-433A-4644-43B2-9A22C1A49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2641" y="3363068"/>
              <a:ext cx="664522" cy="676715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87FE34B-DCE7-851F-28EF-71B4EEAA649D}"/>
                </a:ext>
              </a:extLst>
            </p:cNvPr>
            <p:cNvSpPr/>
            <p:nvPr/>
          </p:nvSpPr>
          <p:spPr>
            <a:xfrm>
              <a:off x="4042108" y="3455008"/>
              <a:ext cx="485588" cy="4855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B85BB203-D50A-C257-0616-857EC1A3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79275" y="3489445"/>
              <a:ext cx="424360" cy="387637"/>
            </a:xfrm>
            <a:prstGeom prst="rect">
              <a:avLst/>
            </a:prstGeom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B863AA1-2865-5CBA-A24E-9B960541FC12}"/>
              </a:ext>
            </a:extLst>
          </p:cNvPr>
          <p:cNvGrpSpPr/>
          <p:nvPr/>
        </p:nvGrpSpPr>
        <p:grpSpPr>
          <a:xfrm>
            <a:off x="9419973" y="4749892"/>
            <a:ext cx="893315" cy="1135268"/>
            <a:chOff x="8757511" y="1478209"/>
            <a:chExt cx="1191086" cy="151369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7E946F2-A520-FE5D-C56D-87B0D80839FC}"/>
                </a:ext>
              </a:extLst>
            </p:cNvPr>
            <p:cNvGrpSpPr/>
            <p:nvPr/>
          </p:nvGrpSpPr>
          <p:grpSpPr>
            <a:xfrm>
              <a:off x="8757511" y="1816567"/>
              <a:ext cx="1191086" cy="1175333"/>
              <a:chOff x="5036819" y="3700401"/>
              <a:chExt cx="1191086" cy="1175333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AB045F23-201B-250E-5D57-D00C06A9B5E4}"/>
                  </a:ext>
                </a:extLst>
              </p:cNvPr>
              <p:cNvSpPr/>
              <p:nvPr/>
            </p:nvSpPr>
            <p:spPr>
              <a:xfrm>
                <a:off x="5036819" y="3700401"/>
                <a:ext cx="1175851" cy="1175333"/>
              </a:xfrm>
              <a:prstGeom prst="roundRect">
                <a:avLst>
                  <a:gd name="adj" fmla="val 2604"/>
                </a:avLst>
              </a:prstGeom>
              <a:solidFill>
                <a:sysClr val="window" lastClr="FFFFFF"/>
              </a:solidFill>
              <a:ln w="28575" cap="flat" cmpd="sng" algn="ctr">
                <a:solidFill>
                  <a:srgbClr val="1849D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9EC5DD1-9827-658C-A708-F2621858D06B}"/>
                  </a:ext>
                </a:extLst>
              </p:cNvPr>
              <p:cNvSpPr txBox="1"/>
              <p:nvPr/>
            </p:nvSpPr>
            <p:spPr>
              <a:xfrm>
                <a:off x="5048712" y="4017585"/>
                <a:ext cx="117919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Global</a:t>
                </a:r>
              </a:p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Monitor</a:t>
                </a:r>
              </a:p>
            </p:txBody>
          </p:sp>
        </p:grp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48126D7-EC0D-3B6A-7C31-EFFB64877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3175" y="1478209"/>
              <a:ext cx="664522" cy="676715"/>
            </a:xfrm>
            <a:prstGeom prst="rect">
              <a:avLst/>
            </a:prstGeom>
          </p:spPr>
        </p:pic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2E6650F-D0CD-D636-B308-300994C45421}"/>
                </a:ext>
              </a:extLst>
            </p:cNvPr>
            <p:cNvSpPr/>
            <p:nvPr/>
          </p:nvSpPr>
          <p:spPr>
            <a:xfrm>
              <a:off x="9102642" y="1570149"/>
              <a:ext cx="485588" cy="4855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C967BA1-2ACF-BBDD-C766-01BD8488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79498" y="1649456"/>
              <a:ext cx="335611" cy="343696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BCA0E9B-55FE-CD65-4C86-F33F09960095}"/>
              </a:ext>
            </a:extLst>
          </p:cNvPr>
          <p:cNvSpPr txBox="1"/>
          <p:nvPr/>
        </p:nvSpPr>
        <p:spPr>
          <a:xfrm>
            <a:off x="4652010" y="1418315"/>
            <a:ext cx="4567294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50" b="1"/>
              <a:t>Global Broker</a:t>
            </a:r>
            <a:r>
              <a:rPr lang="en-GB" sz="1350"/>
              <a:t>: Provides highly available global distribution of notifications about new (meta)data available for downloaded from WIS2 Nodes or Global Caches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24815F-A97C-CD69-5E06-6AFDCB9D5B56}"/>
              </a:ext>
            </a:extLst>
          </p:cNvPr>
          <p:cNvSpPr txBox="1"/>
          <p:nvPr/>
        </p:nvSpPr>
        <p:spPr>
          <a:xfrm>
            <a:off x="5128260" y="2746872"/>
            <a:ext cx="40910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50" b="1" dirty="0"/>
              <a:t>Global Cache</a:t>
            </a:r>
            <a:r>
              <a:rPr lang="en-GB" sz="1350" dirty="0"/>
              <a:t>: Provides highly available HTTP(S) download of </a:t>
            </a:r>
            <a:r>
              <a:rPr lang="en-GB" sz="1350" dirty="0">
                <a:solidFill>
                  <a:srgbClr val="FF0000"/>
                </a:solidFill>
              </a:rPr>
              <a:t>Core</a:t>
            </a:r>
            <a:r>
              <a:rPr lang="en-GB" sz="1350" baseline="30000" dirty="0"/>
              <a:t>1</a:t>
            </a:r>
            <a:r>
              <a:rPr lang="en-GB" sz="1350" dirty="0"/>
              <a:t> data cached from WIS2 Nodes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B3B839-7A0A-7578-1FCE-C0290A0D8C53}"/>
              </a:ext>
            </a:extLst>
          </p:cNvPr>
          <p:cNvSpPr txBox="1"/>
          <p:nvPr/>
        </p:nvSpPr>
        <p:spPr>
          <a:xfrm>
            <a:off x="5472460" y="3997142"/>
            <a:ext cx="375576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50" b="1"/>
              <a:t>Global Discovery Catalogue</a:t>
            </a:r>
            <a:r>
              <a:rPr lang="en-GB" sz="1350"/>
              <a:t>: Provides users an API to discover datasets and services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1DB72D-3FFF-965F-9838-C240691F2B8E}"/>
              </a:ext>
            </a:extLst>
          </p:cNvPr>
          <p:cNvSpPr txBox="1"/>
          <p:nvPr/>
        </p:nvSpPr>
        <p:spPr>
          <a:xfrm>
            <a:off x="4803890" y="5143061"/>
            <a:ext cx="441541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50" b="1"/>
              <a:t>Global Monitor</a:t>
            </a:r>
            <a:r>
              <a:rPr lang="en-GB" sz="1350"/>
              <a:t>: Reports the health of WIS2 using metrics aggregated from all Global Services</a:t>
            </a:r>
          </a:p>
        </p:txBody>
      </p:sp>
      <p:pic>
        <p:nvPicPr>
          <p:cNvPr id="84" name="Picture 83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385C6D8A-4D33-2F3A-ACF9-32FAED1E3A0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5" t="12889" r="1630" b="81161"/>
          <a:stretch/>
        </p:blipFill>
        <p:spPr>
          <a:xfrm>
            <a:off x="8692628" y="2084473"/>
            <a:ext cx="472440" cy="306086"/>
          </a:xfrm>
          <a:prstGeom prst="rect">
            <a:avLst/>
          </a:prstGeom>
        </p:spPr>
      </p:pic>
      <p:pic>
        <p:nvPicPr>
          <p:cNvPr id="85" name="Picture 84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1C5E52E1-D384-DD33-192C-05B8F51D914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2" t="1556" r="45555" b="92593"/>
          <a:stretch/>
        </p:blipFill>
        <p:spPr>
          <a:xfrm>
            <a:off x="7165583" y="2087021"/>
            <a:ext cx="461010" cy="300990"/>
          </a:xfrm>
          <a:prstGeom prst="rect">
            <a:avLst/>
          </a:prstGeom>
        </p:spPr>
      </p:pic>
      <p:pic>
        <p:nvPicPr>
          <p:cNvPr id="86" name="Picture 85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FE822297-BA0B-E240-BE43-A31462E45CF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2" t="64074" r="19185" b="30148"/>
          <a:stretch/>
        </p:blipFill>
        <p:spPr>
          <a:xfrm>
            <a:off x="7673327" y="2088926"/>
            <a:ext cx="461010" cy="297180"/>
          </a:xfrm>
          <a:prstGeom prst="rect">
            <a:avLst/>
          </a:prstGeom>
        </p:spPr>
      </p:pic>
      <p:pic>
        <p:nvPicPr>
          <p:cNvPr id="87" name="Picture 86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A53C1391-D7A9-1FDF-884D-2B2E3DD01CD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0" t="35630" r="80593" b="58444"/>
          <a:stretch/>
        </p:blipFill>
        <p:spPr>
          <a:xfrm>
            <a:off x="8181072" y="2085116"/>
            <a:ext cx="464820" cy="304800"/>
          </a:xfrm>
          <a:prstGeom prst="rect">
            <a:avLst/>
          </a:prstGeom>
        </p:spPr>
      </p:pic>
      <p:pic>
        <p:nvPicPr>
          <p:cNvPr id="88" name="Picture 87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43A4E0A3-A583-B829-78A2-6A4C2A9413A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2" t="64074" r="19185" b="30148"/>
          <a:stretch/>
        </p:blipFill>
        <p:spPr>
          <a:xfrm>
            <a:off x="6141322" y="3194421"/>
            <a:ext cx="461010" cy="297180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B4381258-42C4-85FE-48B3-FC384F706164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4146" b="6043"/>
          <a:stretch/>
        </p:blipFill>
        <p:spPr>
          <a:xfrm>
            <a:off x="8178206" y="3215601"/>
            <a:ext cx="451426" cy="26402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6371E8D3-B7AB-3CDE-7984-F05E80BEAB22}"/>
              </a:ext>
            </a:extLst>
          </p:cNvPr>
          <p:cNvGrpSpPr/>
          <p:nvPr/>
        </p:nvGrpSpPr>
        <p:grpSpPr>
          <a:xfrm>
            <a:off x="7662120" y="3191404"/>
            <a:ext cx="472440" cy="312420"/>
            <a:chOff x="1328657" y="2948702"/>
            <a:chExt cx="629920" cy="416560"/>
          </a:xfrm>
        </p:grpSpPr>
        <p:pic>
          <p:nvPicPr>
            <p:cNvPr id="91" name="Picture 90" descr="A group of flags of different countries/regions&#10;&#10;Description automatically generated">
              <a:extLst>
                <a:ext uri="{FF2B5EF4-FFF2-40B4-BE49-F238E27FC236}">
                  <a16:creationId xmlns:a16="http://schemas.microsoft.com/office/drawing/2014/main" id="{EADCCB6E-D896-3F6E-584B-B9F7A05BBC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48" t="58371" r="36667" b="35555"/>
            <a:stretch/>
          </p:blipFill>
          <p:spPr>
            <a:xfrm>
              <a:off x="1328657" y="2948702"/>
              <a:ext cx="629920" cy="416560"/>
            </a:xfrm>
            <a:prstGeom prst="rect">
              <a:avLst/>
            </a:prstGeom>
          </p:spPr>
        </p:pic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89D1224F-A23B-DD94-3397-6B4C3CC0768A}"/>
                </a:ext>
              </a:extLst>
            </p:cNvPr>
            <p:cNvSpPr/>
            <p:nvPr/>
          </p:nvSpPr>
          <p:spPr>
            <a:xfrm>
              <a:off x="1361125" y="2995675"/>
              <a:ext cx="564983" cy="322614"/>
            </a:xfrm>
            <a:prstGeom prst="roundRect">
              <a:avLst>
                <a:gd name="adj" fmla="val 11362"/>
              </a:avLst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6E465C3-6278-B25E-AC10-B478C2ECEFC7}"/>
              </a:ext>
            </a:extLst>
          </p:cNvPr>
          <p:cNvGrpSpPr/>
          <p:nvPr/>
        </p:nvGrpSpPr>
        <p:grpSpPr>
          <a:xfrm>
            <a:off x="7149843" y="3189499"/>
            <a:ext cx="468630" cy="316230"/>
            <a:chOff x="2387497" y="2716584"/>
            <a:chExt cx="624840" cy="421640"/>
          </a:xfrm>
        </p:grpSpPr>
        <p:pic>
          <p:nvPicPr>
            <p:cNvPr id="94" name="Picture 93" descr="A group of flags of different countries/regions&#10;&#10;Description automatically generated">
              <a:extLst>
                <a:ext uri="{FF2B5EF4-FFF2-40B4-BE49-F238E27FC236}">
                  <a16:creationId xmlns:a16="http://schemas.microsoft.com/office/drawing/2014/main" id="{015DD8E8-9808-F586-2296-9D496EF888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85" t="58296" r="71704" b="35555"/>
            <a:stretch/>
          </p:blipFill>
          <p:spPr>
            <a:xfrm>
              <a:off x="2387497" y="2716584"/>
              <a:ext cx="624840" cy="421640"/>
            </a:xfrm>
            <a:prstGeom prst="rect">
              <a:avLst/>
            </a:prstGeom>
          </p:spPr>
        </p:pic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9B1D1F74-8071-2F06-631E-DA9853BE7717}"/>
                </a:ext>
              </a:extLst>
            </p:cNvPr>
            <p:cNvSpPr/>
            <p:nvPr/>
          </p:nvSpPr>
          <p:spPr>
            <a:xfrm>
              <a:off x="2413130" y="2766097"/>
              <a:ext cx="564983" cy="322614"/>
            </a:xfrm>
            <a:prstGeom prst="roundRect">
              <a:avLst>
                <a:gd name="adj" fmla="val 11362"/>
              </a:avLst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pic>
        <p:nvPicPr>
          <p:cNvPr id="96" name="Picture 95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85695E62-C051-3679-79D1-8C9989C42DF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6" t="35852" r="63037" b="58296"/>
          <a:stretch/>
        </p:blipFill>
        <p:spPr>
          <a:xfrm>
            <a:off x="6641376" y="3201722"/>
            <a:ext cx="464820" cy="300990"/>
          </a:xfrm>
          <a:prstGeom prst="rect">
            <a:avLst/>
          </a:prstGeom>
        </p:spPr>
      </p:pic>
      <p:pic>
        <p:nvPicPr>
          <p:cNvPr id="97" name="Picture 96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927F29BE-28DE-E9BB-EB9B-6B85AA14505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2" t="64074" r="19185" b="30148"/>
          <a:stretch/>
        </p:blipFill>
        <p:spPr>
          <a:xfrm>
            <a:off x="8707091" y="4478101"/>
            <a:ext cx="461010" cy="297180"/>
          </a:xfrm>
          <a:prstGeom prst="rect">
            <a:avLst/>
          </a:prstGeom>
        </p:spPr>
      </p:pic>
      <p:pic>
        <p:nvPicPr>
          <p:cNvPr id="98" name="Picture 97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4B336FC1-9304-1AA4-CB3B-FEA6B7D4E7F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41" t="18445" r="54370" b="75037"/>
          <a:stretch/>
        </p:blipFill>
        <p:spPr>
          <a:xfrm>
            <a:off x="8203206" y="4459051"/>
            <a:ext cx="457200" cy="335280"/>
          </a:xfrm>
          <a:prstGeom prst="rect">
            <a:avLst/>
          </a:prstGeom>
        </p:spPr>
      </p:pic>
      <p:pic>
        <p:nvPicPr>
          <p:cNvPr id="99" name="Picture 98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F83D607D-A109-29CA-ADD2-CC69E386A06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2" t="64074" r="19185" b="30148"/>
          <a:stretch/>
        </p:blipFill>
        <p:spPr>
          <a:xfrm>
            <a:off x="8207243" y="5615001"/>
            <a:ext cx="461010" cy="297180"/>
          </a:xfrm>
          <a:prstGeom prst="rect">
            <a:avLst/>
          </a:prstGeom>
        </p:spPr>
      </p:pic>
      <p:pic>
        <p:nvPicPr>
          <p:cNvPr id="100" name="Picture 99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6773A754-8E5C-5161-7E8F-E15AAED6C9BD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56" t="80963" r="45481" b="12889"/>
          <a:stretch/>
        </p:blipFill>
        <p:spPr>
          <a:xfrm>
            <a:off x="8712805" y="5605476"/>
            <a:ext cx="461010" cy="316230"/>
          </a:xfrm>
          <a:prstGeom prst="rect">
            <a:avLst/>
          </a:prstGeom>
        </p:spPr>
      </p:pic>
      <p:pic>
        <p:nvPicPr>
          <p:cNvPr id="17" name="Picture 16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79BDF096-AA53-441C-B072-E9CFAEAA4FB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6" t="35852" r="63037" b="58296"/>
          <a:stretch/>
        </p:blipFill>
        <p:spPr>
          <a:xfrm>
            <a:off x="7683986" y="4499157"/>
            <a:ext cx="464820" cy="3009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B0DBDAB-87FE-AFB1-EED3-63B10D650E4B}"/>
              </a:ext>
            </a:extLst>
          </p:cNvPr>
          <p:cNvGrpSpPr/>
          <p:nvPr/>
        </p:nvGrpSpPr>
        <p:grpSpPr>
          <a:xfrm>
            <a:off x="1474963" y="1028336"/>
            <a:ext cx="1888766" cy="2899867"/>
            <a:chOff x="1077321" y="1867845"/>
            <a:chExt cx="1888766" cy="289986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C24867-C73A-4F25-D64B-5E5FE1FE7AAF}"/>
                </a:ext>
              </a:extLst>
            </p:cNvPr>
            <p:cNvGrpSpPr/>
            <p:nvPr/>
          </p:nvGrpSpPr>
          <p:grpSpPr>
            <a:xfrm>
              <a:off x="1077321" y="1867845"/>
              <a:ext cx="1806500" cy="2899867"/>
              <a:chOff x="4927089" y="1392421"/>
              <a:chExt cx="2408667" cy="386648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2CC831B-9F1D-920F-F1AD-072ACD477E84}"/>
                  </a:ext>
                </a:extLst>
              </p:cNvPr>
              <p:cNvGrpSpPr/>
              <p:nvPr/>
            </p:nvGrpSpPr>
            <p:grpSpPr>
              <a:xfrm>
                <a:off x="4927089" y="1683908"/>
                <a:ext cx="2408667" cy="3575002"/>
                <a:chOff x="4953000" y="695536"/>
                <a:chExt cx="2492444" cy="5135333"/>
              </a:xfrm>
            </p:grpSpPr>
            <p:sp>
              <p:nvSpPr>
                <p:cNvPr id="40" name="Rectangle: Rounded Corners 111">
                  <a:extLst>
                    <a:ext uri="{FF2B5EF4-FFF2-40B4-BE49-F238E27FC236}">
                      <a16:creationId xmlns:a16="http://schemas.microsoft.com/office/drawing/2014/main" id="{E39BEB53-3A9C-2698-303A-4F0BB8CEEF55}"/>
                    </a:ext>
                  </a:extLst>
                </p:cNvPr>
                <p:cNvSpPr/>
                <p:nvPr/>
              </p:nvSpPr>
              <p:spPr>
                <a:xfrm>
                  <a:off x="4953000" y="695536"/>
                  <a:ext cx="2492444" cy="4647502"/>
                </a:xfrm>
                <a:prstGeom prst="roundRect">
                  <a:avLst>
                    <a:gd name="adj" fmla="val 2604"/>
                  </a:avLst>
                </a:prstGeom>
                <a:solidFill>
                  <a:sysClr val="window" lastClr="FFFFFF"/>
                </a:solidFill>
                <a:ln w="28575" cap="flat" cmpd="sng" algn="ctr">
                  <a:solidFill>
                    <a:srgbClr val="1849D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GB" sz="135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587A5BC-0650-3E69-9448-D9419D1D594F}"/>
                    </a:ext>
                  </a:extLst>
                </p:cNvPr>
                <p:cNvSpPr txBox="1"/>
                <p:nvPr/>
              </p:nvSpPr>
              <p:spPr>
                <a:xfrm>
                  <a:off x="5288446" y="5344550"/>
                  <a:ext cx="1811193" cy="486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defRPr/>
                  </a:pPr>
                  <a:r>
                    <a:rPr lang="en-GB" sz="1050" kern="0" dirty="0">
                      <a:solidFill>
                        <a:srgbClr val="1849D4"/>
                      </a:solidFill>
                      <a:latin typeface="Consolas" panose="020B0609020204030204" pitchFamily="49" charset="0"/>
                    </a:rPr>
                    <a:t>WIS2 Node</a:t>
                  </a:r>
                </a:p>
              </p:txBody>
            </p:sp>
          </p:grp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12F08803-75AE-0507-4F0C-379D60DD72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4819" y="1392421"/>
                <a:ext cx="518022" cy="504638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B3C9015-1B92-95C4-A48B-E3AB4F2953E9}"/>
                </a:ext>
              </a:extLst>
            </p:cNvPr>
            <p:cNvGrpSpPr/>
            <p:nvPr/>
          </p:nvGrpSpPr>
          <p:grpSpPr>
            <a:xfrm>
              <a:off x="1366947" y="2276893"/>
              <a:ext cx="1599140" cy="892175"/>
              <a:chOff x="5313257" y="1290320"/>
              <a:chExt cx="2132187" cy="1189567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E5BD1A3-C30E-310B-E004-B62DF6FDC56D}"/>
                  </a:ext>
                </a:extLst>
              </p:cNvPr>
              <p:cNvSpPr/>
              <p:nvPr/>
            </p:nvSpPr>
            <p:spPr>
              <a:xfrm>
                <a:off x="5313257" y="1290320"/>
                <a:ext cx="1206500" cy="1189567"/>
              </a:xfrm>
              <a:prstGeom prst="rect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AA5781F-DC8C-CCDC-931E-4573B4E2A0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50838" y="1429250"/>
                <a:ext cx="312793" cy="455853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FC6EFFA-89B7-8E23-F35A-9F0AC089E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07234" y="1927724"/>
                <a:ext cx="312793" cy="455853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593E0A61-899F-5EE1-184D-610B7325C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85296" y="1927724"/>
                <a:ext cx="312793" cy="455853"/>
              </a:xfrm>
              <a:prstGeom prst="rect">
                <a:avLst/>
              </a:prstGeom>
            </p:spPr>
          </p:pic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626B7D70-B31E-4D5F-52F0-98F39739DD83}"/>
                  </a:ext>
                </a:extLst>
              </p:cNvPr>
              <p:cNvCxnSpPr>
                <a:cxnSpLocks/>
                <a:stCxn id="31" idx="3"/>
              </p:cNvCxnSpPr>
              <p:nvPr/>
            </p:nvCxnSpPr>
            <p:spPr>
              <a:xfrm flipV="1">
                <a:off x="6519757" y="1885103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9C32C84-2AC8-4152-809D-AAD48E62A532}"/>
                  </a:ext>
                </a:extLst>
              </p:cNvPr>
              <p:cNvSpPr/>
              <p:nvPr/>
            </p:nvSpPr>
            <p:spPr>
              <a:xfrm>
                <a:off x="6927215" y="1821603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9E9EC6-C792-A2ED-A204-A09C1C9A556A}"/>
                  </a:ext>
                </a:extLst>
              </p:cNvPr>
              <p:cNvSpPr txBox="1"/>
              <p:nvPr/>
            </p:nvSpPr>
            <p:spPr>
              <a:xfrm>
                <a:off x="6541983" y="1915590"/>
                <a:ext cx="90346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defRPr/>
                </a:pPr>
                <a:r>
                  <a:rPr lang="en-GB" sz="825" kern="0">
                    <a:solidFill>
                      <a:prstClr val="black"/>
                    </a:solidFill>
                    <a:latin typeface="Calibri" panose="020F0502020204030204"/>
                  </a:rPr>
                  <a:t>HTTPS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C5EA63A-DF1A-93CD-A8A9-FE5AF6A64CB2}"/>
                </a:ext>
              </a:extLst>
            </p:cNvPr>
            <p:cNvGrpSpPr/>
            <p:nvPr/>
          </p:nvGrpSpPr>
          <p:grpSpPr>
            <a:xfrm>
              <a:off x="1366947" y="3388299"/>
              <a:ext cx="1599140" cy="892175"/>
              <a:chOff x="5313257" y="3889593"/>
              <a:chExt cx="2132187" cy="118956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B5E659C-6DDC-D6E3-53D6-D98E0B9BCF90}"/>
                  </a:ext>
                </a:extLst>
              </p:cNvPr>
              <p:cNvSpPr/>
              <p:nvPr/>
            </p:nvSpPr>
            <p:spPr>
              <a:xfrm>
                <a:off x="5313257" y="3889593"/>
                <a:ext cx="1206500" cy="1189567"/>
              </a:xfrm>
              <a:prstGeom prst="rect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08EF5F9-4CF5-FF9E-E709-E6C2F93714DF}"/>
                  </a:ext>
                </a:extLst>
              </p:cNvPr>
              <p:cNvCxnSpPr>
                <a:cxnSpLocks/>
                <a:stCxn id="23" idx="3"/>
              </p:cNvCxnSpPr>
              <p:nvPr/>
            </p:nvCxnSpPr>
            <p:spPr>
              <a:xfrm flipV="1">
                <a:off x="6519757" y="4484376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CC8F901-35AC-197C-76A1-6D7509B9CAA6}"/>
                  </a:ext>
                </a:extLst>
              </p:cNvPr>
              <p:cNvSpPr/>
              <p:nvPr/>
            </p:nvSpPr>
            <p:spPr>
              <a:xfrm>
                <a:off x="6927215" y="4420876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ED0312-4E21-FA1E-2733-332EDA044F34}"/>
                  </a:ext>
                </a:extLst>
              </p:cNvPr>
              <p:cNvSpPr txBox="1"/>
              <p:nvPr/>
            </p:nvSpPr>
            <p:spPr>
              <a:xfrm>
                <a:off x="6541983" y="4514863"/>
                <a:ext cx="90346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defRPr/>
                </a:pPr>
                <a:r>
                  <a:rPr lang="en-GB" sz="825" kern="0">
                    <a:solidFill>
                      <a:prstClr val="black"/>
                    </a:solidFill>
                    <a:latin typeface="Calibri" panose="020F0502020204030204"/>
                  </a:rPr>
                  <a:t>MQTTS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CC86E085-CA1B-D7A0-324E-36A52F6A8C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53660" y="4021798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EC392A7-4283-CD7E-F98A-0EF78E454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28900" y="4022297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0E3CDDF9-F8CA-EA99-65B2-647043E4D4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07234" y="4531559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CA166B8-08A5-E982-4215-834EA58D72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82474" y="4532058"/>
                <a:ext cx="327907" cy="477879"/>
              </a:xfrm>
              <a:prstGeom prst="rect">
                <a:avLst/>
              </a:prstGeom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FD51695-6CFB-A179-06BE-0A77CEE2D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778997" y="2370660"/>
              <a:ext cx="263744" cy="341890"/>
            </a:xfrm>
            <a:prstGeom prst="rect">
              <a:avLst/>
            </a:prstGeom>
          </p:spPr>
        </p:pic>
      </p:grpSp>
      <p:pic>
        <p:nvPicPr>
          <p:cNvPr id="1028" name="Picture 4" descr="National flag of Saudi Arabia country in Western Asia">
            <a:extLst>
              <a:ext uri="{FF2B5EF4-FFF2-40B4-BE49-F238E27FC236}">
                <a16:creationId xmlns:a16="http://schemas.microsoft.com/office/drawing/2014/main" id="{EB5F5968-9F66-4790-B3BA-75B911E4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356" y="3226635"/>
            <a:ext cx="421493" cy="25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FE5A9-54C1-3F62-BD07-FB8D58F391AF}"/>
              </a:ext>
            </a:extLst>
          </p:cNvPr>
          <p:cNvSpPr txBox="1">
            <a:spLocks/>
          </p:cNvSpPr>
          <p:nvPr/>
        </p:nvSpPr>
        <p:spPr>
          <a:xfrm>
            <a:off x="2003121" y="135912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Global Services and WIS2 Nodes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E8E1A-1297-AA76-8A1E-8FB7E3356474}"/>
              </a:ext>
            </a:extLst>
          </p:cNvPr>
          <p:cNvSpPr txBox="1"/>
          <p:nvPr/>
        </p:nvSpPr>
        <p:spPr>
          <a:xfrm>
            <a:off x="340677" y="4047572"/>
            <a:ext cx="41994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/>
              <a:t>On March 30</a:t>
            </a:r>
            <a:r>
              <a:rPr lang="en-GB" sz="2000" baseline="30000" dirty="0"/>
              <a:t>th</a:t>
            </a:r>
            <a:r>
              <a:rPr lang="en-GB" sz="2000" dirty="0"/>
              <a:t>, 2026 we have </a:t>
            </a:r>
          </a:p>
          <a:p>
            <a:pPr algn="ctr"/>
            <a:r>
              <a:rPr lang="en-GB" sz="2000" b="1" dirty="0">
                <a:solidFill>
                  <a:srgbClr val="FF0000"/>
                </a:solidFill>
              </a:rPr>
              <a:t>~100 WIS2 Nodes</a:t>
            </a:r>
            <a:r>
              <a:rPr lang="en-GB" sz="2000" dirty="0"/>
              <a:t> </a:t>
            </a:r>
          </a:p>
          <a:p>
            <a:pPr algn="ctr"/>
            <a:r>
              <a:rPr lang="en-GB" sz="2000" dirty="0"/>
              <a:t>up and running</a:t>
            </a:r>
          </a:p>
        </p:txBody>
      </p:sp>
    </p:spTree>
    <p:extLst>
      <p:ext uri="{BB962C8B-B14F-4D97-AF65-F5344CB8AC3E}">
        <p14:creationId xmlns:p14="http://schemas.microsoft.com/office/powerpoint/2010/main" val="218029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BE14072-F687-2B3C-532A-3A4184AD9BC1}"/>
              </a:ext>
            </a:extLst>
          </p:cNvPr>
          <p:cNvSpPr txBox="1"/>
          <p:nvPr/>
        </p:nvSpPr>
        <p:spPr>
          <a:xfrm>
            <a:off x="150087" y="892884"/>
            <a:ext cx="6159196" cy="830997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WMO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core data 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(free and unrestricted) can be 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downloaded from a Global Cache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902923-F2E7-B5AC-2B2C-C1A3BC4CC811}"/>
              </a:ext>
            </a:extLst>
          </p:cNvPr>
          <p:cNvSpPr/>
          <p:nvPr/>
        </p:nvSpPr>
        <p:spPr>
          <a:xfrm>
            <a:off x="4514797" y="2078296"/>
            <a:ext cx="3839061" cy="329060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 2.0</a:t>
            </a: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A14DD5-892C-69D1-EEC9-36DA4DAF468A}"/>
              </a:ext>
            </a:extLst>
          </p:cNvPr>
          <p:cNvSpPr/>
          <p:nvPr/>
        </p:nvSpPr>
        <p:spPr>
          <a:xfrm>
            <a:off x="6213804" y="4348907"/>
            <a:ext cx="1977010" cy="452601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Cache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F8D61F-8FA8-A674-ABB9-A345FD411B50}"/>
              </a:ext>
            </a:extLst>
          </p:cNvPr>
          <p:cNvSpPr/>
          <p:nvPr/>
        </p:nvSpPr>
        <p:spPr>
          <a:xfrm>
            <a:off x="6209582" y="3481962"/>
            <a:ext cx="1981232" cy="453178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Broker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6" name="Graphic 35" descr="Network with solid fill">
            <a:extLst>
              <a:ext uri="{FF2B5EF4-FFF2-40B4-BE49-F238E27FC236}">
                <a16:creationId xmlns:a16="http://schemas.microsoft.com/office/drawing/2014/main" id="{79B39149-5486-B055-9F65-DEA834CF4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0763" y="3535246"/>
            <a:ext cx="357638" cy="357638"/>
          </a:xfrm>
          <a:prstGeom prst="rect">
            <a:avLst/>
          </a:prstGeom>
        </p:spPr>
      </p:pic>
      <p:pic>
        <p:nvPicPr>
          <p:cNvPr id="37" name="Picture 36" descr="A picture containing text, balloon, transport, aircraft&#10;&#10;Description automatically generated">
            <a:extLst>
              <a:ext uri="{FF2B5EF4-FFF2-40B4-BE49-F238E27FC236}">
                <a16:creationId xmlns:a16="http://schemas.microsoft.com/office/drawing/2014/main" id="{85F13B97-68B1-9057-B9E5-16A3346EA5A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6000"/>
                    </a14:imgEffect>
                    <a14:imgEffect>
                      <a14:colorTemperature colorTemp="5686"/>
                    </a14:imgEffect>
                    <a14:imgEffect>
                      <a14:saturation sat="47000"/>
                    </a14:imgEffect>
                    <a14:imgEffect>
                      <a14:brightnessContrast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3088" y="2119164"/>
            <a:ext cx="708548" cy="708548"/>
          </a:xfrm>
          <a:prstGeom prst="rect">
            <a:avLst/>
          </a:prstGeom>
        </p:spPr>
      </p:pic>
      <p:pic>
        <p:nvPicPr>
          <p:cNvPr id="38" name="Graphic 37" descr="Database with solid fill">
            <a:extLst>
              <a:ext uri="{FF2B5EF4-FFF2-40B4-BE49-F238E27FC236}">
                <a16:creationId xmlns:a16="http://schemas.microsoft.com/office/drawing/2014/main" id="{651D060A-9CFD-C011-E4BA-04766FD544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4190" y="4373331"/>
            <a:ext cx="390784" cy="40375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1C18376-AB66-AC32-E47C-8210438FD57D}"/>
              </a:ext>
            </a:extLst>
          </p:cNvPr>
          <p:cNvSpPr/>
          <p:nvPr/>
        </p:nvSpPr>
        <p:spPr>
          <a:xfrm>
            <a:off x="6213805" y="2626496"/>
            <a:ext cx="1977010" cy="453178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Discovery Catalogue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0" name="Graphic 39" descr="Books outline">
            <a:extLst>
              <a:ext uri="{FF2B5EF4-FFF2-40B4-BE49-F238E27FC236}">
                <a16:creationId xmlns:a16="http://schemas.microsoft.com/office/drawing/2014/main" id="{6B1AA824-6C49-0CAF-CF26-C832A5800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4736" y="2675398"/>
            <a:ext cx="385091" cy="385091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1E4991-A94A-0684-BA57-88E511EEA92F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5257857" y="3707695"/>
            <a:ext cx="951725" cy="856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5F768E-E582-24C8-8EC6-C899A3DF4C08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H="1" flipV="1">
            <a:off x="7200198" y="3935140"/>
            <a:ext cx="2111" cy="413767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6C8D3E-7802-F796-DF22-DC1B5E20C362}"/>
              </a:ext>
            </a:extLst>
          </p:cNvPr>
          <p:cNvCxnSpPr>
            <a:cxnSpLocks/>
            <a:stCxn id="39" idx="2"/>
            <a:endCxn id="35" idx="0"/>
          </p:cNvCxnSpPr>
          <p:nvPr/>
        </p:nvCxnSpPr>
        <p:spPr>
          <a:xfrm flipH="1">
            <a:off x="7200198" y="3079674"/>
            <a:ext cx="2112" cy="402288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66D91E8-6C37-CC6B-34BE-47DDABAC79E7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5257857" y="2853085"/>
            <a:ext cx="955948" cy="854610"/>
          </a:xfrm>
          <a:prstGeom prst="straightConnector1">
            <a:avLst/>
          </a:prstGeom>
          <a:noFill/>
          <a:ln w="25400" cap="flat" cmpd="sng" algn="ctr">
            <a:solidFill>
              <a:srgbClr val="9BBB59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EE5CEE-CBDB-43E5-3570-F6DD5DFCD2BB}"/>
              </a:ext>
            </a:extLst>
          </p:cNvPr>
          <p:cNvCxnSpPr>
            <a:stCxn id="34" idx="1"/>
          </p:cNvCxnSpPr>
          <p:nvPr/>
        </p:nvCxnSpPr>
        <p:spPr>
          <a:xfrm flipH="1" flipV="1">
            <a:off x="5257857" y="3707695"/>
            <a:ext cx="955947" cy="867513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B3F6F59-EC7E-787B-855D-85B3CFD3A25D}"/>
              </a:ext>
            </a:extLst>
          </p:cNvPr>
          <p:cNvSpPr txBox="1"/>
          <p:nvPr/>
        </p:nvSpPr>
        <p:spPr>
          <a:xfrm>
            <a:off x="5613854" y="3502817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</a:rPr>
              <a:t>MQTT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E220FC-8C29-2C39-86C8-19213F1B03CD}"/>
              </a:ext>
            </a:extLst>
          </p:cNvPr>
          <p:cNvSpPr txBox="1"/>
          <p:nvPr/>
        </p:nvSpPr>
        <p:spPr>
          <a:xfrm rot="18900058">
            <a:off x="5409438" y="309195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</a:rPr>
              <a:t>HTTP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B4BC4-9B26-69B7-D45F-4ED31453A63A}"/>
              </a:ext>
            </a:extLst>
          </p:cNvPr>
          <p:cNvSpPr txBox="1"/>
          <p:nvPr/>
        </p:nvSpPr>
        <p:spPr>
          <a:xfrm rot="2590689">
            <a:off x="5603080" y="3998322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</a:rPr>
              <a:t>HTTP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A93327-A0D7-E4DD-CC7D-7AFDC48FABD9}"/>
              </a:ext>
            </a:extLst>
          </p:cNvPr>
          <p:cNvCxnSpPr>
            <a:cxnSpLocks/>
          </p:cNvCxnSpPr>
          <p:nvPr/>
        </p:nvCxnSpPr>
        <p:spPr>
          <a:xfrm flipH="1">
            <a:off x="7542236" y="3940276"/>
            <a:ext cx="2112" cy="402288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4CA1CEF-4308-6061-16BC-BE49E71F94D9}"/>
              </a:ext>
            </a:extLst>
          </p:cNvPr>
          <p:cNvCxnSpPr>
            <a:cxnSpLocks/>
          </p:cNvCxnSpPr>
          <p:nvPr/>
        </p:nvCxnSpPr>
        <p:spPr>
          <a:xfrm flipV="1">
            <a:off x="7526454" y="3060489"/>
            <a:ext cx="0" cy="428297"/>
          </a:xfrm>
          <a:prstGeom prst="straightConnector1">
            <a:avLst/>
          </a:prstGeom>
          <a:noFill/>
          <a:ln w="25400" cap="flat" cmpd="sng" algn="ctr">
            <a:solidFill>
              <a:srgbClr val="9BBB59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D368844F-FE34-E580-AADF-139C962C81ED}"/>
              </a:ext>
            </a:extLst>
          </p:cNvPr>
          <p:cNvSpPr txBox="1"/>
          <p:nvPr/>
        </p:nvSpPr>
        <p:spPr>
          <a:xfrm>
            <a:off x="8536565" y="4325372"/>
            <a:ext cx="13532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download core data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</a:endParaRPr>
          </a:p>
        </p:txBody>
      </p:sp>
      <p:cxnSp>
        <p:nvCxnSpPr>
          <p:cNvPr id="52" name="Connector: Elbow 50">
            <a:extLst>
              <a:ext uri="{FF2B5EF4-FFF2-40B4-BE49-F238E27FC236}">
                <a16:creationId xmlns:a16="http://schemas.microsoft.com/office/drawing/2014/main" id="{EF91E84E-EFCB-E530-0683-68BCA2A0E85D}"/>
              </a:ext>
            </a:extLst>
          </p:cNvPr>
          <p:cNvCxnSpPr>
            <a:cxnSpLocks/>
            <a:stCxn id="109" idx="2"/>
            <a:endCxn id="34" idx="3"/>
          </p:cNvCxnSpPr>
          <p:nvPr/>
        </p:nvCxnSpPr>
        <p:spPr>
          <a:xfrm rot="5400000">
            <a:off x="8969154" y="3156382"/>
            <a:ext cx="640487" cy="2197165"/>
          </a:xfrm>
          <a:prstGeom prst="bentConnector2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BF8BA91-3AE6-E63F-6EAD-1DE0CDE8D8A5}"/>
              </a:ext>
            </a:extLst>
          </p:cNvPr>
          <p:cNvSpPr/>
          <p:nvPr/>
        </p:nvSpPr>
        <p:spPr>
          <a:xfrm>
            <a:off x="3490843" y="3475623"/>
            <a:ext cx="1752602" cy="40975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1042D3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WIS2-node</a:t>
            </a:r>
            <a:endParaRPr kumimoji="0" lang="en-CH" sz="1800" b="1" i="0" u="none" strike="noStrike" kern="0" cap="none" spc="0" normalizeH="0" baseline="0" noProof="0" dirty="0">
              <a:ln>
                <a:noFill/>
              </a:ln>
              <a:solidFill>
                <a:srgbClr val="1042D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6E79DA8-2129-DD08-D099-53941B92A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37" y="3513893"/>
            <a:ext cx="389556" cy="35640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4F92C32-1BC6-5184-8105-F242B26F77EC}"/>
              </a:ext>
            </a:extLst>
          </p:cNvPr>
          <p:cNvSpPr txBox="1"/>
          <p:nvPr/>
        </p:nvSpPr>
        <p:spPr>
          <a:xfrm>
            <a:off x="972710" y="2782669"/>
            <a:ext cx="35843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</a:rPr>
              <a:t>WIS2-Node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</a:rPr>
              <a:t> publishes on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  <a:latin typeface="Consolas" panose="020B0609020204030204" pitchFamily="49" charset="0"/>
              </a:rPr>
              <a:t>origin/a/wis2/…/data/core/…</a:t>
            </a:r>
            <a:endParaRPr kumimoji="0" lang="en-CH" sz="1600" b="0" i="0" u="none" strike="noStrike" kern="0" cap="none" spc="0" normalizeH="0" baseline="0" noProof="0" dirty="0">
              <a:ln>
                <a:noFill/>
              </a:ln>
              <a:solidFill>
                <a:srgbClr val="1042D3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4F676B-3A69-F18F-DB94-13A7B0860349}"/>
              </a:ext>
            </a:extLst>
          </p:cNvPr>
          <p:cNvSpPr txBox="1"/>
          <p:nvPr/>
        </p:nvSpPr>
        <p:spPr>
          <a:xfrm>
            <a:off x="5613854" y="5380672"/>
            <a:ext cx="36490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Global Cache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subscribes to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onsolas" panose="020B0609020204030204" pitchFamily="49" charset="0"/>
              </a:rPr>
              <a:t>origin/a/wis2/…/data/core/…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downloads data from WIS2-Node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</a:rPr>
              <a:t>and publishes new notification 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onsolas" panose="020B0609020204030204" pitchFamily="49" charset="0"/>
              </a:rPr>
              <a:t>cache/a/wis2/…/data/core/…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8D8D2E-E9B4-CE20-EA93-F9BB58141E5D}"/>
              </a:ext>
            </a:extLst>
          </p:cNvPr>
          <p:cNvSpPr txBox="1"/>
          <p:nvPr/>
        </p:nvSpPr>
        <p:spPr>
          <a:xfrm>
            <a:off x="8404244" y="2594830"/>
            <a:ext cx="3839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Data Consumer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subscribes to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cache/a/wis2/…/data/core/…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and downloads data from Global Cache</a:t>
            </a:r>
            <a:endParaRPr kumimoji="0" lang="en-CH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8C0C013-743B-479E-52B7-B4FB87B392F6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8190814" y="3708551"/>
            <a:ext cx="1954279" cy="10918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09" name="Picture 2" descr="User icon in flat style. person icon. Client Symbol 7296447 ...">
            <a:extLst>
              <a:ext uri="{FF2B5EF4-FFF2-40B4-BE49-F238E27FC236}">
                <a16:creationId xmlns:a16="http://schemas.microsoft.com/office/drawing/2014/main" id="{E50292A9-492C-B09C-F15B-ADB383608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093" y="3504217"/>
            <a:ext cx="485771" cy="43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EF968-A86A-29C5-3976-3B97B3DA18FB}"/>
              </a:ext>
            </a:extLst>
          </p:cNvPr>
          <p:cNvSpPr txBox="1">
            <a:spLocks/>
          </p:cNvSpPr>
          <p:nvPr/>
        </p:nvSpPr>
        <p:spPr>
          <a:xfrm>
            <a:off x="2003121" y="135912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Exchange of core data</a:t>
            </a:r>
          </a:p>
        </p:txBody>
      </p:sp>
    </p:spTree>
    <p:extLst>
      <p:ext uri="{BB962C8B-B14F-4D97-AF65-F5344CB8AC3E}">
        <p14:creationId xmlns:p14="http://schemas.microsoft.com/office/powerpoint/2010/main" val="32652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498D5469-606B-3D04-6F7C-07F80EF66BEA}"/>
              </a:ext>
            </a:extLst>
          </p:cNvPr>
          <p:cNvSpPr txBox="1"/>
          <p:nvPr/>
        </p:nvSpPr>
        <p:spPr>
          <a:xfrm>
            <a:off x="150087" y="892884"/>
            <a:ext cx="8386478" cy="830997"/>
          </a:xfrm>
          <a:prstGeom prst="rect">
            <a:avLst/>
          </a:prstGeom>
          <a:solidFill>
            <a:srgbClr val="EEECE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>
              <a:defRPr/>
            </a:pP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</a:rPr>
              <a:t>WMO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recommended data 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</a:rPr>
              <a:t>shall be downloaded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directly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from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lang="en-CH" sz="2400" b="1" i="1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WIS2 Node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"/>
                <a:cs typeface="Arial"/>
              </a:rPr>
              <a:t>, access </a:t>
            </a:r>
            <a:r>
              <a:rPr kumimoji="0" lang="en-CH" sz="2400" b="1" i="1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can be </a:t>
            </a:r>
            <a:r>
              <a:rPr lang="en-CH" sz="2400" b="1" i="1" kern="0">
                <a:solidFill>
                  <a:srgbClr val="C00000"/>
                </a:solidFill>
                <a:latin typeface="Arial"/>
                <a:cs typeface="Arial"/>
              </a:rPr>
              <a:t>open or restricted </a:t>
            </a:r>
            <a:endParaRPr kumimoji="0" lang="en-CH" sz="2400" b="1" i="1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DC5925C-B1E6-B92F-CFDB-569A9177D412}"/>
              </a:ext>
            </a:extLst>
          </p:cNvPr>
          <p:cNvSpPr/>
          <p:nvPr/>
        </p:nvSpPr>
        <p:spPr>
          <a:xfrm>
            <a:off x="4514797" y="2078296"/>
            <a:ext cx="3839061" cy="329060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WIS 2.0</a:t>
            </a: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algn="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890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H" sz="1300" b="1" i="0" u="none" strike="noStrike" kern="0" cap="none" spc="0" normalizeH="0" baseline="0" noProof="0" dirty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11FF671-A044-8E20-95F8-29CF845CD844}"/>
              </a:ext>
            </a:extLst>
          </p:cNvPr>
          <p:cNvSpPr/>
          <p:nvPr/>
        </p:nvSpPr>
        <p:spPr>
          <a:xfrm>
            <a:off x="6213804" y="4348907"/>
            <a:ext cx="1977010" cy="452601"/>
          </a:xfrm>
          <a:prstGeom prst="rect">
            <a:avLst/>
          </a:prstGeom>
          <a:solidFill>
            <a:srgbClr val="1F497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Cache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70FC6FF-B801-C4EF-E5FE-D0A942104E8C}"/>
              </a:ext>
            </a:extLst>
          </p:cNvPr>
          <p:cNvSpPr/>
          <p:nvPr/>
        </p:nvSpPr>
        <p:spPr>
          <a:xfrm>
            <a:off x="6209582" y="3481962"/>
            <a:ext cx="1981232" cy="453178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Broker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7" name="Graphic 96" descr="Network with solid fill">
            <a:extLst>
              <a:ext uri="{FF2B5EF4-FFF2-40B4-BE49-F238E27FC236}">
                <a16:creationId xmlns:a16="http://schemas.microsoft.com/office/drawing/2014/main" id="{846AD68F-76F2-CF17-FFBA-50A21F40B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0763" y="3535246"/>
            <a:ext cx="357638" cy="357638"/>
          </a:xfrm>
          <a:prstGeom prst="rect">
            <a:avLst/>
          </a:prstGeom>
        </p:spPr>
      </p:pic>
      <p:pic>
        <p:nvPicPr>
          <p:cNvPr id="98" name="Picture 97" descr="A picture containing text, balloon, transport, aircraft&#10;&#10;Description automatically generated">
            <a:extLst>
              <a:ext uri="{FF2B5EF4-FFF2-40B4-BE49-F238E27FC236}">
                <a16:creationId xmlns:a16="http://schemas.microsoft.com/office/drawing/2014/main" id="{3C9A9988-C432-AFA1-16CE-82D6DF94D9B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6000"/>
                    </a14:imgEffect>
                    <a14:imgEffect>
                      <a14:colorTemperature colorTemp="5686"/>
                    </a14:imgEffect>
                    <a14:imgEffect>
                      <a14:saturation sat="47000"/>
                    </a14:imgEffect>
                    <a14:imgEffect>
                      <a14:brightnessContrast contrast="-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3088" y="2119164"/>
            <a:ext cx="708548" cy="708548"/>
          </a:xfrm>
          <a:prstGeom prst="rect">
            <a:avLst/>
          </a:prstGeom>
        </p:spPr>
      </p:pic>
      <p:pic>
        <p:nvPicPr>
          <p:cNvPr id="99" name="Graphic 98" descr="Database with solid fill">
            <a:extLst>
              <a:ext uri="{FF2B5EF4-FFF2-40B4-BE49-F238E27FC236}">
                <a16:creationId xmlns:a16="http://schemas.microsoft.com/office/drawing/2014/main" id="{D0227EF9-1116-22F1-E3C8-5C3FD3263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4190" y="4373331"/>
            <a:ext cx="390784" cy="403751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61225F9C-B5EB-9C9C-66F7-BCE24F7A20E4}"/>
              </a:ext>
            </a:extLst>
          </p:cNvPr>
          <p:cNvSpPr/>
          <p:nvPr/>
        </p:nvSpPr>
        <p:spPr>
          <a:xfrm>
            <a:off x="6213805" y="2626496"/>
            <a:ext cx="1977010" cy="453178"/>
          </a:xfrm>
          <a:prstGeom prst="rect">
            <a:avLst/>
          </a:prstGeom>
          <a:solidFill>
            <a:srgbClr val="9BBB59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Discovery Catalogue</a:t>
            </a:r>
            <a:endParaRPr kumimoji="0" lang="en-CH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1" name="Graphic 100" descr="Books outline">
            <a:extLst>
              <a:ext uri="{FF2B5EF4-FFF2-40B4-BE49-F238E27FC236}">
                <a16:creationId xmlns:a16="http://schemas.microsoft.com/office/drawing/2014/main" id="{533D14DD-1CDA-FFC3-8564-652065258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4736" y="2675398"/>
            <a:ext cx="385091" cy="385091"/>
          </a:xfrm>
          <a:prstGeom prst="rect">
            <a:avLst/>
          </a:prstGeom>
        </p:spPr>
      </p:pic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394FB18-408A-F79F-0085-4BE4A43A6890}"/>
              </a:ext>
            </a:extLst>
          </p:cNvPr>
          <p:cNvCxnSpPr>
            <a:cxnSpLocks/>
            <a:stCxn id="96" idx="1"/>
          </p:cNvCxnSpPr>
          <p:nvPr/>
        </p:nvCxnSpPr>
        <p:spPr>
          <a:xfrm flipH="1" flipV="1">
            <a:off x="5257857" y="3707695"/>
            <a:ext cx="951725" cy="856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9670AC6-C3A8-3842-D423-373E82287242}"/>
              </a:ext>
            </a:extLst>
          </p:cNvPr>
          <p:cNvCxnSpPr>
            <a:cxnSpLocks/>
            <a:stCxn id="95" idx="0"/>
            <a:endCxn id="96" idx="2"/>
          </p:cNvCxnSpPr>
          <p:nvPr/>
        </p:nvCxnSpPr>
        <p:spPr>
          <a:xfrm flipH="1" flipV="1">
            <a:off x="7200198" y="3935140"/>
            <a:ext cx="2111" cy="413767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766F46F-2B79-B753-2376-C4C80E9C58AA}"/>
              </a:ext>
            </a:extLst>
          </p:cNvPr>
          <p:cNvCxnSpPr>
            <a:cxnSpLocks/>
            <a:stCxn id="100" idx="2"/>
            <a:endCxn id="96" idx="0"/>
          </p:cNvCxnSpPr>
          <p:nvPr/>
        </p:nvCxnSpPr>
        <p:spPr>
          <a:xfrm flipH="1">
            <a:off x="7200198" y="3079674"/>
            <a:ext cx="2112" cy="402288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D8BA40C-A6A7-37D8-FCBD-D8B3747B8944}"/>
              </a:ext>
            </a:extLst>
          </p:cNvPr>
          <p:cNvCxnSpPr>
            <a:cxnSpLocks/>
            <a:stCxn id="100" idx="1"/>
          </p:cNvCxnSpPr>
          <p:nvPr/>
        </p:nvCxnSpPr>
        <p:spPr>
          <a:xfrm flipH="1">
            <a:off x="5257857" y="2853085"/>
            <a:ext cx="955948" cy="854610"/>
          </a:xfrm>
          <a:prstGeom prst="straightConnector1">
            <a:avLst/>
          </a:prstGeom>
          <a:noFill/>
          <a:ln w="25400" cap="flat" cmpd="sng" algn="ctr">
            <a:solidFill>
              <a:srgbClr val="9BBB59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C7E6CE4-6942-6C00-5435-0716FE98E0BB}"/>
              </a:ext>
            </a:extLst>
          </p:cNvPr>
          <p:cNvCxnSpPr>
            <a:stCxn id="95" idx="1"/>
          </p:cNvCxnSpPr>
          <p:nvPr/>
        </p:nvCxnSpPr>
        <p:spPr>
          <a:xfrm flipH="1" flipV="1">
            <a:off x="5257857" y="3707695"/>
            <a:ext cx="955947" cy="867513"/>
          </a:xfrm>
          <a:prstGeom prst="straightConnector1">
            <a:avLst/>
          </a:prstGeom>
          <a:noFill/>
          <a:ln w="254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0364EFC2-CA34-6757-0A39-E704E59793FA}"/>
              </a:ext>
            </a:extLst>
          </p:cNvPr>
          <p:cNvSpPr txBox="1"/>
          <p:nvPr/>
        </p:nvSpPr>
        <p:spPr>
          <a:xfrm>
            <a:off x="5613854" y="3502817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</a:rPr>
              <a:t>MQTT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C5B0DDD-4A92-C036-5E3E-86E1E1B30B9B}"/>
              </a:ext>
            </a:extLst>
          </p:cNvPr>
          <p:cNvSpPr txBox="1"/>
          <p:nvPr/>
        </p:nvSpPr>
        <p:spPr>
          <a:xfrm rot="18900058">
            <a:off x="5409438" y="309195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</a:rPr>
              <a:t>HTTP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FE590A0-382B-4587-B910-47435CA7479A}"/>
              </a:ext>
            </a:extLst>
          </p:cNvPr>
          <p:cNvSpPr txBox="1"/>
          <p:nvPr/>
        </p:nvSpPr>
        <p:spPr>
          <a:xfrm rot="2590689">
            <a:off x="5603080" y="3998322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50000"/>
                  </a:srgbClr>
                </a:solidFill>
                <a:effectLst/>
                <a:uLnTx/>
                <a:uFillTx/>
              </a:rPr>
              <a:t>HTTP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50000"/>
                </a:srgbClr>
              </a:solidFill>
              <a:effectLst/>
              <a:uLnTx/>
              <a:uFillTx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E232B93-F9A7-DDB5-4A3F-5E672FED685F}"/>
              </a:ext>
            </a:extLst>
          </p:cNvPr>
          <p:cNvCxnSpPr>
            <a:cxnSpLocks/>
          </p:cNvCxnSpPr>
          <p:nvPr/>
        </p:nvCxnSpPr>
        <p:spPr>
          <a:xfrm flipH="1">
            <a:off x="7542236" y="3940276"/>
            <a:ext cx="2112" cy="402288"/>
          </a:xfrm>
          <a:prstGeom prst="straightConnector1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2CC46C6-EA17-A514-34B3-5B1D6A61C19E}"/>
              </a:ext>
            </a:extLst>
          </p:cNvPr>
          <p:cNvCxnSpPr>
            <a:cxnSpLocks/>
          </p:cNvCxnSpPr>
          <p:nvPr/>
        </p:nvCxnSpPr>
        <p:spPr>
          <a:xfrm flipV="1">
            <a:off x="7526454" y="3060489"/>
            <a:ext cx="0" cy="428297"/>
          </a:xfrm>
          <a:prstGeom prst="straightConnector1">
            <a:avLst/>
          </a:prstGeom>
          <a:noFill/>
          <a:ln w="25400" cap="flat" cmpd="sng" algn="ctr">
            <a:solidFill>
              <a:srgbClr val="9BBB59">
                <a:lumMod val="75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7474F4D-4095-EF50-EABF-124E4993FB32}"/>
              </a:ext>
            </a:extLst>
          </p:cNvPr>
          <p:cNvCxnSpPr>
            <a:cxnSpLocks/>
            <a:stCxn id="96" idx="3"/>
            <a:endCxn id="117" idx="1"/>
          </p:cNvCxnSpPr>
          <p:nvPr/>
        </p:nvCxnSpPr>
        <p:spPr>
          <a:xfrm>
            <a:off x="8190814" y="3708551"/>
            <a:ext cx="1954279" cy="10918"/>
          </a:xfrm>
          <a:prstGeom prst="straightConnector1">
            <a:avLst/>
          </a:prstGeom>
          <a:noFill/>
          <a:ln w="25400" cap="flat" cmpd="sng" algn="ctr">
            <a:solidFill>
              <a:srgbClr val="C0504D">
                <a:lumMod val="60000"/>
                <a:lumOff val="40000"/>
              </a:srgbClr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5A2037-4ED7-0217-C70F-3D7F72D0C282}"/>
              </a:ext>
            </a:extLst>
          </p:cNvPr>
          <p:cNvSpPr/>
          <p:nvPr/>
        </p:nvSpPr>
        <p:spPr>
          <a:xfrm>
            <a:off x="3490843" y="3475623"/>
            <a:ext cx="1752602" cy="409755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rgbClr val="1042D3"/>
            </a:solidFill>
            <a:prstDash val="solid"/>
          </a:ln>
          <a:effectLst/>
        </p:spPr>
        <p:txBody>
          <a:bodyPr lIns="91440" tIns="45720" rIns="91440" bIns="45720" rtlCol="0" anchor="ctr"/>
          <a:lstStyle/>
          <a:p>
            <a:pPr algn="r" defTabSz="914400">
              <a:defRPr/>
            </a:pPr>
            <a:r>
              <a:rPr lang="en-US" b="1" kern="0">
                <a:solidFill>
                  <a:srgbClr val="1042D3"/>
                </a:solidFill>
                <a:latin typeface="Calibri"/>
              </a:rPr>
              <a:t>WIS2 Node</a:t>
            </a:r>
            <a:endParaRPr kumimoji="0" lang="en-CH" sz="1800" b="1" i="0" u="none" strike="noStrike" kern="0" cap="none" spc="0" normalizeH="0" baseline="0" noProof="0" dirty="0">
              <a:ln>
                <a:noFill/>
              </a:ln>
              <a:solidFill>
                <a:srgbClr val="1042D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AF504947-3832-3094-32DB-83D5971839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1837" y="3513893"/>
            <a:ext cx="389556" cy="356402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A6D1164-A5B2-7E62-C50E-634E4A72888F}"/>
              </a:ext>
            </a:extLst>
          </p:cNvPr>
          <p:cNvSpPr txBox="1"/>
          <p:nvPr/>
        </p:nvSpPr>
        <p:spPr>
          <a:xfrm>
            <a:off x="581662" y="2782669"/>
            <a:ext cx="39753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</a:rPr>
              <a:t>WIS2-Node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</a:rPr>
              <a:t> publishes on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042D3"/>
                </a:solidFill>
                <a:effectLst/>
                <a:uLnTx/>
                <a:uFillTx/>
                <a:latin typeface="Consolas" panose="020B0609020204030204" pitchFamily="49" charset="0"/>
              </a:rPr>
              <a:t>origin/a/wis2/…/data/recommended/…</a:t>
            </a:r>
            <a:endParaRPr kumimoji="0" lang="en-CH" sz="1600" b="0" i="0" u="none" strike="noStrike" kern="0" cap="none" spc="0" normalizeH="0" baseline="0" noProof="0" dirty="0">
              <a:ln>
                <a:noFill/>
              </a:ln>
              <a:solidFill>
                <a:srgbClr val="1042D3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1ACAB10-EB6E-8F90-6E7E-089C422FBCED}"/>
              </a:ext>
            </a:extLst>
          </p:cNvPr>
          <p:cNvSpPr txBox="1"/>
          <p:nvPr/>
        </p:nvSpPr>
        <p:spPr>
          <a:xfrm>
            <a:off x="8284889" y="2607415"/>
            <a:ext cx="400210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Data Consumer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subscribes to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origin/a/wis2/…/data/recommended/…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and downloads data from WIS2-Node</a:t>
            </a:r>
            <a:endParaRPr kumimoji="0" lang="en-CH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17" name="Picture 2" descr="User icon in flat style. person icon. Client Symbol 7296447 ...">
            <a:extLst>
              <a:ext uri="{FF2B5EF4-FFF2-40B4-BE49-F238E27FC236}">
                <a16:creationId xmlns:a16="http://schemas.microsoft.com/office/drawing/2014/main" id="{F1D44072-AC03-34F2-1A42-9EDBE56F1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093" y="3504217"/>
            <a:ext cx="485771" cy="430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2D9E40FC-E2E3-9774-A8A2-F93DAB1DC337}"/>
              </a:ext>
            </a:extLst>
          </p:cNvPr>
          <p:cNvSpPr txBox="1"/>
          <p:nvPr/>
        </p:nvSpPr>
        <p:spPr>
          <a:xfrm>
            <a:off x="8402224" y="5238093"/>
            <a:ext cx="1951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download recommended data</a:t>
            </a:r>
            <a:endParaRPr kumimoji="0" lang="en-CH" sz="1100" b="1" i="0" u="none" strike="noStrike" kern="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</a:endParaRPr>
          </a:p>
        </p:txBody>
      </p:sp>
      <p:cxnSp>
        <p:nvCxnSpPr>
          <p:cNvPr id="119" name="Connector: Elbow 3">
            <a:extLst>
              <a:ext uri="{FF2B5EF4-FFF2-40B4-BE49-F238E27FC236}">
                <a16:creationId xmlns:a16="http://schemas.microsoft.com/office/drawing/2014/main" id="{1E8479E5-0210-07C6-9BA3-85549BC84E55}"/>
              </a:ext>
            </a:extLst>
          </p:cNvPr>
          <p:cNvCxnSpPr>
            <a:cxnSpLocks/>
            <a:stCxn id="113" idx="2"/>
            <a:endCxn id="117" idx="2"/>
          </p:cNvCxnSpPr>
          <p:nvPr/>
        </p:nvCxnSpPr>
        <p:spPr>
          <a:xfrm rot="16200000" flipH="1">
            <a:off x="7352890" y="899631"/>
            <a:ext cx="49343" cy="6020835"/>
          </a:xfrm>
          <a:prstGeom prst="bentConnector3">
            <a:avLst>
              <a:gd name="adj1" fmla="val 3324482"/>
            </a:avLst>
          </a:prstGeom>
          <a:noFill/>
          <a:ln w="25400" cap="flat" cmpd="sng" algn="ctr">
            <a:solidFill>
              <a:srgbClr val="4F81BD"/>
            </a:solidFill>
            <a:prstDash val="solid"/>
            <a:headEnd type="triangle"/>
            <a:tailEnd type="non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pic>
        <p:nvPicPr>
          <p:cNvPr id="120" name="Graphic 119" descr="Lock outline">
            <a:extLst>
              <a:ext uri="{FF2B5EF4-FFF2-40B4-BE49-F238E27FC236}">
                <a16:creationId xmlns:a16="http://schemas.microsoft.com/office/drawing/2014/main" id="{12BF434F-51AD-8C3D-EE1E-23F179195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1821" y="4125924"/>
            <a:ext cx="550645" cy="550645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0EEF612-D01D-AB7E-00F5-5CF8FC0BE95D}"/>
              </a:ext>
            </a:extLst>
          </p:cNvPr>
          <p:cNvSpPr txBox="1"/>
          <p:nvPr/>
        </p:nvSpPr>
        <p:spPr>
          <a:xfrm>
            <a:off x="3257070" y="3934721"/>
            <a:ext cx="1250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1F497D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CH" sz="1200" dirty="0">
                <a:solidFill>
                  <a:srgbClr val="1F497D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ccess control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6F408-0453-EEC8-61E7-838FA2F66B17}"/>
              </a:ext>
            </a:extLst>
          </p:cNvPr>
          <p:cNvSpPr txBox="1">
            <a:spLocks/>
          </p:cNvSpPr>
          <p:nvPr/>
        </p:nvSpPr>
        <p:spPr>
          <a:xfrm>
            <a:off x="2003121" y="135912"/>
            <a:ext cx="7886700" cy="5742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Exchange of recommended data</a:t>
            </a:r>
          </a:p>
        </p:txBody>
      </p:sp>
    </p:spTree>
    <p:extLst>
      <p:ext uri="{BB962C8B-B14F-4D97-AF65-F5344CB8AC3E}">
        <p14:creationId xmlns:p14="http://schemas.microsoft.com/office/powerpoint/2010/main" val="271456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489E-C67E-1F55-0048-65808125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F74D7C1C-B442-0375-E127-F5A522160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12" y="3699934"/>
            <a:ext cx="9259887" cy="2069044"/>
          </a:xfrm>
        </p:spPr>
        <p:txBody>
          <a:bodyPr>
            <a:normAutofit/>
          </a:bodyPr>
          <a:lstStyle/>
          <a:p>
            <a:r>
              <a:rPr lang="en-US" altLang="ja-JP" dirty="0"/>
              <a:t>Wis2 Notification messages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45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309AF62-B187-2741-CB74-0B0A8B147546}"/>
              </a:ext>
            </a:extLst>
          </p:cNvPr>
          <p:cNvGrpSpPr/>
          <p:nvPr/>
        </p:nvGrpSpPr>
        <p:grpSpPr>
          <a:xfrm>
            <a:off x="1658534" y="2193475"/>
            <a:ext cx="1888766" cy="2899867"/>
            <a:chOff x="1077321" y="1867845"/>
            <a:chExt cx="1888766" cy="28998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80DB9B-F5A0-7762-90DD-8EA3C9B184A9}"/>
                </a:ext>
              </a:extLst>
            </p:cNvPr>
            <p:cNvGrpSpPr/>
            <p:nvPr/>
          </p:nvGrpSpPr>
          <p:grpSpPr>
            <a:xfrm>
              <a:off x="1077321" y="1867845"/>
              <a:ext cx="1806500" cy="2899867"/>
              <a:chOff x="4927089" y="1392421"/>
              <a:chExt cx="2408667" cy="386648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AFD6C04-8CD3-64CC-5FE3-B178F682707E}"/>
                  </a:ext>
                </a:extLst>
              </p:cNvPr>
              <p:cNvGrpSpPr/>
              <p:nvPr/>
            </p:nvGrpSpPr>
            <p:grpSpPr>
              <a:xfrm>
                <a:off x="4927089" y="1683908"/>
                <a:ext cx="2408667" cy="3575002"/>
                <a:chOff x="4953000" y="695536"/>
                <a:chExt cx="2492444" cy="5135333"/>
              </a:xfrm>
            </p:grpSpPr>
            <p:sp>
              <p:nvSpPr>
                <p:cNvPr id="39" name="Rectangle: Rounded Corners 111">
                  <a:extLst>
                    <a:ext uri="{FF2B5EF4-FFF2-40B4-BE49-F238E27FC236}">
                      <a16:creationId xmlns:a16="http://schemas.microsoft.com/office/drawing/2014/main" id="{F9AC3899-555D-07CC-BFEE-698A7A7C9A82}"/>
                    </a:ext>
                  </a:extLst>
                </p:cNvPr>
                <p:cNvSpPr/>
                <p:nvPr/>
              </p:nvSpPr>
              <p:spPr>
                <a:xfrm>
                  <a:off x="4953000" y="695536"/>
                  <a:ext cx="2492444" cy="4647502"/>
                </a:xfrm>
                <a:prstGeom prst="roundRect">
                  <a:avLst>
                    <a:gd name="adj" fmla="val 2604"/>
                  </a:avLst>
                </a:prstGeom>
                <a:solidFill>
                  <a:sysClr val="window" lastClr="FFFFFF"/>
                </a:solidFill>
                <a:ln w="28575" cap="flat" cmpd="sng" algn="ctr">
                  <a:solidFill>
                    <a:srgbClr val="1849D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GB" sz="1350" kern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D8E4E7F-365E-00F1-962A-3044993E201A}"/>
                    </a:ext>
                  </a:extLst>
                </p:cNvPr>
                <p:cNvSpPr txBox="1"/>
                <p:nvPr/>
              </p:nvSpPr>
              <p:spPr>
                <a:xfrm>
                  <a:off x="5288446" y="5344550"/>
                  <a:ext cx="1811193" cy="4863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defRPr/>
                  </a:pPr>
                  <a:r>
                    <a:rPr lang="en-GB" sz="1050" kern="0" dirty="0">
                      <a:solidFill>
                        <a:srgbClr val="1849D4"/>
                      </a:solidFill>
                      <a:latin typeface="Consolas" panose="020B0609020204030204" pitchFamily="49" charset="0"/>
                    </a:rPr>
                    <a:t>we-</a:t>
                  </a:r>
                  <a:r>
                    <a:rPr lang="en-GB" sz="1050" kern="0" dirty="0" err="1">
                      <a:solidFill>
                        <a:srgbClr val="1849D4"/>
                      </a:solidFill>
                      <a:latin typeface="Consolas" panose="020B0609020204030204" pitchFamily="49" charset="0"/>
                    </a:rPr>
                    <a:t>wms</a:t>
                  </a:r>
                  <a:endParaRPr lang="en-GB" sz="1050" kern="0" dirty="0">
                    <a:solidFill>
                      <a:srgbClr val="1849D4"/>
                    </a:solidFill>
                    <a:latin typeface="Consolas" panose="020B0609020204030204" pitchFamily="49" charset="0"/>
                  </a:endParaRPr>
                </a:p>
              </p:txBody>
            </p:sp>
          </p:grp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B22D823-7719-0C4B-9DA6-18A7A8A14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4819" y="1392421"/>
                <a:ext cx="518022" cy="50463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2E6ADBC-60A7-45CB-5E1B-5B22FBD8F512}"/>
                </a:ext>
              </a:extLst>
            </p:cNvPr>
            <p:cNvGrpSpPr/>
            <p:nvPr/>
          </p:nvGrpSpPr>
          <p:grpSpPr>
            <a:xfrm>
              <a:off x="1366947" y="2276893"/>
              <a:ext cx="1599140" cy="892175"/>
              <a:chOff x="5313257" y="1290320"/>
              <a:chExt cx="2132187" cy="118956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1834DD8-1657-8252-BF88-D39CF634493D}"/>
                  </a:ext>
                </a:extLst>
              </p:cNvPr>
              <p:cNvSpPr/>
              <p:nvPr/>
            </p:nvSpPr>
            <p:spPr>
              <a:xfrm>
                <a:off x="5313257" y="1290320"/>
                <a:ext cx="1206500" cy="1189567"/>
              </a:xfrm>
              <a:prstGeom prst="rect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AF2B91C9-EA2E-EA33-153E-3F97AAB2C0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838" y="1429250"/>
                <a:ext cx="312793" cy="455853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FA7CE918-EEBB-4BA8-578E-73B1ABAF2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07234" y="1927724"/>
                <a:ext cx="312793" cy="455853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DC36776B-9D3E-A41A-D519-EAE3C3FC4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85296" y="1927724"/>
                <a:ext cx="312793" cy="455853"/>
              </a:xfrm>
              <a:prstGeom prst="rect">
                <a:avLst/>
              </a:prstGeom>
            </p:spPr>
          </p:pic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150DE38-58F4-1F3E-665E-176C5601A335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 flipV="1">
                <a:off x="6519757" y="1885103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1A21BAD-D3EE-9182-5B3A-2A2FD76CD5D7}"/>
                  </a:ext>
                </a:extLst>
              </p:cNvPr>
              <p:cNvSpPr/>
              <p:nvPr/>
            </p:nvSpPr>
            <p:spPr>
              <a:xfrm>
                <a:off x="6927215" y="1821603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F9CD50D-A362-BD9A-EDB5-667CF9F6C23D}"/>
                  </a:ext>
                </a:extLst>
              </p:cNvPr>
              <p:cNvSpPr txBox="1"/>
              <p:nvPr/>
            </p:nvSpPr>
            <p:spPr>
              <a:xfrm>
                <a:off x="6541983" y="1915590"/>
                <a:ext cx="90346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defRPr/>
                </a:pPr>
                <a:r>
                  <a:rPr lang="en-GB" sz="825" kern="0">
                    <a:solidFill>
                      <a:prstClr val="black"/>
                    </a:solidFill>
                    <a:latin typeface="Calibri" panose="020F0502020204030204"/>
                  </a:rPr>
                  <a:t>HTTPS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811EC16-DCFD-CE04-C65A-A935D2D93D9C}"/>
                </a:ext>
              </a:extLst>
            </p:cNvPr>
            <p:cNvGrpSpPr/>
            <p:nvPr/>
          </p:nvGrpSpPr>
          <p:grpSpPr>
            <a:xfrm>
              <a:off x="1366947" y="3388299"/>
              <a:ext cx="1599140" cy="892175"/>
              <a:chOff x="5313257" y="3889593"/>
              <a:chExt cx="2132187" cy="118956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D157BBE-E9C2-5C40-FB80-66D59507539A}"/>
                  </a:ext>
                </a:extLst>
              </p:cNvPr>
              <p:cNvSpPr/>
              <p:nvPr/>
            </p:nvSpPr>
            <p:spPr>
              <a:xfrm>
                <a:off x="5313257" y="3889593"/>
                <a:ext cx="1206500" cy="1189567"/>
              </a:xfrm>
              <a:prstGeom prst="rect">
                <a:avLst/>
              </a:prstGeom>
              <a:solidFill>
                <a:sysClr val="window" lastClr="FFFFFF"/>
              </a:solidFill>
              <a:ln w="2857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65C5A26-7CE6-58B0-118B-7CA6DA7B7A35}"/>
                  </a:ext>
                </a:extLst>
              </p:cNvPr>
              <p:cNvCxnSpPr>
                <a:cxnSpLocks/>
                <a:stCxn id="22" idx="3"/>
              </p:cNvCxnSpPr>
              <p:nvPr/>
            </p:nvCxnSpPr>
            <p:spPr>
              <a:xfrm flipV="1">
                <a:off x="6519757" y="4484376"/>
                <a:ext cx="400050" cy="1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DE30A25-1038-495E-B889-C22F85A021E7}"/>
                  </a:ext>
                </a:extLst>
              </p:cNvPr>
              <p:cNvSpPr/>
              <p:nvPr/>
            </p:nvSpPr>
            <p:spPr>
              <a:xfrm>
                <a:off x="6927215" y="4420876"/>
                <a:ext cx="127000" cy="127000"/>
              </a:xfrm>
              <a:prstGeom prst="ellipse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EBF257-E130-AD58-EF2D-C3860E745FE0}"/>
                  </a:ext>
                </a:extLst>
              </p:cNvPr>
              <p:cNvSpPr txBox="1"/>
              <p:nvPr/>
            </p:nvSpPr>
            <p:spPr>
              <a:xfrm>
                <a:off x="6541983" y="4514863"/>
                <a:ext cx="903461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defRPr/>
                </a:pPr>
                <a:r>
                  <a:rPr lang="en-GB" sz="825" kern="0">
                    <a:solidFill>
                      <a:prstClr val="black"/>
                    </a:solidFill>
                    <a:latin typeface="Calibri" panose="020F0502020204030204"/>
                  </a:rPr>
                  <a:t>MQTTS</a:t>
                </a: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85D6C71-740E-7F9A-EAFE-1FF365BAC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3660" y="4021798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9637D29-663E-A7F2-3E2B-D79EB381F7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8900" y="4022297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E3F638E-580A-93D0-565C-EE50D66033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7234" y="4531559"/>
                <a:ext cx="327907" cy="477879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91EBD921-02BB-4AEB-D679-0A78581A85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82474" y="4532058"/>
                <a:ext cx="327907" cy="477879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360B601-010E-1F25-1B1A-AC1C72202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8997" y="2370660"/>
              <a:ext cx="263744" cy="341890"/>
            </a:xfrm>
            <a:prstGeom prst="rect">
              <a:avLst/>
            </a:prstGeom>
          </p:spPr>
        </p:pic>
      </p:grp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66B6C2F-CEF5-B338-A71F-AA77467E75FA}"/>
              </a:ext>
            </a:extLst>
          </p:cNvPr>
          <p:cNvSpPr/>
          <p:nvPr/>
        </p:nvSpPr>
        <p:spPr>
          <a:xfrm>
            <a:off x="3303272" y="2058376"/>
            <a:ext cx="5801507" cy="2540295"/>
          </a:xfrm>
          <a:custGeom>
            <a:avLst/>
            <a:gdLst>
              <a:gd name="connsiteX0" fmla="*/ 7371080 w 7735343"/>
              <a:gd name="connsiteY0" fmla="*/ 3222610 h 3222610"/>
              <a:gd name="connsiteX1" fmla="*/ 7670800 w 7735343"/>
              <a:gd name="connsiteY1" fmla="*/ 2943210 h 3222610"/>
              <a:gd name="connsiteX2" fmla="*/ 7711440 w 7735343"/>
              <a:gd name="connsiteY2" fmla="*/ 2445370 h 3222610"/>
              <a:gd name="connsiteX3" fmla="*/ 7376160 w 7735343"/>
              <a:gd name="connsiteY3" fmla="*/ 1871330 h 3222610"/>
              <a:gd name="connsiteX4" fmla="*/ 6339840 w 7735343"/>
              <a:gd name="connsiteY4" fmla="*/ 972170 h 3222610"/>
              <a:gd name="connsiteX5" fmla="*/ 5166360 w 7735343"/>
              <a:gd name="connsiteY5" fmla="*/ 403210 h 3222610"/>
              <a:gd name="connsiteX6" fmla="*/ 4109720 w 7735343"/>
              <a:gd name="connsiteY6" fmla="*/ 67930 h 3222610"/>
              <a:gd name="connsiteX7" fmla="*/ 2504440 w 7735343"/>
              <a:gd name="connsiteY7" fmla="*/ 22210 h 3222610"/>
              <a:gd name="connsiteX8" fmla="*/ 1188720 w 7735343"/>
              <a:gd name="connsiteY8" fmla="*/ 337170 h 3222610"/>
              <a:gd name="connsiteX9" fmla="*/ 0 w 7735343"/>
              <a:gd name="connsiteY9" fmla="*/ 2425050 h 3222610"/>
              <a:gd name="connsiteX0" fmla="*/ 7371080 w 7735343"/>
              <a:gd name="connsiteY0" fmla="*/ 3248570 h 3248570"/>
              <a:gd name="connsiteX1" fmla="*/ 7670800 w 7735343"/>
              <a:gd name="connsiteY1" fmla="*/ 2969170 h 3248570"/>
              <a:gd name="connsiteX2" fmla="*/ 7711440 w 7735343"/>
              <a:gd name="connsiteY2" fmla="*/ 2471330 h 3248570"/>
              <a:gd name="connsiteX3" fmla="*/ 7376160 w 7735343"/>
              <a:gd name="connsiteY3" fmla="*/ 1897290 h 3248570"/>
              <a:gd name="connsiteX4" fmla="*/ 6339840 w 7735343"/>
              <a:gd name="connsiteY4" fmla="*/ 998130 h 3248570"/>
              <a:gd name="connsiteX5" fmla="*/ 5166360 w 7735343"/>
              <a:gd name="connsiteY5" fmla="*/ 429170 h 3248570"/>
              <a:gd name="connsiteX6" fmla="*/ 4109720 w 7735343"/>
              <a:gd name="connsiteY6" fmla="*/ 93890 h 3248570"/>
              <a:gd name="connsiteX7" fmla="*/ 2504440 w 7735343"/>
              <a:gd name="connsiteY7" fmla="*/ 48170 h 3248570"/>
              <a:gd name="connsiteX8" fmla="*/ 1381760 w 7735343"/>
              <a:gd name="connsiteY8" fmla="*/ 713650 h 3248570"/>
              <a:gd name="connsiteX9" fmla="*/ 0 w 7735343"/>
              <a:gd name="connsiteY9" fmla="*/ 2451010 h 3248570"/>
              <a:gd name="connsiteX0" fmla="*/ 7371080 w 7735343"/>
              <a:gd name="connsiteY0" fmla="*/ 3248570 h 3248570"/>
              <a:gd name="connsiteX1" fmla="*/ 7670800 w 7735343"/>
              <a:gd name="connsiteY1" fmla="*/ 2969170 h 3248570"/>
              <a:gd name="connsiteX2" fmla="*/ 7711440 w 7735343"/>
              <a:gd name="connsiteY2" fmla="*/ 2471330 h 3248570"/>
              <a:gd name="connsiteX3" fmla="*/ 7376160 w 7735343"/>
              <a:gd name="connsiteY3" fmla="*/ 1897290 h 3248570"/>
              <a:gd name="connsiteX4" fmla="*/ 6339840 w 7735343"/>
              <a:gd name="connsiteY4" fmla="*/ 998130 h 3248570"/>
              <a:gd name="connsiteX5" fmla="*/ 5166360 w 7735343"/>
              <a:gd name="connsiteY5" fmla="*/ 429170 h 3248570"/>
              <a:gd name="connsiteX6" fmla="*/ 4109720 w 7735343"/>
              <a:gd name="connsiteY6" fmla="*/ 93890 h 3248570"/>
              <a:gd name="connsiteX7" fmla="*/ 2504440 w 7735343"/>
              <a:gd name="connsiteY7" fmla="*/ 48170 h 3248570"/>
              <a:gd name="connsiteX8" fmla="*/ 1381760 w 7735343"/>
              <a:gd name="connsiteY8" fmla="*/ 713650 h 3248570"/>
              <a:gd name="connsiteX9" fmla="*/ 0 w 7735343"/>
              <a:gd name="connsiteY9" fmla="*/ 2451010 h 3248570"/>
              <a:gd name="connsiteX0" fmla="*/ 7371080 w 7735343"/>
              <a:gd name="connsiteY0" fmla="*/ 3246690 h 3246690"/>
              <a:gd name="connsiteX1" fmla="*/ 7670800 w 7735343"/>
              <a:gd name="connsiteY1" fmla="*/ 2967290 h 3246690"/>
              <a:gd name="connsiteX2" fmla="*/ 7711440 w 7735343"/>
              <a:gd name="connsiteY2" fmla="*/ 2469450 h 3246690"/>
              <a:gd name="connsiteX3" fmla="*/ 7376160 w 7735343"/>
              <a:gd name="connsiteY3" fmla="*/ 1895410 h 3246690"/>
              <a:gd name="connsiteX4" fmla="*/ 6339840 w 7735343"/>
              <a:gd name="connsiteY4" fmla="*/ 996250 h 3246690"/>
              <a:gd name="connsiteX5" fmla="*/ 5166360 w 7735343"/>
              <a:gd name="connsiteY5" fmla="*/ 427290 h 3246690"/>
              <a:gd name="connsiteX6" fmla="*/ 4109720 w 7735343"/>
              <a:gd name="connsiteY6" fmla="*/ 92010 h 3246690"/>
              <a:gd name="connsiteX7" fmla="*/ 2504440 w 7735343"/>
              <a:gd name="connsiteY7" fmla="*/ 46290 h 3246690"/>
              <a:gd name="connsiteX8" fmla="*/ 1315720 w 7735343"/>
              <a:gd name="connsiteY8" fmla="*/ 686370 h 3246690"/>
              <a:gd name="connsiteX9" fmla="*/ 0 w 7735343"/>
              <a:gd name="connsiteY9" fmla="*/ 2449130 h 3246690"/>
              <a:gd name="connsiteX0" fmla="*/ 7371080 w 7735343"/>
              <a:gd name="connsiteY0" fmla="*/ 3383623 h 3383623"/>
              <a:gd name="connsiteX1" fmla="*/ 7670800 w 7735343"/>
              <a:gd name="connsiteY1" fmla="*/ 3104223 h 3383623"/>
              <a:gd name="connsiteX2" fmla="*/ 7711440 w 7735343"/>
              <a:gd name="connsiteY2" fmla="*/ 2606383 h 3383623"/>
              <a:gd name="connsiteX3" fmla="*/ 7376160 w 7735343"/>
              <a:gd name="connsiteY3" fmla="*/ 2032343 h 3383623"/>
              <a:gd name="connsiteX4" fmla="*/ 6339840 w 7735343"/>
              <a:gd name="connsiteY4" fmla="*/ 1133183 h 3383623"/>
              <a:gd name="connsiteX5" fmla="*/ 5166360 w 7735343"/>
              <a:gd name="connsiteY5" fmla="*/ 564223 h 3383623"/>
              <a:gd name="connsiteX6" fmla="*/ 4109720 w 7735343"/>
              <a:gd name="connsiteY6" fmla="*/ 228943 h 3383623"/>
              <a:gd name="connsiteX7" fmla="*/ 2926080 w 7735343"/>
              <a:gd name="connsiteY7" fmla="*/ 25743 h 3383623"/>
              <a:gd name="connsiteX8" fmla="*/ 1315720 w 7735343"/>
              <a:gd name="connsiteY8" fmla="*/ 823303 h 3383623"/>
              <a:gd name="connsiteX9" fmla="*/ 0 w 7735343"/>
              <a:gd name="connsiteY9" fmla="*/ 2586063 h 3383623"/>
              <a:gd name="connsiteX0" fmla="*/ 7371080 w 7735343"/>
              <a:gd name="connsiteY0" fmla="*/ 3386817 h 3386817"/>
              <a:gd name="connsiteX1" fmla="*/ 7670800 w 7735343"/>
              <a:gd name="connsiteY1" fmla="*/ 3107417 h 3386817"/>
              <a:gd name="connsiteX2" fmla="*/ 7711440 w 7735343"/>
              <a:gd name="connsiteY2" fmla="*/ 2609577 h 3386817"/>
              <a:gd name="connsiteX3" fmla="*/ 7376160 w 7735343"/>
              <a:gd name="connsiteY3" fmla="*/ 2035537 h 3386817"/>
              <a:gd name="connsiteX4" fmla="*/ 6339840 w 7735343"/>
              <a:gd name="connsiteY4" fmla="*/ 1136377 h 3386817"/>
              <a:gd name="connsiteX5" fmla="*/ 5166360 w 7735343"/>
              <a:gd name="connsiteY5" fmla="*/ 567417 h 3386817"/>
              <a:gd name="connsiteX6" fmla="*/ 4439920 w 7735343"/>
              <a:gd name="connsiteY6" fmla="*/ 211817 h 3386817"/>
              <a:gd name="connsiteX7" fmla="*/ 2926080 w 7735343"/>
              <a:gd name="connsiteY7" fmla="*/ 28937 h 3386817"/>
              <a:gd name="connsiteX8" fmla="*/ 1315720 w 7735343"/>
              <a:gd name="connsiteY8" fmla="*/ 826497 h 3386817"/>
              <a:gd name="connsiteX9" fmla="*/ 0 w 7735343"/>
              <a:gd name="connsiteY9" fmla="*/ 2589257 h 3386817"/>
              <a:gd name="connsiteX0" fmla="*/ 7371080 w 7735343"/>
              <a:gd name="connsiteY0" fmla="*/ 3395887 h 3395887"/>
              <a:gd name="connsiteX1" fmla="*/ 7670800 w 7735343"/>
              <a:gd name="connsiteY1" fmla="*/ 3116487 h 3395887"/>
              <a:gd name="connsiteX2" fmla="*/ 7711440 w 7735343"/>
              <a:gd name="connsiteY2" fmla="*/ 2618647 h 3395887"/>
              <a:gd name="connsiteX3" fmla="*/ 7376160 w 7735343"/>
              <a:gd name="connsiteY3" fmla="*/ 2044607 h 3395887"/>
              <a:gd name="connsiteX4" fmla="*/ 6339840 w 7735343"/>
              <a:gd name="connsiteY4" fmla="*/ 1145447 h 3395887"/>
              <a:gd name="connsiteX5" fmla="*/ 5166360 w 7735343"/>
              <a:gd name="connsiteY5" fmla="*/ 576487 h 3395887"/>
              <a:gd name="connsiteX6" fmla="*/ 4439920 w 7735343"/>
              <a:gd name="connsiteY6" fmla="*/ 220887 h 3395887"/>
              <a:gd name="connsiteX7" fmla="*/ 2926080 w 7735343"/>
              <a:gd name="connsiteY7" fmla="*/ 38007 h 3395887"/>
              <a:gd name="connsiteX8" fmla="*/ 1315720 w 7735343"/>
              <a:gd name="connsiteY8" fmla="*/ 835567 h 3395887"/>
              <a:gd name="connsiteX9" fmla="*/ 0 w 7735343"/>
              <a:gd name="connsiteY9" fmla="*/ 2598327 h 3395887"/>
              <a:gd name="connsiteX0" fmla="*/ 7371080 w 7735343"/>
              <a:gd name="connsiteY0" fmla="*/ 3387060 h 3387060"/>
              <a:gd name="connsiteX1" fmla="*/ 7670800 w 7735343"/>
              <a:gd name="connsiteY1" fmla="*/ 3107660 h 3387060"/>
              <a:gd name="connsiteX2" fmla="*/ 7711440 w 7735343"/>
              <a:gd name="connsiteY2" fmla="*/ 2609820 h 3387060"/>
              <a:gd name="connsiteX3" fmla="*/ 7376160 w 7735343"/>
              <a:gd name="connsiteY3" fmla="*/ 2035780 h 3387060"/>
              <a:gd name="connsiteX4" fmla="*/ 6339840 w 7735343"/>
              <a:gd name="connsiteY4" fmla="*/ 1136620 h 3387060"/>
              <a:gd name="connsiteX5" fmla="*/ 5359400 w 7735343"/>
              <a:gd name="connsiteY5" fmla="*/ 582900 h 3387060"/>
              <a:gd name="connsiteX6" fmla="*/ 4439920 w 7735343"/>
              <a:gd name="connsiteY6" fmla="*/ 212060 h 3387060"/>
              <a:gd name="connsiteX7" fmla="*/ 2926080 w 7735343"/>
              <a:gd name="connsiteY7" fmla="*/ 29180 h 3387060"/>
              <a:gd name="connsiteX8" fmla="*/ 1315720 w 7735343"/>
              <a:gd name="connsiteY8" fmla="*/ 826740 h 3387060"/>
              <a:gd name="connsiteX9" fmla="*/ 0 w 7735343"/>
              <a:gd name="connsiteY9" fmla="*/ 2589500 h 338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35343" h="3387060">
                <a:moveTo>
                  <a:pt x="7371080" y="3387060"/>
                </a:moveTo>
                <a:cubicBezTo>
                  <a:pt x="7492576" y="3312130"/>
                  <a:pt x="7614073" y="3237200"/>
                  <a:pt x="7670800" y="3107660"/>
                </a:cubicBezTo>
                <a:cubicBezTo>
                  <a:pt x="7727527" y="2978120"/>
                  <a:pt x="7760547" y="2788467"/>
                  <a:pt x="7711440" y="2609820"/>
                </a:cubicBezTo>
                <a:cubicBezTo>
                  <a:pt x="7662333" y="2431173"/>
                  <a:pt x="7604760" y="2281313"/>
                  <a:pt x="7376160" y="2035780"/>
                </a:cubicBezTo>
                <a:cubicBezTo>
                  <a:pt x="7147560" y="1790247"/>
                  <a:pt x="6675967" y="1378767"/>
                  <a:pt x="6339840" y="1136620"/>
                </a:cubicBezTo>
                <a:cubicBezTo>
                  <a:pt x="6003713" y="894473"/>
                  <a:pt x="5676053" y="736993"/>
                  <a:pt x="5359400" y="582900"/>
                </a:cubicBezTo>
                <a:cubicBezTo>
                  <a:pt x="5042747" y="428807"/>
                  <a:pt x="4845473" y="304347"/>
                  <a:pt x="4439920" y="212060"/>
                </a:cubicBezTo>
                <a:cubicBezTo>
                  <a:pt x="4034367" y="119773"/>
                  <a:pt x="3446780" y="-73267"/>
                  <a:pt x="2926080" y="29180"/>
                </a:cubicBezTo>
                <a:cubicBezTo>
                  <a:pt x="2405380" y="131627"/>
                  <a:pt x="1733127" y="426267"/>
                  <a:pt x="1315720" y="826740"/>
                </a:cubicBezTo>
                <a:cubicBezTo>
                  <a:pt x="898313" y="1227213"/>
                  <a:pt x="466936" y="1750876"/>
                  <a:pt x="0" y="2589500"/>
                </a:cubicBezTo>
              </a:path>
            </a:pathLst>
          </a:custGeom>
          <a:ln w="19050">
            <a:prstDash val="solid"/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9FE23687-D992-6F64-15B9-A9220174F451}"/>
              </a:ext>
            </a:extLst>
          </p:cNvPr>
          <p:cNvSpPr/>
          <p:nvPr/>
        </p:nvSpPr>
        <p:spPr>
          <a:xfrm>
            <a:off x="4637245" y="2626728"/>
            <a:ext cx="4252796" cy="1941463"/>
          </a:xfrm>
          <a:custGeom>
            <a:avLst/>
            <a:gdLst>
              <a:gd name="connsiteX0" fmla="*/ 5424226 w 5657353"/>
              <a:gd name="connsiteY0" fmla="*/ 2538671 h 2538671"/>
              <a:gd name="connsiteX1" fmla="*/ 5642666 w 5657353"/>
              <a:gd name="connsiteY1" fmla="*/ 2244031 h 2538671"/>
              <a:gd name="connsiteX2" fmla="*/ 5058466 w 5657353"/>
              <a:gd name="connsiteY2" fmla="*/ 1690311 h 2538671"/>
              <a:gd name="connsiteX3" fmla="*/ 3051866 w 5657353"/>
              <a:gd name="connsiteY3" fmla="*/ 339031 h 2538671"/>
              <a:gd name="connsiteX4" fmla="*/ 674426 w 5657353"/>
              <a:gd name="connsiteY4" fmla="*/ 8831 h 2538671"/>
              <a:gd name="connsiteX5" fmla="*/ 49586 w 5657353"/>
              <a:gd name="connsiteY5" fmla="*/ 120591 h 2538671"/>
              <a:gd name="connsiteX6" fmla="*/ 85146 w 5657353"/>
              <a:gd name="connsiteY6" fmla="*/ 394911 h 2538671"/>
              <a:gd name="connsiteX0" fmla="*/ 5404486 w 5637613"/>
              <a:gd name="connsiteY0" fmla="*/ 2547280 h 2547280"/>
              <a:gd name="connsiteX1" fmla="*/ 5622926 w 5637613"/>
              <a:gd name="connsiteY1" fmla="*/ 2252640 h 2547280"/>
              <a:gd name="connsiteX2" fmla="*/ 5038726 w 5637613"/>
              <a:gd name="connsiteY2" fmla="*/ 1698920 h 2547280"/>
              <a:gd name="connsiteX3" fmla="*/ 3032126 w 5637613"/>
              <a:gd name="connsiteY3" fmla="*/ 347640 h 2547280"/>
              <a:gd name="connsiteX4" fmla="*/ 654686 w 5637613"/>
              <a:gd name="connsiteY4" fmla="*/ 17440 h 2547280"/>
              <a:gd name="connsiteX5" fmla="*/ 60326 w 5637613"/>
              <a:gd name="connsiteY5" fmla="*/ 83480 h 2547280"/>
              <a:gd name="connsiteX6" fmla="*/ 65406 w 5637613"/>
              <a:gd name="connsiteY6" fmla="*/ 403520 h 2547280"/>
              <a:gd name="connsiteX0" fmla="*/ 5404486 w 5637613"/>
              <a:gd name="connsiteY0" fmla="*/ 2573377 h 2573377"/>
              <a:gd name="connsiteX1" fmla="*/ 5622926 w 5637613"/>
              <a:gd name="connsiteY1" fmla="*/ 2278737 h 2573377"/>
              <a:gd name="connsiteX2" fmla="*/ 5038726 w 5637613"/>
              <a:gd name="connsiteY2" fmla="*/ 1725017 h 2573377"/>
              <a:gd name="connsiteX3" fmla="*/ 3032126 w 5637613"/>
              <a:gd name="connsiteY3" fmla="*/ 373737 h 2573377"/>
              <a:gd name="connsiteX4" fmla="*/ 705486 w 5637613"/>
              <a:gd name="connsiteY4" fmla="*/ 13057 h 2573377"/>
              <a:gd name="connsiteX5" fmla="*/ 60326 w 5637613"/>
              <a:gd name="connsiteY5" fmla="*/ 109577 h 2573377"/>
              <a:gd name="connsiteX6" fmla="*/ 65406 w 5637613"/>
              <a:gd name="connsiteY6" fmla="*/ 429617 h 2573377"/>
              <a:gd name="connsiteX0" fmla="*/ 5404486 w 5633637"/>
              <a:gd name="connsiteY0" fmla="*/ 2573377 h 2573377"/>
              <a:gd name="connsiteX1" fmla="*/ 5622926 w 5633637"/>
              <a:gd name="connsiteY1" fmla="*/ 2278737 h 2573377"/>
              <a:gd name="connsiteX2" fmla="*/ 5109846 w 5633637"/>
              <a:gd name="connsiteY2" fmla="*/ 1603097 h 2573377"/>
              <a:gd name="connsiteX3" fmla="*/ 3032126 w 5633637"/>
              <a:gd name="connsiteY3" fmla="*/ 373737 h 2573377"/>
              <a:gd name="connsiteX4" fmla="*/ 705486 w 5633637"/>
              <a:gd name="connsiteY4" fmla="*/ 13057 h 2573377"/>
              <a:gd name="connsiteX5" fmla="*/ 60326 w 5633637"/>
              <a:gd name="connsiteY5" fmla="*/ 109577 h 2573377"/>
              <a:gd name="connsiteX6" fmla="*/ 65406 w 5633637"/>
              <a:gd name="connsiteY6" fmla="*/ 429617 h 2573377"/>
              <a:gd name="connsiteX0" fmla="*/ 5516246 w 5656421"/>
              <a:gd name="connsiteY0" fmla="*/ 2588617 h 2588617"/>
              <a:gd name="connsiteX1" fmla="*/ 5622926 w 5656421"/>
              <a:gd name="connsiteY1" fmla="*/ 2278737 h 2588617"/>
              <a:gd name="connsiteX2" fmla="*/ 5109846 w 5656421"/>
              <a:gd name="connsiteY2" fmla="*/ 1603097 h 2588617"/>
              <a:gd name="connsiteX3" fmla="*/ 3032126 w 5656421"/>
              <a:gd name="connsiteY3" fmla="*/ 373737 h 2588617"/>
              <a:gd name="connsiteX4" fmla="*/ 705486 w 5656421"/>
              <a:gd name="connsiteY4" fmla="*/ 13057 h 2588617"/>
              <a:gd name="connsiteX5" fmla="*/ 60326 w 5656421"/>
              <a:gd name="connsiteY5" fmla="*/ 109577 h 2588617"/>
              <a:gd name="connsiteX6" fmla="*/ 65406 w 5656421"/>
              <a:gd name="connsiteY6" fmla="*/ 429617 h 2588617"/>
              <a:gd name="connsiteX0" fmla="*/ 5516246 w 5654288"/>
              <a:gd name="connsiteY0" fmla="*/ 2588617 h 2588617"/>
              <a:gd name="connsiteX1" fmla="*/ 5622926 w 5654288"/>
              <a:gd name="connsiteY1" fmla="*/ 2278737 h 2588617"/>
              <a:gd name="connsiteX2" fmla="*/ 5109846 w 5654288"/>
              <a:gd name="connsiteY2" fmla="*/ 1603097 h 2588617"/>
              <a:gd name="connsiteX3" fmla="*/ 3032126 w 5654288"/>
              <a:gd name="connsiteY3" fmla="*/ 373737 h 2588617"/>
              <a:gd name="connsiteX4" fmla="*/ 705486 w 5654288"/>
              <a:gd name="connsiteY4" fmla="*/ 13057 h 2588617"/>
              <a:gd name="connsiteX5" fmla="*/ 60326 w 5654288"/>
              <a:gd name="connsiteY5" fmla="*/ 109577 h 2588617"/>
              <a:gd name="connsiteX6" fmla="*/ 65406 w 5654288"/>
              <a:gd name="connsiteY6" fmla="*/ 429617 h 2588617"/>
              <a:gd name="connsiteX0" fmla="*/ 5516246 w 5670394"/>
              <a:gd name="connsiteY0" fmla="*/ 2588617 h 2588617"/>
              <a:gd name="connsiteX1" fmla="*/ 5643246 w 5670394"/>
              <a:gd name="connsiteY1" fmla="*/ 2207617 h 2588617"/>
              <a:gd name="connsiteX2" fmla="*/ 5109846 w 5670394"/>
              <a:gd name="connsiteY2" fmla="*/ 1603097 h 2588617"/>
              <a:gd name="connsiteX3" fmla="*/ 3032126 w 5670394"/>
              <a:gd name="connsiteY3" fmla="*/ 373737 h 2588617"/>
              <a:gd name="connsiteX4" fmla="*/ 705486 w 5670394"/>
              <a:gd name="connsiteY4" fmla="*/ 13057 h 2588617"/>
              <a:gd name="connsiteX5" fmla="*/ 60326 w 5670394"/>
              <a:gd name="connsiteY5" fmla="*/ 109577 h 2588617"/>
              <a:gd name="connsiteX6" fmla="*/ 65406 w 5670394"/>
              <a:gd name="connsiteY6" fmla="*/ 429617 h 2588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0394" h="2588617">
                <a:moveTo>
                  <a:pt x="5516246" y="2588617"/>
                </a:moveTo>
                <a:cubicBezTo>
                  <a:pt x="5645786" y="2481513"/>
                  <a:pt x="5710979" y="2371870"/>
                  <a:pt x="5643246" y="2207617"/>
                </a:cubicBezTo>
                <a:cubicBezTo>
                  <a:pt x="5575513" y="2043364"/>
                  <a:pt x="5545033" y="1908744"/>
                  <a:pt x="5109846" y="1603097"/>
                </a:cubicBezTo>
                <a:cubicBezTo>
                  <a:pt x="4674659" y="1297450"/>
                  <a:pt x="3766186" y="638744"/>
                  <a:pt x="3032126" y="373737"/>
                </a:cubicBezTo>
                <a:cubicBezTo>
                  <a:pt x="2298066" y="108730"/>
                  <a:pt x="1200786" y="57084"/>
                  <a:pt x="705486" y="13057"/>
                </a:cubicBezTo>
                <a:cubicBezTo>
                  <a:pt x="210186" y="-30970"/>
                  <a:pt x="158539" y="45230"/>
                  <a:pt x="60326" y="109577"/>
                </a:cubicBezTo>
                <a:cubicBezTo>
                  <a:pt x="-37887" y="173924"/>
                  <a:pt x="-1481" y="324630"/>
                  <a:pt x="65406" y="429617"/>
                </a:cubicBezTo>
              </a:path>
            </a:pathLst>
          </a:custGeom>
          <a:ln w="19050">
            <a:prstDash val="sysDot"/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8C7A1-85F8-7C32-2599-DE4483AB155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91464" y="1049806"/>
            <a:ext cx="923624" cy="484674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BB3DE8E3-FCA1-7069-0FC4-949BFE9DBC91}"/>
              </a:ext>
            </a:extLst>
          </p:cNvPr>
          <p:cNvGrpSpPr/>
          <p:nvPr/>
        </p:nvGrpSpPr>
        <p:grpSpPr>
          <a:xfrm>
            <a:off x="9402134" y="1053616"/>
            <a:ext cx="893315" cy="1135268"/>
            <a:chOff x="3696977" y="3363068"/>
            <a:chExt cx="1191086" cy="151369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5255837-A466-BADB-D21E-0029CC24C3A9}"/>
                </a:ext>
              </a:extLst>
            </p:cNvPr>
            <p:cNvGrpSpPr/>
            <p:nvPr/>
          </p:nvGrpSpPr>
          <p:grpSpPr>
            <a:xfrm>
              <a:off x="3696977" y="3701426"/>
              <a:ext cx="1191086" cy="1175333"/>
              <a:chOff x="5036819" y="3700401"/>
              <a:chExt cx="1191086" cy="1175333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801EA227-E8EC-4BDB-120A-6F33AE71A4F1}"/>
                  </a:ext>
                </a:extLst>
              </p:cNvPr>
              <p:cNvSpPr/>
              <p:nvPr/>
            </p:nvSpPr>
            <p:spPr>
              <a:xfrm>
                <a:off x="5036819" y="3700401"/>
                <a:ext cx="1175851" cy="1175333"/>
              </a:xfrm>
              <a:prstGeom prst="roundRect">
                <a:avLst>
                  <a:gd name="adj" fmla="val 2604"/>
                </a:avLst>
              </a:prstGeom>
              <a:solidFill>
                <a:sysClr val="window" lastClr="FFFFFF"/>
              </a:solidFill>
              <a:ln w="28575" cap="flat" cmpd="sng" algn="ctr">
                <a:solidFill>
                  <a:srgbClr val="1849D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>
                  <a:defRPr/>
                </a:pPr>
                <a:endParaRPr lang="en-GB" sz="1350" kern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D3E9420-9A06-4EF6-4BDD-668F809CFF1F}"/>
                  </a:ext>
                </a:extLst>
              </p:cNvPr>
              <p:cNvSpPr txBox="1"/>
              <p:nvPr/>
            </p:nvSpPr>
            <p:spPr>
              <a:xfrm>
                <a:off x="5048712" y="4017585"/>
                <a:ext cx="117919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Global</a:t>
                </a:r>
              </a:p>
              <a:p>
                <a:pPr algn="ctr"/>
                <a:r>
                  <a:rPr lang="en-GB" sz="1200">
                    <a:solidFill>
                      <a:srgbClr val="1849D4"/>
                    </a:solidFill>
                    <a:latin typeface="Calibri" panose="020F0502020204030204"/>
                  </a:rPr>
                  <a:t>Broker</a:t>
                </a:r>
              </a:p>
            </p:txBody>
          </p:sp>
        </p:grp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5E3341A6-0DD6-A432-C20A-C07D94038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2641" y="3363068"/>
              <a:ext cx="664522" cy="676715"/>
            </a:xfrm>
            <a:prstGeom prst="rect">
              <a:avLst/>
            </a:prstGeom>
          </p:spPr>
        </p:pic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037A2F2-32EB-13EA-9DBC-17FE47FD2F9E}"/>
                </a:ext>
              </a:extLst>
            </p:cNvPr>
            <p:cNvSpPr/>
            <p:nvPr/>
          </p:nvSpPr>
          <p:spPr>
            <a:xfrm>
              <a:off x="4042108" y="3455008"/>
              <a:ext cx="485588" cy="4855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734D2C64-3DBB-A55B-8A0F-80A4CAABF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79275" y="3489445"/>
              <a:ext cx="424360" cy="38763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2C0C3EF-3D17-9C32-624B-4FC1E4DEC7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4578" y="1478873"/>
            <a:ext cx="3996275" cy="3900254"/>
          </a:xfrm>
          <a:prstGeom prst="rect">
            <a:avLst/>
          </a:prstGeom>
        </p:spPr>
      </p:pic>
      <p:pic>
        <p:nvPicPr>
          <p:cNvPr id="12" name="Picture 11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B56DB7CC-50E1-38D7-F13F-607D04ED86A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85" t="12889" r="1630" b="81161"/>
          <a:stretch/>
        </p:blipFill>
        <p:spPr>
          <a:xfrm>
            <a:off x="4510733" y="2970213"/>
            <a:ext cx="472440" cy="306086"/>
          </a:xfrm>
          <a:prstGeom prst="rect">
            <a:avLst/>
          </a:prstGeom>
        </p:spPr>
      </p:pic>
      <p:pic>
        <p:nvPicPr>
          <p:cNvPr id="13" name="Picture 12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CFDFB2CA-3B37-1CDB-87DD-AB0B32EC88B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2" t="1556" r="45555" b="92593"/>
          <a:stretch/>
        </p:blipFill>
        <p:spPr>
          <a:xfrm>
            <a:off x="4880390" y="4588336"/>
            <a:ext cx="461010" cy="300990"/>
          </a:xfrm>
          <a:prstGeom prst="rect">
            <a:avLst/>
          </a:prstGeom>
        </p:spPr>
      </p:pic>
      <p:pic>
        <p:nvPicPr>
          <p:cNvPr id="14" name="Picture 13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D57B70EC-7722-B141-A401-7EF9E657373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2" t="64074" r="19185" b="30148"/>
          <a:stretch/>
        </p:blipFill>
        <p:spPr>
          <a:xfrm>
            <a:off x="8379547" y="4563467"/>
            <a:ext cx="461010" cy="297180"/>
          </a:xfrm>
          <a:prstGeom prst="rect">
            <a:avLst/>
          </a:prstGeom>
        </p:spPr>
      </p:pic>
      <p:pic>
        <p:nvPicPr>
          <p:cNvPr id="15" name="Picture 14" descr="A group of flags of different countries/regions&#10;&#10;Description automatically generated">
            <a:extLst>
              <a:ext uri="{FF2B5EF4-FFF2-40B4-BE49-F238E27FC236}">
                <a16:creationId xmlns:a16="http://schemas.microsoft.com/office/drawing/2014/main" id="{02DD601D-70AE-33DC-4365-CA8D753D868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0" t="35630" r="80593" b="58444"/>
          <a:stretch/>
        </p:blipFill>
        <p:spPr>
          <a:xfrm>
            <a:off x="6431060" y="3383212"/>
            <a:ext cx="464820" cy="304800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04B0817-24C9-6DF3-00C4-9861701CD7E7}"/>
              </a:ext>
            </a:extLst>
          </p:cNvPr>
          <p:cNvSpPr/>
          <p:nvPr/>
        </p:nvSpPr>
        <p:spPr>
          <a:xfrm>
            <a:off x="3341370" y="3162300"/>
            <a:ext cx="1123950" cy="952500"/>
          </a:xfrm>
          <a:custGeom>
            <a:avLst/>
            <a:gdLst>
              <a:gd name="connsiteX0" fmla="*/ 1498600 w 1498600"/>
              <a:gd name="connsiteY0" fmla="*/ 0 h 1270000"/>
              <a:gd name="connsiteX1" fmla="*/ 782320 w 1498600"/>
              <a:gd name="connsiteY1" fmla="*/ 314960 h 1270000"/>
              <a:gd name="connsiteX2" fmla="*/ 0 w 1498600"/>
              <a:gd name="connsiteY2" fmla="*/ 1270000 h 1270000"/>
              <a:gd name="connsiteX0" fmla="*/ 1498600 w 1498600"/>
              <a:gd name="connsiteY0" fmla="*/ 0 h 1270000"/>
              <a:gd name="connsiteX1" fmla="*/ 579120 w 1498600"/>
              <a:gd name="connsiteY1" fmla="*/ 457200 h 1270000"/>
              <a:gd name="connsiteX2" fmla="*/ 0 w 1498600"/>
              <a:gd name="connsiteY2" fmla="*/ 1270000 h 1270000"/>
              <a:gd name="connsiteX0" fmla="*/ 1498600 w 1498600"/>
              <a:gd name="connsiteY0" fmla="*/ 0 h 1270000"/>
              <a:gd name="connsiteX1" fmla="*/ 579120 w 1498600"/>
              <a:gd name="connsiteY1" fmla="*/ 457200 h 1270000"/>
              <a:gd name="connsiteX2" fmla="*/ 0 w 1498600"/>
              <a:gd name="connsiteY2" fmla="*/ 1270000 h 1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8600" h="1270000">
                <a:moveTo>
                  <a:pt x="1498600" y="0"/>
                </a:moveTo>
                <a:cubicBezTo>
                  <a:pt x="1265343" y="51646"/>
                  <a:pt x="828887" y="245533"/>
                  <a:pt x="579120" y="457200"/>
                </a:cubicBezTo>
                <a:cubicBezTo>
                  <a:pt x="329353" y="668867"/>
                  <a:pt x="245956" y="857673"/>
                  <a:pt x="0" y="1270000"/>
                </a:cubicBezTo>
              </a:path>
            </a:pathLst>
          </a:custGeom>
          <a:ln w="19050">
            <a:prstDash val="solid"/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742FD228-4317-C110-4AC9-A2EF33154F69}"/>
              </a:ext>
            </a:extLst>
          </p:cNvPr>
          <p:cNvSpPr/>
          <p:nvPr/>
        </p:nvSpPr>
        <p:spPr>
          <a:xfrm rot="21395324">
            <a:off x="3417570" y="4408171"/>
            <a:ext cx="1428750" cy="377564"/>
          </a:xfrm>
          <a:custGeom>
            <a:avLst/>
            <a:gdLst>
              <a:gd name="connsiteX0" fmla="*/ 1905000 w 1905000"/>
              <a:gd name="connsiteY0" fmla="*/ 436880 h 503419"/>
              <a:gd name="connsiteX1" fmla="*/ 873760 w 1905000"/>
              <a:gd name="connsiteY1" fmla="*/ 467360 h 503419"/>
              <a:gd name="connsiteX2" fmla="*/ 0 w 1905000"/>
              <a:gd name="connsiteY2" fmla="*/ 0 h 503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0" h="503419">
                <a:moveTo>
                  <a:pt x="1905000" y="436880"/>
                </a:moveTo>
                <a:cubicBezTo>
                  <a:pt x="1548130" y="488526"/>
                  <a:pt x="1191260" y="540173"/>
                  <a:pt x="873760" y="467360"/>
                </a:cubicBezTo>
                <a:cubicBezTo>
                  <a:pt x="556260" y="394547"/>
                  <a:pt x="278130" y="197273"/>
                  <a:pt x="0" y="0"/>
                </a:cubicBezTo>
              </a:path>
            </a:pathLst>
          </a:custGeom>
          <a:ln w="19050">
            <a:prstDash val="solid"/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5B8E296-EC7A-C8C1-9623-D13D6A4081FC}"/>
              </a:ext>
            </a:extLst>
          </p:cNvPr>
          <p:cNvSpPr/>
          <p:nvPr/>
        </p:nvSpPr>
        <p:spPr>
          <a:xfrm>
            <a:off x="3379470" y="3525813"/>
            <a:ext cx="3013710" cy="630898"/>
          </a:xfrm>
          <a:custGeom>
            <a:avLst/>
            <a:gdLst>
              <a:gd name="connsiteX0" fmla="*/ 4018280 w 4018280"/>
              <a:gd name="connsiteY0" fmla="*/ 8077 h 841197"/>
              <a:gd name="connsiteX1" fmla="*/ 1976120 w 4018280"/>
              <a:gd name="connsiteY1" fmla="*/ 119837 h 841197"/>
              <a:gd name="connsiteX2" fmla="*/ 0 w 4018280"/>
              <a:gd name="connsiteY2" fmla="*/ 841197 h 841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18280" h="841197">
                <a:moveTo>
                  <a:pt x="4018280" y="8077"/>
                </a:moveTo>
                <a:cubicBezTo>
                  <a:pt x="3332056" y="-5470"/>
                  <a:pt x="2645833" y="-19016"/>
                  <a:pt x="1976120" y="119837"/>
                </a:cubicBezTo>
                <a:cubicBezTo>
                  <a:pt x="1306407" y="258690"/>
                  <a:pt x="653203" y="549943"/>
                  <a:pt x="0" y="841197"/>
                </a:cubicBezTo>
              </a:path>
            </a:pathLst>
          </a:custGeom>
          <a:ln w="19050">
            <a:prstDash val="solid"/>
            <a:headEnd type="none" w="med" len="med"/>
            <a:tailEnd type="triangl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037E949-3225-D7FE-4529-CA916222C98D}"/>
              </a:ext>
            </a:extLst>
          </p:cNvPr>
          <p:cNvGrpSpPr/>
          <p:nvPr/>
        </p:nvGrpSpPr>
        <p:grpSpPr>
          <a:xfrm>
            <a:off x="4670268" y="3139441"/>
            <a:ext cx="3726972" cy="2301307"/>
            <a:chOff x="4195024" y="3042920"/>
            <a:chExt cx="4969296" cy="3068409"/>
          </a:xfrm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EB6F6CC-D023-D4DE-902C-792305CF07AD}"/>
                </a:ext>
              </a:extLst>
            </p:cNvPr>
            <p:cNvSpPr/>
            <p:nvPr/>
          </p:nvSpPr>
          <p:spPr>
            <a:xfrm>
              <a:off x="4683760" y="3042920"/>
              <a:ext cx="1808480" cy="370840"/>
            </a:xfrm>
            <a:custGeom>
              <a:avLst/>
              <a:gdLst>
                <a:gd name="connsiteX0" fmla="*/ 0 w 1808480"/>
                <a:gd name="connsiteY0" fmla="*/ 0 h 370840"/>
                <a:gd name="connsiteX1" fmla="*/ 955040 w 1808480"/>
                <a:gd name="connsiteY1" fmla="*/ 66040 h 370840"/>
                <a:gd name="connsiteX2" fmla="*/ 1808480 w 1808480"/>
                <a:gd name="connsiteY2" fmla="*/ 370840 h 370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8480" h="370840">
                  <a:moveTo>
                    <a:pt x="0" y="0"/>
                  </a:moveTo>
                  <a:cubicBezTo>
                    <a:pt x="326813" y="2116"/>
                    <a:pt x="653627" y="4233"/>
                    <a:pt x="955040" y="66040"/>
                  </a:cubicBezTo>
                  <a:cubicBezTo>
                    <a:pt x="1256453" y="127847"/>
                    <a:pt x="1532466" y="249343"/>
                    <a:pt x="1808480" y="370840"/>
                  </a:cubicBezTo>
                </a:path>
              </a:pathLst>
            </a:custGeom>
            <a:ln w="19050"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C101EB5-7380-821B-FCC4-568FB6377C82}"/>
                </a:ext>
              </a:extLst>
            </p:cNvPr>
            <p:cNvSpPr/>
            <p:nvPr/>
          </p:nvSpPr>
          <p:spPr>
            <a:xfrm>
              <a:off x="7081520" y="3804920"/>
              <a:ext cx="2047240" cy="1630968"/>
            </a:xfrm>
            <a:custGeom>
              <a:avLst/>
              <a:gdLst>
                <a:gd name="connsiteX0" fmla="*/ 0 w 2087880"/>
                <a:gd name="connsiteY0" fmla="*/ 0 h 1661590"/>
                <a:gd name="connsiteX1" fmla="*/ 584200 w 2087880"/>
                <a:gd name="connsiteY1" fmla="*/ 833120 h 1661590"/>
                <a:gd name="connsiteX2" fmla="*/ 1437640 w 2087880"/>
                <a:gd name="connsiteY2" fmla="*/ 1518920 h 1661590"/>
                <a:gd name="connsiteX3" fmla="*/ 1869440 w 2087880"/>
                <a:gd name="connsiteY3" fmla="*/ 1661160 h 1661590"/>
                <a:gd name="connsiteX4" fmla="*/ 2087880 w 2087880"/>
                <a:gd name="connsiteY4" fmla="*/ 1554480 h 1661590"/>
                <a:gd name="connsiteX0" fmla="*/ 0 w 2037080"/>
                <a:gd name="connsiteY0" fmla="*/ 0 h 1661296"/>
                <a:gd name="connsiteX1" fmla="*/ 584200 w 2037080"/>
                <a:gd name="connsiteY1" fmla="*/ 833120 h 1661296"/>
                <a:gd name="connsiteX2" fmla="*/ 1437640 w 2037080"/>
                <a:gd name="connsiteY2" fmla="*/ 1518920 h 1661296"/>
                <a:gd name="connsiteX3" fmla="*/ 1869440 w 2037080"/>
                <a:gd name="connsiteY3" fmla="*/ 1661160 h 1661296"/>
                <a:gd name="connsiteX4" fmla="*/ 2037080 w 2037080"/>
                <a:gd name="connsiteY4" fmla="*/ 1422400 h 1661296"/>
                <a:gd name="connsiteX0" fmla="*/ 0 w 2037080"/>
                <a:gd name="connsiteY0" fmla="*/ 0 h 1630842"/>
                <a:gd name="connsiteX1" fmla="*/ 584200 w 2037080"/>
                <a:gd name="connsiteY1" fmla="*/ 833120 h 1630842"/>
                <a:gd name="connsiteX2" fmla="*/ 1437640 w 2037080"/>
                <a:gd name="connsiteY2" fmla="*/ 1518920 h 1630842"/>
                <a:gd name="connsiteX3" fmla="*/ 1747520 w 2037080"/>
                <a:gd name="connsiteY3" fmla="*/ 1630680 h 1630842"/>
                <a:gd name="connsiteX4" fmla="*/ 2037080 w 2037080"/>
                <a:gd name="connsiteY4" fmla="*/ 1422400 h 1630842"/>
                <a:gd name="connsiteX0" fmla="*/ 0 w 2037080"/>
                <a:gd name="connsiteY0" fmla="*/ 0 h 1630842"/>
                <a:gd name="connsiteX1" fmla="*/ 584200 w 2037080"/>
                <a:gd name="connsiteY1" fmla="*/ 833120 h 1630842"/>
                <a:gd name="connsiteX2" fmla="*/ 1320800 w 2037080"/>
                <a:gd name="connsiteY2" fmla="*/ 1457960 h 1630842"/>
                <a:gd name="connsiteX3" fmla="*/ 1747520 w 2037080"/>
                <a:gd name="connsiteY3" fmla="*/ 1630680 h 1630842"/>
                <a:gd name="connsiteX4" fmla="*/ 2037080 w 2037080"/>
                <a:gd name="connsiteY4" fmla="*/ 1422400 h 1630842"/>
                <a:gd name="connsiteX0" fmla="*/ 0 w 2047240"/>
                <a:gd name="connsiteY0" fmla="*/ 0 h 1630968"/>
                <a:gd name="connsiteX1" fmla="*/ 584200 w 2047240"/>
                <a:gd name="connsiteY1" fmla="*/ 833120 h 1630968"/>
                <a:gd name="connsiteX2" fmla="*/ 1320800 w 2047240"/>
                <a:gd name="connsiteY2" fmla="*/ 1457960 h 1630968"/>
                <a:gd name="connsiteX3" fmla="*/ 1747520 w 2047240"/>
                <a:gd name="connsiteY3" fmla="*/ 1630680 h 1630968"/>
                <a:gd name="connsiteX4" fmla="*/ 2047240 w 2047240"/>
                <a:gd name="connsiteY4" fmla="*/ 1493520 h 1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240" h="1630968">
                  <a:moveTo>
                    <a:pt x="0" y="0"/>
                  </a:moveTo>
                  <a:cubicBezTo>
                    <a:pt x="172296" y="289983"/>
                    <a:pt x="364067" y="590127"/>
                    <a:pt x="584200" y="833120"/>
                  </a:cubicBezTo>
                  <a:cubicBezTo>
                    <a:pt x="804333" y="1076113"/>
                    <a:pt x="1126913" y="1325033"/>
                    <a:pt x="1320800" y="1457960"/>
                  </a:cubicBezTo>
                  <a:cubicBezTo>
                    <a:pt x="1514687" y="1590887"/>
                    <a:pt x="1639147" y="1624753"/>
                    <a:pt x="1747520" y="1630680"/>
                  </a:cubicBezTo>
                  <a:cubicBezTo>
                    <a:pt x="1855893" y="1636607"/>
                    <a:pt x="1992206" y="1549823"/>
                    <a:pt x="2047240" y="1493520"/>
                  </a:cubicBezTo>
                </a:path>
              </a:pathLst>
            </a:custGeom>
            <a:ln w="19050"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2E09218-6B27-4134-CF5C-AC436C3A5EB6}"/>
                </a:ext>
              </a:extLst>
            </p:cNvPr>
            <p:cNvSpPr/>
            <p:nvPr/>
          </p:nvSpPr>
          <p:spPr>
            <a:xfrm>
              <a:off x="5049520" y="5389880"/>
              <a:ext cx="4114800" cy="721449"/>
            </a:xfrm>
            <a:custGeom>
              <a:avLst/>
              <a:gdLst>
                <a:gd name="connsiteX0" fmla="*/ 4251960 w 4251960"/>
                <a:gd name="connsiteY0" fmla="*/ 0 h 721414"/>
                <a:gd name="connsiteX1" fmla="*/ 2164080 w 4251960"/>
                <a:gd name="connsiteY1" fmla="*/ 721360 h 721414"/>
                <a:gd name="connsiteX2" fmla="*/ 0 w 4251960"/>
                <a:gd name="connsiteY2" fmla="*/ 30480 h 721414"/>
                <a:gd name="connsiteX0" fmla="*/ 4114800 w 4114800"/>
                <a:gd name="connsiteY0" fmla="*/ 0 h 721410"/>
                <a:gd name="connsiteX1" fmla="*/ 2026920 w 4114800"/>
                <a:gd name="connsiteY1" fmla="*/ 721360 h 721410"/>
                <a:gd name="connsiteX2" fmla="*/ 0 w 4114800"/>
                <a:gd name="connsiteY2" fmla="*/ 0 h 721410"/>
                <a:gd name="connsiteX0" fmla="*/ 4114800 w 4114800"/>
                <a:gd name="connsiteY0" fmla="*/ 0 h 721449"/>
                <a:gd name="connsiteX1" fmla="*/ 2026920 w 4114800"/>
                <a:gd name="connsiteY1" fmla="*/ 721360 h 721449"/>
                <a:gd name="connsiteX2" fmla="*/ 0 w 4114800"/>
                <a:gd name="connsiteY2" fmla="*/ 0 h 72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14800" h="721449">
                  <a:moveTo>
                    <a:pt x="4114800" y="0"/>
                  </a:moveTo>
                  <a:cubicBezTo>
                    <a:pt x="3425190" y="358140"/>
                    <a:pt x="2735580" y="716280"/>
                    <a:pt x="2026920" y="721360"/>
                  </a:cubicBezTo>
                  <a:cubicBezTo>
                    <a:pt x="1318260" y="726440"/>
                    <a:pt x="656590" y="515620"/>
                    <a:pt x="0" y="0"/>
                  </a:cubicBezTo>
                </a:path>
              </a:pathLst>
            </a:custGeom>
            <a:ln w="19050"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342BA11-B5DA-C5A6-CB9A-5A1F58D9E0E9}"/>
                </a:ext>
              </a:extLst>
            </p:cNvPr>
            <p:cNvSpPr/>
            <p:nvPr/>
          </p:nvSpPr>
          <p:spPr>
            <a:xfrm>
              <a:off x="5135880" y="3825240"/>
              <a:ext cx="1524000" cy="1193800"/>
            </a:xfrm>
            <a:custGeom>
              <a:avLst/>
              <a:gdLst>
                <a:gd name="connsiteX0" fmla="*/ 1524000 w 1524000"/>
                <a:gd name="connsiteY0" fmla="*/ 0 h 1193800"/>
                <a:gd name="connsiteX1" fmla="*/ 843280 w 1524000"/>
                <a:gd name="connsiteY1" fmla="*/ 756920 h 1193800"/>
                <a:gd name="connsiteX2" fmla="*/ 0 w 1524000"/>
                <a:gd name="connsiteY2" fmla="*/ 11938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4000" h="1193800">
                  <a:moveTo>
                    <a:pt x="1524000" y="0"/>
                  </a:moveTo>
                  <a:cubicBezTo>
                    <a:pt x="1310640" y="278976"/>
                    <a:pt x="1097280" y="557953"/>
                    <a:pt x="843280" y="756920"/>
                  </a:cubicBezTo>
                  <a:cubicBezTo>
                    <a:pt x="589280" y="955887"/>
                    <a:pt x="294640" y="1074843"/>
                    <a:pt x="0" y="1193800"/>
                  </a:cubicBezTo>
                </a:path>
              </a:pathLst>
            </a:custGeom>
            <a:ln w="19050"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CBAA6E3-C026-8407-C8A8-C58198753A19}"/>
                </a:ext>
              </a:extLst>
            </p:cNvPr>
            <p:cNvSpPr/>
            <p:nvPr/>
          </p:nvSpPr>
          <p:spPr>
            <a:xfrm>
              <a:off x="4195024" y="3261360"/>
              <a:ext cx="473496" cy="1691640"/>
            </a:xfrm>
            <a:custGeom>
              <a:avLst/>
              <a:gdLst>
                <a:gd name="connsiteX0" fmla="*/ 0 w 431800"/>
                <a:gd name="connsiteY0" fmla="*/ 0 h 1691640"/>
                <a:gd name="connsiteX1" fmla="*/ 91440 w 431800"/>
                <a:gd name="connsiteY1" fmla="*/ 1016000 h 1691640"/>
                <a:gd name="connsiteX2" fmla="*/ 431800 w 431800"/>
                <a:gd name="connsiteY2" fmla="*/ 1691640 h 1691640"/>
                <a:gd name="connsiteX0" fmla="*/ 0 w 472440"/>
                <a:gd name="connsiteY0" fmla="*/ 0 h 1691640"/>
                <a:gd name="connsiteX1" fmla="*/ 132080 w 472440"/>
                <a:gd name="connsiteY1" fmla="*/ 1016000 h 1691640"/>
                <a:gd name="connsiteX2" fmla="*/ 472440 w 472440"/>
                <a:gd name="connsiteY2" fmla="*/ 1691640 h 1691640"/>
                <a:gd name="connsiteX0" fmla="*/ 1056 w 473496"/>
                <a:gd name="connsiteY0" fmla="*/ 0 h 1691640"/>
                <a:gd name="connsiteX1" fmla="*/ 133136 w 473496"/>
                <a:gd name="connsiteY1" fmla="*/ 1016000 h 1691640"/>
                <a:gd name="connsiteX2" fmla="*/ 473496 w 473496"/>
                <a:gd name="connsiteY2" fmla="*/ 1691640 h 169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3496" h="1691640">
                  <a:moveTo>
                    <a:pt x="1056" y="0"/>
                  </a:moveTo>
                  <a:cubicBezTo>
                    <a:pt x="-9528" y="519430"/>
                    <a:pt x="61169" y="734060"/>
                    <a:pt x="133136" y="1016000"/>
                  </a:cubicBezTo>
                  <a:cubicBezTo>
                    <a:pt x="205103" y="1297940"/>
                    <a:pt x="339299" y="1494790"/>
                    <a:pt x="473496" y="1691640"/>
                  </a:cubicBezTo>
                </a:path>
              </a:pathLst>
            </a:custGeom>
            <a:ln w="19050">
              <a:prstDash val="sysDot"/>
              <a:headEnd type="triangle" w="med" len="med"/>
              <a:tailEnd type="triangl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1738E696-4914-7E17-37F4-291817365707}"/>
              </a:ext>
            </a:extLst>
          </p:cNvPr>
          <p:cNvSpPr txBox="1"/>
          <p:nvPr/>
        </p:nvSpPr>
        <p:spPr>
          <a:xfrm>
            <a:off x="1876912" y="237323"/>
            <a:ext cx="8509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GB" sz="2400" b="1" dirty="0">
                <a:solidFill>
                  <a:srgbClr val="005BAA"/>
                </a:solidFill>
              </a:rPr>
              <a:t>Step 1 - Global Brokers subscribe to Notification Messages from WIS2 Nodes and republish the messages for onward distribution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18F5C48-53B5-BC87-FB5C-8D58BF08D75D}"/>
              </a:ext>
            </a:extLst>
          </p:cNvPr>
          <p:cNvSpPr txBox="1"/>
          <p:nvPr/>
        </p:nvSpPr>
        <p:spPr>
          <a:xfrm>
            <a:off x="3235799" y="5494807"/>
            <a:ext cx="600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GB" sz="1200"/>
              <a:t>Global Brokers also subscribe to each other for resilience, discarding duplicate messages they have already received and republished – fully meshed network is not required</a:t>
            </a:r>
          </a:p>
        </p:txBody>
      </p:sp>
    </p:spTree>
    <p:extLst>
      <p:ext uri="{BB962C8B-B14F-4D97-AF65-F5344CB8AC3E}">
        <p14:creationId xmlns:p14="http://schemas.microsoft.com/office/powerpoint/2010/main" val="427073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BD43-1AF6-2A0A-2BB0-5D36A827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ED0243B7-3244-C894-6D28-FCE7DAE231AF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DA6210-59CF-7286-8675-173F9BC31216}"/>
              </a:ext>
            </a:extLst>
          </p:cNvPr>
          <p:cNvSpPr txBox="1"/>
          <p:nvPr/>
        </p:nvSpPr>
        <p:spPr>
          <a:xfrm>
            <a:off x="1074319" y="333654"/>
            <a:ext cx="1034415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closer look at the flow of WIS2 Notification Messages (WNM)</a:t>
            </a:r>
          </a:p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3" name="Rectangle: Rounded Corners 24">
            <a:extLst>
              <a:ext uri="{FF2B5EF4-FFF2-40B4-BE49-F238E27FC236}">
                <a16:creationId xmlns:a16="http://schemas.microsoft.com/office/drawing/2014/main" id="{350FB6BD-8A99-EEF7-53E0-340CF1991B19}"/>
              </a:ext>
            </a:extLst>
          </p:cNvPr>
          <p:cNvSpPr/>
          <p:nvPr/>
        </p:nvSpPr>
        <p:spPr>
          <a:xfrm>
            <a:off x="1352585" y="1850552"/>
            <a:ext cx="1375172" cy="921544"/>
          </a:xfrm>
          <a:prstGeom prst="roundRect">
            <a:avLst>
              <a:gd name="adj" fmla="val 891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10EB5-847E-2E88-B4DC-E700D346FD8C}"/>
              </a:ext>
            </a:extLst>
          </p:cNvPr>
          <p:cNvSpPr txBox="1"/>
          <p:nvPr/>
        </p:nvSpPr>
        <p:spPr>
          <a:xfrm>
            <a:off x="1419461" y="1998978"/>
            <a:ext cx="588624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WIS2 </a:t>
            </a:r>
          </a:p>
          <a:p>
            <a:pPr algn="ctr"/>
            <a:r>
              <a:rPr lang="en-GB" sz="1350" dirty="0"/>
              <a:t>Node</a:t>
            </a:r>
          </a:p>
          <a:p>
            <a:pPr algn="ctr"/>
            <a:endParaRPr lang="en-GB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2C8BC7-987B-8601-5F9B-9B7CEFEDB2E2}"/>
              </a:ext>
            </a:extLst>
          </p:cNvPr>
          <p:cNvSpPr/>
          <p:nvPr/>
        </p:nvSpPr>
        <p:spPr>
          <a:xfrm>
            <a:off x="2308058" y="2175430"/>
            <a:ext cx="299273" cy="257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1C437E-9B8A-086D-6641-ADAD7A6DE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57" y="2178579"/>
            <a:ext cx="257382" cy="2573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598EA02-82F2-1C66-A369-14F4F8AB6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902" y="1471043"/>
            <a:ext cx="759018" cy="75901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DDBBA7F-5046-0320-40F5-EFC773C65E0B}"/>
              </a:ext>
            </a:extLst>
          </p:cNvPr>
          <p:cNvSpPr txBox="1"/>
          <p:nvPr/>
        </p:nvSpPr>
        <p:spPr>
          <a:xfrm>
            <a:off x="4293600" y="1610682"/>
            <a:ext cx="67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Global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Broker1</a:t>
            </a:r>
          </a:p>
        </p:txBody>
      </p:sp>
      <p:sp>
        <p:nvSpPr>
          <p:cNvPr id="41" name="Rectangle: Rounded Corners 73">
            <a:extLst>
              <a:ext uri="{FF2B5EF4-FFF2-40B4-BE49-F238E27FC236}">
                <a16:creationId xmlns:a16="http://schemas.microsoft.com/office/drawing/2014/main" id="{FEF7992A-0BE1-5D69-BA0B-593B1C379E0F}"/>
              </a:ext>
            </a:extLst>
          </p:cNvPr>
          <p:cNvSpPr/>
          <p:nvPr/>
        </p:nvSpPr>
        <p:spPr>
          <a:xfrm>
            <a:off x="2036781" y="4501607"/>
            <a:ext cx="1375172" cy="921544"/>
          </a:xfrm>
          <a:prstGeom prst="roundRect">
            <a:avLst>
              <a:gd name="adj" fmla="val 891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B7C12A-7AFF-E873-9D77-CEDBB33F33F9}"/>
              </a:ext>
            </a:extLst>
          </p:cNvPr>
          <p:cNvSpPr txBox="1"/>
          <p:nvPr/>
        </p:nvSpPr>
        <p:spPr>
          <a:xfrm>
            <a:off x="1989913" y="4678073"/>
            <a:ext cx="639920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Global</a:t>
            </a:r>
          </a:p>
          <a:p>
            <a:pPr algn="ctr"/>
            <a:r>
              <a:rPr lang="en-GB" sz="1350" dirty="0"/>
              <a:t>Cache</a:t>
            </a:r>
          </a:p>
          <a:p>
            <a:pPr algn="ctr"/>
            <a:r>
              <a:rPr lang="en-GB" sz="1350" dirty="0"/>
              <a:t>#1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247F17-4817-4481-BF4E-F7D1A12C7373}"/>
              </a:ext>
            </a:extLst>
          </p:cNvPr>
          <p:cNvSpPr/>
          <p:nvPr/>
        </p:nvSpPr>
        <p:spPr>
          <a:xfrm>
            <a:off x="2992254" y="4826485"/>
            <a:ext cx="299273" cy="257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16AF38C-5883-AF1D-F36A-49949602A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474" y="4698593"/>
            <a:ext cx="257382" cy="25738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41FF422-6F4F-B677-73CD-26A8A0C912F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09090" y="2458666"/>
            <a:ext cx="270585" cy="27058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237B723-1276-BFCD-5B54-2C6C899A2A93}"/>
              </a:ext>
            </a:extLst>
          </p:cNvPr>
          <p:cNvSpPr txBox="1"/>
          <p:nvPr/>
        </p:nvSpPr>
        <p:spPr>
          <a:xfrm>
            <a:off x="5219861" y="1951951"/>
            <a:ext cx="808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Global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Catalogue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FFAC7A7-1F4D-B454-5AD3-10EFB02161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39684" y="5437338"/>
            <a:ext cx="523395" cy="673568"/>
          </a:xfrm>
          <a:prstGeom prst="rect">
            <a:avLst/>
          </a:prstGeom>
        </p:spPr>
      </p:pic>
      <p:sp>
        <p:nvSpPr>
          <p:cNvPr id="49" name="Rectangle: Rounded Corners 101">
            <a:extLst>
              <a:ext uri="{FF2B5EF4-FFF2-40B4-BE49-F238E27FC236}">
                <a16:creationId xmlns:a16="http://schemas.microsoft.com/office/drawing/2014/main" id="{72A0FDFC-AD64-89BE-5A05-06FFA14274B7}"/>
              </a:ext>
            </a:extLst>
          </p:cNvPr>
          <p:cNvSpPr/>
          <p:nvPr/>
        </p:nvSpPr>
        <p:spPr>
          <a:xfrm>
            <a:off x="5389696" y="4448732"/>
            <a:ext cx="1375172" cy="921544"/>
          </a:xfrm>
          <a:prstGeom prst="roundRect">
            <a:avLst>
              <a:gd name="adj" fmla="val 8915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60C462-4737-34A7-C68C-7CE1E48DFECD}"/>
              </a:ext>
            </a:extLst>
          </p:cNvPr>
          <p:cNvSpPr txBox="1"/>
          <p:nvPr/>
        </p:nvSpPr>
        <p:spPr>
          <a:xfrm>
            <a:off x="5342828" y="4577045"/>
            <a:ext cx="639920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350" dirty="0"/>
              <a:t>Global</a:t>
            </a:r>
          </a:p>
          <a:p>
            <a:pPr algn="ctr"/>
            <a:r>
              <a:rPr lang="en-GB" sz="1350" dirty="0"/>
              <a:t>Cache</a:t>
            </a:r>
          </a:p>
          <a:p>
            <a:pPr algn="ctr"/>
            <a:r>
              <a:rPr lang="en-GB" sz="1350" dirty="0"/>
              <a:t>#2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58AA5A-F6CC-78C4-8999-68AB6A8542C0}"/>
              </a:ext>
            </a:extLst>
          </p:cNvPr>
          <p:cNvSpPr/>
          <p:nvPr/>
        </p:nvSpPr>
        <p:spPr>
          <a:xfrm>
            <a:off x="6345170" y="4773610"/>
            <a:ext cx="299273" cy="257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A5DE7ED-D5D4-4404-DC05-F5D7E8F2BC4C}"/>
              </a:ext>
            </a:extLst>
          </p:cNvPr>
          <p:cNvGrpSpPr/>
          <p:nvPr/>
        </p:nvGrpSpPr>
        <p:grpSpPr>
          <a:xfrm>
            <a:off x="6348772" y="4645719"/>
            <a:ext cx="270585" cy="550016"/>
            <a:chOff x="6462624" y="5836948"/>
            <a:chExt cx="360780" cy="733355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8F58AF96-843F-1B2C-AD89-7519EE23F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4114" y="5836948"/>
              <a:ext cx="343176" cy="343176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88349D0-1E06-3A63-6ED0-F9B36C0CE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462624" y="6209523"/>
              <a:ext cx="360780" cy="36078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DA51C31B-FAEB-E4FF-3910-AF6C91C51B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6782" y="2176605"/>
            <a:ext cx="276367" cy="29337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2E76DD4-1BEF-34BD-193A-ACD0BD0E3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7265" y="2441211"/>
            <a:ext cx="228179" cy="293373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97E0D365-FE06-F3C5-432A-9BC4374EDC58}"/>
              </a:ext>
            </a:extLst>
          </p:cNvPr>
          <p:cNvGrpSpPr/>
          <p:nvPr/>
        </p:nvGrpSpPr>
        <p:grpSpPr>
          <a:xfrm>
            <a:off x="6076038" y="4623343"/>
            <a:ext cx="334891" cy="590994"/>
            <a:chOff x="9810828" y="5647567"/>
            <a:chExt cx="446521" cy="787992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33F82E2-FD66-0B22-F42E-BC8BA2348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69060" y="6044395"/>
              <a:ext cx="304239" cy="391164"/>
            </a:xfrm>
            <a:prstGeom prst="rect">
              <a:avLst/>
            </a:prstGeom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93829CA-78DB-E0D3-F232-A7331080474E}"/>
                </a:ext>
              </a:extLst>
            </p:cNvPr>
            <p:cNvGrpSpPr/>
            <p:nvPr/>
          </p:nvGrpSpPr>
          <p:grpSpPr>
            <a:xfrm>
              <a:off x="9810828" y="5647567"/>
              <a:ext cx="446521" cy="391165"/>
              <a:chOff x="3738606" y="5490241"/>
              <a:chExt cx="446521" cy="391165"/>
            </a:xfrm>
          </p:grpSpPr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2F26A9B6-65BD-B0F1-B928-B665F0BEB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8606" y="5490241"/>
                <a:ext cx="368489" cy="391165"/>
              </a:xfrm>
              <a:prstGeom prst="rect">
                <a:avLst/>
              </a:prstGeom>
            </p:spPr>
          </p:pic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4A82E782-3C1E-DC5A-1E0F-8428E5CA4446}"/>
                  </a:ext>
                </a:extLst>
              </p:cNvPr>
              <p:cNvSpPr/>
              <p:nvPr/>
            </p:nvSpPr>
            <p:spPr>
              <a:xfrm>
                <a:off x="3971367" y="5622264"/>
                <a:ext cx="73265" cy="109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ED4165A-38F7-2565-6C7C-442DF77AA5AC}"/>
                  </a:ext>
                </a:extLst>
              </p:cNvPr>
              <p:cNvSpPr txBox="1"/>
              <p:nvPr/>
            </p:nvSpPr>
            <p:spPr>
              <a:xfrm>
                <a:off x="3874786" y="5546864"/>
                <a:ext cx="31034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75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GB" sz="135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C61807C-E9FF-EBC4-1CCA-E35C34F2897B}"/>
              </a:ext>
            </a:extLst>
          </p:cNvPr>
          <p:cNvGrpSpPr/>
          <p:nvPr/>
        </p:nvGrpSpPr>
        <p:grpSpPr>
          <a:xfrm>
            <a:off x="2714207" y="4693914"/>
            <a:ext cx="334891" cy="580787"/>
            <a:chOff x="6238668" y="5808388"/>
            <a:chExt cx="446521" cy="774383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F9822801-954D-43A7-F7E0-3508C5771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8810" y="6191607"/>
              <a:ext cx="304239" cy="391164"/>
            </a:xfrm>
            <a:prstGeom prst="rect">
              <a:avLst/>
            </a:prstGeom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4FBE1E5-6050-D677-DA76-B86703BF53DB}"/>
                </a:ext>
              </a:extLst>
            </p:cNvPr>
            <p:cNvGrpSpPr/>
            <p:nvPr/>
          </p:nvGrpSpPr>
          <p:grpSpPr>
            <a:xfrm>
              <a:off x="6238668" y="5808388"/>
              <a:ext cx="446521" cy="391165"/>
              <a:chOff x="3738606" y="5490241"/>
              <a:chExt cx="446521" cy="391165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90AA38E0-8E35-D9A7-7156-52B5D1913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8606" y="5490241"/>
                <a:ext cx="368489" cy="391165"/>
              </a:xfrm>
              <a:prstGeom prst="rect">
                <a:avLst/>
              </a:prstGeom>
            </p:spPr>
          </p:pic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D8666EF-DEBE-17A7-EBFC-BE950F875545}"/>
                  </a:ext>
                </a:extLst>
              </p:cNvPr>
              <p:cNvSpPr/>
              <p:nvPr/>
            </p:nvSpPr>
            <p:spPr>
              <a:xfrm>
                <a:off x="3971367" y="5622264"/>
                <a:ext cx="73265" cy="109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22205B4-03E6-5D85-AE3C-87DD96C1AF2A}"/>
                  </a:ext>
                </a:extLst>
              </p:cNvPr>
              <p:cNvSpPr txBox="1"/>
              <p:nvPr/>
            </p:nvSpPr>
            <p:spPr>
              <a:xfrm>
                <a:off x="3874786" y="5546864"/>
                <a:ext cx="31034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675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GB" sz="1350" u="sng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69" name="Picture 60">
            <a:extLst>
              <a:ext uri="{FF2B5EF4-FFF2-40B4-BE49-F238E27FC236}">
                <a16:creationId xmlns:a16="http://schemas.microsoft.com/office/drawing/2014/main" id="{867C96C1-4C43-83B2-0F30-A1F48FB4E5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5856" y="4978024"/>
            <a:ext cx="270585" cy="270585"/>
          </a:xfrm>
          <a:prstGeom prst="rect">
            <a:avLst/>
          </a:prstGeom>
        </p:spPr>
      </p:pic>
      <p:pic>
        <p:nvPicPr>
          <p:cNvPr id="70" name="Picture 54">
            <a:extLst>
              <a:ext uri="{FF2B5EF4-FFF2-40B4-BE49-F238E27FC236}">
                <a16:creationId xmlns:a16="http://schemas.microsoft.com/office/drawing/2014/main" id="{073E0B67-983C-3ADF-723F-48AD83241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670" y="3088583"/>
            <a:ext cx="759018" cy="759018"/>
          </a:xfrm>
          <a:prstGeom prst="rect">
            <a:avLst/>
          </a:prstGeom>
        </p:spPr>
      </p:pic>
      <p:sp>
        <p:nvSpPr>
          <p:cNvPr id="71" name="TextBox 55">
            <a:extLst>
              <a:ext uri="{FF2B5EF4-FFF2-40B4-BE49-F238E27FC236}">
                <a16:creationId xmlns:a16="http://schemas.microsoft.com/office/drawing/2014/main" id="{36238558-B28D-B363-8BCC-3F2A409EFA5E}"/>
              </a:ext>
            </a:extLst>
          </p:cNvPr>
          <p:cNvSpPr txBox="1"/>
          <p:nvPr/>
        </p:nvSpPr>
        <p:spPr>
          <a:xfrm>
            <a:off x="3600370" y="3228222"/>
            <a:ext cx="67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Global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Broker3</a:t>
            </a:r>
          </a:p>
        </p:txBody>
      </p:sp>
      <p:pic>
        <p:nvPicPr>
          <p:cNvPr id="72" name="Picture 54">
            <a:extLst>
              <a:ext uri="{FF2B5EF4-FFF2-40B4-BE49-F238E27FC236}">
                <a16:creationId xmlns:a16="http://schemas.microsoft.com/office/drawing/2014/main" id="{777A22F0-0F04-8DC7-3F01-4D8B97453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856" y="3088583"/>
            <a:ext cx="759018" cy="759018"/>
          </a:xfrm>
          <a:prstGeom prst="rect">
            <a:avLst/>
          </a:prstGeom>
        </p:spPr>
      </p:pic>
      <p:sp>
        <p:nvSpPr>
          <p:cNvPr id="73" name="TextBox 55">
            <a:extLst>
              <a:ext uri="{FF2B5EF4-FFF2-40B4-BE49-F238E27FC236}">
                <a16:creationId xmlns:a16="http://schemas.microsoft.com/office/drawing/2014/main" id="{47C1B71D-2787-97AA-C389-2CBB0B0D6818}"/>
              </a:ext>
            </a:extLst>
          </p:cNvPr>
          <p:cNvSpPr txBox="1"/>
          <p:nvPr/>
        </p:nvSpPr>
        <p:spPr>
          <a:xfrm>
            <a:off x="5959554" y="3228222"/>
            <a:ext cx="67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Global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Broker4</a:t>
            </a:r>
          </a:p>
        </p:txBody>
      </p:sp>
      <p:pic>
        <p:nvPicPr>
          <p:cNvPr id="74" name="Picture 54">
            <a:extLst>
              <a:ext uri="{FF2B5EF4-FFF2-40B4-BE49-F238E27FC236}">
                <a16:creationId xmlns:a16="http://schemas.microsoft.com/office/drawing/2014/main" id="{829A1636-B91F-231A-20F6-79A5F9141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1478" y="1471043"/>
            <a:ext cx="759018" cy="759018"/>
          </a:xfrm>
          <a:prstGeom prst="rect">
            <a:avLst/>
          </a:prstGeom>
        </p:spPr>
      </p:pic>
      <p:sp>
        <p:nvSpPr>
          <p:cNvPr id="75" name="TextBox 55">
            <a:extLst>
              <a:ext uri="{FF2B5EF4-FFF2-40B4-BE49-F238E27FC236}">
                <a16:creationId xmlns:a16="http://schemas.microsoft.com/office/drawing/2014/main" id="{84AB9A81-5074-DBCB-D280-D05D5A631E61}"/>
              </a:ext>
            </a:extLst>
          </p:cNvPr>
          <p:cNvSpPr txBox="1"/>
          <p:nvPr/>
        </p:nvSpPr>
        <p:spPr>
          <a:xfrm>
            <a:off x="6315178" y="1610682"/>
            <a:ext cx="67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>
                <a:solidFill>
                  <a:schemeClr val="bg1"/>
                </a:solidFill>
              </a:rPr>
              <a:t>Global</a:t>
            </a:r>
          </a:p>
          <a:p>
            <a:pPr algn="ctr"/>
            <a:r>
              <a:rPr lang="en-GB" sz="1200" dirty="0">
                <a:solidFill>
                  <a:schemeClr val="bg1"/>
                </a:solidFill>
              </a:rPr>
              <a:t>Broker2</a:t>
            </a:r>
          </a:p>
        </p:txBody>
      </p:sp>
      <p:sp>
        <p:nvSpPr>
          <p:cNvPr id="76" name="Freeform: Shape 107">
            <a:extLst>
              <a:ext uri="{FF2B5EF4-FFF2-40B4-BE49-F238E27FC236}">
                <a16:creationId xmlns:a16="http://schemas.microsoft.com/office/drawing/2014/main" id="{DC8E748A-9232-B1F5-3F3F-98E00BE8ED97}"/>
              </a:ext>
            </a:extLst>
          </p:cNvPr>
          <p:cNvSpPr/>
          <p:nvPr/>
        </p:nvSpPr>
        <p:spPr>
          <a:xfrm rot="9692009" flipV="1">
            <a:off x="2653762" y="1835769"/>
            <a:ext cx="1351237" cy="185848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7" name="TextBox 102">
            <a:extLst>
              <a:ext uri="{FF2B5EF4-FFF2-40B4-BE49-F238E27FC236}">
                <a16:creationId xmlns:a16="http://schemas.microsoft.com/office/drawing/2014/main" id="{4882DB12-0F34-B515-F60D-BC370CD04B67}"/>
              </a:ext>
            </a:extLst>
          </p:cNvPr>
          <p:cNvSpPr txBox="1"/>
          <p:nvPr/>
        </p:nvSpPr>
        <p:spPr>
          <a:xfrm>
            <a:off x="3053730" y="1641447"/>
            <a:ext cx="351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78" name="Ellipse 11">
            <a:extLst>
              <a:ext uri="{FF2B5EF4-FFF2-40B4-BE49-F238E27FC236}">
                <a16:creationId xmlns:a16="http://schemas.microsoft.com/office/drawing/2014/main" id="{96B6F0F0-A994-B21C-2E83-9EDCF756CCEB}"/>
              </a:ext>
            </a:extLst>
          </p:cNvPr>
          <p:cNvSpPr/>
          <p:nvPr/>
        </p:nvSpPr>
        <p:spPr>
          <a:xfrm>
            <a:off x="4062894" y="1670578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79" name="Picture 94">
            <a:extLst>
              <a:ext uri="{FF2B5EF4-FFF2-40B4-BE49-F238E27FC236}">
                <a16:creationId xmlns:a16="http://schemas.microsoft.com/office/drawing/2014/main" id="{718AC70F-3B0E-2283-E0FC-27DD6161B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5530" y="1902576"/>
            <a:ext cx="276367" cy="293374"/>
          </a:xfrm>
          <a:prstGeom prst="rect">
            <a:avLst/>
          </a:prstGeom>
        </p:spPr>
      </p:pic>
      <p:sp>
        <p:nvSpPr>
          <p:cNvPr id="80" name="Freeform: Shape 107">
            <a:extLst>
              <a:ext uri="{FF2B5EF4-FFF2-40B4-BE49-F238E27FC236}">
                <a16:creationId xmlns:a16="http://schemas.microsoft.com/office/drawing/2014/main" id="{601E2F1B-1A30-B0FD-6827-FCB4E5E40F2A}"/>
              </a:ext>
            </a:extLst>
          </p:cNvPr>
          <p:cNvSpPr/>
          <p:nvPr/>
        </p:nvSpPr>
        <p:spPr>
          <a:xfrm rot="2800712" flipV="1">
            <a:off x="3902638" y="1940870"/>
            <a:ext cx="254726" cy="301524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1" name="TextBox 102">
            <a:extLst>
              <a:ext uri="{FF2B5EF4-FFF2-40B4-BE49-F238E27FC236}">
                <a16:creationId xmlns:a16="http://schemas.microsoft.com/office/drawing/2014/main" id="{D76655B6-94F1-90C3-A517-6449C76AA206}"/>
              </a:ext>
            </a:extLst>
          </p:cNvPr>
          <p:cNvSpPr txBox="1"/>
          <p:nvPr/>
        </p:nvSpPr>
        <p:spPr>
          <a:xfrm rot="20415643">
            <a:off x="3884148" y="2160825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82" name="Freeform: Shape 107">
            <a:extLst>
              <a:ext uri="{FF2B5EF4-FFF2-40B4-BE49-F238E27FC236}">
                <a16:creationId xmlns:a16="http://schemas.microsoft.com/office/drawing/2014/main" id="{7B88AA1F-9199-ACCC-F26A-D22FAC856C3E}"/>
              </a:ext>
            </a:extLst>
          </p:cNvPr>
          <p:cNvSpPr/>
          <p:nvPr/>
        </p:nvSpPr>
        <p:spPr>
          <a:xfrm rot="18867222">
            <a:off x="2278037" y="3744152"/>
            <a:ext cx="1413354" cy="190946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3" name="TextBox 102">
            <a:extLst>
              <a:ext uri="{FF2B5EF4-FFF2-40B4-BE49-F238E27FC236}">
                <a16:creationId xmlns:a16="http://schemas.microsoft.com/office/drawing/2014/main" id="{2ADA1C57-7B68-F9DE-6528-739F6542E1C9}"/>
              </a:ext>
            </a:extLst>
          </p:cNvPr>
          <p:cNvSpPr txBox="1"/>
          <p:nvPr/>
        </p:nvSpPr>
        <p:spPr>
          <a:xfrm rot="17924147">
            <a:off x="2489412" y="3823805"/>
            <a:ext cx="351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84" name="TextBox 102">
            <a:extLst>
              <a:ext uri="{FF2B5EF4-FFF2-40B4-BE49-F238E27FC236}">
                <a16:creationId xmlns:a16="http://schemas.microsoft.com/office/drawing/2014/main" id="{C53978F9-7DA5-F291-35A6-CBA1E81180EB}"/>
              </a:ext>
            </a:extLst>
          </p:cNvPr>
          <p:cNvSpPr txBox="1"/>
          <p:nvPr/>
        </p:nvSpPr>
        <p:spPr>
          <a:xfrm>
            <a:off x="3651027" y="1489779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  <p:sp>
        <p:nvSpPr>
          <p:cNvPr id="85" name="Freeform: Shape 107">
            <a:extLst>
              <a:ext uri="{FF2B5EF4-FFF2-40B4-BE49-F238E27FC236}">
                <a16:creationId xmlns:a16="http://schemas.microsoft.com/office/drawing/2014/main" id="{1EBF5E90-D4D5-8F0C-F6D1-CFE082C2D680}"/>
              </a:ext>
            </a:extLst>
          </p:cNvPr>
          <p:cNvSpPr/>
          <p:nvPr/>
        </p:nvSpPr>
        <p:spPr>
          <a:xfrm rot="17289232" flipV="1">
            <a:off x="4097989" y="2564225"/>
            <a:ext cx="840571" cy="189422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86" name="TextBox 102">
            <a:extLst>
              <a:ext uri="{FF2B5EF4-FFF2-40B4-BE49-F238E27FC236}">
                <a16:creationId xmlns:a16="http://schemas.microsoft.com/office/drawing/2014/main" id="{1FC60A16-42E3-BA87-C1A6-95E2F0102454}"/>
              </a:ext>
            </a:extLst>
          </p:cNvPr>
          <p:cNvSpPr txBox="1"/>
          <p:nvPr/>
        </p:nvSpPr>
        <p:spPr>
          <a:xfrm>
            <a:off x="3369812" y="2352044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87" name="Ellipse 157">
            <a:extLst>
              <a:ext uri="{FF2B5EF4-FFF2-40B4-BE49-F238E27FC236}">
                <a16:creationId xmlns:a16="http://schemas.microsoft.com/office/drawing/2014/main" id="{8FB9390D-A9B9-5B7F-C072-0A5824EE9DCC}"/>
              </a:ext>
            </a:extLst>
          </p:cNvPr>
          <p:cNvSpPr/>
          <p:nvPr/>
        </p:nvSpPr>
        <p:spPr>
          <a:xfrm>
            <a:off x="4101382" y="3072410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8" name="TextBox 102">
            <a:extLst>
              <a:ext uri="{FF2B5EF4-FFF2-40B4-BE49-F238E27FC236}">
                <a16:creationId xmlns:a16="http://schemas.microsoft.com/office/drawing/2014/main" id="{705854FB-7872-1CD0-285C-E6E1CE1C08E7}"/>
              </a:ext>
            </a:extLst>
          </p:cNvPr>
          <p:cNvSpPr txBox="1"/>
          <p:nvPr/>
        </p:nvSpPr>
        <p:spPr>
          <a:xfrm>
            <a:off x="3670949" y="2545617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  <p:sp>
        <p:nvSpPr>
          <p:cNvPr id="89" name="TextBox 102">
            <a:extLst>
              <a:ext uri="{FF2B5EF4-FFF2-40B4-BE49-F238E27FC236}">
                <a16:creationId xmlns:a16="http://schemas.microsoft.com/office/drawing/2014/main" id="{23238538-7A4C-7311-DB15-97AA131BBA54}"/>
              </a:ext>
            </a:extLst>
          </p:cNvPr>
          <p:cNvSpPr txBox="1"/>
          <p:nvPr/>
        </p:nvSpPr>
        <p:spPr>
          <a:xfrm rot="20415643">
            <a:off x="3697393" y="2780394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90" name="Freeform: Shape 107">
            <a:extLst>
              <a:ext uri="{FF2B5EF4-FFF2-40B4-BE49-F238E27FC236}">
                <a16:creationId xmlns:a16="http://schemas.microsoft.com/office/drawing/2014/main" id="{34B50ED7-0E5B-10DB-B3D5-5F5BBFF5885D}"/>
              </a:ext>
            </a:extLst>
          </p:cNvPr>
          <p:cNvSpPr/>
          <p:nvPr/>
        </p:nvSpPr>
        <p:spPr>
          <a:xfrm rot="11136774" flipV="1">
            <a:off x="3979801" y="2740040"/>
            <a:ext cx="254726" cy="301524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1" name="TextBox 102">
            <a:extLst>
              <a:ext uri="{FF2B5EF4-FFF2-40B4-BE49-F238E27FC236}">
                <a16:creationId xmlns:a16="http://schemas.microsoft.com/office/drawing/2014/main" id="{5C47D0B7-6D5A-E7AB-3248-9FB5E3089DA1}"/>
              </a:ext>
            </a:extLst>
          </p:cNvPr>
          <p:cNvSpPr txBox="1"/>
          <p:nvPr/>
        </p:nvSpPr>
        <p:spPr>
          <a:xfrm>
            <a:off x="4580622" y="2378101"/>
            <a:ext cx="351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92" name="Freeform: Shape 107">
            <a:extLst>
              <a:ext uri="{FF2B5EF4-FFF2-40B4-BE49-F238E27FC236}">
                <a16:creationId xmlns:a16="http://schemas.microsoft.com/office/drawing/2014/main" id="{9E96642B-B177-C008-C085-C4548B9A96E0}"/>
              </a:ext>
            </a:extLst>
          </p:cNvPr>
          <p:cNvSpPr/>
          <p:nvPr/>
        </p:nvSpPr>
        <p:spPr>
          <a:xfrm rot="10973339" flipV="1">
            <a:off x="4996265" y="1447213"/>
            <a:ext cx="1081545" cy="134681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3" name="TextBox 102">
            <a:extLst>
              <a:ext uri="{FF2B5EF4-FFF2-40B4-BE49-F238E27FC236}">
                <a16:creationId xmlns:a16="http://schemas.microsoft.com/office/drawing/2014/main" id="{297CB3DB-8DE6-948C-56CF-EF02D4543C21}"/>
              </a:ext>
            </a:extLst>
          </p:cNvPr>
          <p:cNvSpPr txBox="1"/>
          <p:nvPr/>
        </p:nvSpPr>
        <p:spPr>
          <a:xfrm rot="420172">
            <a:off x="5329328" y="1243665"/>
            <a:ext cx="452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94" name="Ellipse 169">
            <a:extLst>
              <a:ext uri="{FF2B5EF4-FFF2-40B4-BE49-F238E27FC236}">
                <a16:creationId xmlns:a16="http://schemas.microsoft.com/office/drawing/2014/main" id="{C2C7E40D-9399-BC22-08CF-3349E4054AA7}"/>
              </a:ext>
            </a:extLst>
          </p:cNvPr>
          <p:cNvSpPr/>
          <p:nvPr/>
        </p:nvSpPr>
        <p:spPr>
          <a:xfrm>
            <a:off x="6184438" y="1563585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95" name="Freeform: Shape 107">
            <a:extLst>
              <a:ext uri="{FF2B5EF4-FFF2-40B4-BE49-F238E27FC236}">
                <a16:creationId xmlns:a16="http://schemas.microsoft.com/office/drawing/2014/main" id="{DC80175A-AA2C-C242-341C-44079668CE5D}"/>
              </a:ext>
            </a:extLst>
          </p:cNvPr>
          <p:cNvSpPr/>
          <p:nvPr/>
        </p:nvSpPr>
        <p:spPr>
          <a:xfrm rot="4596938" flipV="1">
            <a:off x="5861392" y="1679326"/>
            <a:ext cx="254726" cy="301524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97" name="TextBox 102">
            <a:extLst>
              <a:ext uri="{FF2B5EF4-FFF2-40B4-BE49-F238E27FC236}">
                <a16:creationId xmlns:a16="http://schemas.microsoft.com/office/drawing/2014/main" id="{77BE993D-55D9-249D-A638-3934CB961976}"/>
              </a:ext>
            </a:extLst>
          </p:cNvPr>
          <p:cNvSpPr txBox="1"/>
          <p:nvPr/>
        </p:nvSpPr>
        <p:spPr>
          <a:xfrm>
            <a:off x="5394088" y="1558800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  <p:sp>
        <p:nvSpPr>
          <p:cNvPr id="98" name="TextBox 102">
            <a:extLst>
              <a:ext uri="{FF2B5EF4-FFF2-40B4-BE49-F238E27FC236}">
                <a16:creationId xmlns:a16="http://schemas.microsoft.com/office/drawing/2014/main" id="{8E1F2E4B-EA79-AF8A-A1D8-7C83EB2A6EDF}"/>
              </a:ext>
            </a:extLst>
          </p:cNvPr>
          <p:cNvSpPr txBox="1"/>
          <p:nvPr/>
        </p:nvSpPr>
        <p:spPr>
          <a:xfrm rot="709916">
            <a:off x="5749731" y="1883562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7039A45-D38F-2C6A-E080-CF0941CB6574}"/>
              </a:ext>
            </a:extLst>
          </p:cNvPr>
          <p:cNvSpPr txBox="1"/>
          <p:nvPr/>
        </p:nvSpPr>
        <p:spPr>
          <a:xfrm>
            <a:off x="7409078" y="1577303"/>
            <a:ext cx="3789410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The anti-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28589" indent="-128589">
              <a:buFontTx/>
              <a:buChar char="-"/>
            </a:pP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Subscribes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to as 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 brokers as 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The brokers might be “linked” to a WIS2node, a Global Cache or another Global Broker</a:t>
            </a:r>
          </a:p>
          <a:p>
            <a:pPr marL="128589" indent="-128589">
              <a:buFontTx/>
              <a:buChar char="-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Publishes only to its Global Broker 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publication to the local Global Broker only occurs if the “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of the message is unknown to the “anti-loop system” of the particular Global Broker.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ensures that the subscribers to the Global Brokers will only see each message only once per Global Broker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is positioned by the originating center or the cache after having downloaded and stored the data.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is a unique identifier (a UUID) to enable the anti-loop mechanism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Therefore, the same data/file will be “linked” to various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(origin and one per cache)</a:t>
            </a:r>
          </a:p>
        </p:txBody>
      </p:sp>
      <p:sp>
        <p:nvSpPr>
          <p:cNvPr id="100" name="Freeform: Shape 107">
            <a:extLst>
              <a:ext uri="{FF2B5EF4-FFF2-40B4-BE49-F238E27FC236}">
                <a16:creationId xmlns:a16="http://schemas.microsoft.com/office/drawing/2014/main" id="{B4F6DC95-C767-FC51-BB51-0E84178D6A12}"/>
              </a:ext>
            </a:extLst>
          </p:cNvPr>
          <p:cNvSpPr/>
          <p:nvPr/>
        </p:nvSpPr>
        <p:spPr>
          <a:xfrm rot="16866429" flipV="1">
            <a:off x="6364460" y="2569718"/>
            <a:ext cx="749756" cy="131948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1" name="TextBox 102">
            <a:extLst>
              <a:ext uri="{FF2B5EF4-FFF2-40B4-BE49-F238E27FC236}">
                <a16:creationId xmlns:a16="http://schemas.microsoft.com/office/drawing/2014/main" id="{42C2BAAB-8AFE-3E8C-239E-5EF054A6CDB2}"/>
              </a:ext>
            </a:extLst>
          </p:cNvPr>
          <p:cNvSpPr txBox="1"/>
          <p:nvPr/>
        </p:nvSpPr>
        <p:spPr>
          <a:xfrm rot="420172">
            <a:off x="6636040" y="2754176"/>
            <a:ext cx="452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02" name="Ellipse 178">
            <a:extLst>
              <a:ext uri="{FF2B5EF4-FFF2-40B4-BE49-F238E27FC236}">
                <a16:creationId xmlns:a16="http://schemas.microsoft.com/office/drawing/2014/main" id="{F3D45F52-D174-C0D1-AA61-6767F454FD02}"/>
              </a:ext>
            </a:extLst>
          </p:cNvPr>
          <p:cNvSpPr/>
          <p:nvPr/>
        </p:nvSpPr>
        <p:spPr>
          <a:xfrm>
            <a:off x="6362512" y="3012889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D352DA0-BB38-CF6A-0DB9-3D82782BF953}"/>
              </a:ext>
            </a:extLst>
          </p:cNvPr>
          <p:cNvSpPr txBox="1"/>
          <p:nvPr/>
        </p:nvSpPr>
        <p:spPr>
          <a:xfrm>
            <a:off x="5687050" y="2823780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104" name="Freeform: Shape 107">
            <a:extLst>
              <a:ext uri="{FF2B5EF4-FFF2-40B4-BE49-F238E27FC236}">
                <a16:creationId xmlns:a16="http://schemas.microsoft.com/office/drawing/2014/main" id="{9D86CCAF-A8A5-A40E-D029-7031AC4C5CD4}"/>
              </a:ext>
            </a:extLst>
          </p:cNvPr>
          <p:cNvSpPr/>
          <p:nvPr/>
        </p:nvSpPr>
        <p:spPr>
          <a:xfrm rot="10160964" flipV="1">
            <a:off x="5976145" y="2794034"/>
            <a:ext cx="254726" cy="301524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5" name="Freeform: Shape 107">
            <a:extLst>
              <a:ext uri="{FF2B5EF4-FFF2-40B4-BE49-F238E27FC236}">
                <a16:creationId xmlns:a16="http://schemas.microsoft.com/office/drawing/2014/main" id="{0D8F7BFA-E104-6EFB-0995-BCFFA8420F12}"/>
              </a:ext>
            </a:extLst>
          </p:cNvPr>
          <p:cNvSpPr/>
          <p:nvPr/>
        </p:nvSpPr>
        <p:spPr>
          <a:xfrm rot="16200000" flipV="1">
            <a:off x="6165409" y="4034977"/>
            <a:ext cx="626452" cy="156960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6" name="TextBox 102">
            <a:extLst>
              <a:ext uri="{FF2B5EF4-FFF2-40B4-BE49-F238E27FC236}">
                <a16:creationId xmlns:a16="http://schemas.microsoft.com/office/drawing/2014/main" id="{E4FB3D59-1DEB-332B-FF21-F9E45F5477FA}"/>
              </a:ext>
            </a:extLst>
          </p:cNvPr>
          <p:cNvSpPr txBox="1"/>
          <p:nvPr/>
        </p:nvSpPr>
        <p:spPr>
          <a:xfrm>
            <a:off x="6534513" y="4019773"/>
            <a:ext cx="351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07" name="Freeform: Shape 107">
            <a:extLst>
              <a:ext uri="{FF2B5EF4-FFF2-40B4-BE49-F238E27FC236}">
                <a16:creationId xmlns:a16="http://schemas.microsoft.com/office/drawing/2014/main" id="{BE4FF78D-C54E-7FAD-8F10-4F101307EF99}"/>
              </a:ext>
            </a:extLst>
          </p:cNvPr>
          <p:cNvSpPr/>
          <p:nvPr/>
        </p:nvSpPr>
        <p:spPr>
          <a:xfrm rot="19859486">
            <a:off x="3258232" y="4005874"/>
            <a:ext cx="2749164" cy="260599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08" name="TextBox 102">
            <a:extLst>
              <a:ext uri="{FF2B5EF4-FFF2-40B4-BE49-F238E27FC236}">
                <a16:creationId xmlns:a16="http://schemas.microsoft.com/office/drawing/2014/main" id="{087EFE07-C49A-40D6-DAB9-5579F4D83F05}"/>
              </a:ext>
            </a:extLst>
          </p:cNvPr>
          <p:cNvSpPr txBox="1"/>
          <p:nvPr/>
        </p:nvSpPr>
        <p:spPr>
          <a:xfrm>
            <a:off x="4371899" y="3742952"/>
            <a:ext cx="5366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09" name="Freeform: Shape 107">
            <a:extLst>
              <a:ext uri="{FF2B5EF4-FFF2-40B4-BE49-F238E27FC236}">
                <a16:creationId xmlns:a16="http://schemas.microsoft.com/office/drawing/2014/main" id="{4085B3FC-DD65-3D15-19DC-01A601C5D7F1}"/>
              </a:ext>
            </a:extLst>
          </p:cNvPr>
          <p:cNvSpPr/>
          <p:nvPr/>
        </p:nvSpPr>
        <p:spPr>
          <a:xfrm rot="13272779" flipV="1">
            <a:off x="4946719" y="2180236"/>
            <a:ext cx="1649930" cy="329991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0" name="TextBox 102">
            <a:extLst>
              <a:ext uri="{FF2B5EF4-FFF2-40B4-BE49-F238E27FC236}">
                <a16:creationId xmlns:a16="http://schemas.microsoft.com/office/drawing/2014/main" id="{BDFFD6F1-AFDD-BB7F-B115-28632888B182}"/>
              </a:ext>
            </a:extLst>
          </p:cNvPr>
          <p:cNvSpPr txBox="1"/>
          <p:nvPr/>
        </p:nvSpPr>
        <p:spPr>
          <a:xfrm rot="1006579">
            <a:off x="5054058" y="1968478"/>
            <a:ext cx="4527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11" name="Forme libre 20">
            <a:extLst>
              <a:ext uri="{FF2B5EF4-FFF2-40B4-BE49-F238E27FC236}">
                <a16:creationId xmlns:a16="http://schemas.microsoft.com/office/drawing/2014/main" id="{4EAE9E79-A021-9CD8-53B9-ACC989A411CF}"/>
              </a:ext>
            </a:extLst>
          </p:cNvPr>
          <p:cNvSpPr/>
          <p:nvPr/>
        </p:nvSpPr>
        <p:spPr>
          <a:xfrm>
            <a:off x="4228652" y="3702456"/>
            <a:ext cx="1678406" cy="1615240"/>
          </a:xfrm>
          <a:custGeom>
            <a:avLst/>
            <a:gdLst>
              <a:gd name="connsiteX0" fmla="*/ 0 w 2237874"/>
              <a:gd name="connsiteY0" fmla="*/ 2153653 h 2153653"/>
              <a:gd name="connsiteX1" fmla="*/ 890337 w 2237874"/>
              <a:gd name="connsiteY1" fmla="*/ 770021 h 2153653"/>
              <a:gd name="connsiteX2" fmla="*/ 2237874 w 2237874"/>
              <a:gd name="connsiteY2" fmla="*/ 0 h 2153653"/>
              <a:gd name="connsiteX3" fmla="*/ 2237874 w 2237874"/>
              <a:gd name="connsiteY3" fmla="*/ 0 h 2153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7874" h="2153653">
                <a:moveTo>
                  <a:pt x="0" y="2153653"/>
                </a:moveTo>
                <a:cubicBezTo>
                  <a:pt x="258679" y="1641308"/>
                  <a:pt x="517358" y="1128963"/>
                  <a:pt x="890337" y="770021"/>
                </a:cubicBezTo>
                <a:cubicBezTo>
                  <a:pt x="1263316" y="411079"/>
                  <a:pt x="2237874" y="0"/>
                  <a:pt x="2237874" y="0"/>
                </a:cubicBezTo>
                <a:lnTo>
                  <a:pt x="2237874" y="0"/>
                </a:lnTo>
              </a:path>
            </a:pathLst>
          </a:custGeom>
          <a:ln w="19050">
            <a:solidFill>
              <a:srgbClr val="00B05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2" name="TextBox 102">
            <a:extLst>
              <a:ext uri="{FF2B5EF4-FFF2-40B4-BE49-F238E27FC236}">
                <a16:creationId xmlns:a16="http://schemas.microsoft.com/office/drawing/2014/main" id="{5988C8E4-BC29-EF93-5E3D-2591F6E31C3E}"/>
              </a:ext>
            </a:extLst>
          </p:cNvPr>
          <p:cNvSpPr txBox="1"/>
          <p:nvPr/>
        </p:nvSpPr>
        <p:spPr>
          <a:xfrm>
            <a:off x="4721049" y="4302325"/>
            <a:ext cx="5366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13" name="Forme libre 21">
            <a:extLst>
              <a:ext uri="{FF2B5EF4-FFF2-40B4-BE49-F238E27FC236}">
                <a16:creationId xmlns:a16="http://schemas.microsoft.com/office/drawing/2014/main" id="{201708C2-C59C-380D-5C85-411B5A64F056}"/>
              </a:ext>
            </a:extLst>
          </p:cNvPr>
          <p:cNvSpPr/>
          <p:nvPr/>
        </p:nvSpPr>
        <p:spPr>
          <a:xfrm>
            <a:off x="3635290" y="3855858"/>
            <a:ext cx="385818" cy="1425742"/>
          </a:xfrm>
          <a:custGeom>
            <a:avLst/>
            <a:gdLst>
              <a:gd name="connsiteX0" fmla="*/ 514424 w 514424"/>
              <a:gd name="connsiteY0" fmla="*/ 1900989 h 1900989"/>
              <a:gd name="connsiteX1" fmla="*/ 9098 w 514424"/>
              <a:gd name="connsiteY1" fmla="*/ 878305 h 1900989"/>
              <a:gd name="connsiteX2" fmla="*/ 237698 w 514424"/>
              <a:gd name="connsiteY2" fmla="*/ 0 h 19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424" h="1900989">
                <a:moveTo>
                  <a:pt x="514424" y="1900989"/>
                </a:moveTo>
                <a:cubicBezTo>
                  <a:pt x="284821" y="1548062"/>
                  <a:pt x="55219" y="1195136"/>
                  <a:pt x="9098" y="878305"/>
                </a:cubicBezTo>
                <a:cubicBezTo>
                  <a:pt x="-37023" y="561473"/>
                  <a:pt x="100337" y="280736"/>
                  <a:pt x="237698" y="0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4" name="TextBox 102">
            <a:extLst>
              <a:ext uri="{FF2B5EF4-FFF2-40B4-BE49-F238E27FC236}">
                <a16:creationId xmlns:a16="http://schemas.microsoft.com/office/drawing/2014/main" id="{1AEF12CF-D359-C39D-B89F-B6A78855DDC1}"/>
              </a:ext>
            </a:extLst>
          </p:cNvPr>
          <p:cNvSpPr txBox="1"/>
          <p:nvPr/>
        </p:nvSpPr>
        <p:spPr>
          <a:xfrm>
            <a:off x="3552168" y="4014171"/>
            <a:ext cx="5366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15" name="TextBox 102">
            <a:extLst>
              <a:ext uri="{FF2B5EF4-FFF2-40B4-BE49-F238E27FC236}">
                <a16:creationId xmlns:a16="http://schemas.microsoft.com/office/drawing/2014/main" id="{F5C02277-F0A4-340B-1FC7-29F58DE5D0FA}"/>
              </a:ext>
            </a:extLst>
          </p:cNvPr>
          <p:cNvSpPr txBox="1"/>
          <p:nvPr/>
        </p:nvSpPr>
        <p:spPr>
          <a:xfrm>
            <a:off x="6546833" y="3001933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  <p:sp>
        <p:nvSpPr>
          <p:cNvPr id="116" name="Ellipse 193">
            <a:extLst>
              <a:ext uri="{FF2B5EF4-FFF2-40B4-BE49-F238E27FC236}">
                <a16:creationId xmlns:a16="http://schemas.microsoft.com/office/drawing/2014/main" id="{74C049C0-F268-D630-DD4C-74F1458AEEC6}"/>
              </a:ext>
            </a:extLst>
          </p:cNvPr>
          <p:cNvSpPr/>
          <p:nvPr/>
        </p:nvSpPr>
        <p:spPr>
          <a:xfrm>
            <a:off x="3484807" y="3494836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7" name="Freeform: Shape 107">
            <a:extLst>
              <a:ext uri="{FF2B5EF4-FFF2-40B4-BE49-F238E27FC236}">
                <a16:creationId xmlns:a16="http://schemas.microsoft.com/office/drawing/2014/main" id="{29B2237F-7CFE-F495-9F96-4AC3D1075B45}"/>
              </a:ext>
            </a:extLst>
          </p:cNvPr>
          <p:cNvSpPr/>
          <p:nvPr/>
        </p:nvSpPr>
        <p:spPr>
          <a:xfrm rot="7552239" flipV="1">
            <a:off x="2585662" y="3890634"/>
            <a:ext cx="967649" cy="212069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8" name="TextBox 102">
            <a:extLst>
              <a:ext uri="{FF2B5EF4-FFF2-40B4-BE49-F238E27FC236}">
                <a16:creationId xmlns:a16="http://schemas.microsoft.com/office/drawing/2014/main" id="{50512340-1778-E580-8853-830E96D703FC}"/>
              </a:ext>
            </a:extLst>
          </p:cNvPr>
          <p:cNvSpPr txBox="1"/>
          <p:nvPr/>
        </p:nvSpPr>
        <p:spPr>
          <a:xfrm>
            <a:off x="2763322" y="4233065"/>
            <a:ext cx="5366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19" name="Freeform: Shape 107">
            <a:extLst>
              <a:ext uri="{FF2B5EF4-FFF2-40B4-BE49-F238E27FC236}">
                <a16:creationId xmlns:a16="http://schemas.microsoft.com/office/drawing/2014/main" id="{87B9F1D0-90D5-16B7-314F-30E27B3EFAC7}"/>
              </a:ext>
            </a:extLst>
          </p:cNvPr>
          <p:cNvSpPr/>
          <p:nvPr/>
        </p:nvSpPr>
        <p:spPr>
          <a:xfrm rot="1930630" flipV="1">
            <a:off x="3358012" y="3746942"/>
            <a:ext cx="254726" cy="301524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0" name="TextBox 102">
            <a:extLst>
              <a:ext uri="{FF2B5EF4-FFF2-40B4-BE49-F238E27FC236}">
                <a16:creationId xmlns:a16="http://schemas.microsoft.com/office/drawing/2014/main" id="{9BB3A11A-40F9-CDF3-02B0-35E4980D1CC6}"/>
              </a:ext>
            </a:extLst>
          </p:cNvPr>
          <p:cNvSpPr txBox="1"/>
          <p:nvPr/>
        </p:nvSpPr>
        <p:spPr>
          <a:xfrm>
            <a:off x="3095929" y="3780623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121" name="TextBox 102">
            <a:extLst>
              <a:ext uri="{FF2B5EF4-FFF2-40B4-BE49-F238E27FC236}">
                <a16:creationId xmlns:a16="http://schemas.microsoft.com/office/drawing/2014/main" id="{FEF9CE17-EC31-2573-BD32-0C3CAF989F3A}"/>
              </a:ext>
            </a:extLst>
          </p:cNvPr>
          <p:cNvSpPr txBox="1"/>
          <p:nvPr/>
        </p:nvSpPr>
        <p:spPr>
          <a:xfrm>
            <a:off x="3023584" y="3994940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  <p:sp>
        <p:nvSpPr>
          <p:cNvPr id="122" name="Freeform: Shape 107">
            <a:extLst>
              <a:ext uri="{FF2B5EF4-FFF2-40B4-BE49-F238E27FC236}">
                <a16:creationId xmlns:a16="http://schemas.microsoft.com/office/drawing/2014/main" id="{D34CAB0E-A475-A5E6-61BB-9C825574CF3F}"/>
              </a:ext>
            </a:extLst>
          </p:cNvPr>
          <p:cNvSpPr/>
          <p:nvPr/>
        </p:nvSpPr>
        <p:spPr>
          <a:xfrm rot="16200000">
            <a:off x="5707930" y="4177705"/>
            <a:ext cx="500336" cy="46329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3" name="TextBox 102">
            <a:extLst>
              <a:ext uri="{FF2B5EF4-FFF2-40B4-BE49-F238E27FC236}">
                <a16:creationId xmlns:a16="http://schemas.microsoft.com/office/drawing/2014/main" id="{E974C658-C4DB-0A04-92BA-B329ED533876}"/>
              </a:ext>
            </a:extLst>
          </p:cNvPr>
          <p:cNvSpPr txBox="1"/>
          <p:nvPr/>
        </p:nvSpPr>
        <p:spPr>
          <a:xfrm>
            <a:off x="5552953" y="4067569"/>
            <a:ext cx="3513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sub</a:t>
            </a:r>
          </a:p>
        </p:txBody>
      </p:sp>
      <p:sp>
        <p:nvSpPr>
          <p:cNvPr id="124" name="Ellipse 201">
            <a:extLst>
              <a:ext uri="{FF2B5EF4-FFF2-40B4-BE49-F238E27FC236}">
                <a16:creationId xmlns:a16="http://schemas.microsoft.com/office/drawing/2014/main" id="{7B425655-58DA-4D07-6D66-E368A01408DA}"/>
              </a:ext>
            </a:extLst>
          </p:cNvPr>
          <p:cNvSpPr/>
          <p:nvPr/>
        </p:nvSpPr>
        <p:spPr>
          <a:xfrm>
            <a:off x="5958098" y="3653201"/>
            <a:ext cx="239870" cy="239870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25" name="Freeform: Shape 107">
            <a:extLst>
              <a:ext uri="{FF2B5EF4-FFF2-40B4-BE49-F238E27FC236}">
                <a16:creationId xmlns:a16="http://schemas.microsoft.com/office/drawing/2014/main" id="{768FB7C5-FDDA-FD71-DC73-B9F38BB432FB}"/>
              </a:ext>
            </a:extLst>
          </p:cNvPr>
          <p:cNvSpPr/>
          <p:nvPr/>
        </p:nvSpPr>
        <p:spPr>
          <a:xfrm rot="20036918" flipV="1">
            <a:off x="6048821" y="3927874"/>
            <a:ext cx="178764" cy="205427"/>
          </a:xfrm>
          <a:custGeom>
            <a:avLst/>
            <a:gdLst>
              <a:gd name="connsiteX0" fmla="*/ 6985000 w 6985000"/>
              <a:gd name="connsiteY0" fmla="*/ 622344 h 622344"/>
              <a:gd name="connsiteX1" fmla="*/ 3429000 w 6985000"/>
              <a:gd name="connsiteY1" fmla="*/ 44 h 622344"/>
              <a:gd name="connsiteX2" fmla="*/ 0 w 6985000"/>
              <a:gd name="connsiteY2" fmla="*/ 596944 h 622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85000" h="622344">
                <a:moveTo>
                  <a:pt x="6985000" y="622344"/>
                </a:moveTo>
                <a:cubicBezTo>
                  <a:pt x="5789083" y="313310"/>
                  <a:pt x="4593167" y="4277"/>
                  <a:pt x="3429000" y="44"/>
                </a:cubicBezTo>
                <a:cubicBezTo>
                  <a:pt x="2264833" y="-4189"/>
                  <a:pt x="1132416" y="296377"/>
                  <a:pt x="0" y="596944"/>
                </a:cubicBezTo>
              </a:path>
            </a:pathLst>
          </a:custGeom>
          <a:ln w="19050">
            <a:solidFill>
              <a:srgbClr val="00B05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6" name="TextBox 102">
            <a:extLst>
              <a:ext uri="{FF2B5EF4-FFF2-40B4-BE49-F238E27FC236}">
                <a16:creationId xmlns:a16="http://schemas.microsoft.com/office/drawing/2014/main" id="{2030DAA6-DE50-B573-B9F8-C0F9DED5EB56}"/>
              </a:ext>
            </a:extLst>
          </p:cNvPr>
          <p:cNvSpPr txBox="1"/>
          <p:nvPr/>
        </p:nvSpPr>
        <p:spPr>
          <a:xfrm>
            <a:off x="6135120" y="3904762"/>
            <a:ext cx="3674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/>
              <a:t>pub</a:t>
            </a:r>
          </a:p>
        </p:txBody>
      </p:sp>
      <p:sp>
        <p:nvSpPr>
          <p:cNvPr id="127" name="TextBox 102">
            <a:extLst>
              <a:ext uri="{FF2B5EF4-FFF2-40B4-BE49-F238E27FC236}">
                <a16:creationId xmlns:a16="http://schemas.microsoft.com/office/drawing/2014/main" id="{46702A86-1895-64B6-7FEB-4A89FF62F9AC}"/>
              </a:ext>
            </a:extLst>
          </p:cNvPr>
          <p:cNvSpPr txBox="1"/>
          <p:nvPr/>
        </p:nvSpPr>
        <p:spPr>
          <a:xfrm>
            <a:off x="5858559" y="4087202"/>
            <a:ext cx="6238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00" dirty="0">
                <a:solidFill>
                  <a:srgbClr val="FF0000"/>
                </a:solidFill>
              </a:rPr>
              <a:t>Anti-loop</a:t>
            </a:r>
          </a:p>
        </p:txBody>
      </p:sp>
    </p:spTree>
    <p:extLst>
      <p:ext uri="{BB962C8B-B14F-4D97-AF65-F5344CB8AC3E}">
        <p14:creationId xmlns:p14="http://schemas.microsoft.com/office/powerpoint/2010/main" val="2038186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EC51-1A09-D137-36DF-8CDED973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367F9152-7CF6-0ADA-AD4B-4B50139627D9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C694B0-5182-4C26-AA94-73E9383851E2}"/>
              </a:ext>
            </a:extLst>
          </p:cNvPr>
          <p:cNvSpPr txBox="1"/>
          <p:nvPr/>
        </p:nvSpPr>
        <p:spPr>
          <a:xfrm>
            <a:off x="1074319" y="426979"/>
            <a:ext cx="1034415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 example : </a:t>
            </a:r>
            <a:r>
              <a:rPr lang="en-GB" sz="2400" b="1" dirty="0" err="1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Météo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-France setup</a:t>
            </a:r>
          </a:p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85091AB-8E18-4797-FD37-0AFC26A42A07}"/>
              </a:ext>
            </a:extLst>
          </p:cNvPr>
          <p:cNvSpPr txBox="1">
            <a:spLocks noChangeArrowheads="1"/>
          </p:cNvSpPr>
          <p:nvPr/>
        </p:nvSpPr>
        <p:spPr>
          <a:xfrm>
            <a:off x="1414549" y="1036377"/>
            <a:ext cx="8988748" cy="5563723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2400" dirty="0"/>
              <a:t>The Broker</a:t>
            </a:r>
          </a:p>
          <a:p>
            <a:pPr lvl="1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2000" dirty="0"/>
              <a:t>A cluster of 3 instances of </a:t>
            </a:r>
            <a:r>
              <a:rPr lang="en-GB" altLang="en-FR" sz="2000" dirty="0" err="1"/>
              <a:t>VerneMQ</a:t>
            </a:r>
            <a:r>
              <a:rPr lang="en-GB" altLang="en-FR" sz="2000" dirty="0"/>
              <a:t> broker running on EWC</a:t>
            </a:r>
          </a:p>
          <a:p>
            <a:pPr lvl="2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1600" dirty="0" err="1"/>
              <a:t>VerneMQ</a:t>
            </a:r>
            <a:r>
              <a:rPr lang="en-GB" altLang="en-FR" sz="1600" dirty="0"/>
              <a:t> is one of the state of the art MQTT broker</a:t>
            </a:r>
          </a:p>
          <a:p>
            <a:pPr lvl="2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1600" dirty="0"/>
              <a:t>Implemented in Erlang</a:t>
            </a:r>
          </a:p>
          <a:p>
            <a:pPr lvl="2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1600" dirty="0"/>
              <a:t>Having clustering capabilities</a:t>
            </a:r>
          </a:p>
          <a:p>
            <a:pPr lvl="2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1600" dirty="0"/>
              <a:t>MQTT 3.1.1 and MQTT 5.0 compliant</a:t>
            </a:r>
          </a:p>
          <a:p>
            <a:pPr lvl="1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2000" dirty="0"/>
              <a:t>Only the anti-loop software is </a:t>
            </a:r>
            <a:r>
              <a:rPr lang="en-GB" altLang="en-FR" sz="2000" u="sng" dirty="0"/>
              <a:t>publishing</a:t>
            </a:r>
            <a:r>
              <a:rPr lang="en-GB" altLang="en-FR" sz="2000" dirty="0"/>
              <a:t> to it</a:t>
            </a:r>
          </a:p>
          <a:p>
            <a:pPr lvl="1"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2000" dirty="0"/>
              <a:t>All interested clients are </a:t>
            </a:r>
            <a:r>
              <a:rPr lang="en-GB" altLang="en-FR" sz="2000" u="sng" dirty="0"/>
              <a:t>subscribing</a:t>
            </a:r>
            <a:r>
              <a:rPr lang="en-GB" altLang="en-FR" sz="2000" dirty="0"/>
              <a:t> to the broker</a:t>
            </a:r>
          </a:p>
          <a:p>
            <a:pPr>
              <a:buClr>
                <a:schemeClr val="tx1"/>
              </a:buClr>
              <a:buSzPct val="100000"/>
              <a:tabLst>
                <a:tab pos="449216" algn="l"/>
                <a:tab pos="898432" algn="l"/>
                <a:tab pos="1347648" algn="l"/>
                <a:tab pos="1796864" algn="l"/>
                <a:tab pos="2246081" algn="l"/>
                <a:tab pos="2695295" algn="l"/>
                <a:tab pos="3144512" algn="l"/>
                <a:tab pos="3593727" algn="l"/>
                <a:tab pos="4042944" algn="l"/>
                <a:tab pos="4492159" algn="l"/>
                <a:tab pos="4941376" algn="l"/>
                <a:tab pos="5390591" algn="l"/>
                <a:tab pos="5839808" algn="l"/>
                <a:tab pos="6289023" algn="l"/>
                <a:tab pos="6738240" algn="l"/>
                <a:tab pos="7187455" algn="l"/>
                <a:tab pos="7636672" algn="l"/>
                <a:tab pos="8085886" algn="l"/>
                <a:tab pos="8535103" algn="l"/>
              </a:tabLst>
            </a:pPr>
            <a:r>
              <a:rPr lang="en-GB" altLang="en-FR" sz="2400" dirty="0"/>
              <a:t>The minimalist anti-loop function:</a:t>
            </a:r>
          </a:p>
        </p:txBody>
      </p:sp>
      <p:pic>
        <p:nvPicPr>
          <p:cNvPr id="8" name="Picture 7" descr="Timeline&#10;&#10;Description automatically generated with low confidence">
            <a:extLst>
              <a:ext uri="{FF2B5EF4-FFF2-40B4-BE49-F238E27FC236}">
                <a16:creationId xmlns:a16="http://schemas.microsoft.com/office/drawing/2014/main" id="{3B90118C-0EA2-C0E6-9188-1216B2D5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67" y="4415300"/>
            <a:ext cx="9676384" cy="176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02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B215-5BF9-C384-41B8-4FDAEA43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9FA6692C-E97E-6D9C-0F3C-050FA514E594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09418-05D1-FAB3-6807-19EE291937A8}"/>
              </a:ext>
            </a:extLst>
          </p:cNvPr>
          <p:cNvSpPr txBox="1"/>
          <p:nvPr/>
        </p:nvSpPr>
        <p:spPr>
          <a:xfrm>
            <a:off x="1034896" y="105281"/>
            <a:ext cx="103441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 err="1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geoJSON</a:t>
            </a:r>
            <a:endParaRPr lang="en-GB" sz="2400" b="1" dirty="0">
              <a:solidFill>
                <a:srgbClr val="005BAA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AA03B-3D36-76B0-C044-B52000A63DE6}"/>
              </a:ext>
            </a:extLst>
          </p:cNvPr>
          <p:cNvSpPr txBox="1"/>
          <p:nvPr/>
        </p:nvSpPr>
        <p:spPr>
          <a:xfrm>
            <a:off x="221942" y="659134"/>
            <a:ext cx="1197005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GeoJSON</a:t>
            </a:r>
            <a:r>
              <a:rPr lang="en-GB" dirty="0"/>
              <a:t> is a standard format for encoding geographic data structures using JSON (JavaScript Object Notation). </a:t>
            </a:r>
          </a:p>
          <a:p>
            <a:endParaRPr lang="en-GB" dirty="0"/>
          </a:p>
          <a:p>
            <a:r>
              <a:rPr lang="en-GB" b="1" dirty="0"/>
              <a:t>What it is</a:t>
            </a:r>
            <a:r>
              <a:rPr lang="en-GB" dirty="0"/>
              <a:t>: </a:t>
            </a:r>
            <a:r>
              <a:rPr lang="en-GB" dirty="0" err="1"/>
              <a:t>GeoJSON</a:t>
            </a:r>
            <a:r>
              <a:rPr lang="en-GB" dirty="0"/>
              <a:t> represents geographical features like points, lines, polygons, and multi-part collections along with their properties. It's built on JSON, making it lightweight, text-based, and human-readable while maintaining machine-</a:t>
            </a:r>
            <a:r>
              <a:rPr lang="en-GB" dirty="0" err="1"/>
              <a:t>parseable</a:t>
            </a:r>
            <a:r>
              <a:rPr lang="en-GB" dirty="0"/>
              <a:t> structure.</a:t>
            </a:r>
          </a:p>
          <a:p>
            <a:endParaRPr lang="en-GB" dirty="0"/>
          </a:p>
          <a:p>
            <a:r>
              <a:rPr lang="en-GB" b="1" dirty="0"/>
              <a:t>Simplicity</a:t>
            </a:r>
            <a:r>
              <a:rPr lang="en-GB" dirty="0"/>
              <a:t>: Unlike complex GIS formats (Shapefiles, KML), </a:t>
            </a:r>
            <a:r>
              <a:rPr lang="en-GB" dirty="0" err="1"/>
              <a:t>GeoJSON</a:t>
            </a:r>
            <a:r>
              <a:rPr lang="en-GB" dirty="0"/>
              <a:t> uses familiar JSON syntax that web developers already know. A point location is simply {"type": "Point", "coordinates": [-122.4, 37.8]}, making it easy to create, read, and debug.</a:t>
            </a:r>
          </a:p>
          <a:p>
            <a:endParaRPr lang="en-GB" dirty="0"/>
          </a:p>
          <a:p>
            <a:r>
              <a:rPr lang="en-GB" b="1" dirty="0"/>
              <a:t>Web-native</a:t>
            </a:r>
            <a:r>
              <a:rPr lang="en-GB" dirty="0"/>
              <a:t>: </a:t>
            </a:r>
            <a:r>
              <a:rPr lang="en-GB" dirty="0" err="1"/>
              <a:t>GeoJSON</a:t>
            </a:r>
            <a:r>
              <a:rPr lang="en-GB" dirty="0"/>
              <a:t> integrates seamlessly with web technologies—JavaScript can parse it natively without special libraries, REST APIs can serve it directly, and modern web mapping libraries (Leaflet, </a:t>
            </a:r>
            <a:r>
              <a:rPr lang="en-GB" dirty="0" err="1"/>
              <a:t>Mapbox</a:t>
            </a:r>
            <a:r>
              <a:rPr lang="en-GB" dirty="0"/>
              <a:t>, </a:t>
            </a:r>
            <a:r>
              <a:rPr lang="en-GB" dirty="0" err="1"/>
              <a:t>OpenLayers</a:t>
            </a:r>
            <a:r>
              <a:rPr lang="en-GB" dirty="0"/>
              <a:t>) support it out-of-the-box.</a:t>
            </a:r>
          </a:p>
          <a:p>
            <a:endParaRPr lang="en-GB" dirty="0"/>
          </a:p>
          <a:p>
            <a:r>
              <a:rPr lang="en-GB" b="1" dirty="0"/>
              <a:t>Interoperability</a:t>
            </a:r>
            <a:r>
              <a:rPr lang="en-GB" dirty="0"/>
              <a:t>: It's an open standard (RFC 7946) supported across the entire geospatial ecosystem—from QGIS and ArcGIS to </a:t>
            </a:r>
            <a:r>
              <a:rPr lang="en-GB" dirty="0" err="1"/>
              <a:t>PostGIS</a:t>
            </a:r>
            <a:r>
              <a:rPr lang="en-GB" dirty="0"/>
              <a:t> databases and cloud platforms. This universal support eliminates format conversion headaches.</a:t>
            </a:r>
          </a:p>
          <a:p>
            <a:endParaRPr lang="en-GB" dirty="0"/>
          </a:p>
          <a:p>
            <a:r>
              <a:rPr lang="en-GB" b="1" dirty="0"/>
              <a:t>Lightweight</a:t>
            </a:r>
            <a:r>
              <a:rPr lang="en-GB" dirty="0"/>
              <a:t>: </a:t>
            </a:r>
            <a:r>
              <a:rPr lang="en-GB" dirty="0" err="1"/>
              <a:t>GeoJSON</a:t>
            </a:r>
            <a:r>
              <a:rPr lang="en-GB" dirty="0"/>
              <a:t> files are typically smaller than XML-based formats like KML, reducing bandwidth usage and speeding up data transfer—critical for web applications and mobile devices with limited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423253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5D5C6-DF5A-5B25-FE8C-218036AB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3DA8BF05-2C25-B6E5-4FA0-940E286DE182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378B29-80EA-BB89-E100-C54CCB02A726}"/>
              </a:ext>
            </a:extLst>
          </p:cNvPr>
          <p:cNvSpPr txBox="1"/>
          <p:nvPr/>
        </p:nvSpPr>
        <p:spPr>
          <a:xfrm>
            <a:off x="1074319" y="333654"/>
            <a:ext cx="1034415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WIS2 Notification Message</a:t>
            </a:r>
          </a:p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046CD-E60C-6468-7DE0-77607A710A4A}"/>
              </a:ext>
            </a:extLst>
          </p:cNvPr>
          <p:cNvSpPr txBox="1"/>
          <p:nvPr/>
        </p:nvSpPr>
        <p:spPr>
          <a:xfrm>
            <a:off x="221942" y="811628"/>
            <a:ext cx="11970058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"b51ddf4f-5749-4148-a7cd-9b6f6aa4df19",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"Feature",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"http://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/1/conf/core"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"geometry":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"coordinates": [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6.07344,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50.51078,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673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"type": "Point"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"properties":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data_id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be-rmib:hourly-synop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/WIGOS_0-20000-0-06494_20260320T070000",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pubtime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"2026-03-20T07:08:11Z",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"integrity":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"method": "sha512",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"value": "IjMq4LWxxI4mzSxlzu+nEm6pjU+6se+fVMElIPf7TzPOL469jCuJaATpoGZumLkNuqt1hcebIUceI6GPmrYCag=="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"links": [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"canonical",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"type": "application/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bufr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"https://wis2node.meteo.be/data/2026-03-20/wis/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urn:wmo:md:be-rmib:hourly-synop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/WIGOS_0-20000-0-06494_20260320T070000.bufr4",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"length": 399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178920-4B36-F871-1F37-9CE5EEB074B0}"/>
              </a:ext>
            </a:extLst>
          </p:cNvPr>
          <p:cNvGrpSpPr/>
          <p:nvPr/>
        </p:nvGrpSpPr>
        <p:grpSpPr>
          <a:xfrm>
            <a:off x="433358" y="870661"/>
            <a:ext cx="10684323" cy="584775"/>
            <a:chOff x="433358" y="870661"/>
            <a:chExt cx="10684323" cy="5847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464B77-B129-0918-FCCB-C86953FD045E}"/>
                </a:ext>
              </a:extLst>
            </p:cNvPr>
            <p:cNvSpPr/>
            <p:nvPr/>
          </p:nvSpPr>
          <p:spPr>
            <a:xfrm>
              <a:off x="433358" y="971930"/>
              <a:ext cx="3881189" cy="208918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8AC535-7D6D-DEBD-AD66-400E1F177168}"/>
                </a:ext>
              </a:extLst>
            </p:cNvPr>
            <p:cNvSpPr txBox="1"/>
            <p:nvPr/>
          </p:nvSpPr>
          <p:spPr>
            <a:xfrm>
              <a:off x="5166924" y="870661"/>
              <a:ext cx="5950757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This is the unique identifier for each WNM on WIS 2.0. This is the </a:t>
              </a:r>
              <a:r>
                <a:rPr lang="en-GB" sz="1600" i="1" dirty="0"/>
                <a:t>id</a:t>
              </a:r>
              <a:r>
                <a:rPr lang="en-GB" sz="1600" dirty="0"/>
                <a:t> used by GBs to deduplicate messages. It is a UUID (RFC 9562)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3C9525A-B495-965A-45A5-CF70F27A9AC7}"/>
                </a:ext>
              </a:extLst>
            </p:cNvPr>
            <p:cNvCxnSpPr/>
            <p:nvPr/>
          </p:nvCxnSpPr>
          <p:spPr>
            <a:xfrm flipH="1">
              <a:off x="4419600" y="1075267"/>
              <a:ext cx="635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CF5F7F-82D0-60DB-E542-CF28C71B23EA}"/>
              </a:ext>
            </a:extLst>
          </p:cNvPr>
          <p:cNvGrpSpPr/>
          <p:nvPr/>
        </p:nvGrpSpPr>
        <p:grpSpPr>
          <a:xfrm>
            <a:off x="433359" y="1180848"/>
            <a:ext cx="10029184" cy="2016524"/>
            <a:chOff x="433359" y="1180848"/>
            <a:chExt cx="10029184" cy="201652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BE1E60B-9C89-B8F6-B233-87D383313B4E}"/>
                </a:ext>
              </a:extLst>
            </p:cNvPr>
            <p:cNvSpPr/>
            <p:nvPr/>
          </p:nvSpPr>
          <p:spPr>
            <a:xfrm>
              <a:off x="433359" y="1853023"/>
              <a:ext cx="1716389" cy="134434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578562-2D13-84F5-D42C-EA4E3BFE08DB}"/>
                </a:ext>
              </a:extLst>
            </p:cNvPr>
            <p:cNvSpPr/>
            <p:nvPr/>
          </p:nvSpPr>
          <p:spPr>
            <a:xfrm>
              <a:off x="433359" y="1180848"/>
              <a:ext cx="3881189" cy="672175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0FB0E1-026C-9B2D-39CB-FB2A19E88DFE}"/>
                </a:ext>
              </a:extLst>
            </p:cNvPr>
            <p:cNvSpPr txBox="1"/>
            <p:nvPr/>
          </p:nvSpPr>
          <p:spPr>
            <a:xfrm>
              <a:off x="4419600" y="1692998"/>
              <a:ext cx="6042943" cy="5847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type</a:t>
              </a:r>
              <a:r>
                <a:rPr lang="en-GB" sz="1600" dirty="0"/>
                <a:t>,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conformsTo</a:t>
              </a:r>
              <a:r>
                <a:rPr lang="en-GB" sz="1600" dirty="0"/>
                <a:t>,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GB" sz="1600" dirty="0"/>
                <a:t> are all mandatory.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geometry</a:t>
              </a:r>
              <a:r>
                <a:rPr lang="en-GB" sz="1600" dirty="0"/>
                <a:t> can be </a:t>
              </a:r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null</a:t>
              </a:r>
              <a:r>
                <a:rPr lang="en-GB" sz="1600" dirty="0"/>
                <a:t> or provide a location for the product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5117DC7-D356-900E-CBD3-9BE4DFEABA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4962" y="2061941"/>
              <a:ext cx="819585" cy="2158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28D94FE-D75D-EAB3-A853-49FA5C23CE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27400" y="1985043"/>
              <a:ext cx="987147" cy="704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9CBAFA-33BF-9D2B-8620-A7DD8BCE3C4B}"/>
              </a:ext>
            </a:extLst>
          </p:cNvPr>
          <p:cNvGrpSpPr/>
          <p:nvPr/>
        </p:nvGrpSpPr>
        <p:grpSpPr>
          <a:xfrm>
            <a:off x="433358" y="2316279"/>
            <a:ext cx="11358451" cy="2225442"/>
            <a:chOff x="433358" y="2316279"/>
            <a:chExt cx="11358451" cy="222544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705B39-167F-E94E-880C-E44C9B7CA437}"/>
                </a:ext>
              </a:extLst>
            </p:cNvPr>
            <p:cNvSpPr/>
            <p:nvPr/>
          </p:nvSpPr>
          <p:spPr>
            <a:xfrm>
              <a:off x="433358" y="3197372"/>
              <a:ext cx="8740920" cy="134434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0B8C70-0040-7F16-4AB3-CC334EF6C27C}"/>
                </a:ext>
              </a:extLst>
            </p:cNvPr>
            <p:cNvSpPr txBox="1"/>
            <p:nvPr/>
          </p:nvSpPr>
          <p:spPr>
            <a:xfrm>
              <a:off x="5748866" y="2316279"/>
              <a:ext cx="6042943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properties</a:t>
              </a:r>
              <a:r>
                <a:rPr lang="en-GB" sz="1600" dirty="0"/>
                <a:t> is mandatory. It has some mandatory elements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data_id</a:t>
              </a:r>
              <a:r>
                <a:rPr lang="en-GB" sz="1600" dirty="0"/>
                <a:t>,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pubtime</a:t>
              </a:r>
              <a:r>
                <a:rPr lang="en-GB" sz="1600" dirty="0"/>
                <a:t> and some possible additions. It is also extensible to provide </a:t>
              </a:r>
              <a:r>
                <a:rPr lang="en-GB" sz="1600" dirty="0" err="1"/>
                <a:t>eg.</a:t>
              </a:r>
              <a:r>
                <a:rPr lang="en-GB" sz="1600" dirty="0"/>
                <a:t> client-side filtering... 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9F8D111-9C2C-4E64-2072-6C762FA054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54600" y="2755747"/>
              <a:ext cx="584200" cy="3349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C39CA49-D6B3-1691-F0DE-DB32F3E02CEC}"/>
              </a:ext>
            </a:extLst>
          </p:cNvPr>
          <p:cNvGrpSpPr/>
          <p:nvPr/>
        </p:nvGrpSpPr>
        <p:grpSpPr>
          <a:xfrm>
            <a:off x="433358" y="4541721"/>
            <a:ext cx="11536700" cy="1781135"/>
            <a:chOff x="433358" y="4541721"/>
            <a:chExt cx="11536700" cy="17811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501D91-E5E8-A3FB-8B0A-DD942138D191}"/>
                </a:ext>
              </a:extLst>
            </p:cNvPr>
            <p:cNvSpPr/>
            <p:nvPr/>
          </p:nvSpPr>
          <p:spPr>
            <a:xfrm>
              <a:off x="433358" y="4541721"/>
              <a:ext cx="11536700" cy="1344349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36E7A4-94F7-4879-C54A-1D3A3EC346E0}"/>
                </a:ext>
              </a:extLst>
            </p:cNvPr>
            <p:cNvSpPr txBox="1"/>
            <p:nvPr/>
          </p:nvSpPr>
          <p:spPr>
            <a:xfrm>
              <a:off x="3494962" y="5984302"/>
              <a:ext cx="8464409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links</a:t>
              </a:r>
              <a:r>
                <a:rPr lang="en-GB" sz="1600" dirty="0"/>
                <a:t> is mandatory. It provides, </a:t>
              </a:r>
              <a:r>
                <a:rPr lang="en-GB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href</a:t>
              </a:r>
              <a:r>
                <a:rPr lang="en-GB" sz="1600" dirty="0"/>
                <a:t> to get access to the data granule.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05A2364-B9F0-3936-B75E-9FC3EDF30F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9467" y="5984302"/>
              <a:ext cx="491066" cy="1347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FE28B1F-F9CA-1FF2-A400-15057D77AB07}"/>
              </a:ext>
            </a:extLst>
          </p:cNvPr>
          <p:cNvSpPr txBox="1"/>
          <p:nvPr/>
        </p:nvSpPr>
        <p:spPr>
          <a:xfrm>
            <a:off x="4123267" y="6533020"/>
            <a:ext cx="8068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GB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wmo-im.github.io</a:t>
            </a:r>
            <a:r>
              <a:rPr lang="en-GB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/wis2-notification-message/standard/wis2-notification-message-STABLE.html</a:t>
            </a:r>
          </a:p>
        </p:txBody>
      </p:sp>
    </p:spTree>
    <p:extLst>
      <p:ext uri="{BB962C8B-B14F-4D97-AF65-F5344CB8AC3E}">
        <p14:creationId xmlns:p14="http://schemas.microsoft.com/office/powerpoint/2010/main" val="405631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3439F-FF34-85E7-5A36-B668DA69E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60D08C85-D5DC-C711-9FC5-EC8CB5CAD68A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6518E3-3B91-917B-4CF0-5844FAC40327}"/>
              </a:ext>
            </a:extLst>
          </p:cNvPr>
          <p:cNvSpPr txBox="1"/>
          <p:nvPr/>
        </p:nvSpPr>
        <p:spPr>
          <a:xfrm>
            <a:off x="1034896" y="105281"/>
            <a:ext cx="103441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1 : MQTT Explorer and MQTTX CLI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31633-1ADE-FDA1-2278-E303D01AB1D8}"/>
              </a:ext>
            </a:extLst>
          </p:cNvPr>
          <p:cNvSpPr txBox="1"/>
          <p:nvPr/>
        </p:nvSpPr>
        <p:spPr>
          <a:xfrm>
            <a:off x="221942" y="659134"/>
            <a:ext cx="1197005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Setup:</a:t>
            </a:r>
          </a:p>
          <a:p>
            <a:pPr marL="285750" indent="-285750">
              <a:buFontTx/>
              <a:buChar char="-"/>
            </a:pPr>
            <a:r>
              <a:rPr lang="en-GB" dirty="0"/>
              <a:t>MQTT Explorer: on your laptop configure a subscription to one of the Global Brokers (</a:t>
            </a:r>
            <a:r>
              <a:rPr lang="en-GB" dirty="0" err="1"/>
              <a:t>eg.</a:t>
            </a:r>
            <a:r>
              <a:rPr lang="en-GB" dirty="0"/>
              <a:t> </a:t>
            </a:r>
            <a:r>
              <a:rPr lang="en-GB" dirty="0" err="1"/>
              <a:t>wss</a:t>
            </a:r>
            <a:r>
              <a:rPr lang="en-GB" dirty="0"/>
              <a:t>://</a:t>
            </a:r>
            <a:r>
              <a:rPr lang="en-GB" dirty="0" err="1"/>
              <a:t>globalbroker.meteo.fr</a:t>
            </a:r>
            <a:r>
              <a:rPr lang="en-GB" dirty="0"/>
              <a:t> and subscribe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origin/a/wis2/# </a:t>
            </a:r>
            <a:r>
              <a:rPr lang="en-GB" dirty="0"/>
              <a:t>only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GB" dirty="0"/>
              <a:t>Start the capture, look at the various centre-id, copy/paste some examples of WNM. Can you see some differences ?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MQTTX CLI: on your VM:</a:t>
            </a:r>
          </a:p>
          <a:p>
            <a:pPr marL="742950" lvl="1" indent="-285750">
              <a:buFontTx/>
              <a:buChar char="-"/>
            </a:pPr>
            <a:r>
              <a:rPr lang="en-GB" dirty="0"/>
              <a:t>Install MQTTX CLI: </a:t>
            </a:r>
            <a:r>
              <a:rPr lang="en-GB" dirty="0">
                <a:hlinkClick r:id="rId3"/>
              </a:rPr>
              <a:t>https://mqttx.app/cli</a:t>
            </a:r>
            <a:endParaRPr lang="en-GB" dirty="0"/>
          </a:p>
          <a:p>
            <a:pPr marL="742950" lvl="1" indent="-285750">
              <a:buFontTx/>
              <a:buChar char="-"/>
            </a:pPr>
            <a:r>
              <a:rPr lang="en-GB" dirty="0"/>
              <a:t>Start the capture:</a:t>
            </a:r>
          </a:p>
          <a:p>
            <a:pPr lvl="2"/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mqttx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sub -h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globalbroker.inmet.gov.br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-u everyone -p 8883 -P everyone -l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mqtts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-t origin/a/wis2/#</a:t>
            </a:r>
          </a:p>
          <a:p>
            <a:pPr lvl="2"/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Tx/>
              <a:buChar char="-"/>
            </a:pPr>
            <a:r>
              <a:rPr lang="en-GB" dirty="0"/>
              <a:t>Store the capture in a file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  <a:r>
              <a:rPr lang="en-GB" dirty="0"/>
              <a:t> for various items: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en-GB" dirty="0"/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wigos</a:t>
            </a:r>
            <a:r>
              <a:rPr lang="en-GB" dirty="0"/>
              <a:t>,...</a:t>
            </a:r>
          </a:p>
          <a:p>
            <a:pPr marL="742950" lvl="1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Go to </a:t>
            </a:r>
            <a:r>
              <a:rPr lang="en-GB" dirty="0">
                <a:hlinkClick r:id="rId4"/>
              </a:rPr>
              <a:t>https://jsonbeautifier.org</a:t>
            </a:r>
            <a:r>
              <a:rPr lang="en-GB" dirty="0"/>
              <a:t> copy some examples of WNM or beautify with </a:t>
            </a:r>
            <a:r>
              <a:rPr lang="en-GB" dirty="0" err="1"/>
              <a:t>mqttx</a:t>
            </a:r>
            <a:r>
              <a:rPr lang="en-GB" dirty="0"/>
              <a:t> or use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jq</a:t>
            </a:r>
            <a:r>
              <a:rPr lang="en-GB" dirty="0"/>
              <a:t> on the VM :</a:t>
            </a:r>
          </a:p>
          <a:p>
            <a:pPr lvl="2"/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jq</a:t>
            </a: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mqttx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sub -h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globalbroker.inmet.gov.br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-u everyone -p 8883 -P everyone -l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mqtts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-t origin/a/wis2/# --format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|grep -v "^topic" |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jq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'.'</a:t>
            </a:r>
            <a:endParaRPr lang="en-GB" sz="1400" dirty="0"/>
          </a:p>
          <a:p>
            <a:pPr lvl="1"/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73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83D8D-63C2-3A25-666D-E3E598D71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63488E3A-072D-A6D3-5B9B-3B409155B7C5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6DA1DD-E80D-9405-0CD1-8FA5D46A3997}"/>
              </a:ext>
            </a:extLst>
          </p:cNvPr>
          <p:cNvSpPr txBox="1"/>
          <p:nvPr/>
        </p:nvSpPr>
        <p:spPr>
          <a:xfrm>
            <a:off x="1034896" y="105281"/>
            <a:ext cx="103441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2 : MQTT Explorer – View of 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98F00-A7DB-2421-A6E3-016F8921B107}"/>
              </a:ext>
            </a:extLst>
          </p:cNvPr>
          <p:cNvSpPr txBox="1"/>
          <p:nvPr/>
        </p:nvSpPr>
        <p:spPr>
          <a:xfrm>
            <a:off x="221942" y="659134"/>
            <a:ext cx="11970058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Setup:</a:t>
            </a:r>
          </a:p>
          <a:p>
            <a:pPr marL="285750" indent="-285750">
              <a:buFontTx/>
              <a:buChar char="-"/>
            </a:pPr>
            <a:r>
              <a:rPr lang="en-GB" dirty="0"/>
              <a:t>MQTT Explorer: on your laptop configure a subscription to one of the Global Brokers (</a:t>
            </a:r>
            <a:r>
              <a:rPr lang="en-GB" dirty="0" err="1"/>
              <a:t>eg.</a:t>
            </a:r>
            <a:r>
              <a:rPr lang="en-GB" dirty="0"/>
              <a:t> </a:t>
            </a:r>
            <a:r>
              <a:rPr lang="en-GB" dirty="0" err="1"/>
              <a:t>wss</a:t>
            </a:r>
            <a:r>
              <a:rPr lang="en-GB" dirty="0"/>
              <a:t>://</a:t>
            </a:r>
            <a:r>
              <a:rPr lang="en-GB" dirty="0" err="1"/>
              <a:t>globalbroker.meteo.fr</a:t>
            </a:r>
            <a:r>
              <a:rPr lang="en-GB" dirty="0"/>
              <a:t> and subscribe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origin/a/wis2/#, cache/a/wis2/#. </a:t>
            </a:r>
            <a:r>
              <a:rPr lang="en-GB" dirty="0"/>
              <a:t>Start the capture, look at the various centre-id, and the WIS2 Topic Hierarchy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r>
              <a:rPr lang="en-GB" dirty="0"/>
              <a:t>In particular, look at de-dwd-gts-to-wis2, int-</a:t>
            </a:r>
            <a:r>
              <a:rPr lang="en-GB" dirty="0" err="1"/>
              <a:t>ecmwf</a:t>
            </a:r>
            <a:r>
              <a:rPr lang="en-GB" dirty="0"/>
              <a:t>...</a:t>
            </a:r>
          </a:p>
          <a:p>
            <a:endParaRPr lang="en-GB" dirty="0"/>
          </a:p>
          <a:p>
            <a:r>
              <a:rPr lang="en-GB" dirty="0"/>
              <a:t>After a while, MQTT explorer window will be similar to 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Q1 : Why many more </a:t>
            </a:r>
            <a:r>
              <a:rPr lang="en-GB" b="1" dirty="0"/>
              <a:t>topics</a:t>
            </a:r>
            <a:r>
              <a:rPr lang="en-GB" dirty="0"/>
              <a:t> on origin vs. cache ?</a:t>
            </a:r>
          </a:p>
          <a:p>
            <a:r>
              <a:rPr lang="en-GB" dirty="0"/>
              <a:t>Q2 : Why many more </a:t>
            </a:r>
            <a:r>
              <a:rPr lang="en-GB" b="1" dirty="0"/>
              <a:t>messages</a:t>
            </a:r>
            <a:r>
              <a:rPr lang="en-GB" dirty="0"/>
              <a:t> on cache vs. origin ?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lvl="1"/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6321A261-DDD3-176E-BCAA-B934EF54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560" y="3150587"/>
            <a:ext cx="3308880" cy="14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5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301C-A907-FDB3-4470-2376F677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528279BD-20F9-863F-6EBF-28258B87C77C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EB31E-77CA-8A63-3DD5-F0E7FE72A98F}"/>
              </a:ext>
            </a:extLst>
          </p:cNvPr>
          <p:cNvSpPr txBox="1"/>
          <p:nvPr/>
        </p:nvSpPr>
        <p:spPr>
          <a:xfrm>
            <a:off x="1034896" y="105281"/>
            <a:ext cx="103441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2 : MQTT Explorer – de-dwd-gts-to-wis2</a:t>
            </a:r>
          </a:p>
        </p:txBody>
      </p:sp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7C7C5D0-473B-90B3-2274-2AEB2836D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30013"/>
            <a:ext cx="5494867" cy="60217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627127-EB09-3551-4058-0FF82E8ABCED}"/>
              </a:ext>
            </a:extLst>
          </p:cNvPr>
          <p:cNvSpPr txBox="1"/>
          <p:nvPr/>
        </p:nvSpPr>
        <p:spPr>
          <a:xfrm>
            <a:off x="6637865" y="1852934"/>
            <a:ext cx="54186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de-dwd-gts-to-wis2 in one of the two gateway sending data from the GTS to WIS2</a:t>
            </a:r>
          </a:p>
          <a:p>
            <a:endParaRPr lang="en-GB" dirty="0"/>
          </a:p>
          <a:p>
            <a:r>
              <a:rPr lang="en-GB" dirty="0"/>
              <a:t>The Topic Hierarchy is based on </a:t>
            </a:r>
            <a:r>
              <a:rPr lang="en-GB" dirty="0" err="1"/>
              <a:t>TTAAii</a:t>
            </a:r>
            <a:r>
              <a:rPr lang="en-GB" dirty="0"/>
              <a:t> CCCC of the GTS.</a:t>
            </a:r>
          </a:p>
          <a:p>
            <a:endParaRPr lang="en-GB" dirty="0"/>
          </a:p>
          <a:p>
            <a:r>
              <a:rPr lang="en-GB" dirty="0"/>
              <a:t>Unlike all other topics, the exact list is not defined in the WTH standard</a:t>
            </a:r>
          </a:p>
          <a:p>
            <a:endParaRPr lang="en-GB" dirty="0"/>
          </a:p>
          <a:p>
            <a:r>
              <a:rPr lang="en-GB" dirty="0"/>
              <a:t>Therefore, the GB do not verify if the topic is valid.</a:t>
            </a:r>
          </a:p>
        </p:txBody>
      </p:sp>
    </p:spTree>
    <p:extLst>
      <p:ext uri="{BB962C8B-B14F-4D97-AF65-F5344CB8AC3E}">
        <p14:creationId xmlns:p14="http://schemas.microsoft.com/office/powerpoint/2010/main" val="2183560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16EB-C797-A1AF-E0AF-FB312983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E9DC103B-F1DF-837E-822A-1688B390B56C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8D4AC-B94B-0FEC-E9D9-07CB38D115DB}"/>
              </a:ext>
            </a:extLst>
          </p:cNvPr>
          <p:cNvSpPr txBox="1"/>
          <p:nvPr/>
        </p:nvSpPr>
        <p:spPr>
          <a:xfrm>
            <a:off x="1034896" y="105281"/>
            <a:ext cx="103441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2 : MQTT Explorer – int-</a:t>
            </a:r>
            <a:r>
              <a:rPr lang="en-GB" sz="2400" b="1" dirty="0" err="1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ecmwf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E83EBD-CD7C-1D2C-1DAF-761AB93F12A0}"/>
              </a:ext>
            </a:extLst>
          </p:cNvPr>
          <p:cNvSpPr txBox="1"/>
          <p:nvPr/>
        </p:nvSpPr>
        <p:spPr>
          <a:xfrm>
            <a:off x="221942" y="659134"/>
            <a:ext cx="11970058" cy="567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"e0ddd4ef-06fa-4e08-ac99-4867ff5d2b2c",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"http://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/1/conf/core"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"Feature",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"geometry": null,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"properties":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"datetime": "2026-03-20T06:00:00.000Z",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pubtime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"2026-03-20T11:13:40.000Z",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data_id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"wis2/int-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ecmwf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/data/core/weather/prediction/forecast/medium-range/probabilistic/global/20260320/06z/ifs/0p25/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/20260320060000-21h-waef-ef.grib2",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metadata_id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urn:wmo:md:int-ecmwf:ifs:enfo:short-forecast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"cache": false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},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"links": [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"https://ai4edataeuwest.blob.core.windows.net/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ecmwf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/20260320/06z/ifs/0p25/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/20260320060000-21h-waef-ef.grib2",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"alternate",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"length": 213126418,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"type": "application/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grib;edition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=2"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data.ecmwf.int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/forecasts/20260320/06z/ifs/0p25/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/20260320060000-21h-waef-ef.grib2",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"canonical",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"length": 213126418,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"type": "application/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grib;edition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=2"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],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generated_by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": "open-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ecpds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7.3.4-09122025"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1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AC8D4D-592E-F1C3-6BA2-C3780F97A214}"/>
              </a:ext>
            </a:extLst>
          </p:cNvPr>
          <p:cNvCxnSpPr>
            <a:cxnSpLocks/>
          </p:cNvCxnSpPr>
          <p:nvPr/>
        </p:nvCxnSpPr>
        <p:spPr>
          <a:xfrm flipH="1" flipV="1">
            <a:off x="1947333" y="2988733"/>
            <a:ext cx="2954867" cy="2531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4AA938-09D6-E192-1926-294AF5C87E40}"/>
              </a:ext>
            </a:extLst>
          </p:cNvPr>
          <p:cNvSpPr txBox="1"/>
          <p:nvPr/>
        </p:nvSpPr>
        <p:spPr>
          <a:xfrm>
            <a:off x="4978401" y="4931602"/>
            <a:ext cx="69916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The purpose on this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"cache": false</a:t>
            </a:r>
            <a:r>
              <a:rPr lang="en-GB" sz="1100" dirty="0"/>
              <a:t> is to instruct Global-Cache that they should not download the data.</a:t>
            </a:r>
          </a:p>
          <a:p>
            <a:r>
              <a:rPr lang="en-GB" sz="1100" dirty="0"/>
              <a:t>Nevertheless, as it was published on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origin/a/wis2/int-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ecmwf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/data/core/weather/prediction/forecast/medium-range/probabilistic/global</a:t>
            </a:r>
          </a:p>
          <a:p>
            <a:r>
              <a:rPr lang="en-GB" sz="1100" dirty="0"/>
              <a:t>Global Caches MUST publish a message on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cache/a/WIS2/... </a:t>
            </a:r>
            <a:r>
              <a:rPr lang="en-GB" sz="1100" dirty="0"/>
              <a:t>With the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00" dirty="0"/>
              <a:t>unchanged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GB" sz="1100" dirty="0"/>
              <a:t>See if you see can such a message on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cache/a/origin/int-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ecmwf</a:t>
            </a:r>
            <a:r>
              <a:rPr lang="en-GB" sz="1100" dirty="0"/>
              <a:t>, look at the links</a:t>
            </a:r>
          </a:p>
        </p:txBody>
      </p:sp>
    </p:spTree>
    <p:extLst>
      <p:ext uri="{BB962C8B-B14F-4D97-AF65-F5344CB8AC3E}">
        <p14:creationId xmlns:p14="http://schemas.microsoft.com/office/powerpoint/2010/main" val="379435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7EA2EF2-EAF5-48FB-A301-1E55CE2F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WIS2 Operations: events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8267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25C345-E6C8-1173-E7EE-B158245074E7}"/>
              </a:ext>
            </a:extLst>
          </p:cNvPr>
          <p:cNvSpPr txBox="1"/>
          <p:nvPr/>
        </p:nvSpPr>
        <p:spPr>
          <a:xfrm>
            <a:off x="5498722" y="443299"/>
            <a:ext cx="11945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</a:tabLst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Events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431F89-CBEB-CA27-F131-E3CBB77CA54B}"/>
              </a:ext>
            </a:extLst>
          </p:cNvPr>
          <p:cNvSpPr txBox="1">
            <a:spLocks noChangeArrowheads="1"/>
          </p:cNvSpPr>
          <p:nvPr/>
        </p:nvSpPr>
        <p:spPr>
          <a:xfrm>
            <a:off x="2212622" y="1326119"/>
            <a:ext cx="7766756" cy="4205763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Once connected to WIS2, any WIS2 Node, Global Cache, Global Discovery </a:t>
            </a:r>
            <a:r>
              <a:rPr lang="en-GB" altLang="en-FR" sz="1800" dirty="0" err="1"/>
              <a:t>Catalog</a:t>
            </a:r>
            <a:r>
              <a:rPr lang="en-GB" altLang="en-FR" sz="1800" dirty="0"/>
              <a:t>, Global Broker will be monitored as previously agreed 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Either through the metrics directly, or by detecting events using the metrics or else, GISCs and Global Services will be able to detect “events” that could jeopardize WIS2 Operations 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Typical events could be: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WIS2 Node/Global Cache download service not working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WIS2 Node/Global Cache/Global Broker/… broker failing or not providing messages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WIS2 Node publishing malformed messages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Those events should be detected, interested parties should be informed, the underlying issue, if any, fixed rapidly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Planned outages should also announced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652" dirty="0"/>
          </a:p>
        </p:txBody>
      </p:sp>
    </p:spTree>
    <p:extLst>
      <p:ext uri="{BB962C8B-B14F-4D97-AF65-F5344CB8AC3E}">
        <p14:creationId xmlns:p14="http://schemas.microsoft.com/office/powerpoint/2010/main" val="1059011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25C345-E6C8-1173-E7EE-B158245074E7}"/>
              </a:ext>
            </a:extLst>
          </p:cNvPr>
          <p:cNvSpPr txBox="1"/>
          <p:nvPr/>
        </p:nvSpPr>
        <p:spPr>
          <a:xfrm>
            <a:off x="3603177" y="443299"/>
            <a:ext cx="498565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</a:tabLst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How to announce those events 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431F89-CBEB-CA27-F131-E3CBB77CA54B}"/>
              </a:ext>
            </a:extLst>
          </p:cNvPr>
          <p:cNvSpPr txBox="1">
            <a:spLocks noChangeArrowheads="1"/>
          </p:cNvSpPr>
          <p:nvPr/>
        </p:nvSpPr>
        <p:spPr>
          <a:xfrm>
            <a:off x="2212622" y="1295654"/>
            <a:ext cx="7766756" cy="4904731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WIS2 is based on using Notification Messages to inform about new data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Using MQTT to publish/subscribe about alerts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For data, we have defined the topic hierarchy and notification message format.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Each WIS2 Node or Global Service will operate a broker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When detecting an event, or to publish an announcement, the Centre (WIS2 Node or any Global Service) will publish onto its local broker (same as Notification Message). 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Global Broker collect, deduplicate and republish the notification message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All Centres (and in particular GISCs and Global Services) shall subscribe to the monitoring messages published by the Global Broker 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We then defined: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Topic Hierarchy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Event message format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800" dirty="0"/>
          </a:p>
        </p:txBody>
      </p:sp>
    </p:spTree>
    <p:extLst>
      <p:ext uri="{BB962C8B-B14F-4D97-AF65-F5344CB8AC3E}">
        <p14:creationId xmlns:p14="http://schemas.microsoft.com/office/powerpoint/2010/main" val="2078914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7228-7AA6-BF28-1EE9-41AE30C4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E53A9C-E5C9-1251-4E8C-C3135A8518C7}"/>
              </a:ext>
            </a:extLst>
          </p:cNvPr>
          <p:cNvSpPr txBox="1"/>
          <p:nvPr/>
        </p:nvSpPr>
        <p:spPr>
          <a:xfrm>
            <a:off x="4073854" y="443299"/>
            <a:ext cx="404431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</a:tabLst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Topic Hierarchy for events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C3C18A-2974-CA16-605C-28B107287ADD}"/>
              </a:ext>
            </a:extLst>
          </p:cNvPr>
          <p:cNvSpPr txBox="1">
            <a:spLocks noChangeArrowheads="1"/>
          </p:cNvSpPr>
          <p:nvPr/>
        </p:nvSpPr>
        <p:spPr>
          <a:xfrm>
            <a:off x="2212622" y="1295654"/>
            <a:ext cx="7766756" cy="4904731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Considering WIS2 as a global IT system with access for users on </a:t>
            </a:r>
            <a:r>
              <a:rPr lang="en-GB" altLang="en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origin/a/wis2/… </a:t>
            </a:r>
            <a:r>
              <a:rPr lang="en-GB" altLang="en-FR" sz="1800" dirty="0"/>
              <a:t>and </a:t>
            </a:r>
            <a:r>
              <a:rPr lang="en-GB" altLang="en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cache/a/wis2/…</a:t>
            </a:r>
            <a:r>
              <a:rPr lang="en-GB" altLang="en-FR" sz="1800" dirty="0"/>
              <a:t>, alerting is part of the “internal” operations. So, events shouldn’t be accessible to </a:t>
            </a:r>
            <a:r>
              <a:rPr lang="en-GB" altLang="en-FR" sz="1800" i="1" dirty="0"/>
              <a:t>external </a:t>
            </a:r>
            <a:r>
              <a:rPr lang="en-GB" altLang="en-FR" sz="1800" dirty="0"/>
              <a:t>users (internal users being the WIS Centres)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Use </a:t>
            </a:r>
            <a:r>
              <a:rPr lang="en-GB" altLang="en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monitor/a/wis2 </a:t>
            </a:r>
            <a:r>
              <a:rPr lang="en-GB" altLang="en-FR" sz="1400" dirty="0"/>
              <a:t>for the first three levels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The centre-id “target” of the event is in the Topic Hierarchy 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400" dirty="0"/>
              <a:t>To be able to filter the alert for the “target” centre-id, add this information on the TH by using this for the 4th level of monitoring TH</a:t>
            </a:r>
          </a:p>
          <a:p>
            <a:pPr lvl="2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monitor/a/wis2/ma-</a:t>
            </a:r>
            <a:r>
              <a:rPr lang="en-GB" altLang="en-F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marocmeteo</a:t>
            </a:r>
            <a:r>
              <a:rPr lang="en-GB" altLang="en-F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en-FR" sz="1200" dirty="0"/>
              <a:t>an alert about Maroc-</a:t>
            </a:r>
            <a:r>
              <a:rPr lang="en-GB" altLang="en-FR" sz="1200" dirty="0" err="1"/>
              <a:t>Météo</a:t>
            </a:r>
            <a:r>
              <a:rPr lang="en-GB" altLang="en-FR" sz="1200" dirty="0"/>
              <a:t> to inform about an event affecting that centre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In summary : </a:t>
            </a:r>
            <a:r>
              <a:rPr lang="en-GB" altLang="en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monitor/a/wis2/{centre-id-target}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800" dirty="0">
              <a:solidFill>
                <a:srgbClr val="FF0000"/>
              </a:solidFill>
            </a:endParaRP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41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32C1-0034-7C2A-5C2B-59CEA9E8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BC8EBD-06DC-D43E-2B1A-F338342C65EC}"/>
              </a:ext>
            </a:extLst>
          </p:cNvPr>
          <p:cNvSpPr txBox="1"/>
          <p:nvPr/>
        </p:nvSpPr>
        <p:spPr>
          <a:xfrm>
            <a:off x="4112935" y="443299"/>
            <a:ext cx="396615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</a:tabLst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Message format of events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FB47A3-4252-F731-BDD0-0A0DA550905C}"/>
              </a:ext>
            </a:extLst>
          </p:cNvPr>
          <p:cNvSpPr txBox="1">
            <a:spLocks noChangeArrowheads="1"/>
          </p:cNvSpPr>
          <p:nvPr/>
        </p:nvSpPr>
        <p:spPr>
          <a:xfrm>
            <a:off x="2212622" y="1295654"/>
            <a:ext cx="7766756" cy="4904731"/>
          </a:xfrm>
          <a:prstGeom prst="rect">
            <a:avLst/>
          </a:prstGeom>
          <a:ln/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WIS2 is based on standards and on reusing defined solution as much as possible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>
                <a:hlinkClick r:id="rId2"/>
              </a:rPr>
              <a:t>https://cloudevents.io/</a:t>
            </a:r>
            <a:r>
              <a:rPr lang="en-GB" altLang="en-FR" sz="1800" dirty="0"/>
              <a:t> has been defined to describe events in a standard way.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800" dirty="0"/>
              <a:t>As it applicable to our situation and has some similarities with the existing data/metadata Notification Message 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600" dirty="0">
                <a:solidFill>
                  <a:srgbClr val="FF0000"/>
                </a:solidFill>
              </a:rPr>
              <a:t>We have decided </a:t>
            </a:r>
            <a:r>
              <a:rPr lang="en-GB" altLang="en-FR" sz="1600" dirty="0" err="1">
                <a:solidFill>
                  <a:srgbClr val="FF0000"/>
                </a:solidFill>
              </a:rPr>
              <a:t>CloudEvent</a:t>
            </a:r>
            <a:r>
              <a:rPr lang="en-GB" altLang="en-FR" sz="1600" dirty="0">
                <a:solidFill>
                  <a:srgbClr val="FF0000"/>
                </a:solidFill>
              </a:rPr>
              <a:t> format for WIS2 alerts</a:t>
            </a:r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1600" dirty="0"/>
              <a:t>This will be formally accepted during INFCOM4</a:t>
            </a:r>
          </a:p>
          <a:p>
            <a:pPr marL="457200" lvl="1" indent="0">
              <a:buClr>
                <a:schemeClr val="tx1"/>
              </a:buClr>
              <a:buSzPct val="100000"/>
              <a:buNone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800" dirty="0"/>
          </a:p>
        </p:txBody>
      </p:sp>
    </p:spTree>
    <p:extLst>
      <p:ext uri="{BB962C8B-B14F-4D97-AF65-F5344CB8AC3E}">
        <p14:creationId xmlns:p14="http://schemas.microsoft.com/office/powerpoint/2010/main" val="1921027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25C345-E6C8-1173-E7EE-B158245074E7}"/>
              </a:ext>
            </a:extLst>
          </p:cNvPr>
          <p:cNvSpPr txBox="1"/>
          <p:nvPr/>
        </p:nvSpPr>
        <p:spPr>
          <a:xfrm>
            <a:off x="3748256" y="443299"/>
            <a:ext cx="469551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tabLst>
                <a:tab pos="407526" algn="l"/>
                <a:tab pos="815052" algn="l"/>
                <a:tab pos="1222578" algn="l"/>
                <a:tab pos="1630104" algn="l"/>
                <a:tab pos="2037631" algn="l"/>
                <a:tab pos="2445156" algn="l"/>
                <a:tab pos="2852683" algn="l"/>
                <a:tab pos="3260208" algn="l"/>
                <a:tab pos="3667735" algn="l"/>
                <a:tab pos="4075260" algn="l"/>
                <a:tab pos="4482787" algn="l"/>
                <a:tab pos="4890312" algn="l"/>
                <a:tab pos="5297839" algn="l"/>
                <a:tab pos="5705364" algn="l"/>
                <a:tab pos="6112891" algn="l"/>
                <a:tab pos="6520416" algn="l"/>
                <a:tab pos="6927943" algn="l"/>
                <a:tab pos="7335468" algn="l"/>
                <a:tab pos="7742995" algn="l"/>
              </a:tabLst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Specifications of Cloud Events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3431F89-CBEB-CA27-F131-E3CBB77CA54B}"/>
              </a:ext>
            </a:extLst>
          </p:cNvPr>
          <p:cNvSpPr txBox="1">
            <a:spLocks noChangeArrowheads="1"/>
          </p:cNvSpPr>
          <p:nvPr/>
        </p:nvSpPr>
        <p:spPr>
          <a:xfrm>
            <a:off x="2212622" y="1295654"/>
            <a:ext cx="8204857" cy="2527275"/>
          </a:xfrm>
          <a:prstGeom prst="rect">
            <a:avLst/>
          </a:prstGeom>
          <a:ln/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2052" dirty="0"/>
              <a:t>Accessible on </a:t>
            </a:r>
            <a:r>
              <a:rPr lang="en-GB" altLang="en-FR" sz="2052" dirty="0" err="1"/>
              <a:t>github</a:t>
            </a:r>
            <a:r>
              <a:rPr lang="en-GB" altLang="en-FR" sz="2052" dirty="0"/>
              <a:t>: </a:t>
            </a:r>
            <a:r>
              <a:rPr lang="en-GB" altLang="en-FR" sz="2052" dirty="0">
                <a:hlinkClick r:id="rId2"/>
              </a:rPr>
              <a:t>https://github.com/cloudevents/spec/blob/v1.0.2/cloudevents/spec.md</a:t>
            </a:r>
            <a:endParaRPr lang="en-GB" altLang="en-FR" sz="2052" dirty="0"/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2052" dirty="0"/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2052" dirty="0"/>
              <a:t>Draft document: </a:t>
            </a:r>
            <a:r>
              <a:rPr lang="en-GB" altLang="en-FR" sz="2052" dirty="0">
                <a:hlinkClick r:id="rId3"/>
              </a:rPr>
              <a:t>https://wmo-im.github.io/wis2-monitoring-events/standard/wis2-monitoring-events-DRAFT.html</a:t>
            </a:r>
            <a:endParaRPr lang="en-GB" altLang="en-FR" sz="2052" dirty="0"/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2052" dirty="0"/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r>
              <a:rPr lang="en-GB" altLang="en-FR" sz="2052" dirty="0"/>
              <a:t>This will be presented for approval at INFCOM4. In the meantime, and following the agile/pilot based approach on WIS2, some Global Services have already implemented this.</a:t>
            </a:r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2052" dirty="0"/>
          </a:p>
          <a:p>
            <a:pPr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2052" dirty="0"/>
          </a:p>
          <a:p>
            <a:pPr lvl="1">
              <a:buClr>
                <a:schemeClr val="tx1"/>
              </a:buClr>
              <a:buSzPct val="100000"/>
              <a:tabLst>
                <a:tab pos="384170" algn="l"/>
                <a:tab pos="768339" algn="l"/>
                <a:tab pos="1152509" algn="l"/>
                <a:tab pos="1536678" algn="l"/>
                <a:tab pos="1920848" algn="l"/>
                <a:tab pos="2305016" algn="l"/>
                <a:tab pos="2689187" algn="l"/>
                <a:tab pos="3073355" algn="l"/>
                <a:tab pos="3457526" algn="l"/>
                <a:tab pos="3841694" algn="l"/>
                <a:tab pos="4225865" algn="l"/>
                <a:tab pos="4610033" algn="l"/>
                <a:tab pos="4994204" algn="l"/>
                <a:tab pos="5378372" algn="l"/>
                <a:tab pos="5762543" algn="l"/>
                <a:tab pos="6146712" algn="l"/>
                <a:tab pos="6530882" algn="l"/>
                <a:tab pos="6915050" algn="l"/>
                <a:tab pos="7299220" algn="l"/>
              </a:tabLst>
            </a:pPr>
            <a:endParaRPr lang="en-GB" altLang="en-FR" sz="1652" dirty="0"/>
          </a:p>
        </p:txBody>
      </p:sp>
    </p:spTree>
    <p:extLst>
      <p:ext uri="{BB962C8B-B14F-4D97-AF65-F5344CB8AC3E}">
        <p14:creationId xmlns:p14="http://schemas.microsoft.com/office/powerpoint/2010/main" val="253736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2907-2FCA-8521-737E-3D7989D0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2A72AA63-86D2-CCDC-BE3D-9A0DF2580F70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9628C4-B9E4-82EA-57F6-871776C2A8FF}"/>
              </a:ext>
            </a:extLst>
          </p:cNvPr>
          <p:cNvSpPr txBox="1"/>
          <p:nvPr/>
        </p:nvSpPr>
        <p:spPr>
          <a:xfrm>
            <a:off x="1034896" y="105281"/>
            <a:ext cx="10344150" cy="43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3 : The </a:t>
            </a:r>
            <a:r>
              <a:rPr lang="en-GB" sz="2400" b="1" dirty="0">
                <a:solidFill>
                  <a:srgbClr val="005BAA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monitor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topic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11030-7C17-9F9D-CA04-D131B84DFC08}"/>
              </a:ext>
            </a:extLst>
          </p:cNvPr>
          <p:cNvSpPr txBox="1"/>
          <p:nvPr/>
        </p:nvSpPr>
        <p:spPr>
          <a:xfrm>
            <a:off x="221942" y="659134"/>
            <a:ext cx="119700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E9821-F5F3-D7C4-DB3C-1115C764ED93}"/>
              </a:ext>
            </a:extLst>
          </p:cNvPr>
          <p:cNvSpPr txBox="1"/>
          <p:nvPr/>
        </p:nvSpPr>
        <p:spPr>
          <a:xfrm>
            <a:off x="221942" y="659134"/>
            <a:ext cx="1197005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Setup:</a:t>
            </a:r>
          </a:p>
          <a:p>
            <a:pPr marL="285750" indent="-285750">
              <a:buFontTx/>
              <a:buChar char="-"/>
            </a:pPr>
            <a:r>
              <a:rPr lang="en-GB" dirty="0"/>
              <a:t>MQTT Explorer: on your laptop configure a subscription to one of the Global Brokers (</a:t>
            </a:r>
            <a:r>
              <a:rPr lang="en-GB" dirty="0" err="1"/>
              <a:t>eg.</a:t>
            </a:r>
            <a:r>
              <a:rPr lang="en-GB" dirty="0"/>
              <a:t> </a:t>
            </a:r>
            <a:r>
              <a:rPr lang="en-GB" dirty="0" err="1"/>
              <a:t>wss</a:t>
            </a:r>
            <a:r>
              <a:rPr lang="en-GB" dirty="0"/>
              <a:t>://</a:t>
            </a:r>
            <a:r>
              <a:rPr lang="en-GB" dirty="0" err="1"/>
              <a:t>globalbroker.meteo.fr</a:t>
            </a:r>
            <a:r>
              <a:rPr lang="en-GB" dirty="0"/>
              <a:t> and subscribe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monitor/a/wis2. </a:t>
            </a:r>
            <a:r>
              <a:rPr lang="en-GB" dirty="0"/>
              <a:t>Start the capture, look at the various centre-id and the different kind of messages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endParaRPr lang="en-GB" dirty="0"/>
          </a:p>
          <a:p>
            <a:pPr lvl="1"/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27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96930-08DB-2ABB-3FED-A7B377FE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0C395CCF-FBD2-D98D-E3A7-BCA00A67A638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A55C4-DAB6-E6D6-78F7-D016BE6C349A}"/>
              </a:ext>
            </a:extLst>
          </p:cNvPr>
          <p:cNvSpPr txBox="1"/>
          <p:nvPr/>
        </p:nvSpPr>
        <p:spPr>
          <a:xfrm>
            <a:off x="221942" y="659134"/>
            <a:ext cx="119700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C7AFF-89D9-025D-673F-EA6D9D49F655}"/>
              </a:ext>
            </a:extLst>
          </p:cNvPr>
          <p:cNvSpPr txBox="1"/>
          <p:nvPr/>
        </p:nvSpPr>
        <p:spPr>
          <a:xfrm>
            <a:off x="221942" y="321622"/>
            <a:ext cx="11970058" cy="64940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int.wmo.wis.wme.event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"source":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inmet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-global-broker",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"subject":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sa-ncm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"27694f8f-c36e-4e2b-8876-9a49389db477",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"time": "2026-03-20T13:47:02.284Z",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"application/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schemas.wmo.int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/1.0.0/schemas/wis2-event-message-encoding-bundled.json",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"data":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"http://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/1/conf/monitoring-event-message-encoding-core"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"content":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"channel": "origin/a/wis2/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sa-ncm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/data/core/weather/surface-based-observations/temp",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"id": "38cb2038-3c7c-46fe-9c4a-1a7b3399100d",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"http://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/1/conf/core"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"type": "Feature",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"geometry": null,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"properties":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pubtime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"2026-03-20T13:47:01.873Z",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"datetime": "2026-03-20T13:47:01.873Z",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"integrity":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"method": "sha256",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contentEncoding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"base64",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"value": "fZoK9/gsD03hCLa7OTiw79zcOTmdiBQqdNDMdbC5iiU="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data_id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"weather/surface-based-observations/temp/A_IULD13OEJD201200RRB_C_OEJD_20260320134701",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metadata_id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urn:wmo:md:sa-ncm:observations.surface.temp-bufr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"cache": true,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gts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ttaaii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"IULD13",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cccc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"OEJD"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"links": [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{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"https://wis2.ncm.gov.sa/weather/surface-based-observations/temp/A_IULD13OEJD201200RRB_C_OEJD_20260320134701.00054956",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": "canonical",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"application/x-</a:t>
            </a:r>
            <a:r>
              <a:rPr lang="en-GB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bufr</a:t>
            </a:r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"length": 253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"Missing Metadata record for data announced in WIS2 Notification Message"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"severity": "ERROR"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1AFC4C-E15F-69E9-0BF1-5C7E776FE0CD}"/>
              </a:ext>
            </a:extLst>
          </p:cNvPr>
          <p:cNvSpPr txBox="1"/>
          <p:nvPr/>
        </p:nvSpPr>
        <p:spPr>
          <a:xfrm>
            <a:off x="1034896" y="105281"/>
            <a:ext cx="10344150" cy="43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3 : 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b="1" dirty="0">
                <a:solidFill>
                  <a:srgbClr val="005B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topic</a:t>
            </a:r>
            <a:endParaRPr lang="en-GB" sz="2400" b="1" dirty="0">
              <a:solidFill>
                <a:srgbClr val="005BAA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65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59AE-3E55-4D30-6963-9F0FACDF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BB2A7F12-434E-9D5D-3FE2-DD89A2B768CF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2DF5C5-032B-3512-521C-D4A1AFF3B65F}"/>
              </a:ext>
            </a:extLst>
          </p:cNvPr>
          <p:cNvSpPr txBox="1"/>
          <p:nvPr/>
        </p:nvSpPr>
        <p:spPr>
          <a:xfrm>
            <a:off x="221942" y="659134"/>
            <a:ext cx="119700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E2164-7B7B-CD60-BE52-AA0858A377E7}"/>
              </a:ext>
            </a:extLst>
          </p:cNvPr>
          <p:cNvSpPr txBox="1"/>
          <p:nvPr/>
        </p:nvSpPr>
        <p:spPr>
          <a:xfrm>
            <a:off x="221942" y="321622"/>
            <a:ext cx="11970058" cy="60939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int.wmo.wis.wme.event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"source":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meteofrance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-global-broker",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"subject":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fr-meteofrance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"81bb7ce4-aa01-4cea-b897-f794ed549e99",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"time": "2026-03-20T13:48:01.917Z",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"application/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schemas.wmo.int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/1.0.0/schemas/wis2-event-message-encoding-bundled.json",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"data":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"http://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/1/conf/monitoring-event-message-encoding-core"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"channel": "origin/a/wis2/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fr-meteofrance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/data/recommended/weather/surface-based-observations/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synop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"content":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"id": "259b65c0-d8a2-4445-8260-31fb401284d4",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"type": "Feature",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"http://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/1/conf/core"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"geometry": null,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"properties":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data_id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fr-meteofrance:esoh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/ISXN20_LFPW_201342_RRL.41d7259ff3555eb4e915d51385b83988_20260320",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"datetime": "2026-03-20T00:00:00Z",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pubtime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"2026-03-20T13:48:01Z",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"integrity":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"method": "sha512",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"value": "5sTBpJdkQQ7aRnnOXzefQlmwPVEDXp/uLD8UwyaHgq2XQK86ZtGHi32eXp3Beg5B4TRW9DiXcRN/n1qd8UF+rw=="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metadata_id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urn:wmo:md:fr-meteofrance:esoh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"content":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"encoding": "base64",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"value":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CkJVRlIADxoEAAAWAABVAAAAAAAAzBwV</a:t>
            </a:r>
            <a:endParaRPr lang="en-GB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.....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W/////////////////////////+J/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Zb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//////////////////////+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ASz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SwVswAA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//+AAA3Nzc3",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"size": 3867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"links":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"canonical",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"application/octet-stream",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"https://wis2nc.meteo.fr/data/2026-03-20/wis/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urn:wmo:md:fr-meteofrance:esoh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/ISXN20_LFPW_201342_RRL.41d7259ff3555eb4e915d51385b83988_20260320.bin",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"length": 3867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generated_by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"wis2box 1.1.0"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"WIS2 Notification Message not compliant with the defined schema",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"errors":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maxLength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properties.content.value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"#/properties/properties/properties/content/properties/value/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maxLength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"limit": 4096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NOT be longer than 4096 characters"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]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"severity": "ERROR"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}          </a:t>
            </a:r>
            <a:endParaRPr lang="en-GB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D5B-93F8-FD92-0E37-52DDE383CC60}"/>
              </a:ext>
            </a:extLst>
          </p:cNvPr>
          <p:cNvSpPr txBox="1"/>
          <p:nvPr/>
        </p:nvSpPr>
        <p:spPr>
          <a:xfrm>
            <a:off x="1034896" y="105281"/>
            <a:ext cx="10344150" cy="43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3 : 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b="1" dirty="0">
                <a:solidFill>
                  <a:srgbClr val="005B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topic</a:t>
            </a:r>
            <a:endParaRPr lang="en-GB" sz="2400" b="1" dirty="0">
              <a:solidFill>
                <a:srgbClr val="005BAA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77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F9E9-4FC6-9D38-E89B-A0B17BAC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DE32265F-723A-E1D0-A61D-6B8F84C9EE2F}"/>
              </a:ext>
            </a:extLst>
          </p:cNvPr>
          <p:cNvSpPr txBox="1"/>
          <p:nvPr/>
        </p:nvSpPr>
        <p:spPr>
          <a:xfrm>
            <a:off x="3036048" y="673129"/>
            <a:ext cx="66331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4CDEE-3537-2589-DF4E-C21C0F946082}"/>
              </a:ext>
            </a:extLst>
          </p:cNvPr>
          <p:cNvSpPr txBox="1"/>
          <p:nvPr/>
        </p:nvSpPr>
        <p:spPr>
          <a:xfrm>
            <a:off x="221942" y="659134"/>
            <a:ext cx="119700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90C8B-1657-7BDC-B576-9FE7D469926D}"/>
              </a:ext>
            </a:extLst>
          </p:cNvPr>
          <p:cNvSpPr txBox="1"/>
          <p:nvPr/>
        </p:nvSpPr>
        <p:spPr>
          <a:xfrm>
            <a:off x="221942" y="321622"/>
            <a:ext cx="11970058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specversion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"1.0",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"type":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int.wmo.wis.wme.event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"source":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inmet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-global-broker",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"subject":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-global-cache",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"id": "a2bca111-6c71-49ed-b01f-2ed37f4599a9",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"time": "2026-03-20T13:52:44.446Z",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datacontenttype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"application/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dataschema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schemas.wmo.int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/1.0.0/schemas/wis2-event-message-encoding-bundled.json",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"data":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conformsTo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"http://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wis.wmo.int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/spec/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/1/conf/monitoring-event-message-encoding-core"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"content":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"channel": "cache/a/wis2/us-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noaa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nws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/data/core/weather/surface-based-observations/wind-profile",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wnm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"id": "36260910-15e2-4e7b-a529-b59538e3396b",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"type": "Feature",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"version": "v04",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"geometry":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"type": "Point",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"coordinates":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"-10000000000000000000000000000000000000000000000000000000000000000000000000000000000000000000000000000",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"-10000000000000000000000000000000000000000000000000000000000000000000000000000000000000000000000000000"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]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"time":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"interval": "2026-03-20T13:52:44Z"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"properties":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data_id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"origin/a/wis2/us-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noaa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nws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/data/core/weather/surface-based-observations/wind-profile/PILOT_0-20000-0-72388_20260320T120000.bufr4",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pubtime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"2026-03-20T13:52:44Z",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"integrity":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"method": "sha512",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"value": "MEdgfbpeOsmwbEu4hdF8+UdF28AhIiV08MCCxtDwq7oIxl3xEvej6imY9OSkitAnpGI6tOLlT+zTTbqpuvVR7A=="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"datetime": "2026-03-20T12:00:00Z",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metadata_id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"urn:wmo:md:us-noaa-nws:surface-weather-observations:wind-profile",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station_identifier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"0-20000-0-72388",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"origin": "A_IUJN50KWBC201200RRD_C_KWBC_20260320134018_00010-066984.bin",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"global-cache":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-global-cache"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"links": [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"canonical",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"application/octet-stream",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gc.wis.cma.cn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/20260320/cache/a/wis2/us-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noaa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nws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/data/core/weather/surface-based-observations/wind-profile/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PILOT_0-20000-0-72388_20260320T120000.bufr4",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"length": 540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{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"application/octet-stream",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"alternate",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"title": "Incoming Report",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": "https://wis2node.globaldata.nws.noaa.gov/wis2-data/incoming/IUJN/50/KWBC/A_IUJN50KWBC201200RRD_C_KWBC_20260320134018_00010-066984.bin",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"length": 4507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]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},</a:t>
            </a:r>
          </a:p>
          <a:p>
            <a:r>
              <a:rPr lang="en-GB" sz="600" dirty="0">
                <a:latin typeface="Courier New" panose="02070309020205020404" pitchFamily="49" charset="0"/>
                <a:cs typeface="Courier New" panose="02070309020205020404" pitchFamily="49" charset="0"/>
              </a:rPr>
              <a:t>      "title": "WIS2 Notification Message not compliant with the defined schema",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D633D3-88D4-E75B-3F09-F1FAF08C4860}"/>
              </a:ext>
            </a:extLst>
          </p:cNvPr>
          <p:cNvSpPr txBox="1"/>
          <p:nvPr/>
        </p:nvSpPr>
        <p:spPr>
          <a:xfrm>
            <a:off x="1034896" y="105281"/>
            <a:ext cx="10344150" cy="43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Hands-on 3 : 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2400" b="1" dirty="0">
                <a:solidFill>
                  <a:srgbClr val="005BA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</a:t>
            </a:r>
            <a:r>
              <a:rPr lang="en-GB" sz="2400" b="1" dirty="0">
                <a:solidFill>
                  <a:srgbClr val="005B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topic</a:t>
            </a:r>
            <a:endParaRPr lang="en-GB" sz="2400" b="1" dirty="0">
              <a:solidFill>
                <a:srgbClr val="005BAA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E8B05-FEDF-3C63-9D3F-45218298476C}"/>
              </a:ext>
            </a:extLst>
          </p:cNvPr>
          <p:cNvSpPr txBox="1"/>
          <p:nvPr/>
        </p:nvSpPr>
        <p:spPr>
          <a:xfrm>
            <a:off x="7459271" y="774919"/>
            <a:ext cx="4732729" cy="55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"errors": [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".geometry",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/0/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allowedValues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null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]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equal to one of the allowed values"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geometry.coordinates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[0]",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/1/properties/coordinates/items/type",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"number"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number"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geometry.coordinates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[1]",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/1/properties/coordinates/items/type",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"number"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number"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geometry.type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/2/properties/type/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allowedValues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[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"Polygon"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]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equal to one of the allowed values"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geometry.coordinates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[0]",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/2/properties/coordinates/items/type",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"array"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array"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geometry.coordinates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[1]",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/2/properties/coordinates/items/type",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"type": "array"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be array"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"keyword":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".geometry",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schemaPath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": "#/properties/geometry/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"params": {},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"message": "should match exactly one schema in </a:t>
            </a:r>
            <a:r>
              <a:rPr lang="en-GB" sz="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oneOf</a:t>
            </a:r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  ]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  "severity": "ERROR"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GB" sz="5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810149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C6CDB1-FA64-CCE4-EAEB-28E215F4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449" y="1898811"/>
            <a:ext cx="4274474" cy="1600200"/>
          </a:xfrm>
        </p:spPr>
        <p:txBody>
          <a:bodyPr>
            <a:normAutofit/>
          </a:bodyPr>
          <a:lstStyle/>
          <a:p>
            <a:pPr algn="ctr"/>
            <a:r>
              <a:rPr lang="fr-FR" sz="4800" dirty="0" err="1"/>
              <a:t>Thank</a:t>
            </a:r>
            <a:r>
              <a:rPr lang="fr-FR" sz="4800" dirty="0"/>
              <a:t> </a:t>
            </a:r>
            <a:r>
              <a:rPr lang="fr-FR" sz="4800" dirty="0" err="1"/>
              <a:t>you</a:t>
            </a:r>
            <a:r>
              <a:rPr lang="fr-FR" sz="48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6499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c76eea2-c21a-46e1-8f98-cfc2ba460d51">
      <Terms xmlns="http://schemas.microsoft.com/office/infopath/2007/PartnerControls"/>
    </lcf76f155ced4ddcb4097134ff3c332f>
    <TaxCatchAll xmlns="96d886eb-95f6-47f3-bdfb-70dab5061c60" xsi:nil="true"/>
    <_ip_UnifiedCompliancePolicyUIAction xmlns="http://schemas.microsoft.com/sharepoint/v3" xsi:nil="true"/>
    <_ip_UnifiedCompliancePolicyProperties xmlns="http://schemas.microsoft.com/sharepoint/v3" xsi:nil="true"/>
    <links xmlns="3c76eea2-c21a-46e1-8f98-cfc2ba460d51">
      <Url xsi:nil="true"/>
      <Description xsi:nil="true"/>
    </links>
    <Link xmlns="3c76eea2-c21a-46e1-8f98-cfc2ba460d51">
      <Url xsi:nil="true"/>
      <Description xsi:nil="true"/>
    </Link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37E1DFA11F9A49A85050D7E1585839" ma:contentTypeVersion="22" ma:contentTypeDescription="Create a new document." ma:contentTypeScope="" ma:versionID="84a09469d0e73e1df1cd93c3fe863ce1">
  <xsd:schema xmlns:xsd="http://www.w3.org/2001/XMLSchema" xmlns:xs="http://www.w3.org/2001/XMLSchema" xmlns:p="http://schemas.microsoft.com/office/2006/metadata/properties" xmlns:ns1="http://schemas.microsoft.com/sharepoint/v3" xmlns:ns2="3c76eea2-c21a-46e1-8f98-cfc2ba460d51" xmlns:ns3="96d886eb-95f6-47f3-bdfb-70dab5061c60" targetNamespace="http://schemas.microsoft.com/office/2006/metadata/properties" ma:root="true" ma:fieldsID="cb366f29a62391819915fcf53e5b496c" ns1:_="" ns2:_="" ns3:_="">
    <xsd:import namespace="http://schemas.microsoft.com/sharepoint/v3"/>
    <xsd:import namespace="3c76eea2-c21a-46e1-8f98-cfc2ba460d51"/>
    <xsd:import namespace="96d886eb-95f6-47f3-bdfb-70dab5061c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ink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link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6eea2-c21a-46e1-8f98-cfc2ba460d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ink" ma:index="22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links" ma:index="27" nillable="true" ma:displayName="links" ma:format="Hyperlink" ma:internalName="link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d886eb-95f6-47f3-bdfb-70dab5061c6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c75f39b5-acb7-46a4-91b0-268d5cabe986}" ma:internalName="TaxCatchAll" ma:showField="CatchAllData" ma:web="96d886eb-95f6-47f3-bdfb-70dab5061c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EAFFEE-5F5C-4084-82CF-BA64B4593A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95722-7EE4-43F0-BFD1-A4A9177742E2}">
  <ds:schemaRefs>
    <ds:schemaRef ds:uri="http://schemas.microsoft.com/office/2006/metadata/properties"/>
    <ds:schemaRef ds:uri="http://schemas.microsoft.com/office/infopath/2007/PartnerControls"/>
    <ds:schemaRef ds:uri="0238f0ac-9b23-40a1-9bea-3608b3f97744"/>
    <ds:schemaRef ds:uri="9dd362d0-63f2-4e3c-ac06-664d054c738d"/>
    <ds:schemaRef ds:uri="3c76eea2-c21a-46e1-8f98-cfc2ba460d51"/>
    <ds:schemaRef ds:uri="96d886eb-95f6-47f3-bdfb-70dab5061c60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4E2A8AC-C2AB-466F-81D6-01D9685890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c76eea2-c21a-46e1-8f98-cfc2ba460d51"/>
    <ds:schemaRef ds:uri="96d886eb-95f6-47f3-bdfb-70dab5061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41999</TotalTime>
  <Words>4501</Words>
  <Application>Microsoft Macintosh PowerPoint</Application>
  <PresentationFormat>Widescreen</PresentationFormat>
  <Paragraphs>618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Consolas</vt:lpstr>
      <vt:lpstr>Courier New</vt:lpstr>
      <vt:lpstr>Office Theme</vt:lpstr>
      <vt:lpstr>Custom Design</vt:lpstr>
      <vt:lpstr>1_Custom Design</vt:lpstr>
      <vt:lpstr>2_Custom Design</vt:lpstr>
      <vt:lpstr>PowerPoint Presentation</vt:lpstr>
      <vt:lpstr>Wis2 Architecture</vt:lpstr>
      <vt:lpstr>PowerPoint Presentation</vt:lpstr>
      <vt:lpstr>PowerPoint Presentation</vt:lpstr>
      <vt:lpstr>PowerPoint Presentation</vt:lpstr>
      <vt:lpstr>PowerPoint Presentation</vt:lpstr>
      <vt:lpstr>Wis2 Notification messages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WIS2 Operations: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Klara Josipovic</dc:creator>
  <cp:lastModifiedBy>Remy Giraud</cp:lastModifiedBy>
  <cp:revision>37</cp:revision>
  <cp:lastPrinted>2026-02-10T10:22:49Z</cp:lastPrinted>
  <dcterms:created xsi:type="dcterms:W3CDTF">2024-04-23T12:25:23Z</dcterms:created>
  <dcterms:modified xsi:type="dcterms:W3CDTF">2026-03-25T14:42:34Z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0x0101004237E1DFA11F9A49A85050D7E1585839</vt:lpwstr>
  </property>
  <property fmtid="{D5CDD505-2E9C-101B-9397-08002B2CF9AE}" pid="3" name="_dlc_DocIdItemGuid">
    <vt:lpwstr>770e6ac8-842c-40d0-bc92-2c589e2b3feb</vt:lpwstr>
  </property>
  <property fmtid="{D5CDD505-2E9C-101B-9397-08002B2CF9AE}" pid="4" name="MediaServiceImageTags">
    <vt:lpwstr/>
  </property>
</Properties>
</file>