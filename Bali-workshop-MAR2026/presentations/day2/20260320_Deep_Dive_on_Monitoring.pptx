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 id="2147483672" r:id="rId6"/>
    <p:sldMasterId id="2147483682" r:id="rId7"/>
  </p:sldMasterIdLst>
  <p:notesMasterIdLst>
    <p:notesMasterId r:id="rId35"/>
  </p:notesMasterIdLst>
  <p:sldIdLst>
    <p:sldId id="256" r:id="rId8"/>
    <p:sldId id="641" r:id="rId9"/>
    <p:sldId id="357" r:id="rId10"/>
    <p:sldId id="2147472762" r:id="rId11"/>
    <p:sldId id="560" r:id="rId12"/>
    <p:sldId id="639" r:id="rId13"/>
    <p:sldId id="425" r:id="rId14"/>
    <p:sldId id="636" r:id="rId15"/>
    <p:sldId id="2147472763" r:id="rId16"/>
    <p:sldId id="2147472776" r:id="rId17"/>
    <p:sldId id="2147472777" r:id="rId18"/>
    <p:sldId id="2147472754" r:id="rId19"/>
    <p:sldId id="2147472769" r:id="rId20"/>
    <p:sldId id="574" r:id="rId21"/>
    <p:sldId id="2147472772" r:id="rId22"/>
    <p:sldId id="2147472773" r:id="rId23"/>
    <p:sldId id="548" r:id="rId24"/>
    <p:sldId id="2147472774" r:id="rId25"/>
    <p:sldId id="635" r:id="rId26"/>
    <p:sldId id="2147472764" r:id="rId27"/>
    <p:sldId id="2147472765" r:id="rId28"/>
    <p:sldId id="2147472766" r:id="rId29"/>
    <p:sldId id="2147472767" r:id="rId30"/>
    <p:sldId id="2147472770" r:id="rId31"/>
    <p:sldId id="2147472771" r:id="rId32"/>
    <p:sldId id="2147472768" r:id="rId33"/>
    <p:sldId id="260" r:id="rId34"/>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B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5"/>
    <p:restoredTop sz="94784"/>
  </p:normalViewPr>
  <p:slideViewPr>
    <p:cSldViewPr snapToGrid="0">
      <p:cViewPr varScale="1">
        <p:scale>
          <a:sx n="118" d="100"/>
          <a:sy n="118" d="100"/>
        </p:scale>
        <p:origin x="664" y="200"/>
      </p:cViewPr>
      <p:guideLst/>
    </p:cSldViewPr>
  </p:slideViewPr>
  <p:notesTextViewPr>
    <p:cViewPr>
      <p:scale>
        <a:sx n="3" d="2"/>
        <a:sy n="3" d="2"/>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ableStyles" Target="tableStyles.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C349E3-BD58-4A2F-B5C1-8E30844E5399}" type="datetimeFigureOut">
              <a:t>30/03/2026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3D0E6-72E8-4603-8950-287316970F4A}" type="slidenum">
              <a:t>‹N°›</a:t>
            </a:fld>
            <a:endParaRPr lang="en-US"/>
          </a:p>
        </p:txBody>
      </p:sp>
    </p:spTree>
    <p:extLst>
      <p:ext uri="{BB962C8B-B14F-4D97-AF65-F5344CB8AC3E}">
        <p14:creationId xmlns:p14="http://schemas.microsoft.com/office/powerpoint/2010/main" val="1751370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12C25B-7676-4772-9EA7-58E666DB7294}" type="slidenum">
              <a:rPr lang="en-GB" smtClean="0"/>
              <a:t>3</a:t>
            </a:fld>
            <a:endParaRPr lang="en-GB"/>
          </a:p>
        </p:txBody>
      </p:sp>
    </p:spTree>
    <p:extLst>
      <p:ext uri="{BB962C8B-B14F-4D97-AF65-F5344CB8AC3E}">
        <p14:creationId xmlns:p14="http://schemas.microsoft.com/office/powerpoint/2010/main" val="2239137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F8F94-F76F-B99D-6BA7-C5D59D2F3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56211-1C19-FD2A-AD18-ADCB9BAE5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94BAC3-0DA0-7AA2-4EAB-BBE69AC526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533172-02D3-2D07-E757-4E6695D4BA48}"/>
              </a:ext>
            </a:extLst>
          </p:cNvPr>
          <p:cNvSpPr>
            <a:spLocks noGrp="1"/>
          </p:cNvSpPr>
          <p:nvPr>
            <p:ph type="sldNum" sz="quarter" idx="5"/>
          </p:nvPr>
        </p:nvSpPr>
        <p:spPr/>
        <p:txBody>
          <a:bodyPr/>
          <a:lstStyle/>
          <a:p>
            <a:fld id="{0C12C25B-7676-4772-9EA7-58E666DB7294}" type="slidenum">
              <a:rPr lang="en-GB" smtClean="0"/>
              <a:t>4</a:t>
            </a:fld>
            <a:endParaRPr lang="en-GB"/>
          </a:p>
        </p:txBody>
      </p:sp>
    </p:spTree>
    <p:extLst>
      <p:ext uri="{BB962C8B-B14F-4D97-AF65-F5344CB8AC3E}">
        <p14:creationId xmlns:p14="http://schemas.microsoft.com/office/powerpoint/2010/main" val="1779153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CD7448-BA1D-3742-9819-D3EC6E0D6AB2}" type="slidenum">
              <a:rPr lang="en-GB" smtClean="0"/>
              <a:t>5</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975DBE0-AA3A-9E40-B9AF-2316EC522A48}"/>
              </a:ext>
            </a:extLst>
          </p:cNvPr>
          <p:cNvSpPr>
            <a:spLocks noGrp="1" noChangeArrowheads="1"/>
          </p:cNvSpPr>
          <p:nvPr>
            <p:ph type="sldNum"/>
          </p:nvPr>
        </p:nvSpPr>
        <p:spPr>
          <a:ln/>
        </p:spPr>
        <p:txBody>
          <a:bodyPr/>
          <a:lstStyle/>
          <a:p>
            <a:fld id="{667DBB0D-E347-584B-9111-1F2B94A58B52}" type="slidenum">
              <a:rPr lang="en-GB" altLang="en-FR"/>
              <a:pPr/>
              <a:t>7</a:t>
            </a:fld>
            <a:endParaRPr lang="en-GB" altLang="en-FR"/>
          </a:p>
        </p:txBody>
      </p:sp>
      <p:sp>
        <p:nvSpPr>
          <p:cNvPr id="14337" name="Text Box 1">
            <a:extLst>
              <a:ext uri="{FF2B5EF4-FFF2-40B4-BE49-F238E27FC236}">
                <a16:creationId xmlns:a16="http://schemas.microsoft.com/office/drawing/2014/main" id="{95086840-EFDD-0949-92F8-D6522E0EE6C0}"/>
              </a:ext>
            </a:extLst>
          </p:cNvPr>
          <p:cNvSpPr txBox="1">
            <a:spLocks noGrp="1" noRot="1" noChangeAspect="1" noChangeArrowheads="1"/>
          </p:cNvSpPr>
          <p:nvPr>
            <p:ph type="sldImg"/>
          </p:nvPr>
        </p:nvSpPr>
        <p:spPr bwMode="auto">
          <a:xfrm>
            <a:off x="39688" y="560388"/>
            <a:ext cx="7513637" cy="422751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8" name="Text Box 2">
            <a:extLst>
              <a:ext uri="{FF2B5EF4-FFF2-40B4-BE49-F238E27FC236}">
                <a16:creationId xmlns:a16="http://schemas.microsoft.com/office/drawing/2014/main" id="{3B2EF242-5B16-1F4D-ADC6-4F1798946FEA}"/>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FR" altLang="en-FR"/>
          </a:p>
        </p:txBody>
      </p:sp>
    </p:spTree>
    <p:extLst>
      <p:ext uri="{BB962C8B-B14F-4D97-AF65-F5344CB8AC3E}">
        <p14:creationId xmlns:p14="http://schemas.microsoft.com/office/powerpoint/2010/main" val="3574542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D8169-6F56-FACC-5892-E40F368C7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ED3F1-56CF-DD7B-B3C6-9B8851E17A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4E4F4C-59FF-815C-A232-0F20A200463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61B5D2D-AC24-81C9-606C-CE22EF7F774F}"/>
              </a:ext>
            </a:extLst>
          </p:cNvPr>
          <p:cNvSpPr>
            <a:spLocks noGrp="1"/>
          </p:cNvSpPr>
          <p:nvPr>
            <p:ph type="sldNum" sz="quarter" idx="5"/>
          </p:nvPr>
        </p:nvSpPr>
        <p:spPr/>
        <p:txBody>
          <a:bodyPr/>
          <a:lstStyle/>
          <a:p>
            <a:fld id="{3D0C333F-4D50-41E2-97EA-DF4E14010F12}" type="slidenum">
              <a:rPr lang="en-GB" smtClean="0"/>
              <a:t>12</a:t>
            </a:fld>
            <a:endParaRPr lang="en-GB"/>
          </a:p>
        </p:txBody>
      </p:sp>
    </p:spTree>
    <p:extLst>
      <p:ext uri="{BB962C8B-B14F-4D97-AF65-F5344CB8AC3E}">
        <p14:creationId xmlns:p14="http://schemas.microsoft.com/office/powerpoint/2010/main" val="3293900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CD7448-BA1D-3742-9819-D3EC6E0D6AB2}" type="slidenum">
              <a:rPr lang="en-GB" smtClean="0"/>
              <a:t>14</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93D0E6-72E8-4603-8950-287316970F4A}" type="slidenum">
              <a:rPr lang="en-FR" smtClean="0"/>
              <a:t>21</a:t>
            </a:fld>
            <a:endParaRPr lang="en-FR"/>
          </a:p>
        </p:txBody>
      </p:sp>
    </p:spTree>
    <p:extLst>
      <p:ext uri="{BB962C8B-B14F-4D97-AF65-F5344CB8AC3E}">
        <p14:creationId xmlns:p14="http://schemas.microsoft.com/office/powerpoint/2010/main" val="3119033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E7281-63FA-CE1C-1BCE-4FD5602AE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DA394-9E57-0A9A-360D-0DAF12071D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B134F-41CF-5C8E-87FE-A35462066CB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86F9DB4-B719-7E88-14B4-117C8435B54A}"/>
              </a:ext>
            </a:extLst>
          </p:cNvPr>
          <p:cNvSpPr>
            <a:spLocks noGrp="1"/>
          </p:cNvSpPr>
          <p:nvPr>
            <p:ph type="sldNum" sz="quarter" idx="5"/>
          </p:nvPr>
        </p:nvSpPr>
        <p:spPr/>
        <p:txBody>
          <a:bodyPr/>
          <a:lstStyle/>
          <a:p>
            <a:fld id="{BF93D0E6-72E8-4603-8950-287316970F4A}" type="slidenum">
              <a:rPr lang="en-FR" smtClean="0"/>
              <a:t>22</a:t>
            </a:fld>
            <a:endParaRPr lang="en-FR"/>
          </a:p>
        </p:txBody>
      </p:sp>
    </p:spTree>
    <p:extLst>
      <p:ext uri="{BB962C8B-B14F-4D97-AF65-F5344CB8AC3E}">
        <p14:creationId xmlns:p14="http://schemas.microsoft.com/office/powerpoint/2010/main" val="2290128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02E96-2189-EEE9-6111-302581E35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03AA4-A2FD-EF33-F4C2-B0A715308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B7EB3-C191-D8E2-9C74-F01AE1E144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98C854C-BEF7-B584-3058-BE9834179A14}"/>
              </a:ext>
            </a:extLst>
          </p:cNvPr>
          <p:cNvSpPr>
            <a:spLocks noGrp="1"/>
          </p:cNvSpPr>
          <p:nvPr>
            <p:ph type="sldNum" sz="quarter" idx="5"/>
          </p:nvPr>
        </p:nvSpPr>
        <p:spPr/>
        <p:txBody>
          <a:bodyPr/>
          <a:lstStyle/>
          <a:p>
            <a:fld id="{BF93D0E6-72E8-4603-8950-287316970F4A}" type="slidenum">
              <a:rPr lang="en-FR" smtClean="0"/>
              <a:t>23</a:t>
            </a:fld>
            <a:endParaRPr lang="en-FR"/>
          </a:p>
        </p:txBody>
      </p:sp>
    </p:spTree>
    <p:extLst>
      <p:ext uri="{BB962C8B-B14F-4D97-AF65-F5344CB8AC3E}">
        <p14:creationId xmlns:p14="http://schemas.microsoft.com/office/powerpoint/2010/main" val="4050406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3F783-D4BC-BBFA-03DE-AB0FD2BA6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0763D-E617-5DE5-BD28-000C941F9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5C333-5610-8961-B76E-3C9DB623F40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42EEE35-97FD-B685-B265-A6BCE05D59DD}"/>
              </a:ext>
            </a:extLst>
          </p:cNvPr>
          <p:cNvSpPr>
            <a:spLocks noGrp="1"/>
          </p:cNvSpPr>
          <p:nvPr>
            <p:ph type="sldNum" sz="quarter" idx="5"/>
          </p:nvPr>
        </p:nvSpPr>
        <p:spPr/>
        <p:txBody>
          <a:bodyPr/>
          <a:lstStyle/>
          <a:p>
            <a:fld id="{BF93D0E6-72E8-4603-8950-287316970F4A}" type="slidenum">
              <a:rPr lang="en-FR" smtClean="0"/>
              <a:t>24</a:t>
            </a:fld>
            <a:endParaRPr lang="en-FR"/>
          </a:p>
        </p:txBody>
      </p:sp>
    </p:spTree>
    <p:extLst>
      <p:ext uri="{BB962C8B-B14F-4D97-AF65-F5344CB8AC3E}">
        <p14:creationId xmlns:p14="http://schemas.microsoft.com/office/powerpoint/2010/main" val="172497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1852D-6B6E-53A8-34EC-C4445654C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C6554-F7C8-D635-3F81-8A7C58D8CC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14EE8-05E7-8192-9335-56225A18A79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0B0E545-08E6-9F6A-4A05-D841877C6052}"/>
              </a:ext>
            </a:extLst>
          </p:cNvPr>
          <p:cNvSpPr>
            <a:spLocks noGrp="1"/>
          </p:cNvSpPr>
          <p:nvPr>
            <p:ph type="sldNum" sz="quarter" idx="5"/>
          </p:nvPr>
        </p:nvSpPr>
        <p:spPr/>
        <p:txBody>
          <a:bodyPr/>
          <a:lstStyle/>
          <a:p>
            <a:fld id="{BF93D0E6-72E8-4603-8950-287316970F4A}" type="slidenum">
              <a:rPr lang="en-FR" smtClean="0"/>
              <a:t>25</a:t>
            </a:fld>
            <a:endParaRPr lang="en-FR"/>
          </a:p>
        </p:txBody>
      </p:sp>
    </p:spTree>
    <p:extLst>
      <p:ext uri="{BB962C8B-B14F-4D97-AF65-F5344CB8AC3E}">
        <p14:creationId xmlns:p14="http://schemas.microsoft.com/office/powerpoint/2010/main" val="2202039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30E40-5A1C-FBAA-087D-EAC5A8D9F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CAB69-39F2-6812-648C-B6B9A1AC5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94006D-F581-2279-225B-38851CA71B3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AF0B680-C40B-E853-AF84-40AE9656E439}"/>
              </a:ext>
            </a:extLst>
          </p:cNvPr>
          <p:cNvSpPr>
            <a:spLocks noGrp="1"/>
          </p:cNvSpPr>
          <p:nvPr>
            <p:ph type="sldNum" sz="quarter" idx="5"/>
          </p:nvPr>
        </p:nvSpPr>
        <p:spPr/>
        <p:txBody>
          <a:bodyPr/>
          <a:lstStyle/>
          <a:p>
            <a:fld id="{3D0C333F-4D50-41E2-97EA-DF4E14010F12}" type="slidenum">
              <a:rPr lang="en-GB" smtClean="0"/>
              <a:t>26</a:t>
            </a:fld>
            <a:endParaRPr lang="en-GB"/>
          </a:p>
        </p:txBody>
      </p:sp>
    </p:spTree>
    <p:extLst>
      <p:ext uri="{BB962C8B-B14F-4D97-AF65-F5344CB8AC3E}">
        <p14:creationId xmlns:p14="http://schemas.microsoft.com/office/powerpoint/2010/main" val="383164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Title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B796776-E13E-EE70-1024-61D0E54893B0}"/>
              </a:ext>
            </a:extLst>
          </p:cNvPr>
          <p:cNvSpPr>
            <a:spLocks noGrp="1"/>
          </p:cNvSpPr>
          <p:nvPr>
            <p:ph type="title"/>
          </p:nvPr>
        </p:nvSpPr>
        <p:spPr>
          <a:xfrm>
            <a:off x="838200" y="755543"/>
            <a:ext cx="10515600" cy="1325563"/>
          </a:xfrm>
          <a:prstGeom prst="rect">
            <a:avLst/>
          </a:prstGeom>
        </p:spPr>
        <p:txBody>
          <a:bodyPr vert="horz" lIns="91440" tIns="45720" rIns="91440" bIns="45720" rtlCol="0" anchor="ctr">
            <a:normAutofit/>
          </a:bodyPr>
          <a:lstStyle>
            <a:lvl1pPr>
              <a:defRPr b="1">
                <a:solidFill>
                  <a:schemeClr val="bg1"/>
                </a:solidFill>
              </a:defRPr>
            </a:lvl1pPr>
          </a:lstStyle>
          <a:p>
            <a:r>
              <a:rPr lang="en-GB" dirty="0"/>
              <a:t>Cover – Insert title</a:t>
            </a:r>
            <a:endParaRPr lang="en-FR" dirty="0"/>
          </a:p>
        </p:txBody>
      </p:sp>
      <p:sp>
        <p:nvSpPr>
          <p:cNvPr id="5" name="Text Placeholder 2">
            <a:extLst>
              <a:ext uri="{FF2B5EF4-FFF2-40B4-BE49-F238E27FC236}">
                <a16:creationId xmlns:a16="http://schemas.microsoft.com/office/drawing/2014/main" id="{93A33BDE-5827-B978-8782-68D8565EB7BF}"/>
              </a:ext>
            </a:extLst>
          </p:cNvPr>
          <p:cNvSpPr>
            <a:spLocks noGrp="1"/>
          </p:cNvSpPr>
          <p:nvPr>
            <p:ph idx="1"/>
          </p:nvPr>
        </p:nvSpPr>
        <p:spPr>
          <a:xfrm>
            <a:off x="838200" y="2216043"/>
            <a:ext cx="10515600" cy="4351338"/>
          </a:xfrm>
          <a:prstGeom prst="rect">
            <a:avLst/>
          </a:prstGeom>
        </p:spPr>
        <p:txBody>
          <a:bodyPr vert="horz" lIns="91440" tIns="45720" rIns="91440" bIns="45720" rtlCol="0">
            <a:normAutofit/>
          </a:bodyPr>
          <a:lstStyle>
            <a:lvl1pPr algn="ctr">
              <a:defRPr sz="2800">
                <a:solidFill>
                  <a:schemeClr val="bg1"/>
                </a:solidFill>
              </a:defRPr>
            </a:lvl1pPr>
            <a:lvl2pPr algn="ctr">
              <a:defRPr sz="2800">
                <a:solidFill>
                  <a:schemeClr val="bg1"/>
                </a:solidFill>
              </a:defRPr>
            </a:lvl2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444701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3637AC-ADC8-93B9-85DF-F33A355184CA}"/>
              </a:ext>
            </a:extLst>
          </p:cNvPr>
          <p:cNvSpPr>
            <a:spLocks noGrp="1"/>
          </p:cNvSpPr>
          <p:nvPr>
            <p:ph type="ctrTitle" hasCustomPrompt="1"/>
          </p:nvPr>
        </p:nvSpPr>
        <p:spPr>
          <a:xfrm>
            <a:off x="1524000" y="1122363"/>
            <a:ext cx="9144000" cy="685172"/>
          </a:xfrm>
          <a:prstGeom prst="rect">
            <a:avLst/>
          </a:prstGeom>
        </p:spPr>
        <p:txBody>
          <a:bodyPr anchor="b">
            <a:noAutofit/>
          </a:bodyPr>
          <a:lstStyle>
            <a:lvl1pPr algn="l">
              <a:defRPr sz="4400" b="1">
                <a:solidFill>
                  <a:schemeClr val="bg1"/>
                </a:solidFill>
              </a:defRPr>
            </a:lvl1pPr>
          </a:lstStyle>
          <a:p>
            <a:r>
              <a:rPr lang="en-GB" dirty="0"/>
              <a:t>Content</a:t>
            </a:r>
            <a:endParaRPr lang="en-FR" dirty="0"/>
          </a:p>
        </p:txBody>
      </p:sp>
      <p:sp>
        <p:nvSpPr>
          <p:cNvPr id="5" name="Subtitle 2">
            <a:extLst>
              <a:ext uri="{FF2B5EF4-FFF2-40B4-BE49-F238E27FC236}">
                <a16:creationId xmlns:a16="http://schemas.microsoft.com/office/drawing/2014/main" id="{7BA7D7FA-A6C1-15E9-248F-222403659FBB}"/>
              </a:ext>
            </a:extLst>
          </p:cNvPr>
          <p:cNvSpPr>
            <a:spLocks noGrp="1"/>
          </p:cNvSpPr>
          <p:nvPr>
            <p:ph type="subTitle" idx="1"/>
          </p:nvPr>
        </p:nvSpPr>
        <p:spPr>
          <a:xfrm>
            <a:off x="1524000" y="2041451"/>
            <a:ext cx="9144000" cy="3226981"/>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spTree>
    <p:extLst>
      <p:ext uri="{BB962C8B-B14F-4D97-AF65-F5344CB8AC3E}">
        <p14:creationId xmlns:p14="http://schemas.microsoft.com/office/powerpoint/2010/main" val="2926745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with bullet points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3590D3C-988E-2567-60EB-0A4602CD3C1B}"/>
              </a:ext>
            </a:extLst>
          </p:cNvPr>
          <p:cNvSpPr>
            <a:spLocks noGrp="1"/>
          </p:cNvSpPr>
          <p:nvPr>
            <p:ph type="title" hasCustomPrompt="1"/>
          </p:nvPr>
        </p:nvSpPr>
        <p:spPr>
          <a:xfrm>
            <a:off x="838200" y="660902"/>
            <a:ext cx="10515600" cy="1325563"/>
          </a:xfrm>
          <a:prstGeom prst="rect">
            <a:avLst/>
          </a:prstGeom>
        </p:spPr>
        <p:txBody>
          <a:bodyPr/>
          <a:lstStyle>
            <a:lvl1pPr algn="l">
              <a:defRPr b="1"/>
            </a:lvl1pPr>
          </a:lstStyle>
          <a:p>
            <a:r>
              <a:rPr lang="en-GB" dirty="0"/>
              <a:t>Lorem Ipsum</a:t>
            </a:r>
            <a:endParaRPr lang="en-FR" dirty="0"/>
          </a:p>
        </p:txBody>
      </p:sp>
      <p:sp>
        <p:nvSpPr>
          <p:cNvPr id="9" name="Text Placeholder 2">
            <a:extLst>
              <a:ext uri="{FF2B5EF4-FFF2-40B4-BE49-F238E27FC236}">
                <a16:creationId xmlns:a16="http://schemas.microsoft.com/office/drawing/2014/main" id="{40E4EEFA-0995-9CCD-6D7F-70B9EBD45C0E}"/>
              </a:ext>
            </a:extLst>
          </p:cNvPr>
          <p:cNvSpPr>
            <a:spLocks noGrp="1"/>
          </p:cNvSpPr>
          <p:nvPr>
            <p:ph type="body" idx="1"/>
          </p:nvPr>
        </p:nvSpPr>
        <p:spPr>
          <a:xfrm>
            <a:off x="838200" y="2195584"/>
            <a:ext cx="10515600" cy="1500187"/>
          </a:xfrm>
          <a:prstGeom prst="rect">
            <a:avLst/>
          </a:prstGeom>
        </p:spPr>
        <p:txBody>
          <a:bodyPr/>
          <a:lstStyle>
            <a:lvl1pPr marL="0" indent="0" algn="l">
              <a:buNone/>
              <a:defRPr sz="22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Click to edit Master text styles</a:t>
            </a:r>
          </a:p>
        </p:txBody>
      </p:sp>
    </p:spTree>
    <p:extLst>
      <p:ext uri="{BB962C8B-B14F-4D97-AF65-F5344CB8AC3E}">
        <p14:creationId xmlns:p14="http://schemas.microsoft.com/office/powerpoint/2010/main" val="1889114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ientific Slide with Graph/Image">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BCD4D1A9-9F6B-C561-7AC4-05C86FF1A42B}"/>
              </a:ext>
            </a:extLst>
          </p:cNvPr>
          <p:cNvSpPr>
            <a:spLocks noGrp="1"/>
          </p:cNvSpPr>
          <p:nvPr>
            <p:ph type="pic" idx="1"/>
          </p:nvPr>
        </p:nvSpPr>
        <p:spPr>
          <a:xfrm>
            <a:off x="6250112" y="1059400"/>
            <a:ext cx="5664915" cy="456099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9" name="Text Placeholder 2">
            <a:extLst>
              <a:ext uri="{FF2B5EF4-FFF2-40B4-BE49-F238E27FC236}">
                <a16:creationId xmlns:a16="http://schemas.microsoft.com/office/drawing/2014/main" id="{F7FCF368-AB64-5FEB-A4ED-1837EE8E806B}"/>
              </a:ext>
            </a:extLst>
          </p:cNvPr>
          <p:cNvSpPr>
            <a:spLocks noGrp="1"/>
          </p:cNvSpPr>
          <p:nvPr>
            <p:ph type="body" idx="10"/>
          </p:nvPr>
        </p:nvSpPr>
        <p:spPr>
          <a:xfrm>
            <a:off x="585197" y="1460093"/>
            <a:ext cx="5240250" cy="835650"/>
          </a:xfrm>
          <a:prstGeom prst="rect">
            <a:avLst/>
          </a:prstGeom>
        </p:spPr>
        <p:txBody>
          <a:bodyPr anchor="b">
            <a:noAutofit/>
          </a:bodyPr>
          <a:lstStyle>
            <a:lvl1pPr marL="0" indent="0">
              <a:buNone/>
              <a:defRPr sz="4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0" name="Content Placeholder 3">
            <a:extLst>
              <a:ext uri="{FF2B5EF4-FFF2-40B4-BE49-F238E27FC236}">
                <a16:creationId xmlns:a16="http://schemas.microsoft.com/office/drawing/2014/main" id="{633C1AC0-3A73-603A-A859-24A89A5E3991}"/>
              </a:ext>
            </a:extLst>
          </p:cNvPr>
          <p:cNvSpPr>
            <a:spLocks noGrp="1"/>
          </p:cNvSpPr>
          <p:nvPr>
            <p:ph sz="half" idx="2"/>
          </p:nvPr>
        </p:nvSpPr>
        <p:spPr>
          <a:xfrm>
            <a:off x="585197" y="2434976"/>
            <a:ext cx="5240250" cy="3185418"/>
          </a:xfrm>
          <a:prstGeom prst="rect">
            <a:avLst/>
          </a:prstGeom>
        </p:spPr>
        <p:txBody>
          <a:bodyPr/>
          <a:lstStyle>
            <a:lvl1pPr>
              <a:defRPr sz="2200"/>
            </a:lvl1pPr>
            <a:lvl2pPr>
              <a:defRPr sz="2200"/>
            </a:lvl2pPr>
            <a:lvl3pPr>
              <a:defRPr sz="2200"/>
            </a:lvl3pPr>
            <a:lvl4pPr>
              <a:defRPr sz="2200"/>
            </a:lvl4pPr>
            <a:lvl5pPr>
              <a:defRPr sz="2200"/>
            </a:lvl5pPr>
          </a:lstStyle>
          <a:p>
            <a:pPr lvl="0"/>
            <a:r>
              <a:rPr lang="en-GB" dirty="0"/>
              <a:t>Click to edit Master text styles</a:t>
            </a:r>
          </a:p>
        </p:txBody>
      </p:sp>
    </p:spTree>
    <p:extLst>
      <p:ext uri="{BB962C8B-B14F-4D97-AF65-F5344CB8AC3E}">
        <p14:creationId xmlns:p14="http://schemas.microsoft.com/office/powerpoint/2010/main" val="2255126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D452C-9105-195E-DD50-B85571BF7F99}"/>
              </a:ext>
            </a:extLst>
          </p:cNvPr>
          <p:cNvSpPr>
            <a:spLocks noGrp="1"/>
          </p:cNvSpPr>
          <p:nvPr>
            <p:ph type="title"/>
          </p:nvPr>
        </p:nvSpPr>
        <p:spPr>
          <a:xfrm>
            <a:off x="839788" y="365125"/>
            <a:ext cx="10515600" cy="1325563"/>
          </a:xfrm>
          <a:prstGeom prst="rect">
            <a:avLst/>
          </a:prstGeom>
        </p:spPr>
        <p:txBody>
          <a:bodyPr/>
          <a:lstStyle>
            <a:lvl1pPr>
              <a:defRPr b="1"/>
            </a:lvl1pPr>
          </a:lstStyle>
          <a:p>
            <a:r>
              <a:rPr lang="en-GB" dirty="0"/>
              <a:t>Click to edit Master title style</a:t>
            </a:r>
            <a:endParaRPr lang="en-FR" dirty="0"/>
          </a:p>
        </p:txBody>
      </p:sp>
      <p:sp>
        <p:nvSpPr>
          <p:cNvPr id="3" name="Text Placeholder 2">
            <a:extLst>
              <a:ext uri="{FF2B5EF4-FFF2-40B4-BE49-F238E27FC236}">
                <a16:creationId xmlns:a16="http://schemas.microsoft.com/office/drawing/2014/main" id="{327CA40B-4ECB-51F3-7BA4-D0C43996D651}"/>
              </a:ext>
            </a:extLst>
          </p:cNvPr>
          <p:cNvSpPr>
            <a:spLocks noGrp="1"/>
          </p:cNvSpPr>
          <p:nvPr>
            <p:ph type="body" idx="1"/>
          </p:nvPr>
        </p:nvSpPr>
        <p:spPr>
          <a:xfrm>
            <a:off x="839788" y="1681163"/>
            <a:ext cx="5157787" cy="823912"/>
          </a:xfrm>
          <a:prstGeom prst="rect">
            <a:avLst/>
          </a:prstGeo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F7BCB4D9-3A4B-1F8B-5219-5EE058F878CC}"/>
              </a:ext>
            </a:extLst>
          </p:cNvPr>
          <p:cNvSpPr>
            <a:spLocks noGrp="1"/>
          </p:cNvSpPr>
          <p:nvPr>
            <p:ph sz="half" idx="2"/>
          </p:nvPr>
        </p:nvSpPr>
        <p:spPr>
          <a:xfrm>
            <a:off x="839788" y="2505075"/>
            <a:ext cx="5157787" cy="3684588"/>
          </a:xfrm>
          <a:prstGeom prst="rect">
            <a:avLst/>
          </a:prstGeom>
        </p:spPr>
        <p:txBody>
          <a:bodyPr>
            <a:normAutofit/>
          </a:bodyPr>
          <a:lstStyle>
            <a:lvl1pPr marL="0" indent="0" algn="l">
              <a:buNone/>
              <a:defRPr sz="2200"/>
            </a:lvl1pPr>
            <a:lvl2pPr marL="457200" indent="0" algn="l">
              <a:buNone/>
              <a:defRPr sz="2200"/>
            </a:lvl2pPr>
            <a:lvl3pPr marL="914400" indent="0" algn="l">
              <a:buNone/>
              <a:defRPr sz="2200"/>
            </a:lvl3pPr>
            <a:lvl4pPr marL="1371600" indent="0" algn="l">
              <a:buNone/>
              <a:defRPr sz="2200"/>
            </a:lvl4pPr>
            <a:lvl5pPr marL="1828800" indent="0" algn="l">
              <a:buNone/>
              <a:defRPr sz="2200"/>
            </a:lvl5pPr>
          </a:lstStyle>
          <a:p>
            <a:pPr lvl="0"/>
            <a:r>
              <a:rPr lang="en-GB" dirty="0"/>
              <a:t>Click to edit Master text styles</a:t>
            </a:r>
          </a:p>
        </p:txBody>
      </p:sp>
      <p:sp>
        <p:nvSpPr>
          <p:cNvPr id="5" name="Text Placeholder 4">
            <a:extLst>
              <a:ext uri="{FF2B5EF4-FFF2-40B4-BE49-F238E27FC236}">
                <a16:creationId xmlns:a16="http://schemas.microsoft.com/office/drawing/2014/main" id="{65B03604-72C3-D5CE-C09C-E05C72BFC95E}"/>
              </a:ext>
            </a:extLst>
          </p:cNvPr>
          <p:cNvSpPr>
            <a:spLocks noGrp="1"/>
          </p:cNvSpPr>
          <p:nvPr>
            <p:ph type="body" sz="quarter" idx="3"/>
          </p:nvPr>
        </p:nvSpPr>
        <p:spPr>
          <a:xfrm>
            <a:off x="6172200" y="1681163"/>
            <a:ext cx="5183188" cy="823912"/>
          </a:xfrm>
          <a:prstGeom prst="rect">
            <a:avLst/>
          </a:prstGeo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F6A53E66-3D7A-FC9C-DAAB-7750C481258E}"/>
              </a:ext>
            </a:extLst>
          </p:cNvPr>
          <p:cNvSpPr>
            <a:spLocks noGrp="1"/>
          </p:cNvSpPr>
          <p:nvPr>
            <p:ph sz="quarter" idx="4"/>
          </p:nvPr>
        </p:nvSpPr>
        <p:spPr>
          <a:xfrm>
            <a:off x="6172200" y="2505075"/>
            <a:ext cx="5183188" cy="3684588"/>
          </a:xfrm>
          <a:prstGeom prst="rect">
            <a:avLst/>
          </a:prstGeom>
        </p:spPr>
        <p:txBody>
          <a:bodyPr/>
          <a:lstStyle>
            <a:lvl1pPr marL="0" indent="0" algn="l">
              <a:buNone/>
              <a:defRPr sz="2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Click to edit Master text styles</a:t>
            </a:r>
          </a:p>
          <a:p>
            <a:pPr lvl="0"/>
            <a:endParaRPr lang="en-FR" dirty="0"/>
          </a:p>
        </p:txBody>
      </p:sp>
    </p:spTree>
    <p:extLst>
      <p:ext uri="{BB962C8B-B14F-4D97-AF65-F5344CB8AC3E}">
        <p14:creationId xmlns:p14="http://schemas.microsoft.com/office/powerpoint/2010/main" val="2208314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BC293F6-E8B6-92CA-8DD3-F46267F22654}"/>
              </a:ext>
            </a:extLst>
          </p:cNvPr>
          <p:cNvSpPr>
            <a:spLocks noGrp="1"/>
          </p:cNvSpPr>
          <p:nvPr>
            <p:ph type="title" hasCustomPrompt="1"/>
          </p:nvPr>
        </p:nvSpPr>
        <p:spPr>
          <a:xfrm>
            <a:off x="133564" y="2103437"/>
            <a:ext cx="12192000" cy="1325563"/>
          </a:xfrm>
          <a:prstGeom prst="rect">
            <a:avLst/>
          </a:prstGeom>
        </p:spPr>
        <p:txBody>
          <a:bodyPr/>
          <a:lstStyle>
            <a:lvl1pPr>
              <a:defRPr b="1">
                <a:solidFill>
                  <a:schemeClr val="bg1"/>
                </a:solidFill>
              </a:defRPr>
            </a:lvl1pPr>
          </a:lstStyle>
          <a:p>
            <a:r>
              <a:rPr lang="en-GB" dirty="0"/>
              <a:t>Thank you.</a:t>
            </a:r>
            <a:endParaRPr lang="en-FR" dirty="0"/>
          </a:p>
        </p:txBody>
      </p:sp>
      <p:sp>
        <p:nvSpPr>
          <p:cNvPr id="8" name="CuadroTexto 3">
            <a:extLst>
              <a:ext uri="{FF2B5EF4-FFF2-40B4-BE49-F238E27FC236}">
                <a16:creationId xmlns:a16="http://schemas.microsoft.com/office/drawing/2014/main" id="{85E8BFE3-BE3F-06D0-2E51-B1A3E835A55D}"/>
              </a:ext>
            </a:extLst>
          </p:cNvPr>
          <p:cNvSpPr txBox="1"/>
          <p:nvPr userDrawn="1"/>
        </p:nvSpPr>
        <p:spPr>
          <a:xfrm>
            <a:off x="3958443" y="4346049"/>
            <a:ext cx="4542242" cy="523926"/>
          </a:xfrm>
          <a:prstGeom prst="rect">
            <a:avLst/>
          </a:prstGeom>
          <a:noFill/>
        </p:spPr>
        <p:txBody>
          <a:bodyPr wrap="square" rtlCol="0">
            <a:spAutoFit/>
          </a:bodyPr>
          <a:lstStyle/>
          <a:p>
            <a:pPr marR="0" algn="ctr" rtl="0">
              <a:lnSpc>
                <a:spcPct val="150000"/>
              </a:lnSpc>
            </a:pPr>
            <a:r>
              <a:rPr lang="en-US" sz="3200" b="0" i="0" u="none" strike="noStrike" baseline="30000" dirty="0">
                <a:solidFill>
                  <a:schemeClr val="bg1"/>
                </a:solidFill>
                <a:latin typeface="Arial" panose="020B0604020202020204" pitchFamily="34" charset="0"/>
                <a:ea typeface="Verdana" panose="020B0604030504040204" pitchFamily="34" charset="0"/>
                <a:cs typeface="Arial" panose="020B0604020202020204" pitchFamily="34" charset="0"/>
              </a:rPr>
              <a:t>wmo.int</a:t>
            </a:r>
          </a:p>
        </p:txBody>
      </p:sp>
    </p:spTree>
    <p:extLst>
      <p:ext uri="{BB962C8B-B14F-4D97-AF65-F5344CB8AC3E}">
        <p14:creationId xmlns:p14="http://schemas.microsoft.com/office/powerpoint/2010/main" val="583930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8122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C09337-932E-DF18-5552-8A10A7DDC8CC}"/>
              </a:ext>
            </a:extLst>
          </p:cNvPr>
          <p:cNvSpPr>
            <a:spLocks noGrp="1"/>
          </p:cNvSpPr>
          <p:nvPr>
            <p:ph type="title"/>
          </p:nvPr>
        </p:nvSpPr>
        <p:spPr>
          <a:xfrm>
            <a:off x="838200" y="755543"/>
            <a:ext cx="10515600" cy="1325563"/>
          </a:xfrm>
          <a:prstGeom prst="rect">
            <a:avLst/>
          </a:prstGeom>
        </p:spPr>
        <p:txBody>
          <a:bodyPr vert="horz" lIns="91440" tIns="45720" rIns="91440" bIns="45720" rtlCol="0" anchor="ctr">
            <a:normAutofit/>
          </a:bodyPr>
          <a:lstStyle>
            <a:lvl1pPr>
              <a:defRPr b="1">
                <a:solidFill>
                  <a:srgbClr val="005BAA"/>
                </a:solidFill>
              </a:defRPr>
            </a:lvl1pPr>
          </a:lstStyle>
          <a:p>
            <a:r>
              <a:rPr lang="en-GB" dirty="0"/>
              <a:t>Cover – Insert title</a:t>
            </a:r>
            <a:endParaRPr lang="en-FR" dirty="0"/>
          </a:p>
        </p:txBody>
      </p:sp>
      <p:sp>
        <p:nvSpPr>
          <p:cNvPr id="7" name="Text Placeholder 2">
            <a:extLst>
              <a:ext uri="{FF2B5EF4-FFF2-40B4-BE49-F238E27FC236}">
                <a16:creationId xmlns:a16="http://schemas.microsoft.com/office/drawing/2014/main" id="{A0165C1A-53B3-D986-E0E9-DDD54523D08E}"/>
              </a:ext>
            </a:extLst>
          </p:cNvPr>
          <p:cNvSpPr>
            <a:spLocks noGrp="1"/>
          </p:cNvSpPr>
          <p:nvPr>
            <p:ph idx="1"/>
          </p:nvPr>
        </p:nvSpPr>
        <p:spPr>
          <a:xfrm>
            <a:off x="838200" y="2216043"/>
            <a:ext cx="10515600" cy="4351338"/>
          </a:xfrm>
          <a:prstGeom prst="rect">
            <a:avLst/>
          </a:prstGeom>
        </p:spPr>
        <p:txBody>
          <a:bodyPr vert="horz" lIns="91440" tIns="45720" rIns="91440" bIns="45720" rtlCol="0">
            <a:normAutofit/>
          </a:bodyPr>
          <a:lstStyle>
            <a:lvl1pPr algn="ctr">
              <a:defRPr sz="2800"/>
            </a:lvl1pPr>
            <a:lvl2pPr algn="ctr">
              <a:defRPr sz="2800"/>
            </a:lvl2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282264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23C0AB1-DC1A-370D-2DBC-7F636C925F8D}"/>
              </a:ext>
            </a:extLst>
          </p:cNvPr>
          <p:cNvSpPr>
            <a:spLocks noGrp="1"/>
          </p:cNvSpPr>
          <p:nvPr>
            <p:ph type="ctrTitle" hasCustomPrompt="1"/>
          </p:nvPr>
        </p:nvSpPr>
        <p:spPr>
          <a:xfrm>
            <a:off x="1524000" y="1122363"/>
            <a:ext cx="9144000" cy="685172"/>
          </a:xfrm>
          <a:prstGeom prst="rect">
            <a:avLst/>
          </a:prstGeom>
        </p:spPr>
        <p:txBody>
          <a:bodyPr anchor="b">
            <a:noAutofit/>
          </a:bodyPr>
          <a:lstStyle>
            <a:lvl1pPr algn="l">
              <a:defRPr sz="4400">
                <a:solidFill>
                  <a:srgbClr val="005BAA"/>
                </a:solidFill>
              </a:defRPr>
            </a:lvl1pPr>
          </a:lstStyle>
          <a:p>
            <a:r>
              <a:rPr lang="en-GB" dirty="0"/>
              <a:t>Content</a:t>
            </a:r>
            <a:endParaRPr lang="en-FR" dirty="0"/>
          </a:p>
        </p:txBody>
      </p:sp>
      <p:sp>
        <p:nvSpPr>
          <p:cNvPr id="6" name="Subtitle 2">
            <a:extLst>
              <a:ext uri="{FF2B5EF4-FFF2-40B4-BE49-F238E27FC236}">
                <a16:creationId xmlns:a16="http://schemas.microsoft.com/office/drawing/2014/main" id="{4E4AFEC8-D7E6-FB46-B2C8-3E1FF5184111}"/>
              </a:ext>
            </a:extLst>
          </p:cNvPr>
          <p:cNvSpPr>
            <a:spLocks noGrp="1"/>
          </p:cNvSpPr>
          <p:nvPr>
            <p:ph type="subTitle" idx="1"/>
          </p:nvPr>
        </p:nvSpPr>
        <p:spPr>
          <a:xfrm>
            <a:off x="1524000" y="2041451"/>
            <a:ext cx="9144000" cy="3226981"/>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spTree>
    <p:extLst>
      <p:ext uri="{BB962C8B-B14F-4D97-AF65-F5344CB8AC3E}">
        <p14:creationId xmlns:p14="http://schemas.microsoft.com/office/powerpoint/2010/main" val="2630064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bullet points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4C69AE-3299-1F59-997F-1709C1DD7A81}"/>
              </a:ext>
            </a:extLst>
          </p:cNvPr>
          <p:cNvSpPr>
            <a:spLocks noGrp="1"/>
          </p:cNvSpPr>
          <p:nvPr>
            <p:ph type="title" hasCustomPrompt="1"/>
          </p:nvPr>
        </p:nvSpPr>
        <p:spPr>
          <a:xfrm>
            <a:off x="838200" y="660902"/>
            <a:ext cx="10515600" cy="1325563"/>
          </a:xfrm>
          <a:prstGeom prst="rect">
            <a:avLst/>
          </a:prstGeom>
        </p:spPr>
        <p:txBody>
          <a:bodyPr/>
          <a:lstStyle>
            <a:lvl1pPr algn="l">
              <a:defRPr/>
            </a:lvl1pPr>
          </a:lstStyle>
          <a:p>
            <a:r>
              <a:rPr lang="en-GB" dirty="0"/>
              <a:t>Lorem Ipsum</a:t>
            </a:r>
            <a:endParaRPr lang="en-FR" dirty="0"/>
          </a:p>
        </p:txBody>
      </p:sp>
      <p:sp>
        <p:nvSpPr>
          <p:cNvPr id="9" name="Text Placeholder 2">
            <a:extLst>
              <a:ext uri="{FF2B5EF4-FFF2-40B4-BE49-F238E27FC236}">
                <a16:creationId xmlns:a16="http://schemas.microsoft.com/office/drawing/2014/main" id="{4EDA0CF7-60D6-4B86-6F50-ECF55C6DBF3C}"/>
              </a:ext>
            </a:extLst>
          </p:cNvPr>
          <p:cNvSpPr>
            <a:spLocks noGrp="1"/>
          </p:cNvSpPr>
          <p:nvPr>
            <p:ph type="body" idx="1"/>
          </p:nvPr>
        </p:nvSpPr>
        <p:spPr>
          <a:xfrm>
            <a:off x="838200" y="2195584"/>
            <a:ext cx="10515600" cy="1500187"/>
          </a:xfrm>
          <a:prstGeom prst="rect">
            <a:avLst/>
          </a:prstGeom>
        </p:spPr>
        <p:txBody>
          <a:bodyPr/>
          <a:lstStyle>
            <a:lvl1pPr marL="0" indent="0">
              <a:buNone/>
              <a:defRPr sz="2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Click to edit Master text styles</a:t>
            </a:r>
          </a:p>
        </p:txBody>
      </p:sp>
    </p:spTree>
    <p:extLst>
      <p:ext uri="{BB962C8B-B14F-4D97-AF65-F5344CB8AC3E}">
        <p14:creationId xmlns:p14="http://schemas.microsoft.com/office/powerpoint/2010/main" val="1753963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cientific Slide with Graph/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E3AAD9ED-75F1-0289-7EF5-74AB2DFDDAFE}"/>
              </a:ext>
            </a:extLst>
          </p:cNvPr>
          <p:cNvSpPr>
            <a:spLocks noGrp="1"/>
          </p:cNvSpPr>
          <p:nvPr>
            <p:ph type="pic" idx="1"/>
          </p:nvPr>
        </p:nvSpPr>
        <p:spPr>
          <a:xfrm>
            <a:off x="6250112" y="1059400"/>
            <a:ext cx="5664915" cy="456099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8" name="Text Placeholder 2">
            <a:extLst>
              <a:ext uri="{FF2B5EF4-FFF2-40B4-BE49-F238E27FC236}">
                <a16:creationId xmlns:a16="http://schemas.microsoft.com/office/drawing/2014/main" id="{332C05C5-F63A-53B8-E6BB-6E73E6E74904}"/>
              </a:ext>
            </a:extLst>
          </p:cNvPr>
          <p:cNvSpPr>
            <a:spLocks noGrp="1"/>
          </p:cNvSpPr>
          <p:nvPr>
            <p:ph type="body" idx="10"/>
          </p:nvPr>
        </p:nvSpPr>
        <p:spPr>
          <a:xfrm>
            <a:off x="585197" y="1460093"/>
            <a:ext cx="5240250" cy="835650"/>
          </a:xfrm>
          <a:prstGeom prst="rect">
            <a:avLst/>
          </a:prstGeom>
        </p:spPr>
        <p:txBody>
          <a:bodyPr anchor="b">
            <a:noAutofit/>
          </a:bodyPr>
          <a:lstStyle>
            <a:lvl1pPr marL="0" indent="0">
              <a:buNone/>
              <a:defRPr sz="4400" b="1">
                <a:solidFill>
                  <a:srgbClr val="005BA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9" name="Content Placeholder 3">
            <a:extLst>
              <a:ext uri="{FF2B5EF4-FFF2-40B4-BE49-F238E27FC236}">
                <a16:creationId xmlns:a16="http://schemas.microsoft.com/office/drawing/2014/main" id="{759AFEE7-E5E4-8C50-6361-BB9205652ADC}"/>
              </a:ext>
            </a:extLst>
          </p:cNvPr>
          <p:cNvSpPr>
            <a:spLocks noGrp="1"/>
          </p:cNvSpPr>
          <p:nvPr>
            <p:ph sz="half" idx="2"/>
          </p:nvPr>
        </p:nvSpPr>
        <p:spPr>
          <a:xfrm>
            <a:off x="585197" y="2434976"/>
            <a:ext cx="5240250" cy="3185418"/>
          </a:xfrm>
          <a:prstGeom prst="rect">
            <a:avLst/>
          </a:prstGeom>
        </p:spPr>
        <p:txBody>
          <a:bodyPr/>
          <a:lstStyle>
            <a:lvl1pPr>
              <a:defRPr sz="2200"/>
            </a:lvl1pPr>
            <a:lvl2pPr>
              <a:defRPr sz="2200"/>
            </a:lvl2pPr>
            <a:lvl3pPr>
              <a:defRPr sz="2200"/>
            </a:lvl3pPr>
            <a:lvl4pPr>
              <a:defRPr sz="2200"/>
            </a:lvl4pPr>
            <a:lvl5pPr>
              <a:defRPr sz="2200"/>
            </a:lvl5pPr>
          </a:lstStyle>
          <a:p>
            <a:pPr lvl="0"/>
            <a:r>
              <a:rPr lang="en-GB" dirty="0"/>
              <a:t>Click to edit Master text styles</a:t>
            </a:r>
          </a:p>
        </p:txBody>
      </p:sp>
    </p:spTree>
    <p:extLst>
      <p:ext uri="{BB962C8B-B14F-4D97-AF65-F5344CB8AC3E}">
        <p14:creationId xmlns:p14="http://schemas.microsoft.com/office/powerpoint/2010/main" val="4129712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17684-9640-7B9F-691F-3B5A26663162}"/>
              </a:ext>
            </a:extLst>
          </p:cNvPr>
          <p:cNvSpPr>
            <a:spLocks noGrp="1"/>
          </p:cNvSpPr>
          <p:nvPr>
            <p:ph type="title"/>
          </p:nvPr>
        </p:nvSpPr>
        <p:spPr>
          <a:xfrm>
            <a:off x="839788" y="365125"/>
            <a:ext cx="10515600" cy="1325563"/>
          </a:xfrm>
          <a:prstGeom prst="rect">
            <a:avLst/>
          </a:prstGeom>
        </p:spPr>
        <p:txBody>
          <a:bodyPr/>
          <a:lstStyle>
            <a:lvl1pPr>
              <a:defRPr b="1">
                <a:solidFill>
                  <a:srgbClr val="005BAA"/>
                </a:solidFill>
              </a:defRPr>
            </a:lvl1pPr>
          </a:lstStyle>
          <a:p>
            <a:r>
              <a:rPr lang="en-GB" dirty="0"/>
              <a:t>Click to edit Master title style</a:t>
            </a:r>
            <a:endParaRPr lang="en-FR" dirty="0"/>
          </a:p>
        </p:txBody>
      </p:sp>
      <p:sp>
        <p:nvSpPr>
          <p:cNvPr id="3" name="Text Placeholder 2">
            <a:extLst>
              <a:ext uri="{FF2B5EF4-FFF2-40B4-BE49-F238E27FC236}">
                <a16:creationId xmlns:a16="http://schemas.microsoft.com/office/drawing/2014/main" id="{5E45FF9C-C20C-490B-6F06-81BD2D8FB7A6}"/>
              </a:ext>
            </a:extLst>
          </p:cNvPr>
          <p:cNvSpPr>
            <a:spLocks noGrp="1"/>
          </p:cNvSpPr>
          <p:nvPr>
            <p:ph type="body" idx="1"/>
          </p:nvPr>
        </p:nvSpPr>
        <p:spPr>
          <a:xfrm>
            <a:off x="839788" y="1681163"/>
            <a:ext cx="5157787" cy="823912"/>
          </a:xfrm>
          <a:prstGeom prst="rect">
            <a:avLst/>
          </a:prstGeo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64569EF0-726B-80A7-9DCD-6896F352D9AE}"/>
              </a:ext>
            </a:extLst>
          </p:cNvPr>
          <p:cNvSpPr>
            <a:spLocks noGrp="1"/>
          </p:cNvSpPr>
          <p:nvPr>
            <p:ph sz="half" idx="2"/>
          </p:nvPr>
        </p:nvSpPr>
        <p:spPr>
          <a:xfrm>
            <a:off x="839788" y="2505075"/>
            <a:ext cx="5157787" cy="3684588"/>
          </a:xfrm>
          <a:prstGeom prst="rect">
            <a:avLst/>
          </a:prstGeom>
        </p:spPr>
        <p:txBody>
          <a:bodyPr>
            <a:normAutofit/>
          </a:bodyPr>
          <a:lstStyle>
            <a:lvl1pPr marL="0" indent="0" algn="l">
              <a:buNone/>
              <a:defRPr sz="2200"/>
            </a:lvl1pPr>
            <a:lvl2pPr marL="457200" indent="0" algn="l">
              <a:buNone/>
              <a:defRPr sz="2200"/>
            </a:lvl2pPr>
            <a:lvl3pPr marL="914400" indent="0" algn="l">
              <a:buNone/>
              <a:defRPr sz="2200"/>
            </a:lvl3pPr>
            <a:lvl4pPr marL="1371600" indent="0" algn="l">
              <a:buNone/>
              <a:defRPr sz="2200"/>
            </a:lvl4pPr>
            <a:lvl5pPr marL="1828800" indent="0" algn="l">
              <a:buNone/>
              <a:defRPr sz="2200"/>
            </a:lvl5pPr>
          </a:lstStyle>
          <a:p>
            <a:pPr lvl="0"/>
            <a:r>
              <a:rPr lang="en-GB" dirty="0"/>
              <a:t>Click to edit Master text styles</a:t>
            </a:r>
          </a:p>
        </p:txBody>
      </p:sp>
      <p:sp>
        <p:nvSpPr>
          <p:cNvPr id="5" name="Text Placeholder 4">
            <a:extLst>
              <a:ext uri="{FF2B5EF4-FFF2-40B4-BE49-F238E27FC236}">
                <a16:creationId xmlns:a16="http://schemas.microsoft.com/office/drawing/2014/main" id="{614901CD-B4D9-4C0A-A8C1-D42233A2E284}"/>
              </a:ext>
            </a:extLst>
          </p:cNvPr>
          <p:cNvSpPr>
            <a:spLocks noGrp="1"/>
          </p:cNvSpPr>
          <p:nvPr>
            <p:ph type="body" sz="quarter" idx="3"/>
          </p:nvPr>
        </p:nvSpPr>
        <p:spPr>
          <a:xfrm>
            <a:off x="6172200" y="1681163"/>
            <a:ext cx="5183188" cy="823912"/>
          </a:xfrm>
          <a:prstGeom prst="rect">
            <a:avLst/>
          </a:prstGeo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BD05A26A-1F4A-80E3-3CF1-B5AF98EE4D3C}"/>
              </a:ext>
            </a:extLst>
          </p:cNvPr>
          <p:cNvSpPr>
            <a:spLocks noGrp="1"/>
          </p:cNvSpPr>
          <p:nvPr>
            <p:ph sz="quarter" idx="4"/>
          </p:nvPr>
        </p:nvSpPr>
        <p:spPr>
          <a:xfrm>
            <a:off x="6172200" y="2505075"/>
            <a:ext cx="5183188" cy="3684588"/>
          </a:xfrm>
          <a:prstGeom prst="rect">
            <a:avLst/>
          </a:prstGeom>
        </p:spPr>
        <p:txBody>
          <a:bodyPr>
            <a:normAutofit/>
          </a:bodyPr>
          <a:lstStyle>
            <a:lvl1pPr marL="0" indent="0" algn="l">
              <a:buNone/>
              <a:defRPr sz="2200"/>
            </a:lvl1pPr>
            <a:lvl2pPr marL="457200" indent="0" algn="l">
              <a:buNone/>
              <a:defRPr sz="2200"/>
            </a:lvl2pPr>
            <a:lvl3pPr marL="914400" indent="0" algn="l">
              <a:buNone/>
              <a:defRPr sz="2200"/>
            </a:lvl3pPr>
            <a:lvl4pPr marL="1371600" indent="0" algn="l">
              <a:buNone/>
              <a:defRPr sz="2200"/>
            </a:lvl4pPr>
            <a:lvl5pPr marL="1828800" indent="0" algn="l">
              <a:buNone/>
              <a:defRPr sz="2200"/>
            </a:lvl5pPr>
          </a:lstStyle>
          <a:p>
            <a:pPr lvl="0"/>
            <a:r>
              <a:rPr lang="en-GB" dirty="0"/>
              <a:t>Click to edit Master text styles</a:t>
            </a:r>
          </a:p>
        </p:txBody>
      </p:sp>
    </p:spTree>
    <p:extLst>
      <p:ext uri="{BB962C8B-B14F-4D97-AF65-F5344CB8AC3E}">
        <p14:creationId xmlns:p14="http://schemas.microsoft.com/office/powerpoint/2010/main" val="1166854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C3EAE96-DCE0-88A1-D4B1-3E38DC1986D1}"/>
              </a:ext>
            </a:extLst>
          </p:cNvPr>
          <p:cNvSpPr>
            <a:spLocks noGrp="1"/>
          </p:cNvSpPr>
          <p:nvPr>
            <p:ph type="title" hasCustomPrompt="1"/>
          </p:nvPr>
        </p:nvSpPr>
        <p:spPr>
          <a:xfrm>
            <a:off x="0" y="2103437"/>
            <a:ext cx="12192000" cy="1325563"/>
          </a:xfrm>
          <a:prstGeom prst="rect">
            <a:avLst/>
          </a:prstGeom>
        </p:spPr>
        <p:txBody>
          <a:bodyPr/>
          <a:lstStyle>
            <a:lvl1pPr>
              <a:defRPr>
                <a:solidFill>
                  <a:srgbClr val="005BAA"/>
                </a:solidFill>
              </a:defRPr>
            </a:lvl1pPr>
          </a:lstStyle>
          <a:p>
            <a:r>
              <a:rPr lang="en-GB" dirty="0"/>
              <a:t>Thank you.</a:t>
            </a:r>
            <a:endParaRPr lang="en-FR" dirty="0"/>
          </a:p>
        </p:txBody>
      </p:sp>
      <p:sp>
        <p:nvSpPr>
          <p:cNvPr id="9" name="CuadroTexto 3">
            <a:extLst>
              <a:ext uri="{FF2B5EF4-FFF2-40B4-BE49-F238E27FC236}">
                <a16:creationId xmlns:a16="http://schemas.microsoft.com/office/drawing/2014/main" id="{002E4A1E-1EB0-0593-1C8D-3884AC9BB310}"/>
              </a:ext>
            </a:extLst>
          </p:cNvPr>
          <p:cNvSpPr txBox="1"/>
          <p:nvPr userDrawn="1"/>
        </p:nvSpPr>
        <p:spPr>
          <a:xfrm>
            <a:off x="3824879" y="4572080"/>
            <a:ext cx="4542242" cy="523926"/>
          </a:xfrm>
          <a:prstGeom prst="rect">
            <a:avLst/>
          </a:prstGeom>
          <a:noFill/>
        </p:spPr>
        <p:txBody>
          <a:bodyPr wrap="square" rtlCol="0">
            <a:spAutoFit/>
          </a:bodyPr>
          <a:lstStyle/>
          <a:p>
            <a:pPr marR="0" algn="ctr" rtl="0">
              <a:lnSpc>
                <a:spcPct val="150000"/>
              </a:lnSpc>
            </a:pPr>
            <a:r>
              <a:rPr lang="en-US" sz="3200" b="0" i="0" u="none" strike="noStrike" baseline="30000" dirty="0">
                <a:solidFill>
                  <a:srgbClr val="005BAA"/>
                </a:solidFill>
                <a:latin typeface="Arial" panose="020B0604020202020204" pitchFamily="34" charset="0"/>
                <a:ea typeface="Verdana" panose="020B0604030504040204" pitchFamily="34" charset="0"/>
                <a:cs typeface="Arial" panose="020B0604020202020204" pitchFamily="34" charset="0"/>
              </a:rPr>
              <a:t>wmo.int</a:t>
            </a:r>
          </a:p>
        </p:txBody>
      </p:sp>
    </p:spTree>
    <p:extLst>
      <p:ext uri="{BB962C8B-B14F-4D97-AF65-F5344CB8AC3E}">
        <p14:creationId xmlns:p14="http://schemas.microsoft.com/office/powerpoint/2010/main" val="23757814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9389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59AF2F-52C6-9B46-B8B2-0579234AE62E}" type="slidenum">
              <a:rPr lang="en-US" smtClean="0"/>
              <a:pPr/>
              <a:t>‹N°›</a:t>
            </a:fld>
            <a:endParaRPr lang="en-US"/>
          </a:p>
        </p:txBody>
      </p:sp>
    </p:spTree>
    <p:extLst>
      <p:ext uri="{BB962C8B-B14F-4D97-AF65-F5344CB8AC3E}">
        <p14:creationId xmlns:p14="http://schemas.microsoft.com/office/powerpoint/2010/main" val="4241335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259AF2F-52C6-9B46-B8B2-0579234AE62E}" type="slidenum">
              <a:rPr lang="en-US" smtClean="0"/>
              <a:pPr/>
              <a:t>‹N°›</a:t>
            </a:fld>
            <a:endParaRPr lang="en-US"/>
          </a:p>
        </p:txBody>
      </p:sp>
    </p:spTree>
    <p:extLst>
      <p:ext uri="{BB962C8B-B14F-4D97-AF65-F5344CB8AC3E}">
        <p14:creationId xmlns:p14="http://schemas.microsoft.com/office/powerpoint/2010/main" val="32450091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pPr/>
              <a:t>‹N°›</a:t>
            </a:fld>
            <a:endParaRPr lang="en-US"/>
          </a:p>
        </p:txBody>
      </p:sp>
    </p:spTree>
    <p:extLst>
      <p:ext uri="{BB962C8B-B14F-4D97-AF65-F5344CB8AC3E}">
        <p14:creationId xmlns:p14="http://schemas.microsoft.com/office/powerpoint/2010/main" val="15078130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9259AF2F-52C6-9B46-B8B2-0579234AE62E}" type="slidenum">
              <a:rPr lang="en-US" smtClean="0"/>
              <a:pPr/>
              <a:t>‹N°›</a:t>
            </a:fld>
            <a:endParaRPr lang="en-US"/>
          </a:p>
        </p:txBody>
      </p:sp>
    </p:spTree>
    <p:extLst>
      <p:ext uri="{BB962C8B-B14F-4D97-AF65-F5344CB8AC3E}">
        <p14:creationId xmlns:p14="http://schemas.microsoft.com/office/powerpoint/2010/main" val="22179991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pPr/>
              <a:t>‹N°›</a:t>
            </a:fld>
            <a:endParaRPr lang="en-US"/>
          </a:p>
        </p:txBody>
      </p:sp>
    </p:spTree>
    <p:extLst>
      <p:ext uri="{BB962C8B-B14F-4D97-AF65-F5344CB8AC3E}">
        <p14:creationId xmlns:p14="http://schemas.microsoft.com/office/powerpoint/2010/main" val="24212165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6AD252D8-47A9-4F50-0A77-F7F2B5C75C77}"/>
              </a:ext>
            </a:extLst>
          </p:cNvPr>
          <p:cNvSpPr>
            <a:spLocks noGrp="1"/>
          </p:cNvSpPr>
          <p:nvPr>
            <p:ph type="title"/>
          </p:nvPr>
        </p:nvSpPr>
        <p:spPr>
          <a:xfrm>
            <a:off x="838200" y="755543"/>
            <a:ext cx="10515600" cy="1325563"/>
          </a:xfrm>
          <a:prstGeom prst="rect">
            <a:avLst/>
          </a:prstGeom>
        </p:spPr>
        <p:txBody>
          <a:bodyPr vert="horz" lIns="91440" tIns="45720" rIns="91440" bIns="45720" rtlCol="0" anchor="ctr">
            <a:normAutofit/>
          </a:bodyPr>
          <a:lstStyle/>
          <a:p>
            <a:r>
              <a:rPr lang="en-GB" dirty="0"/>
              <a:t>Cover – Insert title</a:t>
            </a:r>
            <a:endParaRPr lang="en-FR" dirty="0"/>
          </a:p>
        </p:txBody>
      </p:sp>
      <p:sp>
        <p:nvSpPr>
          <p:cNvPr id="5" name="Text Placeholder 2">
            <a:extLst>
              <a:ext uri="{FF2B5EF4-FFF2-40B4-BE49-F238E27FC236}">
                <a16:creationId xmlns:a16="http://schemas.microsoft.com/office/drawing/2014/main" id="{954E0E61-AEC0-9130-9970-54CD0B1FE7F9}"/>
              </a:ext>
            </a:extLst>
          </p:cNvPr>
          <p:cNvSpPr>
            <a:spLocks noGrp="1"/>
          </p:cNvSpPr>
          <p:nvPr>
            <p:ph idx="1"/>
          </p:nvPr>
        </p:nvSpPr>
        <p:spPr>
          <a:xfrm>
            <a:off x="838200" y="2216043"/>
            <a:ext cx="10515600" cy="4351338"/>
          </a:xfrm>
          <a:prstGeom prst="rect">
            <a:avLst/>
          </a:prstGeom>
        </p:spPr>
        <p:txBody>
          <a:bodyPr vert="horz" lIns="91440" tIns="45720" rIns="91440" bIns="45720" rtlCol="0">
            <a:normAutofit/>
          </a:bodyPr>
          <a:lstStyle>
            <a:lvl1pPr algn="ctr">
              <a:defRPr sz="2800"/>
            </a:lvl1pPr>
            <a:lvl2pPr algn="ctr">
              <a:defRPr sz="2800"/>
            </a:lvl2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5359333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onten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1E8E-B63B-2812-4914-7B39E38C71FE}"/>
              </a:ext>
            </a:extLst>
          </p:cNvPr>
          <p:cNvSpPr>
            <a:spLocks noGrp="1"/>
          </p:cNvSpPr>
          <p:nvPr>
            <p:ph type="ctrTitle" hasCustomPrompt="1"/>
          </p:nvPr>
        </p:nvSpPr>
        <p:spPr>
          <a:xfrm>
            <a:off x="1524000" y="1122363"/>
            <a:ext cx="9144000" cy="685172"/>
          </a:xfrm>
        </p:spPr>
        <p:txBody>
          <a:bodyPr anchor="b">
            <a:noAutofit/>
          </a:bodyPr>
          <a:lstStyle>
            <a:lvl1pPr algn="l">
              <a:defRPr sz="4400">
                <a:solidFill>
                  <a:srgbClr val="005BAA"/>
                </a:solidFill>
              </a:defRPr>
            </a:lvl1pPr>
          </a:lstStyle>
          <a:p>
            <a:r>
              <a:rPr lang="en-GB" dirty="0"/>
              <a:t>Content</a:t>
            </a:r>
            <a:endParaRPr lang="en-FR" dirty="0"/>
          </a:p>
        </p:txBody>
      </p:sp>
      <p:sp>
        <p:nvSpPr>
          <p:cNvPr id="3" name="Subtitle 2">
            <a:extLst>
              <a:ext uri="{FF2B5EF4-FFF2-40B4-BE49-F238E27FC236}">
                <a16:creationId xmlns:a16="http://schemas.microsoft.com/office/drawing/2014/main" id="{0AC65A07-4D49-E8EF-40E0-498B3F03B761}"/>
              </a:ext>
            </a:extLst>
          </p:cNvPr>
          <p:cNvSpPr>
            <a:spLocks noGrp="1"/>
          </p:cNvSpPr>
          <p:nvPr>
            <p:ph type="subTitle" idx="1"/>
          </p:nvPr>
        </p:nvSpPr>
        <p:spPr>
          <a:xfrm>
            <a:off x="1524000" y="2041451"/>
            <a:ext cx="9144000" cy="3226981"/>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spTree>
    <p:extLst>
      <p:ext uri="{BB962C8B-B14F-4D97-AF65-F5344CB8AC3E}">
        <p14:creationId xmlns:p14="http://schemas.microsoft.com/office/powerpoint/2010/main" val="29930710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bullet points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4CE9B65-7C16-AD40-4E8F-376EFB31DB9A}"/>
              </a:ext>
            </a:extLst>
          </p:cNvPr>
          <p:cNvSpPr>
            <a:spLocks noGrp="1"/>
          </p:cNvSpPr>
          <p:nvPr>
            <p:ph type="title" hasCustomPrompt="1"/>
          </p:nvPr>
        </p:nvSpPr>
        <p:spPr>
          <a:xfrm>
            <a:off x="838200" y="660902"/>
            <a:ext cx="10515600" cy="1325563"/>
          </a:xfrm>
        </p:spPr>
        <p:txBody>
          <a:bodyPr/>
          <a:lstStyle>
            <a:lvl1pPr algn="l">
              <a:defRPr/>
            </a:lvl1pPr>
          </a:lstStyle>
          <a:p>
            <a:r>
              <a:rPr lang="en-GB" dirty="0"/>
              <a:t>Lorem Ipsum</a:t>
            </a:r>
            <a:endParaRPr lang="en-FR" dirty="0"/>
          </a:p>
        </p:txBody>
      </p:sp>
      <p:sp>
        <p:nvSpPr>
          <p:cNvPr id="10" name="Text Placeholder 2">
            <a:extLst>
              <a:ext uri="{FF2B5EF4-FFF2-40B4-BE49-F238E27FC236}">
                <a16:creationId xmlns:a16="http://schemas.microsoft.com/office/drawing/2014/main" id="{BCEF2646-4A29-9DC6-94A1-9C78C840C2EC}"/>
              </a:ext>
            </a:extLst>
          </p:cNvPr>
          <p:cNvSpPr>
            <a:spLocks noGrp="1"/>
          </p:cNvSpPr>
          <p:nvPr>
            <p:ph type="body" idx="1"/>
          </p:nvPr>
        </p:nvSpPr>
        <p:spPr>
          <a:xfrm>
            <a:off x="838200" y="2195584"/>
            <a:ext cx="10515600" cy="1500187"/>
          </a:xfrm>
          <a:prstGeom prst="rect">
            <a:avLst/>
          </a:prstGeom>
        </p:spPr>
        <p:txBody>
          <a:bodyPr/>
          <a:lstStyle>
            <a:lvl1pPr marL="0" indent="0">
              <a:buNone/>
              <a:defRPr sz="2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Click to edit Master text styles</a:t>
            </a:r>
          </a:p>
        </p:txBody>
      </p:sp>
    </p:spTree>
    <p:extLst>
      <p:ext uri="{BB962C8B-B14F-4D97-AF65-F5344CB8AC3E}">
        <p14:creationId xmlns:p14="http://schemas.microsoft.com/office/powerpoint/2010/main" val="942713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cientific Slide with Graph/Image">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83CBA443-1DB4-591B-10FB-89F19A331B38}"/>
              </a:ext>
            </a:extLst>
          </p:cNvPr>
          <p:cNvSpPr>
            <a:spLocks noGrp="1"/>
          </p:cNvSpPr>
          <p:nvPr>
            <p:ph type="pic" idx="1"/>
          </p:nvPr>
        </p:nvSpPr>
        <p:spPr>
          <a:xfrm>
            <a:off x="6096000" y="884739"/>
            <a:ext cx="5664915" cy="456099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12" name="Text Placeholder 2">
            <a:extLst>
              <a:ext uri="{FF2B5EF4-FFF2-40B4-BE49-F238E27FC236}">
                <a16:creationId xmlns:a16="http://schemas.microsoft.com/office/drawing/2014/main" id="{FDF71B37-838A-25F4-2891-96F126B3BD48}"/>
              </a:ext>
            </a:extLst>
          </p:cNvPr>
          <p:cNvSpPr>
            <a:spLocks noGrp="1"/>
          </p:cNvSpPr>
          <p:nvPr>
            <p:ph type="body" idx="10"/>
          </p:nvPr>
        </p:nvSpPr>
        <p:spPr>
          <a:xfrm>
            <a:off x="431085" y="1285432"/>
            <a:ext cx="5240250" cy="835650"/>
          </a:xfrm>
          <a:prstGeom prst="rect">
            <a:avLst/>
          </a:prstGeom>
        </p:spPr>
        <p:txBody>
          <a:bodyPr anchor="b">
            <a:noAutofit/>
          </a:bodyPr>
          <a:lstStyle>
            <a:lvl1pPr marL="0" indent="0">
              <a:buNone/>
              <a:defRPr sz="4400" b="1">
                <a:solidFill>
                  <a:srgbClr val="005BAA"/>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3" name="Content Placeholder 3">
            <a:extLst>
              <a:ext uri="{FF2B5EF4-FFF2-40B4-BE49-F238E27FC236}">
                <a16:creationId xmlns:a16="http://schemas.microsoft.com/office/drawing/2014/main" id="{1F64250E-B7FE-5C77-8772-835E1D3B0938}"/>
              </a:ext>
            </a:extLst>
          </p:cNvPr>
          <p:cNvSpPr>
            <a:spLocks noGrp="1"/>
          </p:cNvSpPr>
          <p:nvPr>
            <p:ph sz="half" idx="2"/>
          </p:nvPr>
        </p:nvSpPr>
        <p:spPr>
          <a:xfrm>
            <a:off x="431085" y="2260315"/>
            <a:ext cx="5240250" cy="3185418"/>
          </a:xfrm>
          <a:prstGeom prst="rect">
            <a:avLst/>
          </a:prstGeom>
        </p:spPr>
        <p:txBody>
          <a:bodyPr/>
          <a:lstStyle>
            <a:lvl1pPr>
              <a:defRPr sz="2200"/>
            </a:lvl1pPr>
            <a:lvl2pPr>
              <a:defRPr sz="2200"/>
            </a:lvl2pPr>
            <a:lvl3pPr>
              <a:defRPr sz="2200"/>
            </a:lvl3pPr>
            <a:lvl4pPr>
              <a:defRPr sz="2200"/>
            </a:lvl4pPr>
            <a:lvl5pPr>
              <a:defRPr sz="2200"/>
            </a:lvl5pPr>
          </a:lstStyle>
          <a:p>
            <a:pPr lvl="0"/>
            <a:r>
              <a:rPr lang="en-GB" dirty="0"/>
              <a:t>Click to edit Master text styles</a:t>
            </a:r>
          </a:p>
        </p:txBody>
      </p:sp>
    </p:spTree>
    <p:extLst>
      <p:ext uri="{BB962C8B-B14F-4D97-AF65-F5344CB8AC3E}">
        <p14:creationId xmlns:p14="http://schemas.microsoft.com/office/powerpoint/2010/main" val="38297938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551E2-0AA8-B538-88F2-E8FEE737F00A}"/>
              </a:ext>
            </a:extLst>
          </p:cNvPr>
          <p:cNvSpPr>
            <a:spLocks noGrp="1"/>
          </p:cNvSpPr>
          <p:nvPr>
            <p:ph type="title" hasCustomPrompt="1"/>
          </p:nvPr>
        </p:nvSpPr>
        <p:spPr>
          <a:xfrm>
            <a:off x="839788" y="365125"/>
            <a:ext cx="10515600" cy="1325563"/>
          </a:xfrm>
        </p:spPr>
        <p:txBody>
          <a:bodyPr/>
          <a:lstStyle/>
          <a:p>
            <a:r>
              <a:rPr lang="en-GB" dirty="0"/>
              <a:t>Comparison Slide</a:t>
            </a:r>
            <a:endParaRPr lang="en-FR" dirty="0"/>
          </a:p>
        </p:txBody>
      </p:sp>
      <p:sp>
        <p:nvSpPr>
          <p:cNvPr id="3" name="Text Placeholder 2">
            <a:extLst>
              <a:ext uri="{FF2B5EF4-FFF2-40B4-BE49-F238E27FC236}">
                <a16:creationId xmlns:a16="http://schemas.microsoft.com/office/drawing/2014/main" id="{901FE506-04E4-4D79-51C0-DE1A5396B85B}"/>
              </a:ext>
            </a:extLst>
          </p:cNvPr>
          <p:cNvSpPr>
            <a:spLocks noGrp="1"/>
          </p:cNvSpPr>
          <p:nvPr>
            <p:ph type="body" idx="1"/>
          </p:nvPr>
        </p:nvSpPr>
        <p:spPr>
          <a:xfrm>
            <a:off x="839788" y="1681163"/>
            <a:ext cx="5157787" cy="823912"/>
          </a:xfrm>
          <a:prstGeom prst="rect">
            <a:avLst/>
          </a:prstGeo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15EEB5BD-B42E-8768-14F6-DA6AD364E34F}"/>
              </a:ext>
            </a:extLst>
          </p:cNvPr>
          <p:cNvSpPr>
            <a:spLocks noGrp="1"/>
          </p:cNvSpPr>
          <p:nvPr>
            <p:ph sz="half" idx="2"/>
          </p:nvPr>
        </p:nvSpPr>
        <p:spPr>
          <a:xfrm>
            <a:off x="839788" y="2505075"/>
            <a:ext cx="5157787" cy="368458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FR" dirty="0"/>
          </a:p>
        </p:txBody>
      </p:sp>
      <p:sp>
        <p:nvSpPr>
          <p:cNvPr id="5" name="Text Placeholder 4">
            <a:extLst>
              <a:ext uri="{FF2B5EF4-FFF2-40B4-BE49-F238E27FC236}">
                <a16:creationId xmlns:a16="http://schemas.microsoft.com/office/drawing/2014/main" id="{D0B263CD-AEDB-2834-CF69-D950F370BD52}"/>
              </a:ext>
            </a:extLst>
          </p:cNvPr>
          <p:cNvSpPr>
            <a:spLocks noGrp="1"/>
          </p:cNvSpPr>
          <p:nvPr>
            <p:ph type="body" sz="quarter" idx="3"/>
          </p:nvPr>
        </p:nvSpPr>
        <p:spPr>
          <a:xfrm>
            <a:off x="6172200" y="1681163"/>
            <a:ext cx="5183188" cy="823912"/>
          </a:xfrm>
          <a:prstGeom prst="rect">
            <a:avLst/>
          </a:prstGeo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D3A0949F-23D7-43BC-86B5-A59EEC23A3C4}"/>
              </a:ext>
            </a:extLst>
          </p:cNvPr>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Tree>
    <p:extLst>
      <p:ext uri="{BB962C8B-B14F-4D97-AF65-F5344CB8AC3E}">
        <p14:creationId xmlns:p14="http://schemas.microsoft.com/office/powerpoint/2010/main" val="3843105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BD8F-B49C-E9AF-967A-FE2625C11729}"/>
              </a:ext>
            </a:extLst>
          </p:cNvPr>
          <p:cNvSpPr>
            <a:spLocks noGrp="1"/>
          </p:cNvSpPr>
          <p:nvPr>
            <p:ph type="title" hasCustomPrompt="1"/>
          </p:nvPr>
        </p:nvSpPr>
        <p:spPr>
          <a:xfrm>
            <a:off x="0" y="2103437"/>
            <a:ext cx="12192000" cy="1325563"/>
          </a:xfrm>
        </p:spPr>
        <p:txBody>
          <a:bodyPr/>
          <a:lstStyle>
            <a:lvl1pPr>
              <a:defRPr>
                <a:solidFill>
                  <a:srgbClr val="005BAA"/>
                </a:solidFill>
              </a:defRPr>
            </a:lvl1pPr>
          </a:lstStyle>
          <a:p>
            <a:r>
              <a:rPr lang="en-GB" dirty="0"/>
              <a:t>Thank you.</a:t>
            </a:r>
            <a:endParaRPr lang="en-FR" dirty="0"/>
          </a:p>
        </p:txBody>
      </p:sp>
      <p:sp>
        <p:nvSpPr>
          <p:cNvPr id="10" name="CuadroTexto 3">
            <a:extLst>
              <a:ext uri="{FF2B5EF4-FFF2-40B4-BE49-F238E27FC236}">
                <a16:creationId xmlns:a16="http://schemas.microsoft.com/office/drawing/2014/main" id="{9CC6D77E-AF65-470D-B774-7812FAD3C4A3}"/>
              </a:ext>
            </a:extLst>
          </p:cNvPr>
          <p:cNvSpPr txBox="1"/>
          <p:nvPr userDrawn="1"/>
        </p:nvSpPr>
        <p:spPr>
          <a:xfrm>
            <a:off x="3824879" y="5024143"/>
            <a:ext cx="4542242" cy="523926"/>
          </a:xfrm>
          <a:prstGeom prst="rect">
            <a:avLst/>
          </a:prstGeom>
          <a:noFill/>
        </p:spPr>
        <p:txBody>
          <a:bodyPr wrap="square" rtlCol="0">
            <a:spAutoFit/>
          </a:bodyPr>
          <a:lstStyle/>
          <a:p>
            <a:pPr marR="0" algn="ctr" rtl="0">
              <a:lnSpc>
                <a:spcPct val="150000"/>
              </a:lnSpc>
            </a:pPr>
            <a:r>
              <a:rPr lang="en-US" sz="3200" b="0" i="0" u="none" strike="noStrike" baseline="30000" dirty="0">
                <a:solidFill>
                  <a:srgbClr val="005BAA"/>
                </a:solidFill>
                <a:latin typeface="Arial" panose="020B0604020202020204" pitchFamily="34" charset="0"/>
                <a:ea typeface="Verdana" panose="020B0604030504040204" pitchFamily="34" charset="0"/>
                <a:cs typeface="Arial" panose="020B0604020202020204" pitchFamily="34" charset="0"/>
              </a:rPr>
              <a:t>wmo.int</a:t>
            </a:r>
          </a:p>
        </p:txBody>
      </p:sp>
    </p:spTree>
    <p:extLst>
      <p:ext uri="{BB962C8B-B14F-4D97-AF65-F5344CB8AC3E}">
        <p14:creationId xmlns:p14="http://schemas.microsoft.com/office/powerpoint/2010/main" val="15165021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8217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dge to Edge Photo Slide with Tex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63ED7F9-AC2F-AB90-E59E-6D3DCE7D9949}"/>
              </a:ext>
            </a:extLst>
          </p:cNvPr>
          <p:cNvSpPr>
            <a:spLocks noGrp="1"/>
          </p:cNvSpPr>
          <p:nvPr>
            <p:ph type="title"/>
          </p:nvPr>
        </p:nvSpPr>
        <p:spPr>
          <a:xfrm>
            <a:off x="7238078" y="1013439"/>
            <a:ext cx="4274474" cy="1600200"/>
          </a:xfrm>
        </p:spPr>
        <p:txBody>
          <a:bodyPr anchor="b">
            <a:normAutofit/>
          </a:bodyPr>
          <a:lstStyle>
            <a:lvl1pPr>
              <a:defRPr sz="4400" b="1">
                <a:solidFill>
                  <a:schemeClr val="bg1"/>
                </a:solidFill>
              </a:defRPr>
            </a:lvl1pPr>
          </a:lstStyle>
          <a:p>
            <a:r>
              <a:rPr lang="en-GB" dirty="0"/>
              <a:t>Click to edit Master title style</a:t>
            </a:r>
            <a:endParaRPr lang="en-FR" dirty="0"/>
          </a:p>
        </p:txBody>
      </p:sp>
      <p:sp>
        <p:nvSpPr>
          <p:cNvPr id="8" name="Picture Placeholder 2">
            <a:extLst>
              <a:ext uri="{FF2B5EF4-FFF2-40B4-BE49-F238E27FC236}">
                <a16:creationId xmlns:a16="http://schemas.microsoft.com/office/drawing/2014/main" id="{B6C12E21-29DC-AD1F-41A5-AE890AAD23D5}"/>
              </a:ext>
            </a:extLst>
          </p:cNvPr>
          <p:cNvSpPr>
            <a:spLocks noGrp="1"/>
          </p:cNvSpPr>
          <p:nvPr>
            <p:ph type="pic" idx="1"/>
          </p:nvPr>
        </p:nvSpPr>
        <p:spPr>
          <a:xfrm>
            <a:off x="0" y="0"/>
            <a:ext cx="6900530"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dirty="0"/>
          </a:p>
        </p:txBody>
      </p:sp>
      <p:sp>
        <p:nvSpPr>
          <p:cNvPr id="9" name="Text Placeholder 3">
            <a:extLst>
              <a:ext uri="{FF2B5EF4-FFF2-40B4-BE49-F238E27FC236}">
                <a16:creationId xmlns:a16="http://schemas.microsoft.com/office/drawing/2014/main" id="{84530C31-AD13-5759-E472-94A0E49161BB}"/>
              </a:ext>
            </a:extLst>
          </p:cNvPr>
          <p:cNvSpPr>
            <a:spLocks noGrp="1"/>
          </p:cNvSpPr>
          <p:nvPr>
            <p:ph type="body" sz="half" idx="2"/>
          </p:nvPr>
        </p:nvSpPr>
        <p:spPr>
          <a:xfrm>
            <a:off x="7238078" y="2941814"/>
            <a:ext cx="4274474" cy="2667875"/>
          </a:xfrm>
          <a:prstGeom prst="rect">
            <a:avLst/>
          </a:prstGeom>
        </p:spPr>
        <p:txBody>
          <a:bodyPr/>
          <a:lstStyle>
            <a:lvl1pPr marL="0" indent="0">
              <a:buNone/>
              <a:defRPr sz="22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Tree>
    <p:extLst>
      <p:ext uri="{BB962C8B-B14F-4D97-AF65-F5344CB8AC3E}">
        <p14:creationId xmlns:p14="http://schemas.microsoft.com/office/powerpoint/2010/main" val="1391068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E43E974-FF92-2065-59B5-7198AC9AFE00}"/>
              </a:ext>
            </a:extLst>
          </p:cNvPr>
          <p:cNvPicPr>
            <a:picLocks noChangeAspect="1"/>
          </p:cNvPicPr>
          <p:nvPr userDrawn="1"/>
        </p:nvPicPr>
        <p:blipFill>
          <a:blip r:embed="rId9"/>
          <a:srcRect/>
          <a:stretch/>
        </p:blipFill>
        <p:spPr>
          <a:xfrm>
            <a:off x="337" y="0"/>
            <a:ext cx="12474857" cy="7017488"/>
          </a:xfrm>
          <a:prstGeom prst="rect">
            <a:avLst/>
          </a:prstGeom>
        </p:spPr>
      </p:pic>
      <p:sp>
        <p:nvSpPr>
          <p:cNvPr id="4" name="Title Placeholder 1">
            <a:extLst>
              <a:ext uri="{FF2B5EF4-FFF2-40B4-BE49-F238E27FC236}">
                <a16:creationId xmlns:a16="http://schemas.microsoft.com/office/drawing/2014/main" id="{1AAFC96D-DE28-DCBB-6A7D-6E7FC08F83B2}"/>
              </a:ext>
            </a:extLst>
          </p:cNvPr>
          <p:cNvSpPr>
            <a:spLocks noGrp="1"/>
          </p:cNvSpPr>
          <p:nvPr>
            <p:ph type="title"/>
          </p:nvPr>
        </p:nvSpPr>
        <p:spPr>
          <a:xfrm>
            <a:off x="836690" y="2204199"/>
            <a:ext cx="10515600" cy="1325563"/>
          </a:xfrm>
          <a:prstGeom prst="rect">
            <a:avLst/>
          </a:prstGeom>
        </p:spPr>
        <p:txBody>
          <a:bodyPr vert="horz" lIns="91440" tIns="45720" rIns="91440" bIns="45720" rtlCol="0" anchor="ctr">
            <a:normAutofit/>
          </a:bodyPr>
          <a:lstStyle/>
          <a:p>
            <a:r>
              <a:rPr lang="en-GB" dirty="0"/>
              <a:t>WMO PPT Style #1</a:t>
            </a:r>
            <a:endParaRPr lang="en-FR" dirty="0"/>
          </a:p>
        </p:txBody>
      </p:sp>
    </p:spTree>
    <p:extLst>
      <p:ext uri="{BB962C8B-B14F-4D97-AF65-F5344CB8AC3E}">
        <p14:creationId xmlns:p14="http://schemas.microsoft.com/office/powerpoint/2010/main" val="258034386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7" r:id="rId3"/>
    <p:sldLayoutId id="2147483652" r:id="rId4"/>
    <p:sldLayoutId id="2147483653" r:id="rId5"/>
    <p:sldLayoutId id="2147483658" r:id="rId6"/>
    <p:sldLayoutId id="2147483659" r:id="rId7"/>
  </p:sldLayoutIdLst>
  <p:txStyles>
    <p:titleStyle>
      <a:lvl1pPr algn="ctr"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C007C7-A317-B3BD-4F67-1F0F9741F8A9}"/>
              </a:ext>
            </a:extLst>
          </p:cNvPr>
          <p:cNvPicPr>
            <a:picLocks noChangeAspect="1"/>
          </p:cNvPicPr>
          <p:nvPr userDrawn="1"/>
        </p:nvPicPr>
        <p:blipFill>
          <a:blip r:embed="rId14"/>
          <a:srcRect/>
          <a:stretch/>
        </p:blipFill>
        <p:spPr>
          <a:xfrm>
            <a:off x="0" y="3477952"/>
            <a:ext cx="12192000" cy="3380048"/>
          </a:xfrm>
          <a:prstGeom prst="rect">
            <a:avLst/>
          </a:prstGeom>
        </p:spPr>
      </p:pic>
      <p:sp>
        <p:nvSpPr>
          <p:cNvPr id="7" name="Title Placeholder 1">
            <a:extLst>
              <a:ext uri="{FF2B5EF4-FFF2-40B4-BE49-F238E27FC236}">
                <a16:creationId xmlns:a16="http://schemas.microsoft.com/office/drawing/2014/main" id="{B8A9C213-3E26-B848-BF1A-9E6EC69BD9F8}"/>
              </a:ext>
            </a:extLst>
          </p:cNvPr>
          <p:cNvSpPr>
            <a:spLocks noGrp="1"/>
          </p:cNvSpPr>
          <p:nvPr>
            <p:ph type="title"/>
          </p:nvPr>
        </p:nvSpPr>
        <p:spPr>
          <a:xfrm>
            <a:off x="836690" y="2204199"/>
            <a:ext cx="10515600" cy="1325563"/>
          </a:xfrm>
          <a:prstGeom prst="rect">
            <a:avLst/>
          </a:prstGeom>
        </p:spPr>
        <p:txBody>
          <a:bodyPr vert="horz" lIns="91440" tIns="45720" rIns="91440" bIns="45720" rtlCol="0" anchor="ctr">
            <a:normAutofit/>
          </a:bodyPr>
          <a:lstStyle/>
          <a:p>
            <a:r>
              <a:rPr lang="en-GB" dirty="0"/>
              <a:t>WMO PPT Style #2</a:t>
            </a:r>
            <a:endParaRPr lang="en-FR" dirty="0"/>
          </a:p>
        </p:txBody>
      </p:sp>
    </p:spTree>
    <p:extLst>
      <p:ext uri="{BB962C8B-B14F-4D97-AF65-F5344CB8AC3E}">
        <p14:creationId xmlns:p14="http://schemas.microsoft.com/office/powerpoint/2010/main" val="193318012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9" r:id="rId3"/>
    <p:sldLayoutId id="2147483670" r:id="rId4"/>
    <p:sldLayoutId id="2147483665" r:id="rId5"/>
    <p:sldLayoutId id="2147483671" r:id="rId6"/>
    <p:sldLayoutId id="2147483681" r:id="rId7"/>
    <p:sldLayoutId id="2147483684" r:id="rId8"/>
    <p:sldLayoutId id="2147483686" r:id="rId9"/>
    <p:sldLayoutId id="2147483687" r:id="rId10"/>
    <p:sldLayoutId id="2147483688" r:id="rId11"/>
    <p:sldLayoutId id="2147483689" r:id="rId12"/>
  </p:sldLayoutIdLst>
  <p:txStyles>
    <p:titleStyle>
      <a:lvl1pPr algn="ctr" defTabSz="914400" rtl="0" eaLnBrk="1" latinLnBrk="0" hangingPunct="1">
        <a:lnSpc>
          <a:spcPct val="90000"/>
        </a:lnSpc>
        <a:spcBef>
          <a:spcPct val="0"/>
        </a:spcBef>
        <a:buNone/>
        <a:defRPr sz="4400" b="1" kern="1200">
          <a:solidFill>
            <a:srgbClr val="005BAA"/>
          </a:solidFill>
          <a:latin typeface="Arial" panose="020B0604020202020204" pitchFamily="34" charset="0"/>
          <a:ea typeface="+mj-ea"/>
          <a:cs typeface="Arial" panose="020B0604020202020204" pitchFamily="34" charset="0"/>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E8A25AD-8EE8-C80F-37B6-E5BC4C2CBA50}"/>
              </a:ext>
            </a:extLst>
          </p:cNvPr>
          <p:cNvPicPr>
            <a:picLocks noChangeAspect="1"/>
          </p:cNvPicPr>
          <p:nvPr userDrawn="1"/>
        </p:nvPicPr>
        <p:blipFill>
          <a:blip r:embed="rId9"/>
          <a:srcRect/>
          <a:stretch/>
        </p:blipFill>
        <p:spPr>
          <a:xfrm>
            <a:off x="0" y="5776713"/>
            <a:ext cx="12195019" cy="1081287"/>
          </a:xfrm>
          <a:prstGeom prst="rect">
            <a:avLst/>
          </a:prstGeom>
        </p:spPr>
      </p:pic>
      <p:sp>
        <p:nvSpPr>
          <p:cNvPr id="2" name="Title Placeholder 1">
            <a:extLst>
              <a:ext uri="{FF2B5EF4-FFF2-40B4-BE49-F238E27FC236}">
                <a16:creationId xmlns:a16="http://schemas.microsoft.com/office/drawing/2014/main" id="{DADCF8C2-75E9-6016-486F-1EAB50245820}"/>
              </a:ext>
            </a:extLst>
          </p:cNvPr>
          <p:cNvSpPr>
            <a:spLocks noGrp="1"/>
          </p:cNvSpPr>
          <p:nvPr>
            <p:ph type="title"/>
          </p:nvPr>
        </p:nvSpPr>
        <p:spPr>
          <a:xfrm>
            <a:off x="836690" y="2204199"/>
            <a:ext cx="10515600" cy="1325563"/>
          </a:xfrm>
          <a:prstGeom prst="rect">
            <a:avLst/>
          </a:prstGeom>
        </p:spPr>
        <p:txBody>
          <a:bodyPr vert="horz" lIns="91440" tIns="45720" rIns="91440" bIns="45720" rtlCol="0" anchor="ctr">
            <a:normAutofit/>
          </a:bodyPr>
          <a:lstStyle/>
          <a:p>
            <a:r>
              <a:rPr lang="en-GB" dirty="0"/>
              <a:t>WMO PPT Style #3</a:t>
            </a:r>
            <a:endParaRPr lang="en-FR" dirty="0"/>
          </a:p>
        </p:txBody>
      </p:sp>
    </p:spTree>
    <p:extLst>
      <p:ext uri="{BB962C8B-B14F-4D97-AF65-F5344CB8AC3E}">
        <p14:creationId xmlns:p14="http://schemas.microsoft.com/office/powerpoint/2010/main" val="4030817190"/>
      </p:ext>
    </p:extLst>
  </p:cSld>
  <p:clrMap bg1="lt1" tx1="dk1" bg2="lt2" tx2="dk2" accent1="accent1" accent2="accent2" accent3="accent3" accent4="accent4" accent5="accent5" accent6="accent6" hlink="hlink" folHlink="folHlink"/>
  <p:sldLayoutIdLst>
    <p:sldLayoutId id="2147483680" r:id="rId1"/>
    <p:sldLayoutId id="2147483673" r:id="rId2"/>
    <p:sldLayoutId id="2147483675" r:id="rId3"/>
    <p:sldLayoutId id="2147483676" r:id="rId4"/>
    <p:sldLayoutId id="2147483679" r:id="rId5"/>
    <p:sldLayoutId id="2147483677" r:id="rId6"/>
    <p:sldLayoutId id="2147483678" r:id="rId7"/>
  </p:sldLayoutIdLst>
  <p:txStyles>
    <p:titleStyle>
      <a:lvl1pPr algn="ctr" defTabSz="914400" rtl="0" eaLnBrk="1" latinLnBrk="0" hangingPunct="1">
        <a:lnSpc>
          <a:spcPct val="90000"/>
        </a:lnSpc>
        <a:spcBef>
          <a:spcPct val="0"/>
        </a:spcBef>
        <a:buNone/>
        <a:defRPr sz="4400" b="1" kern="1200">
          <a:solidFill>
            <a:srgbClr val="005BAA"/>
          </a:solidFill>
          <a:latin typeface="Arial" panose="020B0604020202020204" pitchFamily="34" charset="0"/>
          <a:ea typeface="+mj-ea"/>
          <a:cs typeface="Arial" panose="020B0604020202020204" pitchFamily="34" charset="0"/>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91F7C8-B977-11A8-F895-8D99CAC03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Photography Slides</a:t>
            </a:r>
            <a:endParaRPr lang="en-FR" dirty="0"/>
          </a:p>
        </p:txBody>
      </p:sp>
      <p:pic>
        <p:nvPicPr>
          <p:cNvPr id="11" name="Picture 10">
            <a:extLst>
              <a:ext uri="{FF2B5EF4-FFF2-40B4-BE49-F238E27FC236}">
                <a16:creationId xmlns:a16="http://schemas.microsoft.com/office/drawing/2014/main" id="{D4FDA4F3-78CD-1AB6-C649-9A0EF319DCC9}"/>
              </a:ext>
            </a:extLst>
          </p:cNvPr>
          <p:cNvPicPr>
            <a:picLocks noChangeAspect="1"/>
          </p:cNvPicPr>
          <p:nvPr userDrawn="1"/>
        </p:nvPicPr>
        <p:blipFill>
          <a:blip r:embed="rId3"/>
          <a:srcRect/>
          <a:stretch/>
        </p:blipFill>
        <p:spPr>
          <a:xfrm>
            <a:off x="331" y="0"/>
            <a:ext cx="12191338" cy="6858000"/>
          </a:xfrm>
          <a:prstGeom prst="rect">
            <a:avLst/>
          </a:prstGeom>
        </p:spPr>
      </p:pic>
    </p:spTree>
    <p:extLst>
      <p:ext uri="{BB962C8B-B14F-4D97-AF65-F5344CB8AC3E}">
        <p14:creationId xmlns:p14="http://schemas.microsoft.com/office/powerpoint/2010/main" val="4142645030"/>
      </p:ext>
    </p:extLst>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jpeg"/><Relationship Id="rId3" Type="http://schemas.openxmlformats.org/officeDocument/2006/relationships/image" Target="../media/image7.jpeg"/><Relationship Id="rId7" Type="http://schemas.microsoft.com/office/2007/relationships/hdphoto" Target="../media/hdphoto1.wdp"/><Relationship Id="rId12" Type="http://schemas.openxmlformats.org/officeDocument/2006/relationships/image" Target="../media/image15.png"/><Relationship Id="rId17" Type="http://schemas.openxmlformats.org/officeDocument/2006/relationships/image" Target="../media/image20.jpeg"/><Relationship Id="rId2" Type="http://schemas.openxmlformats.org/officeDocument/2006/relationships/image" Target="../media/image6.jpeg"/><Relationship Id="rId16" Type="http://schemas.openxmlformats.org/officeDocument/2006/relationships/image" Target="../media/image19.svg"/><Relationship Id="rId20" Type="http://schemas.openxmlformats.org/officeDocument/2006/relationships/image" Target="../media/image23.jpeg"/><Relationship Id="rId1" Type="http://schemas.openxmlformats.org/officeDocument/2006/relationships/slideLayout" Target="../slideLayouts/slideLayout16.xml"/><Relationship Id="rId6" Type="http://schemas.openxmlformats.org/officeDocument/2006/relationships/image" Target="../media/image10.png"/><Relationship Id="rId11" Type="http://schemas.openxmlformats.org/officeDocument/2006/relationships/image" Target="../media/image14.svg"/><Relationship Id="rId5" Type="http://schemas.openxmlformats.org/officeDocument/2006/relationships/image" Target="../media/image9.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jpeg"/><Relationship Id="rId4" Type="http://schemas.openxmlformats.org/officeDocument/2006/relationships/image" Target="../media/image8.jpeg"/><Relationship Id="rId9" Type="http://schemas.openxmlformats.org/officeDocument/2006/relationships/image" Target="../media/image12.svg"/><Relationship Id="rId14" Type="http://schemas.openxmlformats.org/officeDocument/2006/relationships/image" Target="../media/image17.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hyperlink" Target="https://wis2gmc.marocmeteo.ma/" TargetMode="External"/><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3.png"/><Relationship Id="rId18" Type="http://schemas.openxmlformats.org/officeDocument/2006/relationships/image" Target="../media/image33.jpeg"/><Relationship Id="rId3" Type="http://schemas.openxmlformats.org/officeDocument/2006/relationships/image" Target="../media/image16.png"/><Relationship Id="rId21" Type="http://schemas.openxmlformats.org/officeDocument/2006/relationships/image" Target="../media/image36.jpeg"/><Relationship Id="rId7" Type="http://schemas.openxmlformats.org/officeDocument/2006/relationships/image" Target="../media/image29.jpeg"/><Relationship Id="rId12" Type="http://schemas.openxmlformats.org/officeDocument/2006/relationships/image" Target="../media/image30.svg"/><Relationship Id="rId17" Type="http://schemas.openxmlformats.org/officeDocument/2006/relationships/image" Target="../media/image32.svg"/><Relationship Id="rId2" Type="http://schemas.openxmlformats.org/officeDocument/2006/relationships/notesSlide" Target="../notesSlides/notesSlide6.xml"/><Relationship Id="rId16" Type="http://schemas.openxmlformats.org/officeDocument/2006/relationships/image" Target="../media/image18.png"/><Relationship Id="rId20" Type="http://schemas.openxmlformats.org/officeDocument/2006/relationships/image" Target="../media/image35.jpeg"/><Relationship Id="rId1" Type="http://schemas.openxmlformats.org/officeDocument/2006/relationships/slideLayout" Target="../slideLayouts/slideLayout19.xml"/><Relationship Id="rId6" Type="http://schemas.openxmlformats.org/officeDocument/2006/relationships/image" Target="../media/image7.jpeg"/><Relationship Id="rId11" Type="http://schemas.openxmlformats.org/officeDocument/2006/relationships/image" Target="../media/image11.png"/><Relationship Id="rId5" Type="http://schemas.openxmlformats.org/officeDocument/2006/relationships/image" Target="../media/image28.jpeg"/><Relationship Id="rId15" Type="http://schemas.openxmlformats.org/officeDocument/2006/relationships/image" Target="../media/image15.png"/><Relationship Id="rId10" Type="http://schemas.microsoft.com/office/2007/relationships/hdphoto" Target="../media/hdphoto1.wdp"/><Relationship Id="rId19" Type="http://schemas.openxmlformats.org/officeDocument/2006/relationships/image" Target="../media/image34.jpeg"/><Relationship Id="rId4" Type="http://schemas.openxmlformats.org/officeDocument/2006/relationships/image" Target="../media/image27.svg"/><Relationship Id="rId9" Type="http://schemas.openxmlformats.org/officeDocument/2006/relationships/image" Target="../media/image10.png"/><Relationship Id="rId14" Type="http://schemas.openxmlformats.org/officeDocument/2006/relationships/image" Target="../media/image31.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5.png"/><Relationship Id="rId18" Type="http://schemas.openxmlformats.org/officeDocument/2006/relationships/image" Target="../media/image20.jpeg"/><Relationship Id="rId3" Type="http://schemas.openxmlformats.org/officeDocument/2006/relationships/image" Target="../media/image6.jpeg"/><Relationship Id="rId21" Type="http://schemas.openxmlformats.org/officeDocument/2006/relationships/image" Target="../media/image23.jpeg"/><Relationship Id="rId7" Type="http://schemas.openxmlformats.org/officeDocument/2006/relationships/image" Target="../media/image10.png"/><Relationship Id="rId12" Type="http://schemas.openxmlformats.org/officeDocument/2006/relationships/image" Target="../media/image14.svg"/><Relationship Id="rId17" Type="http://schemas.openxmlformats.org/officeDocument/2006/relationships/image" Target="../media/image19.svg"/><Relationship Id="rId2" Type="http://schemas.openxmlformats.org/officeDocument/2006/relationships/notesSlide" Target="../notesSlides/notesSlide7.xml"/><Relationship Id="rId16" Type="http://schemas.openxmlformats.org/officeDocument/2006/relationships/image" Target="../media/image18.png"/><Relationship Id="rId20" Type="http://schemas.openxmlformats.org/officeDocument/2006/relationships/image" Target="../media/image22.jpeg"/><Relationship Id="rId1" Type="http://schemas.openxmlformats.org/officeDocument/2006/relationships/slideLayout" Target="../slideLayouts/slideLayout16.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8.jpeg"/><Relationship Id="rId15" Type="http://schemas.openxmlformats.org/officeDocument/2006/relationships/image" Target="../media/image17.svg"/><Relationship Id="rId23" Type="http://schemas.openxmlformats.org/officeDocument/2006/relationships/image" Target="../media/image38.svg"/><Relationship Id="rId10" Type="http://schemas.openxmlformats.org/officeDocument/2006/relationships/image" Target="../media/image12.svg"/><Relationship Id="rId19" Type="http://schemas.openxmlformats.org/officeDocument/2006/relationships/image" Target="../media/image21.jpeg"/><Relationship Id="rId4" Type="http://schemas.openxmlformats.org/officeDocument/2006/relationships/image" Target="../media/image7.jpe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hyperlink" Target="https://xxx.champion.wis2dev.io/prometheus" TargetMode="External"/><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hyperlink" Target="https://xxx.champion.wis2dev.io/grafana/"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0563E35-7C2F-CF05-8A9D-C2464ECD6E94}"/>
              </a:ext>
            </a:extLst>
          </p:cNvPr>
          <p:cNvSpPr>
            <a:spLocks noGrp="1"/>
          </p:cNvSpPr>
          <p:nvPr>
            <p:ph idx="1"/>
          </p:nvPr>
        </p:nvSpPr>
        <p:spPr>
          <a:xfrm>
            <a:off x="838200" y="1764781"/>
            <a:ext cx="10515600" cy="4351338"/>
          </a:xfrm>
        </p:spPr>
        <p:txBody>
          <a:bodyPr>
            <a:normAutofit/>
          </a:bodyPr>
          <a:lstStyle/>
          <a:p>
            <a:endParaRPr lang="en-US" sz="2600" i="1" dirty="0">
              <a:solidFill>
                <a:schemeClr val="bg1"/>
              </a:solidFill>
              <a:latin typeface="+mn-lt"/>
              <a:ea typeface="+mn-ea"/>
              <a:cs typeface="Calibri" panose="020F0502020204030204" pitchFamily="34" charset="0"/>
            </a:endParaRPr>
          </a:p>
          <a:p>
            <a:pPr marL="0" indent="0">
              <a:buNone/>
            </a:pPr>
            <a:r>
              <a:rPr lang="fr-FR" sz="3600" b="1" i="1" dirty="0">
                <a:latin typeface="Aptos" panose="020B0004020202020204" pitchFamily="34" charset="0"/>
              </a:rPr>
              <a:t>Deep Dive on Global Monitor</a:t>
            </a:r>
          </a:p>
          <a:p>
            <a:pPr marL="0" indent="0">
              <a:buNone/>
            </a:pPr>
            <a:endParaRPr lang="en-US" sz="2600" i="1" dirty="0">
              <a:solidFill>
                <a:schemeClr val="bg1"/>
              </a:solidFill>
              <a:latin typeface="+mn-lt"/>
              <a:ea typeface="+mn-ea"/>
              <a:cs typeface="Calibri" panose="020F0502020204030204" pitchFamily="34" charset="0"/>
            </a:endParaRPr>
          </a:p>
          <a:p>
            <a:endParaRPr lang="en-US" sz="2600" i="1" dirty="0">
              <a:solidFill>
                <a:schemeClr val="bg1"/>
              </a:solidFill>
              <a:latin typeface="+mn-lt"/>
              <a:ea typeface="+mn-ea"/>
              <a:cs typeface="Calibri" panose="020F0502020204030204" pitchFamily="34" charset="0"/>
            </a:endParaRPr>
          </a:p>
          <a:p>
            <a:pPr marL="0" indent="0">
              <a:buNone/>
            </a:pPr>
            <a:r>
              <a:rPr lang="en-US" sz="2200" i="1" dirty="0">
                <a:solidFill>
                  <a:schemeClr val="bg1"/>
                </a:solidFill>
                <a:latin typeface="+mn-lt"/>
                <a:ea typeface="+mn-ea"/>
                <a:cs typeface="Calibri" panose="020F0502020204030204" pitchFamily="34" charset="0"/>
              </a:rPr>
              <a:t>Rémy Giraud, Chems Eddine El </a:t>
            </a:r>
            <a:r>
              <a:rPr lang="en-US" sz="2200" i="1" dirty="0" err="1">
                <a:solidFill>
                  <a:schemeClr val="bg1"/>
                </a:solidFill>
                <a:latin typeface="+mn-lt"/>
                <a:ea typeface="+mn-ea"/>
                <a:cs typeface="Calibri" panose="020F0502020204030204" pitchFamily="34" charset="0"/>
              </a:rPr>
              <a:t>Garrai</a:t>
            </a:r>
            <a:endParaRPr lang="en-US" sz="2200" i="1" dirty="0">
              <a:solidFill>
                <a:schemeClr val="bg1"/>
              </a:solidFill>
              <a:latin typeface="+mn-lt"/>
              <a:ea typeface="+mn-ea"/>
              <a:cs typeface="Calibri" panose="020F0502020204030204" pitchFamily="34" charset="0"/>
            </a:endParaRPr>
          </a:p>
          <a:p>
            <a:endParaRPr lang="fr-FR" dirty="0"/>
          </a:p>
        </p:txBody>
      </p:sp>
      <p:sp>
        <p:nvSpPr>
          <p:cNvPr id="5" name="TextBox 4">
            <a:extLst>
              <a:ext uri="{FF2B5EF4-FFF2-40B4-BE49-F238E27FC236}">
                <a16:creationId xmlns:a16="http://schemas.microsoft.com/office/drawing/2014/main" id="{5B955D4E-58D7-5924-ECE5-E52B0960CA98}"/>
              </a:ext>
            </a:extLst>
          </p:cNvPr>
          <p:cNvSpPr txBox="1"/>
          <p:nvPr/>
        </p:nvSpPr>
        <p:spPr>
          <a:xfrm>
            <a:off x="1188244" y="304800"/>
            <a:ext cx="9815512" cy="1692771"/>
          </a:xfrm>
          <a:prstGeom prst="rect">
            <a:avLst/>
          </a:prstGeom>
          <a:noFill/>
        </p:spPr>
        <p:txBody>
          <a:bodyPr wrap="square" rtlCol="0">
            <a:spAutoFit/>
          </a:bodyPr>
          <a:lstStyle/>
          <a:p>
            <a:pPr algn="ctr"/>
            <a:r>
              <a:rPr lang="en-GB" sz="2800" b="1" dirty="0">
                <a:solidFill>
                  <a:schemeClr val="bg1"/>
                </a:solidFill>
              </a:rPr>
              <a:t>WIS2 Champions Training</a:t>
            </a:r>
          </a:p>
          <a:p>
            <a:pPr algn="ctr"/>
            <a:r>
              <a:rPr lang="en-GB" sz="2800" b="1" dirty="0">
                <a:solidFill>
                  <a:schemeClr val="bg1"/>
                </a:solidFill>
              </a:rPr>
              <a:t>​</a:t>
            </a:r>
            <a:br>
              <a:rPr lang="en-GB" sz="2800" b="1" dirty="0">
                <a:solidFill>
                  <a:schemeClr val="bg1"/>
                </a:solidFill>
              </a:rPr>
            </a:br>
            <a:r>
              <a:rPr lang="en-GB" sz="2000" b="1" i="1" dirty="0">
                <a:solidFill>
                  <a:schemeClr val="bg1"/>
                </a:solidFill>
              </a:rPr>
              <a:t>(30 March – 4 April 2026 - Bali)</a:t>
            </a:r>
            <a:r>
              <a:rPr lang="en-GB" sz="2000" b="1" dirty="0">
                <a:solidFill>
                  <a:schemeClr val="bg1"/>
                </a:solidFill>
              </a:rPr>
              <a:t>​</a:t>
            </a:r>
            <a:br>
              <a:rPr lang="en-GB" sz="2800" b="1" dirty="0">
                <a:solidFill>
                  <a:schemeClr val="bg1"/>
                </a:solidFill>
              </a:rPr>
            </a:br>
            <a:endParaRPr lang="en-GB" sz="2800" b="1" dirty="0">
              <a:solidFill>
                <a:schemeClr val="bg1"/>
              </a:solidFill>
            </a:endParaRPr>
          </a:p>
        </p:txBody>
      </p:sp>
    </p:spTree>
    <p:extLst>
      <p:ext uri="{BB962C8B-B14F-4D97-AF65-F5344CB8AC3E}">
        <p14:creationId xmlns:p14="http://schemas.microsoft.com/office/powerpoint/2010/main" val="2835597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7EA2EF2-EAF5-48FB-A301-1E55CE2F0B46}"/>
              </a:ext>
            </a:extLst>
          </p:cNvPr>
          <p:cNvSpPr>
            <a:spLocks noGrp="1"/>
          </p:cNvSpPr>
          <p:nvPr>
            <p:ph type="title"/>
          </p:nvPr>
        </p:nvSpPr>
        <p:spPr/>
        <p:txBody>
          <a:bodyPr>
            <a:normAutofit/>
          </a:bodyPr>
          <a:lstStyle/>
          <a:p>
            <a:r>
              <a:rPr lang="en-US" altLang="ja-JP" dirty="0"/>
              <a:t>Introduction</a:t>
            </a:r>
            <a:endParaRPr lang="ja-JP" altLang="en-US" dirty="0"/>
          </a:p>
        </p:txBody>
      </p:sp>
    </p:spTree>
    <p:extLst>
      <p:ext uri="{BB962C8B-B14F-4D97-AF65-F5344CB8AC3E}">
        <p14:creationId xmlns:p14="http://schemas.microsoft.com/office/powerpoint/2010/main" val="3448479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0FDC-0851-40B5-A8A5-3503996B8582}"/>
              </a:ext>
            </a:extLst>
          </p:cNvPr>
          <p:cNvSpPr>
            <a:spLocks noGrp="1"/>
          </p:cNvSpPr>
          <p:nvPr>
            <p:ph type="title"/>
          </p:nvPr>
        </p:nvSpPr>
        <p:spPr>
          <a:xfrm>
            <a:off x="836690" y="0"/>
            <a:ext cx="10515600" cy="1325563"/>
          </a:xfrm>
        </p:spPr>
        <p:txBody>
          <a:bodyPr/>
          <a:lstStyle/>
          <a:p>
            <a:r>
              <a:rPr lang="en-US" sz="2400" dirty="0"/>
              <a:t>Why do we need monitoring ?</a:t>
            </a:r>
          </a:p>
        </p:txBody>
      </p:sp>
      <p:sp>
        <p:nvSpPr>
          <p:cNvPr id="3" name="Content Placeholder 2">
            <a:extLst>
              <a:ext uri="{FF2B5EF4-FFF2-40B4-BE49-F238E27FC236}">
                <a16:creationId xmlns:a16="http://schemas.microsoft.com/office/drawing/2014/main" id="{35B8946E-350C-4284-BA31-9BD66A2C5856}"/>
              </a:ext>
            </a:extLst>
          </p:cNvPr>
          <p:cNvSpPr>
            <a:spLocks noGrp="1"/>
          </p:cNvSpPr>
          <p:nvPr>
            <p:ph idx="1"/>
          </p:nvPr>
        </p:nvSpPr>
        <p:spPr>
          <a:xfrm>
            <a:off x="1979690" y="1074737"/>
            <a:ext cx="8229600" cy="4708525"/>
          </a:xfrm>
        </p:spPr>
        <p:txBody>
          <a:bodyPr>
            <a:normAutofit/>
          </a:bodyPr>
          <a:lstStyle/>
          <a:p>
            <a:pPr algn="l"/>
            <a:r>
              <a:rPr lang="en-US" sz="2100" dirty="0">
                <a:latin typeface="-apple-system"/>
              </a:rPr>
              <a:t>WIS 2.0 is a global IT system</a:t>
            </a:r>
          </a:p>
          <a:p>
            <a:pPr algn="l"/>
            <a:r>
              <a:rPr lang="en-US" sz="2100" dirty="0">
                <a:latin typeface="-apple-system"/>
              </a:rPr>
              <a:t>Like any IT system to ensure its health, it must be monitored</a:t>
            </a:r>
          </a:p>
          <a:p>
            <a:pPr algn="l"/>
            <a:r>
              <a:rPr lang="en-US" sz="2100" dirty="0">
                <a:latin typeface="-apple-system"/>
              </a:rPr>
              <a:t>Unlike, an IT system that it fully managed by one entity, WIS 2.0 is by design distributed</a:t>
            </a:r>
          </a:p>
          <a:p>
            <a:pPr algn="l"/>
            <a:r>
              <a:rPr lang="en-US" sz="2100" dirty="0">
                <a:latin typeface="-apple-system"/>
              </a:rPr>
              <a:t>Therefore, we designed a solution that allows measuring the health of the system (among other things) without requiring extended privileged on the system</a:t>
            </a:r>
          </a:p>
          <a:p>
            <a:pPr algn="l"/>
            <a:endParaRPr lang="en-US" sz="1600" dirty="0">
              <a:latin typeface="-apple-system"/>
            </a:endParaRPr>
          </a:p>
        </p:txBody>
      </p:sp>
      <p:sp>
        <p:nvSpPr>
          <p:cNvPr id="4" name="Slide Number Placeholder 35">
            <a:extLst>
              <a:ext uri="{FF2B5EF4-FFF2-40B4-BE49-F238E27FC236}">
                <a16:creationId xmlns:a16="http://schemas.microsoft.com/office/drawing/2014/main" id="{509C91F4-D78D-9443-B1B9-68BE5DE4692A}"/>
              </a:ext>
            </a:extLst>
          </p:cNvPr>
          <p:cNvSpPr>
            <a:spLocks noGrp="1"/>
          </p:cNvSpPr>
          <p:nvPr>
            <p:ph type="sldNum" sz="quarter" idx="12"/>
          </p:nvPr>
        </p:nvSpPr>
        <p:spPr>
          <a:xfrm>
            <a:off x="8610600" y="6584156"/>
            <a:ext cx="2057400" cy="273844"/>
          </a:xfrm>
        </p:spPr>
        <p:txBody>
          <a:bodyPr/>
          <a:lstStyle/>
          <a:p>
            <a:fld id="{02FCD5AC-5239-4317-A018-1F813C8A6B43}" type="slidenum">
              <a:rPr lang="en-GB" smtClean="0">
                <a:solidFill>
                  <a:schemeClr val="bg1">
                    <a:lumMod val="65000"/>
                  </a:schemeClr>
                </a:solidFill>
              </a:rPr>
              <a:t>3</a:t>
            </a:fld>
            <a:endParaRPr lang="en-GB" dirty="0">
              <a:solidFill>
                <a:schemeClr val="bg1">
                  <a:lumMod val="65000"/>
                </a:schemeClr>
              </a:solidFill>
            </a:endParaRPr>
          </a:p>
        </p:txBody>
      </p:sp>
    </p:spTree>
    <p:extLst>
      <p:ext uri="{BB962C8B-B14F-4D97-AF65-F5344CB8AC3E}">
        <p14:creationId xmlns:p14="http://schemas.microsoft.com/office/powerpoint/2010/main" val="3572833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69983-6ED7-40FA-061F-01E26E711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9A6EA-4ECD-3751-3485-B7FEE8C56E66}"/>
              </a:ext>
            </a:extLst>
          </p:cNvPr>
          <p:cNvSpPr>
            <a:spLocks noGrp="1"/>
          </p:cNvSpPr>
          <p:nvPr>
            <p:ph type="title"/>
          </p:nvPr>
        </p:nvSpPr>
        <p:spPr>
          <a:xfrm>
            <a:off x="836690" y="0"/>
            <a:ext cx="10515600" cy="1325563"/>
          </a:xfrm>
        </p:spPr>
        <p:txBody>
          <a:bodyPr/>
          <a:lstStyle/>
          <a:p>
            <a:r>
              <a:rPr lang="en-US" sz="2400" dirty="0"/>
              <a:t>What for do we need monitoring ?</a:t>
            </a:r>
          </a:p>
        </p:txBody>
      </p:sp>
      <p:sp>
        <p:nvSpPr>
          <p:cNvPr id="3" name="Content Placeholder 2">
            <a:extLst>
              <a:ext uri="{FF2B5EF4-FFF2-40B4-BE49-F238E27FC236}">
                <a16:creationId xmlns:a16="http://schemas.microsoft.com/office/drawing/2014/main" id="{F3458AEC-2336-99A4-905D-2A7316822B4B}"/>
              </a:ext>
            </a:extLst>
          </p:cNvPr>
          <p:cNvSpPr>
            <a:spLocks noGrp="1"/>
          </p:cNvSpPr>
          <p:nvPr>
            <p:ph idx="1"/>
          </p:nvPr>
        </p:nvSpPr>
        <p:spPr>
          <a:xfrm>
            <a:off x="1979690" y="972318"/>
            <a:ext cx="8229600" cy="4708525"/>
          </a:xfrm>
        </p:spPr>
        <p:txBody>
          <a:bodyPr>
            <a:normAutofit/>
          </a:bodyPr>
          <a:lstStyle/>
          <a:p>
            <a:pPr algn="l"/>
            <a:r>
              <a:rPr lang="en-US" sz="2100" dirty="0">
                <a:latin typeface="-apple-system"/>
              </a:rPr>
              <a:t>First and foremost, we need to monitor the IT system for successful operations</a:t>
            </a:r>
          </a:p>
          <a:p>
            <a:pPr lvl="1" algn="l"/>
            <a:r>
              <a:rPr lang="en-US" sz="1600" b="1" dirty="0">
                <a:latin typeface="-apple-system"/>
              </a:rPr>
              <a:t>WIS2 Operations</a:t>
            </a:r>
          </a:p>
          <a:p>
            <a:pPr lvl="2" algn="l"/>
            <a:r>
              <a:rPr lang="en-US" sz="1200" dirty="0">
                <a:latin typeface="-apple-system"/>
              </a:rPr>
              <a:t>Monitoring of WIS 2 (e.g. availability, SLAs, etc.)</a:t>
            </a:r>
          </a:p>
          <a:p>
            <a:pPr algn="l"/>
            <a:r>
              <a:rPr lang="en-US" sz="2000" dirty="0">
                <a:latin typeface="-apple-system"/>
              </a:rPr>
              <a:t>However, other aspects could also benefit of the monitoring solution</a:t>
            </a:r>
          </a:p>
          <a:p>
            <a:pPr lvl="1" algn="l"/>
            <a:r>
              <a:rPr lang="en-US" sz="1700" b="1" dirty="0">
                <a:latin typeface="-apple-system"/>
              </a:rPr>
              <a:t>GBON and SOFF</a:t>
            </a:r>
          </a:p>
          <a:p>
            <a:pPr lvl="2" algn="l"/>
            <a:r>
              <a:rPr lang="en-US" sz="1200" dirty="0">
                <a:latin typeface="-apple-system"/>
              </a:rPr>
              <a:t>In order to follow GBON (and SOFF) implementation, it will be necessary to monitor the volume and the quality of data available</a:t>
            </a:r>
          </a:p>
          <a:p>
            <a:pPr lvl="1" algn="l"/>
            <a:r>
              <a:rPr lang="en-US" sz="1700" b="1" dirty="0">
                <a:latin typeface="-apple-system"/>
              </a:rPr>
              <a:t>GTS to WIS2 Migration</a:t>
            </a:r>
          </a:p>
          <a:p>
            <a:pPr lvl="2" algn="l"/>
            <a:r>
              <a:rPr lang="en-US" sz="1200" dirty="0">
                <a:latin typeface="-apple-system"/>
              </a:rPr>
              <a:t>An important element will be to follow the transition from the GTS to WIS2 and to know </a:t>
            </a:r>
          </a:p>
          <a:p>
            <a:pPr lvl="1" algn="l"/>
            <a:r>
              <a:rPr lang="en-US" sz="1700" b="1" dirty="0">
                <a:latin typeface="-apple-system"/>
              </a:rPr>
              <a:t>Data quality monitoring</a:t>
            </a:r>
          </a:p>
          <a:p>
            <a:pPr lvl="2" algn="l"/>
            <a:r>
              <a:rPr lang="en-US" sz="1200" dirty="0">
                <a:latin typeface="-apple-system"/>
              </a:rPr>
              <a:t>Improving what is currently available with WDQMS will require to review the solution currently used</a:t>
            </a:r>
          </a:p>
          <a:p>
            <a:pPr lvl="1" algn="l"/>
            <a:r>
              <a:rPr lang="en-US" sz="1600" dirty="0">
                <a:latin typeface="-apple-system"/>
              </a:rPr>
              <a:t>…</a:t>
            </a:r>
          </a:p>
          <a:p>
            <a:pPr lvl="1" algn="l"/>
            <a:endParaRPr lang="en-US" sz="1600" dirty="0">
              <a:latin typeface="-apple-system"/>
            </a:endParaRPr>
          </a:p>
        </p:txBody>
      </p:sp>
      <p:sp>
        <p:nvSpPr>
          <p:cNvPr id="4" name="Slide Number Placeholder 35">
            <a:extLst>
              <a:ext uri="{FF2B5EF4-FFF2-40B4-BE49-F238E27FC236}">
                <a16:creationId xmlns:a16="http://schemas.microsoft.com/office/drawing/2014/main" id="{4EA798D9-6178-7F9E-63E1-0B94CB0C0335}"/>
              </a:ext>
            </a:extLst>
          </p:cNvPr>
          <p:cNvSpPr>
            <a:spLocks noGrp="1"/>
          </p:cNvSpPr>
          <p:nvPr>
            <p:ph type="sldNum" sz="quarter" idx="12"/>
          </p:nvPr>
        </p:nvSpPr>
        <p:spPr>
          <a:xfrm>
            <a:off x="8610600" y="6584156"/>
            <a:ext cx="2057400" cy="273844"/>
          </a:xfrm>
        </p:spPr>
        <p:txBody>
          <a:bodyPr/>
          <a:lstStyle/>
          <a:p>
            <a:fld id="{02FCD5AC-5239-4317-A018-1F813C8A6B43}" type="slidenum">
              <a:rPr lang="en-GB" smtClean="0">
                <a:solidFill>
                  <a:schemeClr val="bg1">
                    <a:lumMod val="65000"/>
                  </a:schemeClr>
                </a:solidFill>
              </a:rPr>
              <a:t>4</a:t>
            </a:fld>
            <a:endParaRPr lang="en-GB" dirty="0">
              <a:solidFill>
                <a:schemeClr val="bg1">
                  <a:lumMod val="65000"/>
                </a:schemeClr>
              </a:solidFill>
            </a:endParaRPr>
          </a:p>
        </p:txBody>
      </p:sp>
    </p:spTree>
    <p:extLst>
      <p:ext uri="{BB962C8B-B14F-4D97-AF65-F5344CB8AC3E}">
        <p14:creationId xmlns:p14="http://schemas.microsoft.com/office/powerpoint/2010/main" val="3397574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614805" y="2250440"/>
            <a:ext cx="9009380" cy="4607560"/>
          </a:xfrm>
          <a:prstGeom prst="rect">
            <a:avLst/>
          </a:prstGeom>
        </p:spPr>
      </p:pic>
      <p:sp>
        <p:nvSpPr>
          <p:cNvPr id="3" name="文本框 2"/>
          <p:cNvSpPr txBox="1"/>
          <p:nvPr/>
        </p:nvSpPr>
        <p:spPr>
          <a:xfrm>
            <a:off x="502920" y="840740"/>
            <a:ext cx="11032490" cy="1303020"/>
          </a:xfrm>
          <a:prstGeom prst="rect">
            <a:avLst/>
          </a:prstGeom>
          <a:noFill/>
        </p:spPr>
        <p:txBody>
          <a:bodyPr wrap="square" rtlCol="0" anchor="t">
            <a:spAutoFit/>
          </a:bodyPr>
          <a:lstStyle/>
          <a:p>
            <a:pPr algn="l">
              <a:lnSpc>
                <a:spcPts val="2265"/>
              </a:lnSpc>
              <a:buClrTx/>
              <a:buSzTx/>
              <a:buFontTx/>
              <a:defRPr/>
            </a:pPr>
            <a:r>
              <a:rPr lang="en-US" altLang="zh-CN" sz="2100" dirty="0">
                <a:latin typeface="-apple-system"/>
                <a:cs typeface="Arial" panose="020B0604020202020204" pitchFamily="34" charset="0"/>
                <a:sym typeface="+mn-ea"/>
              </a:rPr>
              <a:t>Global Monitor: Provides monitoring dashboards based on metrics collected from other Global Services and alerting mechanism to ensure 24/7 operations.</a:t>
            </a:r>
            <a:endParaRPr lang="en-US" altLang="zh-CN" sz="2100" dirty="0">
              <a:latin typeface="-apple-system"/>
              <a:cs typeface="Arial" panose="020B0604020202020204" pitchFamily="34" charset="0"/>
            </a:endParaRPr>
          </a:p>
          <a:p>
            <a:pPr marL="285750" indent="-285750" algn="just" defTabSz="1200785" fontAlgn="base">
              <a:spcBef>
                <a:spcPts val="600"/>
              </a:spcBef>
              <a:buFont typeface="Wingdings" panose="05000000000000000000" pitchFamily="2" charset="2"/>
              <a:buChar char="n"/>
              <a:defRPr/>
            </a:pPr>
            <a:r>
              <a:rPr lang="en-US" altLang="zh-CN" dirty="0">
                <a:solidFill>
                  <a:srgbClr val="005BAC"/>
                </a:solidFill>
                <a:latin typeface="Cambria" panose="02040503050406030204" pitchFamily="18" charset="0"/>
                <a:ea typeface="Cambria" panose="02040503050406030204" pitchFamily="18" charset="0"/>
                <a:cs typeface="Arial" panose="020B0604020202020204" pitchFamily="34" charset="0"/>
                <a:sym typeface="+mn-ea"/>
              </a:rPr>
              <a:t>GM scrapes the metrics from the other Global Services and displays them on the </a:t>
            </a:r>
            <a:r>
              <a:rPr lang="en-US" altLang="zh-CN" b="1" dirty="0">
                <a:solidFill>
                  <a:srgbClr val="FF0000"/>
                </a:solidFill>
                <a:latin typeface="Cambria" panose="02040503050406030204" pitchFamily="18" charset="0"/>
                <a:ea typeface="Cambria" panose="02040503050406030204" pitchFamily="18" charset="0"/>
                <a:cs typeface="Arial" panose="020B0604020202020204" pitchFamily="34" charset="0"/>
                <a:sym typeface="+mn-ea"/>
              </a:rPr>
              <a:t>dashboard</a:t>
            </a:r>
            <a:r>
              <a:rPr lang="en-US" altLang="zh-CN" dirty="0">
                <a:solidFill>
                  <a:srgbClr val="005BAC"/>
                </a:solidFill>
                <a:latin typeface="Cambria" panose="02040503050406030204" pitchFamily="18" charset="0"/>
                <a:ea typeface="Cambria" panose="02040503050406030204" pitchFamily="18" charset="0"/>
                <a:cs typeface="Arial" panose="020B0604020202020204" pitchFamily="34" charset="0"/>
                <a:sym typeface="+mn-ea"/>
              </a:rPr>
              <a:t>, and raises </a:t>
            </a:r>
            <a:r>
              <a:rPr lang="en-US" altLang="zh-CN" b="1" dirty="0">
                <a:solidFill>
                  <a:srgbClr val="FF0000"/>
                </a:solidFill>
                <a:latin typeface="Cambria" panose="02040503050406030204" pitchFamily="18" charset="0"/>
                <a:ea typeface="Cambria" panose="02040503050406030204" pitchFamily="18" charset="0"/>
                <a:cs typeface="Arial" panose="020B0604020202020204" pitchFamily="34" charset="0"/>
                <a:sym typeface="+mn-ea"/>
              </a:rPr>
              <a:t>alerts</a:t>
            </a:r>
            <a:r>
              <a:rPr lang="en-US" altLang="zh-CN" dirty="0">
                <a:solidFill>
                  <a:srgbClr val="005BAC"/>
                </a:solidFill>
                <a:latin typeface="Cambria" panose="02040503050406030204" pitchFamily="18" charset="0"/>
                <a:ea typeface="Cambria" panose="02040503050406030204" pitchFamily="18" charset="0"/>
                <a:cs typeface="Arial" panose="020B0604020202020204" pitchFamily="34" charset="0"/>
                <a:sym typeface="+mn-ea"/>
              </a:rPr>
              <a:t> according the rules.</a:t>
            </a:r>
          </a:p>
        </p:txBody>
      </p:sp>
      <p:sp>
        <p:nvSpPr>
          <p:cNvPr id="4" name="文本框 3"/>
          <p:cNvSpPr txBox="1"/>
          <p:nvPr/>
        </p:nvSpPr>
        <p:spPr>
          <a:xfrm>
            <a:off x="2493010" y="4538345"/>
            <a:ext cx="669925" cy="275590"/>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pPr lvl="0" algn="l">
              <a:buClrTx/>
              <a:buSzTx/>
              <a:buFontTx/>
            </a:pPr>
            <a:r>
              <a:rPr lang="zh-CN" altLang="en-US" sz="1200" b="1">
                <a:latin typeface="微软雅黑" panose="020B0503020204020204" pitchFamily="34" charset="-122"/>
                <a:ea typeface="微软雅黑" panose="020B0503020204020204" pitchFamily="34" charset="-122"/>
                <a:cs typeface="微软雅黑" panose="020B0503020204020204" pitchFamily="34" charset="-122"/>
                <a:sym typeface="+mn-ea"/>
              </a:rPr>
              <a:t>（GC）</a:t>
            </a:r>
          </a:p>
        </p:txBody>
      </p:sp>
      <p:sp>
        <p:nvSpPr>
          <p:cNvPr id="5" name="文本框 4"/>
          <p:cNvSpPr txBox="1"/>
          <p:nvPr/>
        </p:nvSpPr>
        <p:spPr>
          <a:xfrm>
            <a:off x="4768215" y="4527550"/>
            <a:ext cx="669925" cy="275590"/>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pPr lvl="0" algn="l">
              <a:buClrTx/>
              <a:buSzTx/>
              <a:buFontTx/>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（GB）</a:t>
            </a:r>
          </a:p>
        </p:txBody>
      </p:sp>
      <p:sp>
        <p:nvSpPr>
          <p:cNvPr id="6" name="文本框 5"/>
          <p:cNvSpPr txBox="1"/>
          <p:nvPr/>
        </p:nvSpPr>
        <p:spPr>
          <a:xfrm>
            <a:off x="7649210" y="4549140"/>
            <a:ext cx="737870" cy="275590"/>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r>
              <a:rPr lang="zh-CN" altLang="en-US" sz="12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b="1">
                <a:latin typeface="微软雅黑" panose="020B0503020204020204" pitchFamily="34" charset="-122"/>
                <a:ea typeface="微软雅黑" panose="020B0503020204020204" pitchFamily="34" charset="-122"/>
                <a:cs typeface="微软雅黑" panose="020B0503020204020204" pitchFamily="34" charset="-122"/>
              </a:rPr>
              <a:t>GDC</a:t>
            </a:r>
            <a:r>
              <a:rPr lang="zh-CN" altLang="en-US" sz="1200" b="1">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7" name="文本框 6"/>
          <p:cNvSpPr txBox="1"/>
          <p:nvPr/>
        </p:nvSpPr>
        <p:spPr>
          <a:xfrm>
            <a:off x="9812655" y="4566920"/>
            <a:ext cx="737870" cy="275590"/>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pPr lvl="0" algn="l">
              <a:buClrTx/>
              <a:buSzTx/>
              <a:buFontTx/>
            </a:pPr>
            <a:r>
              <a:rPr lang="zh-CN" altLang="en-US" sz="1200" b="1">
                <a:latin typeface="微软雅黑" panose="020B0503020204020204" pitchFamily="34" charset="-122"/>
                <a:ea typeface="微软雅黑" panose="020B0503020204020204" pitchFamily="34" charset="-122"/>
                <a:cs typeface="微软雅黑" panose="020B0503020204020204" pitchFamily="34" charset="-122"/>
                <a:sym typeface="+mn-ea"/>
              </a:rPr>
              <a:t>（GM）</a:t>
            </a:r>
          </a:p>
        </p:txBody>
      </p:sp>
      <p:sp>
        <p:nvSpPr>
          <p:cNvPr id="10" name="ZoneTexte 9">
            <a:extLst>
              <a:ext uri="{FF2B5EF4-FFF2-40B4-BE49-F238E27FC236}">
                <a16:creationId xmlns:a16="http://schemas.microsoft.com/office/drawing/2014/main" id="{298AF213-4504-B581-F793-135BEBD8D20C}"/>
              </a:ext>
            </a:extLst>
          </p:cNvPr>
          <p:cNvSpPr txBox="1"/>
          <p:nvPr/>
        </p:nvSpPr>
        <p:spPr>
          <a:xfrm>
            <a:off x="2971165" y="272548"/>
            <a:ext cx="6096000" cy="424732"/>
          </a:xfrm>
          <a:prstGeom prst="rect">
            <a:avLst/>
          </a:prstGeom>
          <a:noFill/>
        </p:spPr>
        <p:txBody>
          <a:bodyPr wrap="square">
            <a:spAutoFit/>
          </a:bodyPr>
          <a:lstStyle/>
          <a:p>
            <a:pPr algn="ctr">
              <a:lnSpc>
                <a:spcPct val="90000"/>
              </a:lnSpc>
              <a:spcBef>
                <a:spcPct val="0"/>
              </a:spcBef>
            </a:pPr>
            <a:r>
              <a:rPr lang="en-US" sz="2400" b="1" dirty="0">
                <a:solidFill>
                  <a:srgbClr val="005BAA"/>
                </a:solidFill>
                <a:latin typeface="Arial" panose="020B0604020202020204" pitchFamily="34" charset="0"/>
                <a:ea typeface="+mj-ea"/>
                <a:cs typeface="Arial" panose="020B0604020202020204" pitchFamily="34" charset="0"/>
                <a:sym typeface="+mn-ea"/>
              </a:rPr>
              <a:t>WIS2.0 Global Services(GS) </a:t>
            </a:r>
            <a:endParaRPr lang="en-US" sz="2400" b="1" dirty="0">
              <a:solidFill>
                <a:srgbClr val="005BAA"/>
              </a:solidFill>
              <a:latin typeface="Arial" panose="020B0604020202020204" pitchFamily="34" charset="0"/>
              <a:ea typeface="+mj-ea"/>
              <a:cs typeface="Arial" panose="020B0604020202020204" pitchFamily="34" charset="0"/>
            </a:endParaRPr>
          </a:p>
        </p:txBody>
      </p:sp>
      <p:sp>
        <p:nvSpPr>
          <p:cNvPr id="11" name="Accolades 10">
            <a:extLst>
              <a:ext uri="{FF2B5EF4-FFF2-40B4-BE49-F238E27FC236}">
                <a16:creationId xmlns:a16="http://schemas.microsoft.com/office/drawing/2014/main" id="{A98DA321-0266-200B-CF5E-803DE519A04C}"/>
              </a:ext>
            </a:extLst>
          </p:cNvPr>
          <p:cNvSpPr/>
          <p:nvPr/>
        </p:nvSpPr>
        <p:spPr>
          <a:xfrm>
            <a:off x="10363200" y="5295083"/>
            <a:ext cx="1643743" cy="555172"/>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725C345-E6C8-1173-E7EE-B158245074E7}"/>
              </a:ext>
            </a:extLst>
          </p:cNvPr>
          <p:cNvSpPr txBox="1"/>
          <p:nvPr/>
        </p:nvSpPr>
        <p:spPr>
          <a:xfrm>
            <a:off x="4286074" y="284116"/>
            <a:ext cx="3619901"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Monitoring architecture</a:t>
            </a:r>
          </a:p>
        </p:txBody>
      </p:sp>
      <p:pic>
        <p:nvPicPr>
          <p:cNvPr id="1026" name="Picture 2" descr="Prometheus Logo Download Vector">
            <a:extLst>
              <a:ext uri="{FF2B5EF4-FFF2-40B4-BE49-F238E27FC236}">
                <a16:creationId xmlns:a16="http://schemas.microsoft.com/office/drawing/2014/main" id="{5E60E0AD-A16E-19FC-DB76-198CB461EB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138" y="2631249"/>
            <a:ext cx="1016000" cy="8723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rafana, logo Free Icon of Vector Logo">
            <a:extLst>
              <a:ext uri="{FF2B5EF4-FFF2-40B4-BE49-F238E27FC236}">
                <a16:creationId xmlns:a16="http://schemas.microsoft.com/office/drawing/2014/main" id="{40BA06E9-22D5-67AE-5998-A6EBE5DB7B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9365" y="1642610"/>
            <a:ext cx="1406878" cy="70343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QL Server Database Logo - LogoDix">
            <a:extLst>
              <a:ext uri="{FF2B5EF4-FFF2-40B4-BE49-F238E27FC236}">
                <a16:creationId xmlns:a16="http://schemas.microsoft.com/office/drawing/2014/main" id="{6F856EC5-61E0-F81E-E180-6BBBAE847F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974835" y="3706837"/>
            <a:ext cx="780606" cy="96184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7710AE48-EE8C-A852-6ECE-E1E354769B48}"/>
              </a:ext>
            </a:extLst>
          </p:cNvPr>
          <p:cNvPicPr>
            <a:picLocks noChangeAspect="1"/>
          </p:cNvPicPr>
          <p:nvPr/>
        </p:nvPicPr>
        <p:blipFill>
          <a:blip r:embed="rId5"/>
          <a:stretch>
            <a:fillRect/>
          </a:stretch>
        </p:blipFill>
        <p:spPr>
          <a:xfrm>
            <a:off x="7632580" y="3852049"/>
            <a:ext cx="800100" cy="774700"/>
          </a:xfrm>
          <a:prstGeom prst="rect">
            <a:avLst/>
          </a:prstGeom>
        </p:spPr>
      </p:pic>
      <p:sp>
        <p:nvSpPr>
          <p:cNvPr id="3" name="Rounded Rectangle 2">
            <a:extLst>
              <a:ext uri="{FF2B5EF4-FFF2-40B4-BE49-F238E27FC236}">
                <a16:creationId xmlns:a16="http://schemas.microsoft.com/office/drawing/2014/main" id="{F08FD6B1-9D8A-6FA8-AFDD-D8B06C7E241F}"/>
              </a:ext>
            </a:extLst>
          </p:cNvPr>
          <p:cNvSpPr/>
          <p:nvPr/>
        </p:nvSpPr>
        <p:spPr>
          <a:xfrm>
            <a:off x="5563629" y="1642610"/>
            <a:ext cx="3391056" cy="3225955"/>
          </a:xfrm>
          <a:prstGeom prst="round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400247F4-DF70-9BBA-701A-787285C061F0}"/>
              </a:ext>
            </a:extLst>
          </p:cNvPr>
          <p:cNvPicPr>
            <a:picLocks noChangeAspect="1"/>
          </p:cNvPicPr>
          <p:nvPr/>
        </p:nvPicPr>
        <p:blipFill>
          <a:blip r:embed="rId6">
            <a:alphaModFix/>
            <a:extLst>
              <a:ext uri="{BEBA8EAE-BF5A-486C-A8C5-ECC9F3942E4B}">
                <a14:imgProps xmlns:a14="http://schemas.microsoft.com/office/drawing/2010/main">
                  <a14:imgLayer r:embed="rId7">
                    <a14:imgEffect>
                      <a14:colorTemperature colorTemp="6150"/>
                    </a14:imgEffect>
                    <a14:imgEffect>
                      <a14:saturation sat="400000"/>
                    </a14:imgEffect>
                  </a14:imgLayer>
                </a14:imgProps>
              </a:ext>
            </a:extLst>
          </a:blip>
          <a:stretch>
            <a:fillRect/>
          </a:stretch>
        </p:blipFill>
        <p:spPr>
          <a:xfrm>
            <a:off x="2523834" y="3876115"/>
            <a:ext cx="749597" cy="685801"/>
          </a:xfrm>
          <a:prstGeom prst="rect">
            <a:avLst/>
          </a:prstGeom>
        </p:spPr>
      </p:pic>
      <p:grpSp>
        <p:nvGrpSpPr>
          <p:cNvPr id="8" name="Group 7">
            <a:extLst>
              <a:ext uri="{FF2B5EF4-FFF2-40B4-BE49-F238E27FC236}">
                <a16:creationId xmlns:a16="http://schemas.microsoft.com/office/drawing/2014/main" id="{32F29FDE-44BA-F0F8-47FE-D2C87D3F6385}"/>
              </a:ext>
            </a:extLst>
          </p:cNvPr>
          <p:cNvGrpSpPr/>
          <p:nvPr/>
        </p:nvGrpSpPr>
        <p:grpSpPr>
          <a:xfrm>
            <a:off x="3898960" y="3867191"/>
            <a:ext cx="694640" cy="685800"/>
            <a:chOff x="3107885" y="2667808"/>
            <a:chExt cx="1256145" cy="1200330"/>
          </a:xfrm>
        </p:grpSpPr>
        <p:sp>
          <p:nvSpPr>
            <p:cNvPr id="9" name="Oval 8">
              <a:extLst>
                <a:ext uri="{FF2B5EF4-FFF2-40B4-BE49-F238E27FC236}">
                  <a16:creationId xmlns:a16="http://schemas.microsoft.com/office/drawing/2014/main" id="{CE443642-3F54-58EA-8CA0-61BB823B1669}"/>
                </a:ext>
              </a:extLst>
            </p:cNvPr>
            <p:cNvSpPr/>
            <p:nvPr/>
          </p:nvSpPr>
          <p:spPr>
            <a:xfrm>
              <a:off x="3107885" y="2667808"/>
              <a:ext cx="1256145" cy="1200330"/>
            </a:xfrm>
            <a:prstGeom prst="ellipse">
              <a:avLst/>
            </a:prstGeom>
            <a:gradFill>
              <a:gsLst>
                <a:gs pos="0">
                  <a:schemeClr val="accent5">
                    <a:lumMod val="75000"/>
                  </a:schemeClr>
                </a:gs>
                <a:gs pos="100000">
                  <a:schemeClr val="accent1">
                    <a:tint val="50000"/>
                    <a:shade val="100000"/>
                    <a:satMod val="3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sz="1350" dirty="0"/>
            </a:p>
          </p:txBody>
        </p:sp>
        <p:pic>
          <p:nvPicPr>
            <p:cNvPr id="10" name="Graphic 9" descr="Database with solid fill">
              <a:extLst>
                <a:ext uri="{FF2B5EF4-FFF2-40B4-BE49-F238E27FC236}">
                  <a16:creationId xmlns:a16="http://schemas.microsoft.com/office/drawing/2014/main" id="{B74C4C85-E8A9-7324-F667-BA689EDB6E6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60369" y="2810772"/>
              <a:ext cx="914400" cy="914399"/>
            </a:xfrm>
            <a:prstGeom prst="rect">
              <a:avLst/>
            </a:prstGeom>
          </p:spPr>
        </p:pic>
      </p:grpSp>
      <p:grpSp>
        <p:nvGrpSpPr>
          <p:cNvPr id="11" name="Group 10">
            <a:extLst>
              <a:ext uri="{FF2B5EF4-FFF2-40B4-BE49-F238E27FC236}">
                <a16:creationId xmlns:a16="http://schemas.microsoft.com/office/drawing/2014/main" id="{E092449B-43F2-44AC-95A9-C9F9B9CC7BD4}"/>
              </a:ext>
            </a:extLst>
          </p:cNvPr>
          <p:cNvGrpSpPr/>
          <p:nvPr/>
        </p:nvGrpSpPr>
        <p:grpSpPr>
          <a:xfrm>
            <a:off x="3421323" y="2757736"/>
            <a:ext cx="694640" cy="685800"/>
            <a:chOff x="3100578" y="2626881"/>
            <a:chExt cx="926187" cy="914400"/>
          </a:xfrm>
        </p:grpSpPr>
        <p:sp>
          <p:nvSpPr>
            <p:cNvPr id="12" name="Oval 11">
              <a:extLst>
                <a:ext uri="{FF2B5EF4-FFF2-40B4-BE49-F238E27FC236}">
                  <a16:creationId xmlns:a16="http://schemas.microsoft.com/office/drawing/2014/main" id="{994891C4-E488-D1A6-7C1A-C9DEB16D6E39}"/>
                </a:ext>
              </a:extLst>
            </p:cNvPr>
            <p:cNvSpPr/>
            <p:nvPr/>
          </p:nvSpPr>
          <p:spPr>
            <a:xfrm>
              <a:off x="3100578" y="2626881"/>
              <a:ext cx="926187" cy="914400"/>
            </a:xfrm>
            <a:prstGeom prst="ellipse">
              <a:avLst/>
            </a:prstGeom>
            <a:solidFill>
              <a:schemeClr val="accent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sz="1350" dirty="0"/>
            </a:p>
          </p:txBody>
        </p:sp>
        <p:pic>
          <p:nvPicPr>
            <p:cNvPr id="13" name="Graphic 12" descr="Network with solid fill">
              <a:extLst>
                <a:ext uri="{FF2B5EF4-FFF2-40B4-BE49-F238E27FC236}">
                  <a16:creationId xmlns:a16="http://schemas.microsoft.com/office/drawing/2014/main" id="{5FA00E50-5020-E006-FA28-95F4624E4B6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67308" y="2639091"/>
              <a:ext cx="789683" cy="789683"/>
            </a:xfrm>
            <a:prstGeom prst="rect">
              <a:avLst/>
            </a:prstGeom>
          </p:spPr>
        </p:pic>
      </p:grpSp>
      <p:cxnSp>
        <p:nvCxnSpPr>
          <p:cNvPr id="15" name="Straight Arrow Connector 14">
            <a:extLst>
              <a:ext uri="{FF2B5EF4-FFF2-40B4-BE49-F238E27FC236}">
                <a16:creationId xmlns:a16="http://schemas.microsoft.com/office/drawing/2014/main" id="{8BC021C8-F805-C689-83E0-B6115AF5CB93}"/>
              </a:ext>
            </a:extLst>
          </p:cNvPr>
          <p:cNvCxnSpPr>
            <a:cxnSpLocks/>
          </p:cNvCxnSpPr>
          <p:nvPr/>
        </p:nvCxnSpPr>
        <p:spPr>
          <a:xfrm flipH="1">
            <a:off x="4264090" y="3063025"/>
            <a:ext cx="118168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2B31801-DFD8-74AC-F6A2-50F1F403BF1A}"/>
              </a:ext>
            </a:extLst>
          </p:cNvPr>
          <p:cNvCxnSpPr>
            <a:cxnSpLocks/>
          </p:cNvCxnSpPr>
          <p:nvPr/>
        </p:nvCxnSpPr>
        <p:spPr>
          <a:xfrm flipH="1">
            <a:off x="4708178" y="4210623"/>
            <a:ext cx="7375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AE91E77-875C-A37C-1AD0-E6DC31F51EE2}"/>
              </a:ext>
            </a:extLst>
          </p:cNvPr>
          <p:cNvCxnSpPr>
            <a:cxnSpLocks/>
          </p:cNvCxnSpPr>
          <p:nvPr/>
        </p:nvCxnSpPr>
        <p:spPr>
          <a:xfrm flipH="1">
            <a:off x="3100124" y="3443537"/>
            <a:ext cx="338961" cy="4398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CFABA328-9965-0206-F96A-B7066EA7E01A}"/>
              </a:ext>
            </a:extLst>
          </p:cNvPr>
          <p:cNvCxnSpPr>
            <a:cxnSpLocks/>
          </p:cNvCxnSpPr>
          <p:nvPr/>
        </p:nvCxnSpPr>
        <p:spPr>
          <a:xfrm flipH="1">
            <a:off x="3269603" y="4219014"/>
            <a:ext cx="5279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6" name="Picture 25" descr="Chart, line chart, histogram&#10;&#10;Description automatically generated">
            <a:extLst>
              <a:ext uri="{FF2B5EF4-FFF2-40B4-BE49-F238E27FC236}">
                <a16:creationId xmlns:a16="http://schemas.microsoft.com/office/drawing/2014/main" id="{184B2070-A5EF-E914-E42E-E6F630114DEC}"/>
              </a:ext>
            </a:extLst>
          </p:cNvPr>
          <p:cNvPicPr>
            <a:picLocks noChangeAspect="1"/>
          </p:cNvPicPr>
          <p:nvPr/>
        </p:nvPicPr>
        <p:blipFill>
          <a:blip r:embed="rId12"/>
          <a:stretch>
            <a:fillRect/>
          </a:stretch>
        </p:blipFill>
        <p:spPr>
          <a:xfrm>
            <a:off x="7123986" y="2225141"/>
            <a:ext cx="1406878" cy="1068681"/>
          </a:xfrm>
          <a:prstGeom prst="rect">
            <a:avLst/>
          </a:prstGeom>
        </p:spPr>
      </p:pic>
      <p:cxnSp>
        <p:nvCxnSpPr>
          <p:cNvPr id="28" name="Straight Arrow Connector 27">
            <a:extLst>
              <a:ext uri="{FF2B5EF4-FFF2-40B4-BE49-F238E27FC236}">
                <a16:creationId xmlns:a16="http://schemas.microsoft.com/office/drawing/2014/main" id="{26EFD64B-D7C3-7F23-E266-44B0A88B6C5C}"/>
              </a:ext>
            </a:extLst>
          </p:cNvPr>
          <p:cNvCxnSpPr>
            <a:cxnSpLocks/>
          </p:cNvCxnSpPr>
          <p:nvPr/>
        </p:nvCxnSpPr>
        <p:spPr>
          <a:xfrm flipH="1">
            <a:off x="6521662" y="2204254"/>
            <a:ext cx="271598" cy="366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8E3E32D1-FD6F-3AC6-02A1-206C5CE14271}"/>
              </a:ext>
            </a:extLst>
          </p:cNvPr>
          <p:cNvSpPr txBox="1"/>
          <p:nvPr/>
        </p:nvSpPr>
        <p:spPr>
          <a:xfrm>
            <a:off x="4602436" y="2772741"/>
            <a:ext cx="650691" cy="276999"/>
          </a:xfrm>
          <a:prstGeom prst="rect">
            <a:avLst/>
          </a:prstGeom>
          <a:noFill/>
        </p:spPr>
        <p:txBody>
          <a:bodyPr wrap="none" rtlCol="0">
            <a:spAutoFit/>
          </a:bodyPr>
          <a:lstStyle/>
          <a:p>
            <a:r>
              <a:rPr lang="en-GB" sz="1200" i="1" dirty="0">
                <a:solidFill>
                  <a:schemeClr val="accent1"/>
                </a:solidFill>
              </a:rPr>
              <a:t>Scrape</a:t>
            </a:r>
          </a:p>
        </p:txBody>
      </p:sp>
      <p:sp>
        <p:nvSpPr>
          <p:cNvPr id="30" name="TextBox 29">
            <a:extLst>
              <a:ext uri="{FF2B5EF4-FFF2-40B4-BE49-F238E27FC236}">
                <a16:creationId xmlns:a16="http://schemas.microsoft.com/office/drawing/2014/main" id="{81256850-ED7A-93D1-AC76-D95AF015C77D}"/>
              </a:ext>
            </a:extLst>
          </p:cNvPr>
          <p:cNvSpPr txBox="1"/>
          <p:nvPr/>
        </p:nvSpPr>
        <p:spPr>
          <a:xfrm>
            <a:off x="4777859" y="4219015"/>
            <a:ext cx="650691" cy="276999"/>
          </a:xfrm>
          <a:prstGeom prst="rect">
            <a:avLst/>
          </a:prstGeom>
          <a:noFill/>
        </p:spPr>
        <p:txBody>
          <a:bodyPr wrap="none" rtlCol="0">
            <a:spAutoFit/>
          </a:bodyPr>
          <a:lstStyle/>
          <a:p>
            <a:r>
              <a:rPr lang="en-GB" sz="1200" i="1" dirty="0">
                <a:solidFill>
                  <a:schemeClr val="accent1"/>
                </a:solidFill>
              </a:rPr>
              <a:t>Scrape</a:t>
            </a:r>
          </a:p>
        </p:txBody>
      </p:sp>
      <p:sp>
        <p:nvSpPr>
          <p:cNvPr id="31" name="TextBox 30">
            <a:extLst>
              <a:ext uri="{FF2B5EF4-FFF2-40B4-BE49-F238E27FC236}">
                <a16:creationId xmlns:a16="http://schemas.microsoft.com/office/drawing/2014/main" id="{79D648A7-A5D4-940E-D9E2-A8A5B0C74041}"/>
              </a:ext>
            </a:extLst>
          </p:cNvPr>
          <p:cNvSpPr txBox="1"/>
          <p:nvPr/>
        </p:nvSpPr>
        <p:spPr>
          <a:xfrm>
            <a:off x="2472270" y="3450494"/>
            <a:ext cx="856325" cy="276999"/>
          </a:xfrm>
          <a:prstGeom prst="rect">
            <a:avLst/>
          </a:prstGeom>
          <a:noFill/>
        </p:spPr>
        <p:txBody>
          <a:bodyPr wrap="none" rtlCol="0">
            <a:spAutoFit/>
          </a:bodyPr>
          <a:lstStyle/>
          <a:p>
            <a:r>
              <a:rPr lang="en-GB" sz="1200" dirty="0"/>
              <a:t>Subscribe</a:t>
            </a:r>
          </a:p>
        </p:txBody>
      </p:sp>
      <p:sp>
        <p:nvSpPr>
          <p:cNvPr id="32" name="TextBox 31">
            <a:extLst>
              <a:ext uri="{FF2B5EF4-FFF2-40B4-BE49-F238E27FC236}">
                <a16:creationId xmlns:a16="http://schemas.microsoft.com/office/drawing/2014/main" id="{880AEAC9-0356-F88A-6189-4315443AC34A}"/>
              </a:ext>
            </a:extLst>
          </p:cNvPr>
          <p:cNvSpPr txBox="1"/>
          <p:nvPr/>
        </p:nvSpPr>
        <p:spPr>
          <a:xfrm>
            <a:off x="3124432" y="4343515"/>
            <a:ext cx="862865" cy="276999"/>
          </a:xfrm>
          <a:prstGeom prst="rect">
            <a:avLst/>
          </a:prstGeom>
          <a:noFill/>
        </p:spPr>
        <p:txBody>
          <a:bodyPr wrap="none" rtlCol="0">
            <a:spAutoFit/>
          </a:bodyPr>
          <a:lstStyle/>
          <a:p>
            <a:r>
              <a:rPr lang="en-GB" sz="1200" dirty="0"/>
              <a:t>Download</a:t>
            </a:r>
          </a:p>
        </p:txBody>
      </p:sp>
      <p:sp>
        <p:nvSpPr>
          <p:cNvPr id="33" name="TextBox 32">
            <a:extLst>
              <a:ext uri="{FF2B5EF4-FFF2-40B4-BE49-F238E27FC236}">
                <a16:creationId xmlns:a16="http://schemas.microsoft.com/office/drawing/2014/main" id="{39CEA165-F176-597E-140E-F0DEB8BB8904}"/>
              </a:ext>
            </a:extLst>
          </p:cNvPr>
          <p:cNvSpPr txBox="1"/>
          <p:nvPr/>
        </p:nvSpPr>
        <p:spPr>
          <a:xfrm>
            <a:off x="6113465" y="2151948"/>
            <a:ext cx="584199" cy="276999"/>
          </a:xfrm>
          <a:prstGeom prst="rect">
            <a:avLst/>
          </a:prstGeom>
          <a:noFill/>
        </p:spPr>
        <p:txBody>
          <a:bodyPr wrap="none" rtlCol="0">
            <a:spAutoFit/>
          </a:bodyPr>
          <a:lstStyle/>
          <a:p>
            <a:r>
              <a:rPr lang="en-GB" sz="1200" i="1" dirty="0">
                <a:solidFill>
                  <a:schemeClr val="accent1"/>
                </a:solidFill>
              </a:rPr>
              <a:t>Query</a:t>
            </a:r>
          </a:p>
        </p:txBody>
      </p:sp>
      <p:cxnSp>
        <p:nvCxnSpPr>
          <p:cNvPr id="34" name="Straight Arrow Connector 33">
            <a:extLst>
              <a:ext uri="{FF2B5EF4-FFF2-40B4-BE49-F238E27FC236}">
                <a16:creationId xmlns:a16="http://schemas.microsoft.com/office/drawing/2014/main" id="{AF939C60-29C1-C65D-C4C3-1EE65B8BCAAD}"/>
              </a:ext>
            </a:extLst>
          </p:cNvPr>
          <p:cNvCxnSpPr>
            <a:cxnSpLocks/>
          </p:cNvCxnSpPr>
          <p:nvPr/>
        </p:nvCxnSpPr>
        <p:spPr>
          <a:xfrm>
            <a:off x="6873138" y="4219014"/>
            <a:ext cx="6345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CF98B2BA-8A98-F7C9-D842-6FCDD3FBE4CC}"/>
              </a:ext>
            </a:extLst>
          </p:cNvPr>
          <p:cNvSpPr txBox="1"/>
          <p:nvPr/>
        </p:nvSpPr>
        <p:spPr>
          <a:xfrm>
            <a:off x="6921228" y="4266791"/>
            <a:ext cx="497252" cy="276999"/>
          </a:xfrm>
          <a:prstGeom prst="rect">
            <a:avLst/>
          </a:prstGeom>
          <a:noFill/>
        </p:spPr>
        <p:txBody>
          <a:bodyPr wrap="none" rtlCol="0">
            <a:spAutoFit/>
          </a:bodyPr>
          <a:lstStyle/>
          <a:p>
            <a:r>
              <a:rPr lang="en-GB" sz="1200" i="1" dirty="0">
                <a:solidFill>
                  <a:schemeClr val="accent1"/>
                </a:solidFill>
              </a:rPr>
              <a:t>Alert</a:t>
            </a:r>
          </a:p>
        </p:txBody>
      </p:sp>
      <p:grpSp>
        <p:nvGrpSpPr>
          <p:cNvPr id="61" name="Group 60">
            <a:extLst>
              <a:ext uri="{FF2B5EF4-FFF2-40B4-BE49-F238E27FC236}">
                <a16:creationId xmlns:a16="http://schemas.microsoft.com/office/drawing/2014/main" id="{312D70A2-2FDF-C7F1-025B-03B890444D04}"/>
              </a:ext>
            </a:extLst>
          </p:cNvPr>
          <p:cNvGrpSpPr/>
          <p:nvPr/>
        </p:nvGrpSpPr>
        <p:grpSpPr>
          <a:xfrm rot="5400000">
            <a:off x="7846956" y="4497642"/>
            <a:ext cx="385005" cy="761987"/>
            <a:chOff x="6504755" y="3924586"/>
            <a:chExt cx="385005" cy="761987"/>
          </a:xfrm>
        </p:grpSpPr>
        <p:cxnSp>
          <p:nvCxnSpPr>
            <p:cNvPr id="38" name="Straight Arrow Connector 37">
              <a:extLst>
                <a:ext uri="{FF2B5EF4-FFF2-40B4-BE49-F238E27FC236}">
                  <a16:creationId xmlns:a16="http://schemas.microsoft.com/office/drawing/2014/main" id="{18D80EA0-A639-A6FD-92BF-DE39A5D84B17}"/>
                </a:ext>
              </a:extLst>
            </p:cNvPr>
            <p:cNvCxnSpPr>
              <a:cxnSpLocks/>
            </p:cNvCxnSpPr>
            <p:nvPr/>
          </p:nvCxnSpPr>
          <p:spPr>
            <a:xfrm flipV="1">
              <a:off x="6504755" y="3924586"/>
              <a:ext cx="317271" cy="232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CCB4E9E-A992-F651-975D-7EB9E68C11C1}"/>
                </a:ext>
              </a:extLst>
            </p:cNvPr>
            <p:cNvCxnSpPr>
              <a:cxnSpLocks/>
            </p:cNvCxnSpPr>
            <p:nvPr/>
          </p:nvCxnSpPr>
          <p:spPr>
            <a:xfrm>
              <a:off x="6532570" y="4311936"/>
              <a:ext cx="3571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254E4007-CCC7-230E-4F5A-C4C4E851C9F0}"/>
                </a:ext>
              </a:extLst>
            </p:cNvPr>
            <p:cNvCxnSpPr>
              <a:cxnSpLocks/>
            </p:cNvCxnSpPr>
            <p:nvPr/>
          </p:nvCxnSpPr>
          <p:spPr>
            <a:xfrm>
              <a:off x="6504755" y="4454308"/>
              <a:ext cx="317271" cy="232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6" name="TextBox 45">
            <a:extLst>
              <a:ext uri="{FF2B5EF4-FFF2-40B4-BE49-F238E27FC236}">
                <a16:creationId xmlns:a16="http://schemas.microsoft.com/office/drawing/2014/main" id="{39C47DFA-2336-1459-322E-452F9EE04877}"/>
              </a:ext>
            </a:extLst>
          </p:cNvPr>
          <p:cNvSpPr txBox="1"/>
          <p:nvPr/>
        </p:nvSpPr>
        <p:spPr>
          <a:xfrm>
            <a:off x="3246456" y="2483020"/>
            <a:ext cx="1091004" cy="276999"/>
          </a:xfrm>
          <a:prstGeom prst="rect">
            <a:avLst/>
          </a:prstGeom>
          <a:noFill/>
        </p:spPr>
        <p:txBody>
          <a:bodyPr wrap="none" rtlCol="0">
            <a:spAutoFit/>
          </a:bodyPr>
          <a:lstStyle/>
          <a:p>
            <a:r>
              <a:rPr lang="en-GB" sz="1200" dirty="0"/>
              <a:t>Global Broker</a:t>
            </a:r>
          </a:p>
        </p:txBody>
      </p:sp>
      <p:sp>
        <p:nvSpPr>
          <p:cNvPr id="47" name="TextBox 46">
            <a:extLst>
              <a:ext uri="{FF2B5EF4-FFF2-40B4-BE49-F238E27FC236}">
                <a16:creationId xmlns:a16="http://schemas.microsoft.com/office/drawing/2014/main" id="{11258E65-9EA9-65CD-A947-0335EC2529EA}"/>
              </a:ext>
            </a:extLst>
          </p:cNvPr>
          <p:cNvSpPr txBox="1"/>
          <p:nvPr/>
        </p:nvSpPr>
        <p:spPr>
          <a:xfrm>
            <a:off x="3728863" y="3573453"/>
            <a:ext cx="1093569" cy="276999"/>
          </a:xfrm>
          <a:prstGeom prst="rect">
            <a:avLst/>
          </a:prstGeom>
          <a:noFill/>
        </p:spPr>
        <p:txBody>
          <a:bodyPr wrap="none" rtlCol="0">
            <a:spAutoFit/>
          </a:bodyPr>
          <a:lstStyle/>
          <a:p>
            <a:r>
              <a:rPr lang="en-GB" sz="1200" dirty="0"/>
              <a:t>Global Cache</a:t>
            </a:r>
          </a:p>
        </p:txBody>
      </p:sp>
      <p:grpSp>
        <p:nvGrpSpPr>
          <p:cNvPr id="48" name="Group 47">
            <a:extLst>
              <a:ext uri="{FF2B5EF4-FFF2-40B4-BE49-F238E27FC236}">
                <a16:creationId xmlns:a16="http://schemas.microsoft.com/office/drawing/2014/main" id="{61981390-8F22-BFC8-ED1A-EBD754E5A878}"/>
              </a:ext>
            </a:extLst>
          </p:cNvPr>
          <p:cNvGrpSpPr/>
          <p:nvPr/>
        </p:nvGrpSpPr>
        <p:grpSpPr>
          <a:xfrm>
            <a:off x="5216169" y="1308528"/>
            <a:ext cx="694640" cy="685800"/>
            <a:chOff x="4851042" y="4429399"/>
            <a:chExt cx="1256145" cy="1200330"/>
          </a:xfrm>
        </p:grpSpPr>
        <p:sp>
          <p:nvSpPr>
            <p:cNvPr id="49" name="Oval 48">
              <a:extLst>
                <a:ext uri="{FF2B5EF4-FFF2-40B4-BE49-F238E27FC236}">
                  <a16:creationId xmlns:a16="http://schemas.microsoft.com/office/drawing/2014/main" id="{31B2AC62-4F98-26F7-F728-4938B1256E04}"/>
                </a:ext>
              </a:extLst>
            </p:cNvPr>
            <p:cNvSpPr/>
            <p:nvPr/>
          </p:nvSpPr>
          <p:spPr>
            <a:xfrm>
              <a:off x="4851042" y="4429399"/>
              <a:ext cx="1256145" cy="1200330"/>
            </a:xfrm>
            <a:prstGeom prst="ellipse">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sz="1350" dirty="0"/>
            </a:p>
          </p:txBody>
        </p:sp>
        <p:pic>
          <p:nvPicPr>
            <p:cNvPr id="50" name="Graphic 49" descr="Bar chart with solid fill">
              <a:extLst>
                <a:ext uri="{FF2B5EF4-FFF2-40B4-BE49-F238E27FC236}">
                  <a16:creationId xmlns:a16="http://schemas.microsoft.com/office/drawing/2014/main" id="{CE38DF8E-26BE-09E4-BB23-9150BE71FF8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085089" y="4571279"/>
              <a:ext cx="914401" cy="914398"/>
            </a:xfrm>
            <a:prstGeom prst="rect">
              <a:avLst/>
            </a:prstGeom>
          </p:spPr>
        </p:pic>
      </p:grpSp>
      <p:grpSp>
        <p:nvGrpSpPr>
          <p:cNvPr id="51" name="Group 50">
            <a:extLst>
              <a:ext uri="{FF2B5EF4-FFF2-40B4-BE49-F238E27FC236}">
                <a16:creationId xmlns:a16="http://schemas.microsoft.com/office/drawing/2014/main" id="{D9F5DFF6-306F-970B-1EBD-C067634BDDDE}"/>
              </a:ext>
            </a:extLst>
          </p:cNvPr>
          <p:cNvGrpSpPr/>
          <p:nvPr/>
        </p:nvGrpSpPr>
        <p:grpSpPr>
          <a:xfrm>
            <a:off x="3914702" y="4844062"/>
            <a:ext cx="694640" cy="685800"/>
            <a:chOff x="6018575" y="2624111"/>
            <a:chExt cx="926187" cy="914400"/>
          </a:xfrm>
        </p:grpSpPr>
        <p:sp>
          <p:nvSpPr>
            <p:cNvPr id="52" name="Oval 51">
              <a:extLst>
                <a:ext uri="{FF2B5EF4-FFF2-40B4-BE49-F238E27FC236}">
                  <a16:creationId xmlns:a16="http://schemas.microsoft.com/office/drawing/2014/main" id="{7082803A-4373-B25C-3314-8519EC9CE508}"/>
                </a:ext>
              </a:extLst>
            </p:cNvPr>
            <p:cNvSpPr/>
            <p:nvPr/>
          </p:nvSpPr>
          <p:spPr>
            <a:xfrm>
              <a:off x="6018575" y="2624111"/>
              <a:ext cx="926187" cy="914400"/>
            </a:xfrm>
            <a:prstGeom prst="ellipse">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sz="1350" dirty="0"/>
            </a:p>
          </p:txBody>
        </p:sp>
        <p:pic>
          <p:nvPicPr>
            <p:cNvPr id="53" name="Graphic 52" descr="Books outline">
              <a:extLst>
                <a:ext uri="{FF2B5EF4-FFF2-40B4-BE49-F238E27FC236}">
                  <a16:creationId xmlns:a16="http://schemas.microsoft.com/office/drawing/2014/main" id="{5C3F271B-9B16-7E1E-E2F0-A57BE0F767E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05969" y="2732194"/>
              <a:ext cx="751399" cy="751399"/>
            </a:xfrm>
            <a:prstGeom prst="rect">
              <a:avLst/>
            </a:prstGeom>
          </p:spPr>
        </p:pic>
      </p:grpSp>
      <p:cxnSp>
        <p:nvCxnSpPr>
          <p:cNvPr id="54" name="Straight Arrow Connector 53">
            <a:extLst>
              <a:ext uri="{FF2B5EF4-FFF2-40B4-BE49-F238E27FC236}">
                <a16:creationId xmlns:a16="http://schemas.microsoft.com/office/drawing/2014/main" id="{B7178F1E-7E89-6D55-7488-A25186A7838E}"/>
              </a:ext>
            </a:extLst>
          </p:cNvPr>
          <p:cNvCxnSpPr>
            <a:cxnSpLocks/>
          </p:cNvCxnSpPr>
          <p:nvPr/>
        </p:nvCxnSpPr>
        <p:spPr>
          <a:xfrm flipH="1">
            <a:off x="4708223" y="4844063"/>
            <a:ext cx="789858" cy="2399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F440C724-2052-24B7-C440-02800FECB895}"/>
              </a:ext>
            </a:extLst>
          </p:cNvPr>
          <p:cNvSpPr txBox="1"/>
          <p:nvPr/>
        </p:nvSpPr>
        <p:spPr>
          <a:xfrm>
            <a:off x="4903191" y="5024590"/>
            <a:ext cx="789858" cy="276999"/>
          </a:xfrm>
          <a:prstGeom prst="rect">
            <a:avLst/>
          </a:prstGeom>
          <a:noFill/>
        </p:spPr>
        <p:txBody>
          <a:bodyPr wrap="square" rtlCol="0">
            <a:spAutoFit/>
          </a:bodyPr>
          <a:lstStyle/>
          <a:p>
            <a:r>
              <a:rPr lang="en-GB" sz="1200" i="1" dirty="0">
                <a:solidFill>
                  <a:schemeClr val="accent1"/>
                </a:solidFill>
              </a:rPr>
              <a:t>Scrape</a:t>
            </a:r>
          </a:p>
        </p:txBody>
      </p:sp>
      <p:sp>
        <p:nvSpPr>
          <p:cNvPr id="62" name="TextBox 61">
            <a:extLst>
              <a:ext uri="{FF2B5EF4-FFF2-40B4-BE49-F238E27FC236}">
                <a16:creationId xmlns:a16="http://schemas.microsoft.com/office/drawing/2014/main" id="{94876DB0-4399-EE1F-7D62-40CD5F2560C4}"/>
              </a:ext>
            </a:extLst>
          </p:cNvPr>
          <p:cNvSpPr txBox="1"/>
          <p:nvPr/>
        </p:nvSpPr>
        <p:spPr>
          <a:xfrm>
            <a:off x="3287009" y="5542267"/>
            <a:ext cx="2030364" cy="276999"/>
          </a:xfrm>
          <a:prstGeom prst="rect">
            <a:avLst/>
          </a:prstGeom>
          <a:noFill/>
        </p:spPr>
        <p:txBody>
          <a:bodyPr wrap="none" rtlCol="0">
            <a:spAutoFit/>
          </a:bodyPr>
          <a:lstStyle/>
          <a:p>
            <a:r>
              <a:rPr lang="en-GB" sz="1200" dirty="0"/>
              <a:t>Global Discovery Catalogue</a:t>
            </a:r>
          </a:p>
        </p:txBody>
      </p:sp>
      <p:pic>
        <p:nvPicPr>
          <p:cNvPr id="1032" name="Picture 8" descr="Download Mail Svg Icon - Round Gmail Logo Png Clipart (#4477875 ...">
            <a:extLst>
              <a:ext uri="{FF2B5EF4-FFF2-40B4-BE49-F238E27FC236}">
                <a16:creationId xmlns:a16="http://schemas.microsoft.com/office/drawing/2014/main" id="{1CEFBBD7-AF25-BCAE-ADB3-748320D0C3A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flipH="1">
            <a:off x="7321920" y="5024589"/>
            <a:ext cx="310660" cy="25364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Download Transparent Telegram Logo Png - Circle Logo | Pnggrid">
            <a:extLst>
              <a:ext uri="{FF2B5EF4-FFF2-40B4-BE49-F238E27FC236}">
                <a16:creationId xmlns:a16="http://schemas.microsoft.com/office/drawing/2014/main" id="{ED92E4EF-30DC-AD79-8C3F-3FA86587AFD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60161" y="5142973"/>
            <a:ext cx="357190" cy="35719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Slack sparks further outrage with tweak to new logo | Creative Bloq">
            <a:extLst>
              <a:ext uri="{FF2B5EF4-FFF2-40B4-BE49-F238E27FC236}">
                <a16:creationId xmlns:a16="http://schemas.microsoft.com/office/drawing/2014/main" id="{1986B5BA-2932-F5C8-474A-89676347D28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304318" y="5106821"/>
            <a:ext cx="538162" cy="302126"/>
          </a:xfrm>
          <a:prstGeom prst="rect">
            <a:avLst/>
          </a:prstGeom>
          <a:noFill/>
          <a:extLst>
            <a:ext uri="{909E8E84-426E-40DD-AFC4-6F175D3DCCD1}">
              <a14:hiddenFill xmlns:a14="http://schemas.microsoft.com/office/drawing/2010/main">
                <a:solidFill>
                  <a:srgbClr val="FFFFFF"/>
                </a:solidFill>
              </a14:hiddenFill>
            </a:ext>
          </a:extLst>
        </p:spPr>
      </p:pic>
      <p:sp>
        <p:nvSpPr>
          <p:cNvPr id="1024" name="TextBox 1023">
            <a:extLst>
              <a:ext uri="{FF2B5EF4-FFF2-40B4-BE49-F238E27FC236}">
                <a16:creationId xmlns:a16="http://schemas.microsoft.com/office/drawing/2014/main" id="{1C7C0A4C-2022-A911-E5FC-116811264C6C}"/>
              </a:ext>
            </a:extLst>
          </p:cNvPr>
          <p:cNvSpPr txBox="1"/>
          <p:nvPr/>
        </p:nvSpPr>
        <p:spPr>
          <a:xfrm>
            <a:off x="8188609" y="4489321"/>
            <a:ext cx="620363" cy="276999"/>
          </a:xfrm>
          <a:prstGeom prst="rect">
            <a:avLst/>
          </a:prstGeom>
          <a:noFill/>
        </p:spPr>
        <p:txBody>
          <a:bodyPr wrap="none" rtlCol="0">
            <a:spAutoFit/>
          </a:bodyPr>
          <a:lstStyle/>
          <a:p>
            <a:r>
              <a:rPr lang="en-GB" sz="1200" i="1" dirty="0">
                <a:solidFill>
                  <a:schemeClr val="accent1"/>
                </a:solidFill>
              </a:rPr>
              <a:t>Inform</a:t>
            </a:r>
          </a:p>
        </p:txBody>
      </p:sp>
      <p:sp>
        <p:nvSpPr>
          <p:cNvPr id="1025" name="TextBox 1024">
            <a:extLst>
              <a:ext uri="{FF2B5EF4-FFF2-40B4-BE49-F238E27FC236}">
                <a16:creationId xmlns:a16="http://schemas.microsoft.com/office/drawing/2014/main" id="{7BE4ED10-6FCF-527A-4A88-C2FB5D42FFCD}"/>
              </a:ext>
            </a:extLst>
          </p:cNvPr>
          <p:cNvSpPr txBox="1"/>
          <p:nvPr/>
        </p:nvSpPr>
        <p:spPr>
          <a:xfrm>
            <a:off x="5868718" y="1337070"/>
            <a:ext cx="1370119" cy="276999"/>
          </a:xfrm>
          <a:prstGeom prst="rect">
            <a:avLst/>
          </a:prstGeom>
          <a:noFill/>
        </p:spPr>
        <p:txBody>
          <a:bodyPr wrap="none" rtlCol="0">
            <a:spAutoFit/>
          </a:bodyPr>
          <a:lstStyle/>
          <a:p>
            <a:r>
              <a:rPr lang="en-GB" sz="1200" dirty="0"/>
              <a:t>Global Monitoring</a:t>
            </a:r>
          </a:p>
        </p:txBody>
      </p:sp>
      <p:cxnSp>
        <p:nvCxnSpPr>
          <p:cNvPr id="1027" name="Straight Arrow Connector 1026">
            <a:extLst>
              <a:ext uri="{FF2B5EF4-FFF2-40B4-BE49-F238E27FC236}">
                <a16:creationId xmlns:a16="http://schemas.microsoft.com/office/drawing/2014/main" id="{FD824884-2F3A-59D6-10CE-3153035588E3}"/>
              </a:ext>
            </a:extLst>
          </p:cNvPr>
          <p:cNvCxnSpPr>
            <a:cxnSpLocks/>
          </p:cNvCxnSpPr>
          <p:nvPr/>
        </p:nvCxnSpPr>
        <p:spPr>
          <a:xfrm flipH="1">
            <a:off x="8681918" y="2767354"/>
            <a:ext cx="914054" cy="10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31" name="TextBox 1030">
            <a:extLst>
              <a:ext uri="{FF2B5EF4-FFF2-40B4-BE49-F238E27FC236}">
                <a16:creationId xmlns:a16="http://schemas.microsoft.com/office/drawing/2014/main" id="{F5223CB6-A8E1-FA93-72BE-1F6547F887A3}"/>
              </a:ext>
            </a:extLst>
          </p:cNvPr>
          <p:cNvSpPr txBox="1"/>
          <p:nvPr/>
        </p:nvSpPr>
        <p:spPr>
          <a:xfrm>
            <a:off x="8954686" y="2441911"/>
            <a:ext cx="668773" cy="276999"/>
          </a:xfrm>
          <a:prstGeom prst="rect">
            <a:avLst/>
          </a:prstGeom>
          <a:solidFill>
            <a:schemeClr val="bg1"/>
          </a:solidFill>
        </p:spPr>
        <p:txBody>
          <a:bodyPr wrap="none" rtlCol="0">
            <a:spAutoFit/>
          </a:bodyPr>
          <a:lstStyle/>
          <a:p>
            <a:r>
              <a:rPr lang="en-GB" sz="1200" dirty="0"/>
              <a:t>Access</a:t>
            </a:r>
          </a:p>
        </p:txBody>
      </p:sp>
      <p:pic>
        <p:nvPicPr>
          <p:cNvPr id="1040" name="Picture 16" descr="User Login Man Human Body Mobile Person Svg Png Icon Free Download ...">
            <a:extLst>
              <a:ext uri="{FF2B5EF4-FFF2-40B4-BE49-F238E27FC236}">
                <a16:creationId xmlns:a16="http://schemas.microsoft.com/office/drawing/2014/main" id="{CD8851BD-BB64-9F77-F7BA-32E8C337B7A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766459" y="2529368"/>
            <a:ext cx="456737" cy="456737"/>
          </a:xfrm>
          <a:prstGeom prst="rect">
            <a:avLst/>
          </a:prstGeom>
          <a:noFill/>
          <a:extLst>
            <a:ext uri="{909E8E84-426E-40DD-AFC4-6F175D3DCCD1}">
              <a14:hiddenFill xmlns:a14="http://schemas.microsoft.com/office/drawing/2010/main">
                <a:solidFill>
                  <a:srgbClr val="FFFFFF"/>
                </a:solidFill>
              </a14:hiddenFill>
            </a:ext>
          </a:extLst>
        </p:spPr>
      </p:pic>
      <p:grpSp>
        <p:nvGrpSpPr>
          <p:cNvPr id="1044" name="Group 1043">
            <a:extLst>
              <a:ext uri="{FF2B5EF4-FFF2-40B4-BE49-F238E27FC236}">
                <a16:creationId xmlns:a16="http://schemas.microsoft.com/office/drawing/2014/main" id="{BF9BA35B-A479-E258-820C-AD0653F3AAD1}"/>
              </a:ext>
            </a:extLst>
          </p:cNvPr>
          <p:cNvGrpSpPr/>
          <p:nvPr/>
        </p:nvGrpSpPr>
        <p:grpSpPr>
          <a:xfrm>
            <a:off x="5778795" y="3306814"/>
            <a:ext cx="1105282" cy="337126"/>
            <a:chOff x="4254795" y="3306814"/>
            <a:chExt cx="1105282" cy="337126"/>
          </a:xfrm>
        </p:grpSpPr>
        <p:sp>
          <p:nvSpPr>
            <p:cNvPr id="1043" name="Rectangle 1042">
              <a:extLst>
                <a:ext uri="{FF2B5EF4-FFF2-40B4-BE49-F238E27FC236}">
                  <a16:creationId xmlns:a16="http://schemas.microsoft.com/office/drawing/2014/main" id="{975BA9D7-7A1E-1EA9-41F2-6CE63D4B4923}"/>
                </a:ext>
              </a:extLst>
            </p:cNvPr>
            <p:cNvSpPr/>
            <p:nvPr/>
          </p:nvSpPr>
          <p:spPr>
            <a:xfrm>
              <a:off x="4254795" y="3306814"/>
              <a:ext cx="1105282" cy="3247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037" name="Straight Arrow Connector 1036">
              <a:extLst>
                <a:ext uri="{FF2B5EF4-FFF2-40B4-BE49-F238E27FC236}">
                  <a16:creationId xmlns:a16="http://schemas.microsoft.com/office/drawing/2014/main" id="{896EC661-E18E-BA8A-10DC-5635F91D820D}"/>
                </a:ext>
              </a:extLst>
            </p:cNvPr>
            <p:cNvCxnSpPr>
              <a:cxnSpLocks/>
            </p:cNvCxnSpPr>
            <p:nvPr/>
          </p:nvCxnSpPr>
          <p:spPr>
            <a:xfrm>
              <a:off x="4832901" y="3319165"/>
              <a:ext cx="0" cy="3247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39" name="TextBox 1038">
              <a:extLst>
                <a:ext uri="{FF2B5EF4-FFF2-40B4-BE49-F238E27FC236}">
                  <a16:creationId xmlns:a16="http://schemas.microsoft.com/office/drawing/2014/main" id="{FDCE7565-5982-D528-52C4-F6C5EB2D40E8}"/>
                </a:ext>
              </a:extLst>
            </p:cNvPr>
            <p:cNvSpPr txBox="1"/>
            <p:nvPr/>
          </p:nvSpPr>
          <p:spPr>
            <a:xfrm>
              <a:off x="4339084" y="3328547"/>
              <a:ext cx="534634" cy="276999"/>
            </a:xfrm>
            <a:prstGeom prst="rect">
              <a:avLst/>
            </a:prstGeom>
            <a:noFill/>
          </p:spPr>
          <p:txBody>
            <a:bodyPr wrap="none" rtlCol="0">
              <a:spAutoFit/>
            </a:bodyPr>
            <a:lstStyle/>
            <a:p>
              <a:r>
                <a:rPr lang="en-GB" sz="1200" i="1" dirty="0">
                  <a:solidFill>
                    <a:schemeClr val="accent1"/>
                  </a:solidFill>
                </a:rPr>
                <a:t>Store</a:t>
              </a:r>
            </a:p>
          </p:txBody>
        </p:sp>
      </p:grpSp>
      <p:sp>
        <p:nvSpPr>
          <p:cNvPr id="5" name="TextBox 4">
            <a:extLst>
              <a:ext uri="{FF2B5EF4-FFF2-40B4-BE49-F238E27FC236}">
                <a16:creationId xmlns:a16="http://schemas.microsoft.com/office/drawing/2014/main" id="{160101CC-4741-3F76-F44C-0C4B64CF0539}"/>
              </a:ext>
            </a:extLst>
          </p:cNvPr>
          <p:cNvSpPr txBox="1"/>
          <p:nvPr/>
        </p:nvSpPr>
        <p:spPr>
          <a:xfrm>
            <a:off x="6541765" y="3317710"/>
            <a:ext cx="997004" cy="276999"/>
          </a:xfrm>
          <a:prstGeom prst="rect">
            <a:avLst/>
          </a:prstGeom>
          <a:solidFill>
            <a:schemeClr val="bg1"/>
          </a:solidFill>
        </p:spPr>
        <p:txBody>
          <a:bodyPr wrap="none" rtlCol="0">
            <a:spAutoFit/>
          </a:bodyPr>
          <a:lstStyle/>
          <a:p>
            <a:r>
              <a:rPr lang="en-GB" sz="1200" dirty="0"/>
              <a:t>Prometheus</a:t>
            </a:r>
          </a:p>
        </p:txBody>
      </p:sp>
      <p:sp>
        <p:nvSpPr>
          <p:cNvPr id="6" name="TextBox 5">
            <a:extLst>
              <a:ext uri="{FF2B5EF4-FFF2-40B4-BE49-F238E27FC236}">
                <a16:creationId xmlns:a16="http://schemas.microsoft.com/office/drawing/2014/main" id="{D4FAB5AB-CF4C-0EF2-5CA0-78A3E5FFFE04}"/>
              </a:ext>
            </a:extLst>
          </p:cNvPr>
          <p:cNvSpPr txBox="1"/>
          <p:nvPr/>
        </p:nvSpPr>
        <p:spPr>
          <a:xfrm>
            <a:off x="7774597" y="3523342"/>
            <a:ext cx="1108445" cy="276999"/>
          </a:xfrm>
          <a:prstGeom prst="rect">
            <a:avLst/>
          </a:prstGeom>
          <a:solidFill>
            <a:schemeClr val="bg1"/>
          </a:solidFill>
        </p:spPr>
        <p:txBody>
          <a:bodyPr wrap="none" rtlCol="0">
            <a:spAutoFit/>
          </a:bodyPr>
          <a:lstStyle/>
          <a:p>
            <a:r>
              <a:rPr lang="en-GB" sz="1200" dirty="0"/>
              <a:t>Alert Manager</a:t>
            </a:r>
          </a:p>
        </p:txBody>
      </p:sp>
    </p:spTree>
    <p:extLst>
      <p:ext uri="{BB962C8B-B14F-4D97-AF65-F5344CB8AC3E}">
        <p14:creationId xmlns:p14="http://schemas.microsoft.com/office/powerpoint/2010/main" val="2692512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65694595-EE4B-074B-B7F6-172F2F776F6B}"/>
              </a:ext>
            </a:extLst>
          </p:cNvPr>
          <p:cNvSpPr>
            <a:spLocks noGrp="1" noChangeArrowheads="1"/>
          </p:cNvSpPr>
          <p:nvPr>
            <p:ph type="title"/>
          </p:nvPr>
        </p:nvSpPr>
        <p:spPr>
          <a:xfrm>
            <a:off x="2055652" y="277033"/>
            <a:ext cx="7918560" cy="720000"/>
          </a:xfrm>
          <a:ln/>
        </p:spPr>
        <p:txBody>
          <a:bodyPr vert="horz" lIns="91440" tIns="22579" rIns="91440" bIns="45720" rtlCol="0" anchor="ctr">
            <a:normAutofit/>
          </a:bodyPr>
          <a:lstStyle/>
          <a:p>
            <a:pPr>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altLang="en-FR" sz="2400" dirty="0"/>
              <a:t>The “Prometheus” logic</a:t>
            </a:r>
          </a:p>
        </p:txBody>
      </p:sp>
      <p:sp>
        <p:nvSpPr>
          <p:cNvPr id="5122" name="Rectangle 2">
            <a:extLst>
              <a:ext uri="{FF2B5EF4-FFF2-40B4-BE49-F238E27FC236}">
                <a16:creationId xmlns:a16="http://schemas.microsoft.com/office/drawing/2014/main" id="{DEC05F54-8200-3048-BBA3-261CB7E74837}"/>
              </a:ext>
            </a:extLst>
          </p:cNvPr>
          <p:cNvSpPr>
            <a:spLocks noGrp="1" noChangeArrowheads="1"/>
          </p:cNvSpPr>
          <p:nvPr>
            <p:ph type="body" idx="1"/>
          </p:nvPr>
        </p:nvSpPr>
        <p:spPr>
          <a:xfrm>
            <a:off x="1755731" y="1257294"/>
            <a:ext cx="8680537" cy="5047309"/>
          </a:xfrm>
          <a:ln/>
        </p:spPr>
        <p:txBody>
          <a:bodyPr>
            <a:noAutofit/>
          </a:bodyPr>
          <a:lstStyle/>
          <a:p>
            <a:pPr algn="l">
              <a:buClr>
                <a:schemeClr val="tx1"/>
              </a:buClr>
              <a:buSzPct val="100000"/>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altLang="en-FR" sz="1800" dirty="0"/>
              <a:t>Prometheus is not a monolithic solution “Take it all or leave it”.</a:t>
            </a:r>
          </a:p>
          <a:p>
            <a:pPr algn="l">
              <a:buClr>
                <a:schemeClr val="tx1"/>
              </a:buClr>
              <a:buSzPct val="100000"/>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altLang="en-FR" sz="1800" dirty="0"/>
              <a:t>To work, Prometheus has defined what is called the “exposition format”. It has been further extended to </a:t>
            </a:r>
            <a:r>
              <a:rPr lang="en-GB" altLang="en-FR" sz="1800" dirty="0" err="1"/>
              <a:t>openmetrics</a:t>
            </a:r>
            <a:r>
              <a:rPr lang="en-GB" altLang="en-FR" sz="1800" dirty="0"/>
              <a:t>:</a:t>
            </a:r>
          </a:p>
          <a:p>
            <a:pPr lvl="1" algn="l">
              <a:buClr>
                <a:schemeClr val="tx1"/>
              </a:buClr>
              <a:buSzPct val="100000"/>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1800" dirty="0"/>
              <a:t>“It specifies the de-facto standard for transmitting cloud-native metrics at scale, with support for both text representation and Protocol Buffers.”</a:t>
            </a:r>
          </a:p>
          <a:p>
            <a:pPr lvl="1" algn="l">
              <a:buClr>
                <a:schemeClr val="tx1"/>
              </a:buClr>
              <a:buSzPct val="100000"/>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1800" dirty="0"/>
              <a:t>https://</a:t>
            </a:r>
            <a:r>
              <a:rPr lang="en-GB" sz="1800" dirty="0" err="1"/>
              <a:t>datatracker.ietf.org</a:t>
            </a:r>
            <a:r>
              <a:rPr lang="en-GB" sz="1800" dirty="0"/>
              <a:t>/doc/html/draft-richih-opsawg-openmetrics-00</a:t>
            </a:r>
          </a:p>
          <a:p>
            <a:pPr algn="l">
              <a:buClr>
                <a:schemeClr val="tx1"/>
              </a:buClr>
              <a:buSzPct val="100000"/>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altLang="en-FR" sz="1800" dirty="0"/>
              <a:t>It means that metrics are exposed (i.e. available at a HTTP(S)/metrics endpoint) for collection/scrape</a:t>
            </a:r>
          </a:p>
          <a:p>
            <a:pPr algn="l">
              <a:buClr>
                <a:schemeClr val="tx1"/>
              </a:buClr>
              <a:buSzPct val="100000"/>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altLang="en-FR" sz="1800" dirty="0"/>
              <a:t>Many tools (mosquito, </a:t>
            </a:r>
            <a:r>
              <a:rPr lang="en-GB" altLang="en-FR" sz="1800" dirty="0" err="1"/>
              <a:t>nginx</a:t>
            </a:r>
            <a:r>
              <a:rPr lang="en-GB" altLang="en-FR" sz="1800" dirty="0"/>
              <a:t>, docker,…) are now making there metrics available in such format:</a:t>
            </a:r>
          </a:p>
          <a:p>
            <a:pPr lvl="1" algn="l">
              <a:buClr>
                <a:schemeClr val="tx1"/>
              </a:buClr>
              <a:buSzPct val="100000"/>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altLang="en-FR" sz="1800" dirty="0"/>
              <a:t>https://</a:t>
            </a:r>
            <a:r>
              <a:rPr lang="en-GB" altLang="en-FR" sz="1800" dirty="0" err="1"/>
              <a:t>prometheus.io</a:t>
            </a:r>
            <a:r>
              <a:rPr lang="en-GB" altLang="en-FR" sz="1800" dirty="0"/>
              <a:t>/docs/instrumenting/exporters/</a:t>
            </a:r>
          </a:p>
          <a:p>
            <a:pPr algn="l">
              <a:buClr>
                <a:schemeClr val="tx1"/>
              </a:buClr>
              <a:buSzPct val="100000"/>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altLang="en-FR" sz="1800" dirty="0"/>
              <a:t>Prometheus collects those metrics, stores them in a time </a:t>
            </a:r>
            <a:r>
              <a:rPr lang="en-GB" altLang="en-FR" sz="1800" dirty="0" err="1"/>
              <a:t>serie</a:t>
            </a:r>
            <a:r>
              <a:rPr lang="en-GB" altLang="en-FR" sz="1800" dirty="0"/>
              <a:t> database and provide access using </a:t>
            </a:r>
            <a:r>
              <a:rPr lang="en-GB" altLang="en-FR" sz="1800" dirty="0" err="1"/>
              <a:t>PromQL</a:t>
            </a:r>
            <a:r>
              <a:rPr lang="en-GB" altLang="en-FR" sz="1800" dirty="0"/>
              <a:t> to tools like Grafana to create dashboards</a:t>
            </a:r>
          </a:p>
        </p:txBody>
      </p:sp>
      <p:sp>
        <p:nvSpPr>
          <p:cNvPr id="4" name="Slide Number Placeholder 35">
            <a:extLst>
              <a:ext uri="{FF2B5EF4-FFF2-40B4-BE49-F238E27FC236}">
                <a16:creationId xmlns:a16="http://schemas.microsoft.com/office/drawing/2014/main" id="{F7A870C3-66E2-D740-8AD5-ED39A6D89F3B}"/>
              </a:ext>
            </a:extLst>
          </p:cNvPr>
          <p:cNvSpPr>
            <a:spLocks noGrp="1"/>
          </p:cNvSpPr>
          <p:nvPr>
            <p:ph type="sldNum" sz="quarter" idx="12"/>
          </p:nvPr>
        </p:nvSpPr>
        <p:spPr>
          <a:xfrm>
            <a:off x="8610600" y="6584156"/>
            <a:ext cx="2057400" cy="273844"/>
          </a:xfrm>
        </p:spPr>
        <p:txBody>
          <a:bodyPr/>
          <a:lstStyle/>
          <a:p>
            <a:fld id="{02FCD5AC-5239-4317-A018-1F813C8A6B43}" type="slidenum">
              <a:rPr lang="en-GB" smtClean="0">
                <a:solidFill>
                  <a:schemeClr val="bg1">
                    <a:lumMod val="65000"/>
                  </a:schemeClr>
                </a:solidFill>
              </a:rPr>
              <a:t>7</a:t>
            </a:fld>
            <a:endParaRPr lang="en-GB" dirty="0">
              <a:solidFill>
                <a:schemeClr val="bg1">
                  <a:lumMod val="65000"/>
                </a:schemeClr>
              </a:solidFill>
            </a:endParaRPr>
          </a:p>
        </p:txBody>
      </p:sp>
    </p:spTree>
    <p:extLst>
      <p:ext uri="{BB962C8B-B14F-4D97-AF65-F5344CB8AC3E}">
        <p14:creationId xmlns:p14="http://schemas.microsoft.com/office/powerpoint/2010/main" val="270837270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725C345-E6C8-1173-E7EE-B158245074E7}"/>
              </a:ext>
            </a:extLst>
          </p:cNvPr>
          <p:cNvSpPr txBox="1"/>
          <p:nvPr/>
        </p:nvSpPr>
        <p:spPr>
          <a:xfrm>
            <a:off x="3156734" y="443299"/>
            <a:ext cx="5878532"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err="1">
                <a:solidFill>
                  <a:srgbClr val="005BAA"/>
                </a:solidFill>
                <a:latin typeface="Arial" panose="020B0604020202020204" pitchFamily="34" charset="0"/>
                <a:ea typeface="+mj-ea"/>
                <a:cs typeface="Arial" panose="020B0604020202020204" pitchFamily="34" charset="0"/>
              </a:rPr>
              <a:t>OpenMetrics</a:t>
            </a:r>
            <a:r>
              <a:rPr lang="en-GB" sz="2400" b="1" dirty="0">
                <a:solidFill>
                  <a:srgbClr val="005BAA"/>
                </a:solidFill>
                <a:latin typeface="Arial" panose="020B0604020202020204" pitchFamily="34" charset="0"/>
                <a:ea typeface="+mj-ea"/>
                <a:cs typeface="Arial" panose="020B0604020202020204" pitchFamily="34" charset="0"/>
              </a:rPr>
              <a:t>, Prometheus and Grafana</a:t>
            </a:r>
          </a:p>
        </p:txBody>
      </p:sp>
      <p:sp>
        <p:nvSpPr>
          <p:cNvPr id="5" name="Rectangle 2">
            <a:extLst>
              <a:ext uri="{FF2B5EF4-FFF2-40B4-BE49-F238E27FC236}">
                <a16:creationId xmlns:a16="http://schemas.microsoft.com/office/drawing/2014/main" id="{83431F89-CBEB-CA27-F131-E3CBB77CA54B}"/>
              </a:ext>
            </a:extLst>
          </p:cNvPr>
          <p:cNvSpPr txBox="1">
            <a:spLocks noChangeArrowheads="1"/>
          </p:cNvSpPr>
          <p:nvPr/>
        </p:nvSpPr>
        <p:spPr>
          <a:xfrm>
            <a:off x="2212622" y="1220192"/>
            <a:ext cx="7766756" cy="4205763"/>
          </a:xfrm>
          <a:prstGeom prst="rect">
            <a:avLst/>
          </a:prstGeom>
          <a:ln/>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The “Manual on WIS2” indicates that monitoring is based on </a:t>
            </a:r>
            <a:r>
              <a:rPr lang="en-GB" altLang="en-FR" sz="2052" dirty="0" err="1"/>
              <a:t>OpenMetrics</a:t>
            </a:r>
            <a:endParaRPr lang="en-GB" altLang="en-FR" sz="2052" dirty="0"/>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err="1"/>
              <a:t>OpenMetrics</a:t>
            </a:r>
            <a:r>
              <a:rPr lang="en-GB" altLang="en-FR" sz="2052" dirty="0"/>
              <a:t> is a draft standard based on the working principles of Prometheus </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Systems, applications are providing metrics in an agreed format and those are collected at regular intervals by Prometheus.</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Prometheus stores the metrics in a database</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If the metrics are either missing or have unusual values, Prometheus can trigger an alert. </a:t>
            </a:r>
            <a:r>
              <a:rPr lang="en-GB" altLang="en-FR" sz="2052" dirty="0" err="1"/>
              <a:t>AlertManager</a:t>
            </a:r>
            <a:r>
              <a:rPr lang="en-GB" altLang="en-FR" sz="2052" dirty="0"/>
              <a:t> acts on such alerts</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Typically, a tool like Grafana can query the Prometheus database to present graphically values from the database</a:t>
            </a:r>
          </a:p>
        </p:txBody>
      </p:sp>
    </p:spTree>
    <p:extLst>
      <p:ext uri="{BB962C8B-B14F-4D97-AF65-F5344CB8AC3E}">
        <p14:creationId xmlns:p14="http://schemas.microsoft.com/office/powerpoint/2010/main" val="345488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CC9E7-00E2-F910-FE30-397E69DDCF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64AC69-69CD-8C52-1301-EF63A006E594}"/>
              </a:ext>
            </a:extLst>
          </p:cNvPr>
          <p:cNvSpPr txBox="1"/>
          <p:nvPr/>
        </p:nvSpPr>
        <p:spPr>
          <a:xfrm>
            <a:off x="4550551" y="443299"/>
            <a:ext cx="3090911"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The defined metrics</a:t>
            </a:r>
          </a:p>
        </p:txBody>
      </p:sp>
      <p:pic>
        <p:nvPicPr>
          <p:cNvPr id="3" name="Picture 2" descr="A screenshot of a computer&#10;&#10;AI-generated content may be incorrect.">
            <a:extLst>
              <a:ext uri="{FF2B5EF4-FFF2-40B4-BE49-F238E27FC236}">
                <a16:creationId xmlns:a16="http://schemas.microsoft.com/office/drawing/2014/main" id="{29F56938-868C-B83F-5D56-433C000FD7DE}"/>
              </a:ext>
            </a:extLst>
          </p:cNvPr>
          <p:cNvPicPr>
            <a:picLocks noChangeAspect="1"/>
          </p:cNvPicPr>
          <p:nvPr/>
        </p:nvPicPr>
        <p:blipFill>
          <a:blip r:embed="rId2"/>
          <a:stretch>
            <a:fillRect/>
          </a:stretch>
        </p:blipFill>
        <p:spPr>
          <a:xfrm>
            <a:off x="2416030" y="3138887"/>
            <a:ext cx="7772400" cy="2412823"/>
          </a:xfrm>
          <a:prstGeom prst="rect">
            <a:avLst/>
          </a:prstGeom>
        </p:spPr>
      </p:pic>
      <p:sp>
        <p:nvSpPr>
          <p:cNvPr id="6" name="Rectangle 2">
            <a:extLst>
              <a:ext uri="{FF2B5EF4-FFF2-40B4-BE49-F238E27FC236}">
                <a16:creationId xmlns:a16="http://schemas.microsoft.com/office/drawing/2014/main" id="{8C90C00C-4864-8CF1-59EB-DD34C62B3BA6}"/>
              </a:ext>
            </a:extLst>
          </p:cNvPr>
          <p:cNvSpPr txBox="1">
            <a:spLocks noChangeArrowheads="1"/>
          </p:cNvSpPr>
          <p:nvPr/>
        </p:nvSpPr>
        <p:spPr>
          <a:xfrm>
            <a:off x="2212622" y="1220192"/>
            <a:ext cx="7766756" cy="1665621"/>
          </a:xfrm>
          <a:prstGeom prst="rect">
            <a:avLst/>
          </a:prstGeom>
          <a:ln/>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Only Global Services are providing metrics. They have been defined as a mean to assess the health of WIS2 Nodes and other Global Services from a few designated centres</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For each Global Service, metrics have been defined.</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err="1"/>
              <a:t>Eg.</a:t>
            </a:r>
            <a:r>
              <a:rPr lang="en-GB" altLang="en-FR" sz="2052" dirty="0"/>
              <a:t> For Global Brokers :</a:t>
            </a:r>
          </a:p>
        </p:txBody>
      </p:sp>
    </p:spTree>
    <p:extLst>
      <p:ext uri="{BB962C8B-B14F-4D97-AF65-F5344CB8AC3E}">
        <p14:creationId xmlns:p14="http://schemas.microsoft.com/office/powerpoint/2010/main" val="144696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9DD5F-75E5-4BE9-7746-471812B7B3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B5FADF-86AB-B394-574C-10BB3754D560}"/>
              </a:ext>
            </a:extLst>
          </p:cNvPr>
          <p:cNvSpPr txBox="1"/>
          <p:nvPr/>
        </p:nvSpPr>
        <p:spPr>
          <a:xfrm>
            <a:off x="4233966" y="443299"/>
            <a:ext cx="3724096"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fr-MA" sz="2400" b="1" dirty="0">
                <a:solidFill>
                  <a:srgbClr val="005BAA"/>
                </a:solidFill>
                <a:latin typeface="Arial" panose="020B0604020202020204" pitchFamily="34" charset="0"/>
                <a:ea typeface="+mj-ea"/>
                <a:cs typeface="Arial" panose="020B0604020202020204" pitchFamily="34" charset="0"/>
              </a:rPr>
              <a:t>Connectivity Dashboard</a:t>
            </a:r>
            <a:endParaRPr lang="en-GB" sz="2400" b="1" dirty="0">
              <a:solidFill>
                <a:srgbClr val="005BAA"/>
              </a:solidFill>
              <a:latin typeface="Arial" panose="020B0604020202020204" pitchFamily="34" charset="0"/>
              <a:ea typeface="+mj-ea"/>
              <a:cs typeface="Arial" panose="020B0604020202020204" pitchFamily="34" charset="0"/>
            </a:endParaRPr>
          </a:p>
        </p:txBody>
      </p:sp>
      <p:pic>
        <p:nvPicPr>
          <p:cNvPr id="5" name="Image 4">
            <a:extLst>
              <a:ext uri="{FF2B5EF4-FFF2-40B4-BE49-F238E27FC236}">
                <a16:creationId xmlns:a16="http://schemas.microsoft.com/office/drawing/2014/main" id="{148D0B9E-ED31-04E6-FC57-08D16C2D6F50}"/>
              </a:ext>
            </a:extLst>
          </p:cNvPr>
          <p:cNvPicPr>
            <a:picLocks noChangeAspect="1"/>
          </p:cNvPicPr>
          <p:nvPr/>
        </p:nvPicPr>
        <p:blipFill>
          <a:blip r:embed="rId2"/>
          <a:srcRect/>
          <a:stretch/>
        </p:blipFill>
        <p:spPr>
          <a:xfrm>
            <a:off x="979714" y="1704430"/>
            <a:ext cx="11164424" cy="3716654"/>
          </a:xfrm>
          <a:prstGeom prst="rect">
            <a:avLst/>
          </a:prstGeom>
        </p:spPr>
      </p:pic>
    </p:spTree>
    <p:extLst>
      <p:ext uri="{BB962C8B-B14F-4D97-AF65-F5344CB8AC3E}">
        <p14:creationId xmlns:p14="http://schemas.microsoft.com/office/powerpoint/2010/main" val="553293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4D246-7A5D-96E6-F151-998C42F1B3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00E037-8382-B542-0319-BA0E6057DD30}"/>
              </a:ext>
            </a:extLst>
          </p:cNvPr>
          <p:cNvSpPr txBox="1"/>
          <p:nvPr/>
        </p:nvSpPr>
        <p:spPr>
          <a:xfrm>
            <a:off x="4233959" y="443299"/>
            <a:ext cx="3724096"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fr-MA" sz="2400" b="1" dirty="0">
                <a:solidFill>
                  <a:srgbClr val="005BAA"/>
                </a:solidFill>
                <a:latin typeface="Arial" panose="020B0604020202020204" pitchFamily="34" charset="0"/>
                <a:ea typeface="+mj-ea"/>
                <a:cs typeface="Arial" panose="020B0604020202020204" pitchFamily="34" charset="0"/>
              </a:rPr>
              <a:t>Connectivity Dashboard</a:t>
            </a:r>
            <a:endParaRPr lang="en-GB" sz="2400" b="1" dirty="0">
              <a:solidFill>
                <a:srgbClr val="005BAA"/>
              </a:solidFill>
              <a:latin typeface="Arial" panose="020B0604020202020204" pitchFamily="34" charset="0"/>
              <a:ea typeface="+mj-ea"/>
              <a:cs typeface="Arial" panose="020B0604020202020204" pitchFamily="34" charset="0"/>
            </a:endParaRPr>
          </a:p>
        </p:txBody>
      </p:sp>
      <p:pic>
        <p:nvPicPr>
          <p:cNvPr id="5" name="Image 4" descr="Une image contenant texte, ligne, capture d’écran&#10;&#10;Le contenu généré par l’IA peut être incorrect.">
            <a:extLst>
              <a:ext uri="{FF2B5EF4-FFF2-40B4-BE49-F238E27FC236}">
                <a16:creationId xmlns:a16="http://schemas.microsoft.com/office/drawing/2014/main" id="{C9294232-C324-318A-7C53-2EDDF11D076C}"/>
              </a:ext>
            </a:extLst>
          </p:cNvPr>
          <p:cNvPicPr>
            <a:picLocks noChangeAspect="1"/>
          </p:cNvPicPr>
          <p:nvPr/>
        </p:nvPicPr>
        <p:blipFill>
          <a:blip r:embed="rId2"/>
          <a:stretch>
            <a:fillRect/>
          </a:stretch>
        </p:blipFill>
        <p:spPr>
          <a:xfrm>
            <a:off x="979714" y="1464945"/>
            <a:ext cx="11164424" cy="4195625"/>
          </a:xfrm>
          <a:prstGeom prst="rect">
            <a:avLst/>
          </a:prstGeom>
        </p:spPr>
      </p:pic>
    </p:spTree>
    <p:extLst>
      <p:ext uri="{BB962C8B-B14F-4D97-AF65-F5344CB8AC3E}">
        <p14:creationId xmlns:p14="http://schemas.microsoft.com/office/powerpoint/2010/main" val="3420360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3439F-FF34-85E7-5A36-B668DA69E1B6}"/>
            </a:ext>
          </a:extLst>
        </p:cNvPr>
        <p:cNvGrpSpPr/>
        <p:nvPr/>
      </p:nvGrpSpPr>
      <p:grpSpPr>
        <a:xfrm>
          <a:off x="0" y="0"/>
          <a:ext cx="0" cy="0"/>
          <a:chOff x="0" y="0"/>
          <a:chExt cx="0" cy="0"/>
        </a:xfrm>
      </p:grpSpPr>
      <p:sp>
        <p:nvSpPr>
          <p:cNvPr id="96" name="TextBox 95">
            <a:extLst>
              <a:ext uri="{FF2B5EF4-FFF2-40B4-BE49-F238E27FC236}">
                <a16:creationId xmlns:a16="http://schemas.microsoft.com/office/drawing/2014/main" id="{60D08C85-D5DC-C711-9FC5-EC8CB5CAD68A}"/>
              </a:ext>
            </a:extLst>
          </p:cNvPr>
          <p:cNvSpPr txBox="1"/>
          <p:nvPr/>
        </p:nvSpPr>
        <p:spPr>
          <a:xfrm>
            <a:off x="3036048" y="673129"/>
            <a:ext cx="6633162" cy="276999"/>
          </a:xfrm>
          <a:prstGeom prst="rect">
            <a:avLst/>
          </a:prstGeom>
          <a:noFill/>
        </p:spPr>
        <p:txBody>
          <a:bodyPr wrap="square" rtlCol="0">
            <a:spAutoFit/>
          </a:bodyPr>
          <a:lstStyle/>
          <a:p>
            <a:pPr algn="ctr" defTabSz="685800">
              <a:defRPr/>
            </a:pPr>
            <a:endParaRPr lang="en-GB" sz="1200" dirty="0"/>
          </a:p>
        </p:txBody>
      </p:sp>
      <p:sp>
        <p:nvSpPr>
          <p:cNvPr id="2" name="TextBox 1">
            <a:extLst>
              <a:ext uri="{FF2B5EF4-FFF2-40B4-BE49-F238E27FC236}">
                <a16:creationId xmlns:a16="http://schemas.microsoft.com/office/drawing/2014/main" id="{AC6518E3-3B91-917B-4CF0-5844FAC40327}"/>
              </a:ext>
            </a:extLst>
          </p:cNvPr>
          <p:cNvSpPr txBox="1"/>
          <p:nvPr/>
        </p:nvSpPr>
        <p:spPr>
          <a:xfrm>
            <a:off x="1034896" y="105281"/>
            <a:ext cx="10344150" cy="424732"/>
          </a:xfrm>
          <a:prstGeom prst="rect">
            <a:avLst/>
          </a:prstGeom>
          <a:noFill/>
        </p:spPr>
        <p:txBody>
          <a:bodyPr wrap="square" rtlCol="0">
            <a:spAutoFit/>
          </a:bodyPr>
          <a:lstStyle/>
          <a:p>
            <a:pPr algn="ctr">
              <a:lnSpc>
                <a:spcPct val="90000"/>
              </a:lnSpc>
              <a:spcBef>
                <a:spcPct val="0"/>
              </a:spcBef>
              <a:defRPr/>
            </a:pPr>
            <a:r>
              <a:rPr lang="en-GB" sz="2400" b="1" dirty="0">
                <a:solidFill>
                  <a:srgbClr val="005BAA"/>
                </a:solidFill>
                <a:latin typeface="Arial" panose="020B0604020202020204" pitchFamily="34" charset="0"/>
                <a:ea typeface="+mj-ea"/>
                <a:cs typeface="Arial" panose="020B0604020202020204" pitchFamily="34" charset="0"/>
              </a:rPr>
              <a:t>Hands-on 1 : The Global Monitor in Morocco</a:t>
            </a:r>
          </a:p>
        </p:txBody>
      </p:sp>
      <p:sp>
        <p:nvSpPr>
          <p:cNvPr id="7" name="TextBox 6">
            <a:extLst>
              <a:ext uri="{FF2B5EF4-FFF2-40B4-BE49-F238E27FC236}">
                <a16:creationId xmlns:a16="http://schemas.microsoft.com/office/drawing/2014/main" id="{AEF31633-1ADE-FDA1-2278-E303D01AB1D8}"/>
              </a:ext>
            </a:extLst>
          </p:cNvPr>
          <p:cNvSpPr txBox="1"/>
          <p:nvPr/>
        </p:nvSpPr>
        <p:spPr>
          <a:xfrm>
            <a:off x="221942" y="659134"/>
            <a:ext cx="11970058" cy="2462213"/>
          </a:xfrm>
          <a:prstGeom prst="rect">
            <a:avLst/>
          </a:prstGeom>
          <a:noFill/>
        </p:spPr>
        <p:txBody>
          <a:bodyPr wrap="square">
            <a:spAutoFit/>
          </a:bodyPr>
          <a:lstStyle/>
          <a:p>
            <a:pPr marL="285750" indent="-285750">
              <a:buFontTx/>
              <a:buChar char="-"/>
            </a:pPr>
            <a:r>
              <a:rPr lang="en-GB" dirty="0"/>
              <a:t>Connect to : </a:t>
            </a:r>
            <a:r>
              <a:rPr lang="en-GB" dirty="0">
                <a:hlinkClick r:id="rId3"/>
              </a:rPr>
              <a:t>https://wis2gmc.marocmeteo.ma</a:t>
            </a:r>
            <a:r>
              <a:rPr lang="en-GB" dirty="0"/>
              <a:t> </a:t>
            </a:r>
          </a:p>
          <a:p>
            <a:pPr lvl="3"/>
            <a:r>
              <a:rPr lang="en-GB" dirty="0"/>
              <a:t>(login: wis2-champions </a:t>
            </a:r>
          </a:p>
          <a:p>
            <a:pPr lvl="3"/>
            <a:r>
              <a:rPr lang="en-GB" dirty="0"/>
              <a:t>password: wis2-champions)</a:t>
            </a:r>
          </a:p>
          <a:p>
            <a:endParaRPr lang="en-GB" sz="1400" dirty="0"/>
          </a:p>
          <a:p>
            <a:pPr lvl="1"/>
            <a:r>
              <a:rPr lang="en-GB" dirty="0"/>
              <a:t>Use the different dashboards.</a:t>
            </a:r>
          </a:p>
          <a:p>
            <a:pPr lvl="1"/>
            <a:endParaRPr lang="en-GB" dirty="0"/>
          </a:p>
          <a:p>
            <a:pPr marL="285750" indent="-285750">
              <a:buFontTx/>
              <a:buChar char="-"/>
            </a:pPr>
            <a:r>
              <a:rPr lang="en-GB" dirty="0"/>
              <a:t>Is there something not working as expected ?</a:t>
            </a:r>
          </a:p>
          <a:p>
            <a:pPr marL="285750" indent="-285750">
              <a:buFontTx/>
              <a:buChar char="-"/>
            </a:pPr>
            <a:endParaRPr lang="en-GB" dirty="0"/>
          </a:p>
          <a:p>
            <a:pPr marL="742950" lvl="1" indent="-285750">
              <a:buFont typeface="Arial" panose="020B0604020202020204" pitchFamily="34" charset="0"/>
              <a:buChar char="•"/>
            </a:pPr>
            <a:endParaRPr lang="en-GB"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72473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170F6-2BAF-09E4-8E90-84E29742FD07}"/>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57C0785F-66B7-6F10-FA99-0CD35C60BD4E}"/>
              </a:ext>
            </a:extLst>
          </p:cNvPr>
          <p:cNvSpPr>
            <a:spLocks noGrp="1"/>
          </p:cNvSpPr>
          <p:nvPr>
            <p:ph type="title"/>
          </p:nvPr>
        </p:nvSpPr>
        <p:spPr/>
        <p:txBody>
          <a:bodyPr>
            <a:normAutofit/>
          </a:bodyPr>
          <a:lstStyle/>
          <a:p>
            <a:r>
              <a:rPr lang="en-US" altLang="ja-JP" dirty="0"/>
              <a:t>ALERTING and </a:t>
            </a:r>
            <a:r>
              <a:rPr lang="en-US" altLang="ja-JP" dirty="0" err="1"/>
              <a:t>JIRa</a:t>
            </a:r>
            <a:endParaRPr lang="ja-JP" altLang="en-US" dirty="0"/>
          </a:p>
        </p:txBody>
      </p:sp>
    </p:spTree>
    <p:extLst>
      <p:ext uri="{BB962C8B-B14F-4D97-AF65-F5344CB8AC3E}">
        <p14:creationId xmlns:p14="http://schemas.microsoft.com/office/powerpoint/2010/main" val="2755780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259330" y="2119630"/>
            <a:ext cx="8515985" cy="4222115"/>
            <a:chOff x="7821" y="3456"/>
            <a:chExt cx="11378" cy="6647"/>
          </a:xfrm>
        </p:grpSpPr>
        <p:grpSp>
          <p:nvGrpSpPr>
            <p:cNvPr id="9" name="Group 47"/>
            <p:cNvGrpSpPr/>
            <p:nvPr/>
          </p:nvGrpSpPr>
          <p:grpSpPr>
            <a:xfrm>
              <a:off x="10794" y="3456"/>
              <a:ext cx="1094" cy="1080"/>
              <a:chOff x="4851042" y="4429399"/>
              <a:chExt cx="1256145" cy="1200330"/>
            </a:xfrm>
          </p:grpSpPr>
          <p:sp>
            <p:nvSpPr>
              <p:cNvPr id="11" name="Oval 48"/>
              <p:cNvSpPr/>
              <p:nvPr/>
            </p:nvSpPr>
            <p:spPr>
              <a:xfrm>
                <a:off x="4851042" y="4429399"/>
                <a:ext cx="1256145" cy="1200330"/>
              </a:xfrm>
              <a:prstGeom prst="ellipse">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微软雅黑" panose="020B0503020204020204" pitchFamily="34" charset="-122"/>
                  <a:ea typeface="微软雅黑" panose="020B0503020204020204" pitchFamily="34" charset="-122"/>
                </a:endParaRPr>
              </a:p>
            </p:txBody>
          </p:sp>
          <p:pic>
            <p:nvPicPr>
              <p:cNvPr id="12" name="Graphic 49" descr="Bar chart with solid fill"/>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85089" y="4571279"/>
                <a:ext cx="914401" cy="914398"/>
              </a:xfrm>
              <a:prstGeom prst="rect">
                <a:avLst/>
              </a:prstGeom>
            </p:spPr>
          </p:pic>
        </p:grpSp>
        <p:sp>
          <p:nvSpPr>
            <p:cNvPr id="13" name="TextBox 1024"/>
            <p:cNvSpPr txBox="1"/>
            <p:nvPr/>
          </p:nvSpPr>
          <p:spPr>
            <a:xfrm>
              <a:off x="11822" y="3501"/>
              <a:ext cx="2110" cy="434"/>
            </a:xfrm>
            <a:prstGeom prst="rect">
              <a:avLst/>
            </a:prstGeom>
            <a:noFill/>
          </p:spPr>
          <p:txBody>
            <a:bodyPr wrap="square" rtlCol="0">
              <a:spAutoFit/>
            </a:bodyPr>
            <a:lstStyle/>
            <a:p>
              <a:r>
                <a:rPr lang="en-GB" sz="1200" b="1" dirty="0">
                  <a:latin typeface="微软雅黑" panose="020B0503020204020204" pitchFamily="34" charset="-122"/>
                  <a:ea typeface="微软雅黑" panose="020B0503020204020204" pitchFamily="34" charset="-122"/>
                </a:rPr>
                <a:t>Global Monitoring</a:t>
              </a:r>
            </a:p>
          </p:txBody>
        </p:sp>
        <p:grpSp>
          <p:nvGrpSpPr>
            <p:cNvPr id="14" name="组合 13"/>
            <p:cNvGrpSpPr/>
            <p:nvPr/>
          </p:nvGrpSpPr>
          <p:grpSpPr>
            <a:xfrm>
              <a:off x="7821" y="3982"/>
              <a:ext cx="11378" cy="6121"/>
              <a:chOff x="6555" y="3982"/>
              <a:chExt cx="11596" cy="6121"/>
            </a:xfrm>
          </p:grpSpPr>
          <p:pic>
            <p:nvPicPr>
              <p:cNvPr id="16" name="Picture 2" descr="Prometheus Logo Download Vecto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04" y="5539"/>
                <a:ext cx="1600" cy="137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Grafana, logo Free Icon of Vector Logo"/>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162" y="3982"/>
                <a:ext cx="2216" cy="110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SQL Server Database Logo - LogoDix"/>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11989" y="7233"/>
                <a:ext cx="1229" cy="151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
              <p:cNvPicPr>
                <a:picLocks noChangeAspect="1"/>
              </p:cNvPicPr>
              <p:nvPr/>
            </p:nvPicPr>
            <p:blipFill>
              <a:blip r:embed="rId8"/>
              <a:stretch>
                <a:fillRect/>
              </a:stretch>
            </p:blipFill>
            <p:spPr>
              <a:xfrm>
                <a:off x="14600" y="7461"/>
                <a:ext cx="1260" cy="1220"/>
              </a:xfrm>
              <a:prstGeom prst="rect">
                <a:avLst/>
              </a:prstGeom>
            </p:spPr>
          </p:pic>
          <p:sp>
            <p:nvSpPr>
              <p:cNvPr id="28" name="Rounded Rectangle 2"/>
              <p:cNvSpPr/>
              <p:nvPr/>
            </p:nvSpPr>
            <p:spPr>
              <a:xfrm>
                <a:off x="11342" y="3982"/>
                <a:ext cx="5340" cy="5080"/>
              </a:xfrm>
              <a:prstGeom prst="round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微软雅黑" panose="020B0503020204020204" pitchFamily="34" charset="-122"/>
                  <a:ea typeface="微软雅黑" panose="020B0503020204020204" pitchFamily="34" charset="-122"/>
                </a:endParaRPr>
              </a:p>
            </p:txBody>
          </p:sp>
          <p:pic>
            <p:nvPicPr>
              <p:cNvPr id="29" name="Picture 6"/>
              <p:cNvPicPr>
                <a:picLocks noChangeAspect="1"/>
              </p:cNvPicPr>
              <p:nvPr/>
            </p:nvPicPr>
            <p:blipFill>
              <a:blip r:embed="rId9">
                <a:extLst>
                  <a:ext uri="{BEBA8EAE-BF5A-486C-A8C5-ECC9F3942E4B}">
                    <a14:imgProps xmlns:a14="http://schemas.microsoft.com/office/drawing/2010/main">
                      <a14:imgLayer r:embed="rId10">
                        <a14:imgEffect>
                          <a14:colorTemperature colorTemp="6150"/>
                        </a14:imgEffect>
                        <a14:imgEffect>
                          <a14:saturation sat="400000"/>
                        </a14:imgEffect>
                      </a14:imgLayer>
                    </a14:imgProps>
                  </a:ext>
                </a:extLst>
              </a:blip>
              <a:stretch>
                <a:fillRect/>
              </a:stretch>
            </p:blipFill>
            <p:spPr>
              <a:xfrm>
                <a:off x="6555" y="7499"/>
                <a:ext cx="1180" cy="1080"/>
              </a:xfrm>
              <a:prstGeom prst="rect">
                <a:avLst/>
              </a:prstGeom>
            </p:spPr>
          </p:pic>
          <p:grpSp>
            <p:nvGrpSpPr>
              <p:cNvPr id="30" name="Group 7"/>
              <p:cNvGrpSpPr/>
              <p:nvPr/>
            </p:nvGrpSpPr>
            <p:grpSpPr>
              <a:xfrm>
                <a:off x="8720" y="7485"/>
                <a:ext cx="1094" cy="1080"/>
                <a:chOff x="3107885" y="2667808"/>
                <a:chExt cx="1256145" cy="1200330"/>
              </a:xfrm>
            </p:grpSpPr>
            <p:sp>
              <p:nvSpPr>
                <p:cNvPr id="31" name="Oval 8"/>
                <p:cNvSpPr/>
                <p:nvPr/>
              </p:nvSpPr>
              <p:spPr>
                <a:xfrm>
                  <a:off x="3107885" y="2667808"/>
                  <a:ext cx="1256145" cy="1200330"/>
                </a:xfrm>
                <a:prstGeom prst="ellipse">
                  <a:avLst/>
                </a:prstGeom>
                <a:gradFill>
                  <a:gsLst>
                    <a:gs pos="0">
                      <a:schemeClr val="accent5">
                        <a:lumMod val="75000"/>
                      </a:schemeClr>
                    </a:gs>
                    <a:gs pos="100000">
                      <a:schemeClr val="accent1">
                        <a:tint val="50000"/>
                        <a:shade val="100000"/>
                        <a:satMod val="350000"/>
                      </a:schemeClr>
                    </a:gs>
                  </a:gsLs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微软雅黑" panose="020B0503020204020204" pitchFamily="34" charset="-122"/>
                    <a:ea typeface="微软雅黑" panose="020B0503020204020204" pitchFamily="34" charset="-122"/>
                  </a:endParaRPr>
                </a:p>
              </p:txBody>
            </p:sp>
            <p:pic>
              <p:nvPicPr>
                <p:cNvPr id="32" name="Graphic 9" descr="Database with solid fill"/>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260369" y="2810772"/>
                  <a:ext cx="914400" cy="914399"/>
                </a:xfrm>
                <a:prstGeom prst="rect">
                  <a:avLst/>
                </a:prstGeom>
              </p:spPr>
            </p:pic>
          </p:grpSp>
          <p:grpSp>
            <p:nvGrpSpPr>
              <p:cNvPr id="33" name="Group 10"/>
              <p:cNvGrpSpPr/>
              <p:nvPr/>
            </p:nvGrpSpPr>
            <p:grpSpPr>
              <a:xfrm>
                <a:off x="8666" y="5511"/>
                <a:ext cx="1094" cy="1080"/>
                <a:chOff x="3100578" y="2626881"/>
                <a:chExt cx="926187" cy="914400"/>
              </a:xfrm>
            </p:grpSpPr>
            <p:sp>
              <p:nvSpPr>
                <p:cNvPr id="34" name="Oval 11"/>
                <p:cNvSpPr/>
                <p:nvPr/>
              </p:nvSpPr>
              <p:spPr>
                <a:xfrm>
                  <a:off x="3100578" y="2626881"/>
                  <a:ext cx="926187" cy="914400"/>
                </a:xfrm>
                <a:prstGeom prst="ellipse">
                  <a:avLst/>
                </a:prstGeom>
                <a:solidFill>
                  <a:schemeClr val="accent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微软雅黑" panose="020B0503020204020204" pitchFamily="34" charset="-122"/>
                    <a:ea typeface="微软雅黑" panose="020B0503020204020204" pitchFamily="34" charset="-122"/>
                  </a:endParaRPr>
                </a:p>
              </p:txBody>
            </p:sp>
            <p:pic>
              <p:nvPicPr>
                <p:cNvPr id="35" name="Graphic 12" descr="Network with solid fill"/>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67308" y="2639091"/>
                  <a:ext cx="789683" cy="789683"/>
                </a:xfrm>
                <a:prstGeom prst="rect">
                  <a:avLst/>
                </a:prstGeom>
              </p:spPr>
            </p:pic>
          </p:grpSp>
          <p:cxnSp>
            <p:nvCxnSpPr>
              <p:cNvPr id="36" name="Straight Arrow Connector 14"/>
              <p:cNvCxnSpPr/>
              <p:nvPr/>
            </p:nvCxnSpPr>
            <p:spPr>
              <a:xfrm flipH="1" flipV="1">
                <a:off x="9937" y="6213"/>
                <a:ext cx="1208" cy="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15"/>
              <p:cNvCxnSpPr/>
              <p:nvPr/>
            </p:nvCxnSpPr>
            <p:spPr>
              <a:xfrm flipH="1">
                <a:off x="9994" y="8026"/>
                <a:ext cx="116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17"/>
              <p:cNvCxnSpPr/>
              <p:nvPr/>
            </p:nvCxnSpPr>
            <p:spPr>
              <a:xfrm flipH="1">
                <a:off x="7462" y="6462"/>
                <a:ext cx="936" cy="10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20"/>
              <p:cNvCxnSpPr/>
              <p:nvPr/>
            </p:nvCxnSpPr>
            <p:spPr>
              <a:xfrm flipH="1">
                <a:off x="7729" y="8039"/>
                <a:ext cx="8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0" name="Picture 25" descr="Chart, line chart, histogram&#10;&#10;Description automatically generated"/>
              <p:cNvPicPr>
                <a:picLocks noChangeAspect="1"/>
              </p:cNvPicPr>
              <p:nvPr/>
            </p:nvPicPr>
            <p:blipFill>
              <a:blip r:embed="rId15"/>
              <a:stretch>
                <a:fillRect/>
              </a:stretch>
            </p:blipFill>
            <p:spPr>
              <a:xfrm>
                <a:off x="13799" y="4899"/>
                <a:ext cx="2216" cy="1683"/>
              </a:xfrm>
              <a:prstGeom prst="rect">
                <a:avLst/>
              </a:prstGeom>
            </p:spPr>
          </p:pic>
          <p:cxnSp>
            <p:nvCxnSpPr>
              <p:cNvPr id="44" name="Straight Arrow Connector 27"/>
              <p:cNvCxnSpPr/>
              <p:nvPr/>
            </p:nvCxnSpPr>
            <p:spPr>
              <a:xfrm flipH="1">
                <a:off x="12850" y="4866"/>
                <a:ext cx="428" cy="5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28"/>
              <p:cNvSpPr txBox="1"/>
              <p:nvPr/>
            </p:nvSpPr>
            <p:spPr>
              <a:xfrm>
                <a:off x="9995" y="5762"/>
                <a:ext cx="1245" cy="434"/>
              </a:xfrm>
              <a:prstGeom prst="rect">
                <a:avLst/>
              </a:prstGeom>
              <a:noFill/>
            </p:spPr>
            <p:txBody>
              <a:bodyPr wrap="square" rtlCol="0">
                <a:spAutoFit/>
              </a:bodyPr>
              <a:lstStyle/>
              <a:p>
                <a:r>
                  <a:rPr lang="en-GB" sz="1200" i="1" dirty="0">
                    <a:solidFill>
                      <a:schemeClr val="accent1"/>
                    </a:solidFill>
                    <a:latin typeface="微软雅黑" panose="020B0503020204020204" pitchFamily="34" charset="-122"/>
                    <a:ea typeface="微软雅黑" panose="020B0503020204020204" pitchFamily="34" charset="-122"/>
                  </a:rPr>
                  <a:t>Scrape</a:t>
                </a:r>
              </a:p>
            </p:txBody>
          </p:sp>
          <p:sp>
            <p:nvSpPr>
              <p:cNvPr id="51" name="TextBox 29"/>
              <p:cNvSpPr txBox="1"/>
              <p:nvPr/>
            </p:nvSpPr>
            <p:spPr>
              <a:xfrm>
                <a:off x="9935" y="8039"/>
                <a:ext cx="1406" cy="434"/>
              </a:xfrm>
              <a:prstGeom prst="rect">
                <a:avLst/>
              </a:prstGeom>
              <a:noFill/>
            </p:spPr>
            <p:txBody>
              <a:bodyPr wrap="square" rtlCol="0">
                <a:spAutoFit/>
              </a:bodyPr>
              <a:lstStyle/>
              <a:p>
                <a:r>
                  <a:rPr lang="en-GB" sz="1200" i="1" dirty="0">
                    <a:solidFill>
                      <a:schemeClr val="accent1"/>
                    </a:solidFill>
                    <a:latin typeface="微软雅黑" panose="020B0503020204020204" pitchFamily="34" charset="-122"/>
                    <a:ea typeface="微软雅黑" panose="020B0503020204020204" pitchFamily="34" charset="-122"/>
                  </a:rPr>
                  <a:t>Scrape</a:t>
                </a:r>
              </a:p>
            </p:txBody>
          </p:sp>
          <p:sp>
            <p:nvSpPr>
              <p:cNvPr id="57" name="TextBox 30"/>
              <p:cNvSpPr txBox="1"/>
              <p:nvPr/>
            </p:nvSpPr>
            <p:spPr>
              <a:xfrm>
                <a:off x="7209" y="6799"/>
                <a:ext cx="1639" cy="434"/>
              </a:xfrm>
              <a:prstGeom prst="rect">
                <a:avLst/>
              </a:prstGeom>
              <a:noFill/>
            </p:spPr>
            <p:txBody>
              <a:bodyPr wrap="square" rtlCol="0">
                <a:spAutoFit/>
              </a:bodyPr>
              <a:lstStyle/>
              <a:p>
                <a:r>
                  <a:rPr lang="en-GB" sz="1200" dirty="0">
                    <a:latin typeface="微软雅黑" panose="020B0503020204020204" pitchFamily="34" charset="-122"/>
                    <a:ea typeface="微软雅黑" panose="020B0503020204020204" pitchFamily="34" charset="-122"/>
                  </a:rPr>
                  <a:t>Subscribe</a:t>
                </a:r>
              </a:p>
            </p:txBody>
          </p:sp>
          <p:sp>
            <p:nvSpPr>
              <p:cNvPr id="60" name="TextBox 31"/>
              <p:cNvSpPr txBox="1"/>
              <p:nvPr/>
            </p:nvSpPr>
            <p:spPr>
              <a:xfrm>
                <a:off x="7366" y="8175"/>
                <a:ext cx="1815" cy="434"/>
              </a:xfrm>
              <a:prstGeom prst="rect">
                <a:avLst/>
              </a:prstGeom>
              <a:noFill/>
            </p:spPr>
            <p:txBody>
              <a:bodyPr wrap="square" rtlCol="0">
                <a:spAutoFit/>
              </a:bodyPr>
              <a:lstStyle/>
              <a:p>
                <a:r>
                  <a:rPr lang="en-GB" sz="1200" dirty="0">
                    <a:latin typeface="微软雅黑" panose="020B0503020204020204" pitchFamily="34" charset="-122"/>
                    <a:ea typeface="微软雅黑" panose="020B0503020204020204" pitchFamily="34" charset="-122"/>
                  </a:rPr>
                  <a:t>Download</a:t>
                </a:r>
              </a:p>
            </p:txBody>
          </p:sp>
          <p:sp>
            <p:nvSpPr>
              <p:cNvPr id="76" name="TextBox 32"/>
              <p:cNvSpPr txBox="1"/>
              <p:nvPr/>
            </p:nvSpPr>
            <p:spPr>
              <a:xfrm>
                <a:off x="11987" y="4784"/>
                <a:ext cx="1290" cy="434"/>
              </a:xfrm>
              <a:prstGeom prst="rect">
                <a:avLst/>
              </a:prstGeom>
              <a:noFill/>
            </p:spPr>
            <p:txBody>
              <a:bodyPr wrap="square" rtlCol="0">
                <a:spAutoFit/>
              </a:bodyPr>
              <a:lstStyle/>
              <a:p>
                <a:r>
                  <a:rPr lang="en-GB" sz="1200" i="1" dirty="0">
                    <a:solidFill>
                      <a:schemeClr val="accent1"/>
                    </a:solidFill>
                    <a:latin typeface="微软雅黑" panose="020B0503020204020204" pitchFamily="34" charset="-122"/>
                    <a:ea typeface="微软雅黑" panose="020B0503020204020204" pitchFamily="34" charset="-122"/>
                  </a:rPr>
                  <a:t>Query</a:t>
                </a:r>
              </a:p>
            </p:txBody>
          </p:sp>
          <p:cxnSp>
            <p:nvCxnSpPr>
              <p:cNvPr id="77" name="Straight Arrow Connector 33"/>
              <p:cNvCxnSpPr/>
              <p:nvPr/>
            </p:nvCxnSpPr>
            <p:spPr>
              <a:xfrm>
                <a:off x="13404" y="8039"/>
                <a:ext cx="9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8" name="TextBox 36"/>
              <p:cNvSpPr txBox="1"/>
              <p:nvPr/>
            </p:nvSpPr>
            <p:spPr>
              <a:xfrm>
                <a:off x="13368" y="8114"/>
                <a:ext cx="1034" cy="465"/>
              </a:xfrm>
              <a:prstGeom prst="rect">
                <a:avLst/>
              </a:prstGeom>
              <a:noFill/>
            </p:spPr>
            <p:txBody>
              <a:bodyPr wrap="square" rtlCol="0">
                <a:noAutofit/>
              </a:bodyPr>
              <a:lstStyle/>
              <a:p>
                <a:r>
                  <a:rPr lang="en-GB" sz="1200" i="1" dirty="0">
                    <a:solidFill>
                      <a:schemeClr val="accent1"/>
                    </a:solidFill>
                    <a:latin typeface="微软雅黑" panose="020B0503020204020204" pitchFamily="34" charset="-122"/>
                    <a:ea typeface="微软雅黑" panose="020B0503020204020204" pitchFamily="34" charset="-122"/>
                  </a:rPr>
                  <a:t>Alert</a:t>
                </a:r>
              </a:p>
            </p:txBody>
          </p:sp>
          <p:grpSp>
            <p:nvGrpSpPr>
              <p:cNvPr id="79" name="Group 60"/>
              <p:cNvGrpSpPr/>
              <p:nvPr/>
            </p:nvGrpSpPr>
            <p:grpSpPr>
              <a:xfrm rot="5400000">
                <a:off x="14937" y="8478"/>
                <a:ext cx="606" cy="1200"/>
                <a:chOff x="6504755" y="3924586"/>
                <a:chExt cx="385005" cy="761987"/>
              </a:xfrm>
            </p:grpSpPr>
            <p:cxnSp>
              <p:nvCxnSpPr>
                <p:cNvPr id="80" name="Straight Arrow Connector 37"/>
                <p:cNvCxnSpPr/>
                <p:nvPr/>
              </p:nvCxnSpPr>
              <p:spPr>
                <a:xfrm flipV="1">
                  <a:off x="6504755" y="3924586"/>
                  <a:ext cx="317271" cy="232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39"/>
                <p:cNvCxnSpPr/>
                <p:nvPr/>
              </p:nvCxnSpPr>
              <p:spPr>
                <a:xfrm>
                  <a:off x="6532570" y="4311936"/>
                  <a:ext cx="3571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44"/>
                <p:cNvCxnSpPr/>
                <p:nvPr/>
              </p:nvCxnSpPr>
              <p:spPr>
                <a:xfrm>
                  <a:off x="6504755" y="4454308"/>
                  <a:ext cx="317271" cy="232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83" name="Group 50"/>
              <p:cNvGrpSpPr/>
              <p:nvPr/>
            </p:nvGrpSpPr>
            <p:grpSpPr>
              <a:xfrm>
                <a:off x="8745" y="9023"/>
                <a:ext cx="1094" cy="1080"/>
                <a:chOff x="6018575" y="2624111"/>
                <a:chExt cx="926187" cy="914400"/>
              </a:xfrm>
            </p:grpSpPr>
            <p:sp>
              <p:nvSpPr>
                <p:cNvPr id="84" name="Oval 51"/>
                <p:cNvSpPr/>
                <p:nvPr/>
              </p:nvSpPr>
              <p:spPr>
                <a:xfrm>
                  <a:off x="6018575" y="2624111"/>
                  <a:ext cx="926187" cy="914400"/>
                </a:xfrm>
                <a:prstGeom prst="ellipse">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微软雅黑" panose="020B0503020204020204" pitchFamily="34" charset="-122"/>
                    <a:ea typeface="微软雅黑" panose="020B0503020204020204" pitchFamily="34" charset="-122"/>
                  </a:endParaRPr>
                </a:p>
              </p:txBody>
            </p:sp>
            <p:pic>
              <p:nvPicPr>
                <p:cNvPr id="85" name="Graphic 52" descr="Books outline"/>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105969" y="2732194"/>
                  <a:ext cx="751399" cy="751399"/>
                </a:xfrm>
                <a:prstGeom prst="rect">
                  <a:avLst/>
                </a:prstGeom>
              </p:spPr>
            </p:pic>
          </p:grpSp>
          <p:cxnSp>
            <p:nvCxnSpPr>
              <p:cNvPr id="86" name="Straight Arrow Connector 53"/>
              <p:cNvCxnSpPr/>
              <p:nvPr/>
            </p:nvCxnSpPr>
            <p:spPr>
              <a:xfrm flipH="1">
                <a:off x="9995" y="9023"/>
                <a:ext cx="1244" cy="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7" name="TextBox 54"/>
              <p:cNvSpPr txBox="1"/>
              <p:nvPr/>
            </p:nvSpPr>
            <p:spPr>
              <a:xfrm>
                <a:off x="10088" y="9274"/>
                <a:ext cx="1255" cy="517"/>
              </a:xfrm>
              <a:prstGeom prst="rect">
                <a:avLst/>
              </a:prstGeom>
              <a:noFill/>
            </p:spPr>
            <p:txBody>
              <a:bodyPr wrap="square" rtlCol="0">
                <a:noAutofit/>
              </a:bodyPr>
              <a:lstStyle/>
              <a:p>
                <a:r>
                  <a:rPr lang="en-GB" sz="1200" i="1" dirty="0">
                    <a:solidFill>
                      <a:schemeClr val="accent1"/>
                    </a:solidFill>
                    <a:latin typeface="微软雅黑" panose="020B0503020204020204" pitchFamily="34" charset="-122"/>
                    <a:ea typeface="微软雅黑" panose="020B0503020204020204" pitchFamily="34" charset="-122"/>
                  </a:rPr>
                  <a:t>Scrape</a:t>
                </a:r>
              </a:p>
            </p:txBody>
          </p:sp>
          <p:pic>
            <p:nvPicPr>
              <p:cNvPr id="88" name="Picture 8" descr="Download Mail Svg Icon - Round Gmail Logo Png Clipart (#4477875 ..."/>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flipH="1">
                <a:off x="14111" y="9308"/>
                <a:ext cx="489" cy="399"/>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12" descr="Download Transparent Telegram Logo Png - Circle Logo | Pnggrid"/>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4958" y="9494"/>
                <a:ext cx="563" cy="563"/>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14" descr="Slack sparks further outrage with tweak to new logo | Creative Bloq"/>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5658" y="9437"/>
                <a:ext cx="847" cy="476"/>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1023"/>
              <p:cNvSpPr txBox="1"/>
              <p:nvPr/>
            </p:nvSpPr>
            <p:spPr>
              <a:xfrm>
                <a:off x="15378" y="8500"/>
                <a:ext cx="1485" cy="559"/>
              </a:xfrm>
              <a:prstGeom prst="rect">
                <a:avLst/>
              </a:prstGeom>
              <a:noFill/>
            </p:spPr>
            <p:txBody>
              <a:bodyPr wrap="square" rtlCol="0">
                <a:noAutofit/>
              </a:bodyPr>
              <a:lstStyle/>
              <a:p>
                <a:r>
                  <a:rPr lang="en-GB" sz="1200" i="1" dirty="0">
                    <a:solidFill>
                      <a:schemeClr val="accent1"/>
                    </a:solidFill>
                    <a:latin typeface="微软雅黑" panose="020B0503020204020204" pitchFamily="34" charset="-122"/>
                    <a:ea typeface="微软雅黑" panose="020B0503020204020204" pitchFamily="34" charset="-122"/>
                  </a:rPr>
                  <a:t>Inform</a:t>
                </a:r>
              </a:p>
            </p:txBody>
          </p:sp>
          <p:cxnSp>
            <p:nvCxnSpPr>
              <p:cNvPr id="92" name="Straight Arrow Connector 1026"/>
              <p:cNvCxnSpPr/>
              <p:nvPr/>
            </p:nvCxnSpPr>
            <p:spPr>
              <a:xfrm flipH="1" flipV="1">
                <a:off x="16253" y="5770"/>
                <a:ext cx="1035" cy="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3" name="TextBox 1030"/>
              <p:cNvSpPr txBox="1"/>
              <p:nvPr/>
            </p:nvSpPr>
            <p:spPr>
              <a:xfrm>
                <a:off x="16122" y="5326"/>
                <a:ext cx="1312" cy="434"/>
              </a:xfrm>
              <a:prstGeom prst="rect">
                <a:avLst/>
              </a:prstGeom>
              <a:solidFill>
                <a:schemeClr val="bg1"/>
              </a:solidFill>
            </p:spPr>
            <p:txBody>
              <a:bodyPr wrap="square" rtlCol="0">
                <a:noAutofit/>
              </a:bodyPr>
              <a:lstStyle/>
              <a:p>
                <a:r>
                  <a:rPr lang="en-GB" sz="1200" dirty="0">
                    <a:latin typeface="微软雅黑" panose="020B0503020204020204" pitchFamily="34" charset="-122"/>
                    <a:ea typeface="微软雅黑" panose="020B0503020204020204" pitchFamily="34" charset="-122"/>
                  </a:rPr>
                  <a:t>Access</a:t>
                </a:r>
              </a:p>
            </p:txBody>
          </p:sp>
          <p:pic>
            <p:nvPicPr>
              <p:cNvPr id="94" name="Picture 16" descr="User Login Man Human Body Mobile Person Svg Png Icon Free Download ..."/>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7432" y="5443"/>
                <a:ext cx="719" cy="719"/>
              </a:xfrm>
              <a:prstGeom prst="rect">
                <a:avLst/>
              </a:prstGeom>
              <a:noFill/>
              <a:extLst>
                <a:ext uri="{909E8E84-426E-40DD-AFC4-6F175D3DCCD1}">
                  <a14:hiddenFill xmlns:a14="http://schemas.microsoft.com/office/drawing/2010/main">
                    <a:solidFill>
                      <a:srgbClr val="FFFFFF"/>
                    </a:solidFill>
                  </a14:hiddenFill>
                </a:ext>
              </a:extLst>
            </p:spPr>
          </p:pic>
          <p:grpSp>
            <p:nvGrpSpPr>
              <p:cNvPr id="95" name="Group 1043"/>
              <p:cNvGrpSpPr/>
              <p:nvPr/>
            </p:nvGrpSpPr>
            <p:grpSpPr>
              <a:xfrm>
                <a:off x="11499" y="6603"/>
                <a:ext cx="1922" cy="531"/>
                <a:chOff x="4139893" y="3306814"/>
                <a:chExt cx="1220184" cy="337126"/>
              </a:xfrm>
            </p:grpSpPr>
            <p:sp>
              <p:nvSpPr>
                <p:cNvPr id="96" name="Rectangle 1042"/>
                <p:cNvSpPr/>
                <p:nvPr/>
              </p:nvSpPr>
              <p:spPr>
                <a:xfrm>
                  <a:off x="4254795" y="3306814"/>
                  <a:ext cx="1105282" cy="3247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微软雅黑" panose="020B0503020204020204" pitchFamily="34" charset="-122"/>
                    <a:ea typeface="微软雅黑" panose="020B0503020204020204" pitchFamily="34" charset="-122"/>
                  </a:endParaRPr>
                </a:p>
              </p:txBody>
            </p:sp>
            <p:cxnSp>
              <p:nvCxnSpPr>
                <p:cNvPr id="97" name="Straight Arrow Connector 1036"/>
                <p:cNvCxnSpPr/>
                <p:nvPr/>
              </p:nvCxnSpPr>
              <p:spPr>
                <a:xfrm>
                  <a:off x="4832901" y="3319165"/>
                  <a:ext cx="0" cy="3247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8" name="TextBox 1038"/>
                <p:cNvSpPr txBox="1"/>
                <p:nvPr/>
              </p:nvSpPr>
              <p:spPr>
                <a:xfrm>
                  <a:off x="4139893" y="3316931"/>
                  <a:ext cx="693803" cy="286646"/>
                </a:xfrm>
                <a:prstGeom prst="rect">
                  <a:avLst/>
                </a:prstGeom>
                <a:noFill/>
              </p:spPr>
              <p:txBody>
                <a:bodyPr wrap="square" rtlCol="0">
                  <a:noAutofit/>
                </a:bodyPr>
                <a:lstStyle/>
                <a:p>
                  <a:r>
                    <a:rPr lang="en-GB" sz="1200" i="1" dirty="0">
                      <a:solidFill>
                        <a:schemeClr val="accent1"/>
                      </a:solidFill>
                      <a:latin typeface="微软雅黑" panose="020B0503020204020204" pitchFamily="34" charset="-122"/>
                      <a:ea typeface="微软雅黑" panose="020B0503020204020204" pitchFamily="34" charset="-122"/>
                    </a:rPr>
                    <a:t>Store</a:t>
                  </a:r>
                </a:p>
              </p:txBody>
            </p:sp>
          </p:grpSp>
          <p:sp>
            <p:nvSpPr>
              <p:cNvPr id="100" name="TextBox 4"/>
              <p:cNvSpPr txBox="1"/>
              <p:nvPr/>
            </p:nvSpPr>
            <p:spPr>
              <a:xfrm>
                <a:off x="12882" y="6620"/>
                <a:ext cx="2075" cy="434"/>
              </a:xfrm>
              <a:prstGeom prst="rect">
                <a:avLst/>
              </a:prstGeom>
              <a:solidFill>
                <a:schemeClr val="bg1"/>
              </a:solidFill>
            </p:spPr>
            <p:txBody>
              <a:bodyPr wrap="square" rtlCol="0">
                <a:spAutoFit/>
              </a:bodyPr>
              <a:lstStyle/>
              <a:p>
                <a:r>
                  <a:rPr lang="en-GB" sz="1200" dirty="0">
                    <a:latin typeface="微软雅黑" panose="020B0503020204020204" pitchFamily="34" charset="-122"/>
                    <a:ea typeface="微软雅黑" panose="020B0503020204020204" pitchFamily="34" charset="-122"/>
                  </a:rPr>
                  <a:t>Prometheus</a:t>
                </a:r>
              </a:p>
            </p:txBody>
          </p:sp>
          <p:sp>
            <p:nvSpPr>
              <p:cNvPr id="101" name="TextBox 5"/>
              <p:cNvSpPr txBox="1"/>
              <p:nvPr/>
            </p:nvSpPr>
            <p:spPr>
              <a:xfrm>
                <a:off x="14640" y="6948"/>
                <a:ext cx="1649" cy="434"/>
              </a:xfrm>
              <a:prstGeom prst="rect">
                <a:avLst/>
              </a:prstGeom>
              <a:solidFill>
                <a:schemeClr val="bg1"/>
              </a:solidFill>
            </p:spPr>
            <p:txBody>
              <a:bodyPr wrap="square" rtlCol="0">
                <a:spAutoFit/>
              </a:bodyPr>
              <a:lstStyle/>
              <a:p>
                <a:r>
                  <a:rPr lang="en-GB" sz="1200" dirty="0">
                    <a:latin typeface="微软雅黑" panose="020B0503020204020204" pitchFamily="34" charset="-122"/>
                    <a:ea typeface="微软雅黑" panose="020B0503020204020204" pitchFamily="34" charset="-122"/>
                  </a:rPr>
                  <a:t>Alert Manager</a:t>
                </a:r>
              </a:p>
            </p:txBody>
          </p:sp>
        </p:grpSp>
      </p:grpSp>
      <p:sp>
        <p:nvSpPr>
          <p:cNvPr id="102" name="文本框 101"/>
          <p:cNvSpPr txBox="1"/>
          <p:nvPr/>
        </p:nvSpPr>
        <p:spPr>
          <a:xfrm>
            <a:off x="506827" y="672567"/>
            <a:ext cx="11032490" cy="1418658"/>
          </a:xfrm>
          <a:prstGeom prst="rect">
            <a:avLst/>
          </a:prstGeom>
          <a:noFill/>
        </p:spPr>
        <p:txBody>
          <a:bodyPr wrap="square" rtlCol="0" anchor="t">
            <a:spAutoFit/>
          </a:bodyPr>
          <a:lstStyle/>
          <a:p>
            <a:pPr marL="342900" indent="-342900" defTabSz="457200" fontAlgn="base">
              <a:spcBef>
                <a:spcPct val="20000"/>
              </a:spcBef>
              <a:buClr>
                <a:schemeClr val="tx1"/>
              </a:buClr>
              <a:buSzPct val="100000"/>
              <a:buFont typeface="Arial"/>
              <a:buChar char="•"/>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defRPr/>
            </a:pPr>
            <a:r>
              <a:rPr lang="en-US" altLang="zh-CN" sz="2052" dirty="0">
                <a:sym typeface="+mn-ea"/>
              </a:rPr>
              <a:t>GM scrapes the metrics from the other Global Services  and raises alerts according the rules.</a:t>
            </a:r>
          </a:p>
          <a:p>
            <a:pPr marL="342900" indent="-342900" defTabSz="457200" fontAlgn="base">
              <a:spcBef>
                <a:spcPct val="20000"/>
              </a:spcBef>
              <a:buClr>
                <a:schemeClr val="tx1"/>
              </a:buClr>
              <a:buSzPct val="100000"/>
              <a:buFont typeface="Arial"/>
              <a:buChar char="•"/>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defRPr/>
            </a:pPr>
            <a:r>
              <a:rPr lang="en-US" altLang="zh-CN" sz="2052" dirty="0">
                <a:sym typeface="+mn-ea"/>
              </a:rPr>
              <a:t>GM sends alerts to the local broker. GB subscribes to the GM's monitor topic, and after GISC subscribes to the alarms, it can provide them to responsible countries via various methods such as email, websites, message forwarding, and alarm files.</a:t>
            </a:r>
          </a:p>
        </p:txBody>
      </p:sp>
      <p:sp>
        <p:nvSpPr>
          <p:cNvPr id="103" name="圆角矩形 102"/>
          <p:cNvSpPr/>
          <p:nvPr/>
        </p:nvSpPr>
        <p:spPr>
          <a:xfrm>
            <a:off x="5732145" y="4337685"/>
            <a:ext cx="4228465" cy="2033905"/>
          </a:xfrm>
          <a:prstGeom prst="roundRect">
            <a:avLst/>
          </a:prstGeom>
          <a:ln>
            <a:solidFill>
              <a:srgbClr val="C00000"/>
            </a:solidFill>
          </a:ln>
        </p:spPr>
        <p:style>
          <a:lnRef idx="3">
            <a:schemeClr val="accent1"/>
          </a:lnRef>
          <a:fillRef idx="0">
            <a:srgbClr val="FFFFFF"/>
          </a:fillRef>
          <a:effectRef idx="0">
            <a:srgbClr val="FFFFFF"/>
          </a:effectRef>
          <a:fontRef idx="minor">
            <a:schemeClr val="tx1"/>
          </a:fontRef>
        </p:style>
        <p:txBody>
          <a:bodyPr/>
          <a:lstStyle/>
          <a:p>
            <a:endParaRPr lang="zh-CN" altLang="en-US"/>
          </a:p>
        </p:txBody>
      </p:sp>
      <p:sp>
        <p:nvSpPr>
          <p:cNvPr id="3" name="ZoneTexte 2">
            <a:extLst>
              <a:ext uri="{FF2B5EF4-FFF2-40B4-BE49-F238E27FC236}">
                <a16:creationId xmlns:a16="http://schemas.microsoft.com/office/drawing/2014/main" id="{02C71532-7A3B-C541-86EB-08A77E7944CC}"/>
              </a:ext>
            </a:extLst>
          </p:cNvPr>
          <p:cNvSpPr txBox="1"/>
          <p:nvPr/>
        </p:nvSpPr>
        <p:spPr>
          <a:xfrm>
            <a:off x="3110658" y="141211"/>
            <a:ext cx="6096000" cy="424732"/>
          </a:xfrm>
          <a:prstGeom prst="rect">
            <a:avLst/>
          </a:prstGeom>
          <a:noFill/>
        </p:spPr>
        <p:txBody>
          <a:bodyPr wrap="square">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US" sz="2400" b="1" dirty="0">
                <a:solidFill>
                  <a:srgbClr val="005BAA"/>
                </a:solidFill>
                <a:latin typeface="Arial" panose="020B0604020202020204" pitchFamily="34" charset="0"/>
                <a:ea typeface="+mj-ea"/>
                <a:cs typeface="Arial" panose="020B0604020202020204" pitchFamily="34" charset="0"/>
                <a:sym typeface="+mn-ea"/>
              </a:rPr>
              <a:t>Alert Generation</a:t>
            </a:r>
            <a:endParaRPr lang="x-none" sz="2400" b="1" dirty="0">
              <a:solidFill>
                <a:srgbClr val="005BAA"/>
              </a:solidFill>
              <a:latin typeface="Arial" panose="020B0604020202020204" pitchFamily="34" charset="0"/>
              <a:ea typeface="+mj-ea"/>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A21EC-4A32-2122-880E-AD927733004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414D0E-9198-CFF3-4FF4-64750EF138F9}"/>
              </a:ext>
            </a:extLst>
          </p:cNvPr>
          <p:cNvSpPr txBox="1"/>
          <p:nvPr/>
        </p:nvSpPr>
        <p:spPr>
          <a:xfrm>
            <a:off x="3479053" y="443299"/>
            <a:ext cx="5233933"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A companion of the metrics: alerts</a:t>
            </a:r>
          </a:p>
        </p:txBody>
      </p:sp>
      <p:sp>
        <p:nvSpPr>
          <p:cNvPr id="6" name="Rectangle 2">
            <a:extLst>
              <a:ext uri="{FF2B5EF4-FFF2-40B4-BE49-F238E27FC236}">
                <a16:creationId xmlns:a16="http://schemas.microsoft.com/office/drawing/2014/main" id="{18FFABE0-BC17-22E8-F324-ED286CE2E911}"/>
              </a:ext>
            </a:extLst>
          </p:cNvPr>
          <p:cNvSpPr txBox="1">
            <a:spLocks noChangeArrowheads="1"/>
          </p:cNvSpPr>
          <p:nvPr/>
        </p:nvSpPr>
        <p:spPr>
          <a:xfrm>
            <a:off x="2212622" y="1220192"/>
            <a:ext cx="7766756" cy="4626935"/>
          </a:xfrm>
          <a:prstGeom prst="rect">
            <a:avLst/>
          </a:prstGeom>
          <a:ln/>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When certain conditions are met, </a:t>
            </a:r>
            <a:r>
              <a:rPr lang="en-GB" altLang="en-FR" sz="2052" dirty="0" err="1"/>
              <a:t>eg.</a:t>
            </a:r>
            <a:r>
              <a:rPr lang="en-GB" altLang="en-FR" sz="2052" dirty="0"/>
              <a:t> a centre is disconnected from one or all Globa Broker for a certain period of time, this is considered as an operational incident. </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Prometheus and its "companion" Alert Manager can be used to send a message on the monitor topic or even opening a </a:t>
            </a:r>
            <a:r>
              <a:rPr lang="en-GB" altLang="en-FR" sz="2052" dirty="0" err="1"/>
              <a:t>jira</a:t>
            </a:r>
            <a:r>
              <a:rPr lang="en-GB" altLang="en-FR" sz="2052" dirty="0"/>
              <a:t> ticket so that the incident is properly managed.</a:t>
            </a:r>
            <a:endParaRPr lang="en-GB" altLang="en-FR" sz="1652" dirty="0"/>
          </a:p>
          <a:p>
            <a:pPr marL="457200" lvl="1"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endParaRPr lang="en-GB" altLang="en-FR" sz="1652" dirty="0"/>
          </a:p>
        </p:txBody>
      </p:sp>
    </p:spTree>
    <p:extLst>
      <p:ext uri="{BB962C8B-B14F-4D97-AF65-F5344CB8AC3E}">
        <p14:creationId xmlns:p14="http://schemas.microsoft.com/office/powerpoint/2010/main" val="871572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F72C6-8937-DC20-87CC-93FB9A2738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65D213-3710-4DFE-2EFE-CAD73AF0470F}"/>
              </a:ext>
            </a:extLst>
          </p:cNvPr>
          <p:cNvSpPr txBox="1"/>
          <p:nvPr/>
        </p:nvSpPr>
        <p:spPr>
          <a:xfrm>
            <a:off x="3891726" y="443299"/>
            <a:ext cx="4408579"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Example: Global Broker alert</a:t>
            </a:r>
          </a:p>
        </p:txBody>
      </p:sp>
      <p:sp>
        <p:nvSpPr>
          <p:cNvPr id="6" name="Rectangle 2">
            <a:extLst>
              <a:ext uri="{FF2B5EF4-FFF2-40B4-BE49-F238E27FC236}">
                <a16:creationId xmlns:a16="http://schemas.microsoft.com/office/drawing/2014/main" id="{7015A864-0EB5-99D0-5CDC-518AC7ED369F}"/>
              </a:ext>
            </a:extLst>
          </p:cNvPr>
          <p:cNvSpPr txBox="1">
            <a:spLocks noChangeArrowheads="1"/>
          </p:cNvSpPr>
          <p:nvPr/>
        </p:nvSpPr>
        <p:spPr>
          <a:xfrm>
            <a:off x="721453" y="1228581"/>
            <a:ext cx="11199303" cy="4626935"/>
          </a:xfrm>
          <a:prstGeom prst="rect">
            <a:avLst/>
          </a:prstGeom>
          <a:ln/>
        </p:spPr>
        <p:txBody>
          <a:bodyPr>
            <a:normAutofit fontScale="5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groups:</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name: </a:t>
            </a:r>
            <a:r>
              <a:rPr lang="en-GB" altLang="en-FR" sz="2052" dirty="0" err="1">
                <a:latin typeface="Courier New" panose="02070309020205020404" pitchFamily="49" charset="0"/>
                <a:cs typeface="Courier New" panose="02070309020205020404" pitchFamily="49" charset="0"/>
              </a:rPr>
              <a:t>GlobalBroker</a:t>
            </a:r>
            <a:endParaRPr lang="en-GB" altLang="en-FR" sz="2052" dirty="0">
              <a:latin typeface="Courier New" panose="02070309020205020404" pitchFamily="49" charset="0"/>
              <a:cs typeface="Courier New" panose="02070309020205020404" pitchFamily="49" charset="0"/>
            </a:endParaRP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rules:</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 alert: disconnectedwis2nodeonegb</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expr: wmo_wis2_gb_connected_flag == 0</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for: 10m</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labels:</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severity: warning</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annotations:</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summary: Disconnected WIS2 Node from one Global Broker</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endParaRPr lang="en-GB" altLang="en-FR" sz="2052" dirty="0">
              <a:latin typeface="Courier New" panose="02070309020205020404" pitchFamily="49" charset="0"/>
              <a:cs typeface="Courier New" panose="02070309020205020404" pitchFamily="49" charset="0"/>
            </a:endParaRP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 alert: disconnectedwis2nodemultiplegb</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expr: count by (</a:t>
            </a:r>
            <a:r>
              <a:rPr lang="en-GB" altLang="en-FR" sz="2052" dirty="0" err="1">
                <a:latin typeface="Courier New" panose="02070309020205020404" pitchFamily="49" charset="0"/>
                <a:cs typeface="Courier New" panose="02070309020205020404" pitchFamily="49" charset="0"/>
              </a:rPr>
              <a:t>centre_id</a:t>
            </a:r>
            <a:r>
              <a:rPr lang="en-GB" altLang="en-FR" sz="2052" dirty="0">
                <a:latin typeface="Courier New" panose="02070309020205020404" pitchFamily="49" charset="0"/>
                <a:cs typeface="Courier New" panose="02070309020205020404" pitchFamily="49" charset="0"/>
              </a:rPr>
              <a:t>) ( wmo_wis2_gb_connected_flag == 0 ) &gt; 1</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for: 20m</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labels:</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severity: error</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annotations:</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summary: Disconnected WIS2 Node from multiple Global Brokers</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endParaRPr lang="en-GB" altLang="en-FR" sz="2052" dirty="0">
              <a:latin typeface="Courier New" panose="02070309020205020404" pitchFamily="49" charset="0"/>
              <a:cs typeface="Courier New" panose="02070309020205020404" pitchFamily="49" charset="0"/>
            </a:endParaRP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 alert: disconnectedwis2nodeallgb</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expr: ( globalmonitor:wmo_wis2_gm_gb_connectivity:total - count by (</a:t>
            </a:r>
            <a:r>
              <a:rPr lang="en-GB" altLang="en-FR" sz="2052" dirty="0" err="1">
                <a:latin typeface="Courier New" panose="02070309020205020404" pitchFamily="49" charset="0"/>
                <a:cs typeface="Courier New" panose="02070309020205020404" pitchFamily="49" charset="0"/>
              </a:rPr>
              <a:t>centre_id</a:t>
            </a:r>
            <a:r>
              <a:rPr lang="en-GB" altLang="en-FR" sz="2052" dirty="0">
                <a:latin typeface="Courier New" panose="02070309020205020404" pitchFamily="49" charset="0"/>
                <a:cs typeface="Courier New" panose="02070309020205020404" pitchFamily="49" charset="0"/>
              </a:rPr>
              <a:t>) ( wmo_wis2_gb_connected_flag == 0 ) == 0 )</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for: 1h</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labels:</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severity: critical</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annotations:</a:t>
            </a:r>
          </a:p>
          <a:p>
            <a:pPr marL="0"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latin typeface="Courier New" panose="02070309020205020404" pitchFamily="49" charset="0"/>
                <a:cs typeface="Courier New" panose="02070309020205020404" pitchFamily="49" charset="0"/>
              </a:rPr>
              <a:t>      summary: Disconnected WIS2 Node from all Global Brokers</a:t>
            </a:r>
            <a:endParaRPr lang="en-GB" altLang="en-FR" sz="1652" dirty="0">
              <a:latin typeface="Courier New" panose="02070309020205020404" pitchFamily="49" charset="0"/>
              <a:cs typeface="Courier New" panose="02070309020205020404" pitchFamily="49" charset="0"/>
            </a:endParaRPr>
          </a:p>
        </p:txBody>
      </p:sp>
      <p:grpSp>
        <p:nvGrpSpPr>
          <p:cNvPr id="10" name="Group 9">
            <a:extLst>
              <a:ext uri="{FF2B5EF4-FFF2-40B4-BE49-F238E27FC236}">
                <a16:creationId xmlns:a16="http://schemas.microsoft.com/office/drawing/2014/main" id="{40DD7BF3-6BF9-F158-6F76-046FD4AF8D70}"/>
              </a:ext>
            </a:extLst>
          </p:cNvPr>
          <p:cNvGrpSpPr/>
          <p:nvPr/>
        </p:nvGrpSpPr>
        <p:grpSpPr>
          <a:xfrm>
            <a:off x="1770077" y="1404318"/>
            <a:ext cx="10230375" cy="3402573"/>
            <a:chOff x="1770077" y="1404318"/>
            <a:chExt cx="10230375" cy="3402573"/>
          </a:xfrm>
        </p:grpSpPr>
        <p:sp>
          <p:nvSpPr>
            <p:cNvPr id="3" name="TextBox 2">
              <a:extLst>
                <a:ext uri="{FF2B5EF4-FFF2-40B4-BE49-F238E27FC236}">
                  <a16:creationId xmlns:a16="http://schemas.microsoft.com/office/drawing/2014/main" id="{D4978FFB-C489-89F5-424B-7692E3527870}"/>
                </a:ext>
              </a:extLst>
            </p:cNvPr>
            <p:cNvSpPr txBox="1"/>
            <p:nvPr/>
          </p:nvSpPr>
          <p:spPr>
            <a:xfrm>
              <a:off x="5901656" y="1404318"/>
              <a:ext cx="6098796" cy="830997"/>
            </a:xfrm>
            <a:prstGeom prst="rect">
              <a:avLst/>
            </a:prstGeom>
            <a:noFill/>
          </p:spPr>
          <p:txBody>
            <a:bodyPr wrap="square">
              <a:spAutoFit/>
            </a:bodyPr>
            <a:lstStyle/>
            <a:p>
              <a:r>
                <a:rPr lang="en-GB" sz="800" dirty="0">
                  <a:latin typeface="Courier New" panose="02070309020205020404" pitchFamily="49" charset="0"/>
                  <a:cs typeface="Courier New" panose="02070309020205020404" pitchFamily="49" charset="0"/>
                </a:rPr>
                <a:t>groups:</a:t>
              </a:r>
            </a:p>
            <a:p>
              <a:r>
                <a:rPr lang="en-GB" sz="800" dirty="0">
                  <a:latin typeface="Courier New" panose="02070309020205020404" pitchFamily="49" charset="0"/>
                  <a:cs typeface="Courier New" panose="02070309020205020404" pitchFamily="49" charset="0"/>
                </a:rPr>
                <a:t>  - name: monitoring</a:t>
              </a:r>
            </a:p>
            <a:p>
              <a:r>
                <a:rPr lang="en-GB" sz="800" dirty="0">
                  <a:latin typeface="Courier New" panose="02070309020205020404" pitchFamily="49" charset="0"/>
                  <a:cs typeface="Courier New" panose="02070309020205020404" pitchFamily="49" charset="0"/>
                </a:rPr>
                <a:t>    rules:</a:t>
              </a:r>
            </a:p>
            <a:p>
              <a:r>
                <a:rPr lang="en-GB" sz="800" dirty="0">
                  <a:latin typeface="Courier New" panose="02070309020205020404" pitchFamily="49" charset="0"/>
                  <a:cs typeface="Courier New" panose="02070309020205020404" pitchFamily="49" charset="0"/>
                </a:rPr>
                <a:t>      - record: globalmonitor:wmo_wis2_gm_gb_connectivity:total</a:t>
              </a:r>
            </a:p>
            <a:p>
              <a:r>
                <a:rPr lang="en-GB" sz="800" dirty="0">
                  <a:latin typeface="Courier New" panose="02070309020205020404" pitchFamily="49" charset="0"/>
                  <a:cs typeface="Courier New" panose="02070309020205020404" pitchFamily="49" charset="0"/>
                </a:rPr>
                <a:t>        expr: count by (</a:t>
              </a:r>
              <a:r>
                <a:rPr lang="en-GB" sz="800" dirty="0" err="1">
                  <a:latin typeface="Courier New" panose="02070309020205020404" pitchFamily="49" charset="0"/>
                  <a:cs typeface="Courier New" panose="02070309020205020404" pitchFamily="49" charset="0"/>
                </a:rPr>
                <a:t>centre_id</a:t>
              </a:r>
              <a:r>
                <a:rPr lang="en-GB" sz="800" dirty="0">
                  <a:latin typeface="Courier New" panose="02070309020205020404" pitchFamily="49" charset="0"/>
                  <a:cs typeface="Courier New" panose="02070309020205020404" pitchFamily="49" charset="0"/>
                </a:rPr>
                <a:t>) (wmo_wis2_gb_connected_flag{</a:t>
              </a:r>
              <a:r>
                <a:rPr lang="en-GB" sz="800" dirty="0" err="1">
                  <a:latin typeface="Courier New" panose="02070309020205020404" pitchFamily="49" charset="0"/>
                  <a:cs typeface="Courier New" panose="02070309020205020404" pitchFamily="49" charset="0"/>
                </a:rPr>
                <a:t>report_by</a:t>
              </a:r>
              <a:r>
                <a:rPr lang="en-GB" sz="800" dirty="0">
                  <a:latin typeface="Courier New" panose="02070309020205020404" pitchFamily="49" charset="0"/>
                  <a:cs typeface="Courier New" panose="02070309020205020404" pitchFamily="49" charset="0"/>
                </a:rPr>
                <a:t>=~".*-global-broker"} == 0 or wmo_wis2_gb_connected_flag{</a:t>
              </a:r>
              <a:r>
                <a:rPr lang="en-GB" sz="800" dirty="0" err="1">
                  <a:latin typeface="Courier New" panose="02070309020205020404" pitchFamily="49" charset="0"/>
                  <a:cs typeface="Courier New" panose="02070309020205020404" pitchFamily="49" charset="0"/>
                </a:rPr>
                <a:t>report_by</a:t>
              </a:r>
              <a:r>
                <a:rPr lang="en-GB" sz="800" dirty="0">
                  <a:latin typeface="Courier New" panose="02070309020205020404" pitchFamily="49" charset="0"/>
                  <a:cs typeface="Courier New" panose="02070309020205020404" pitchFamily="49" charset="0"/>
                </a:rPr>
                <a:t>=~".*-global-broker"} == 1)</a:t>
              </a:r>
            </a:p>
          </p:txBody>
        </p:sp>
        <p:sp>
          <p:nvSpPr>
            <p:cNvPr id="5" name="Rectangle 4">
              <a:extLst>
                <a:ext uri="{FF2B5EF4-FFF2-40B4-BE49-F238E27FC236}">
                  <a16:creationId xmlns:a16="http://schemas.microsoft.com/office/drawing/2014/main" id="{94B45319-CA44-0608-7B59-2676870465CF}"/>
                </a:ext>
              </a:extLst>
            </p:cNvPr>
            <p:cNvSpPr/>
            <p:nvPr/>
          </p:nvSpPr>
          <p:spPr>
            <a:xfrm>
              <a:off x="1770077" y="4580388"/>
              <a:ext cx="4026716" cy="2265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a:extLst>
                <a:ext uri="{FF2B5EF4-FFF2-40B4-BE49-F238E27FC236}">
                  <a16:creationId xmlns:a16="http://schemas.microsoft.com/office/drawing/2014/main" id="{FFD69495-5489-C664-49F2-62B429CA77C8}"/>
                </a:ext>
              </a:extLst>
            </p:cNvPr>
            <p:cNvCxnSpPr>
              <a:cxnSpLocks/>
            </p:cNvCxnSpPr>
            <p:nvPr/>
          </p:nvCxnSpPr>
          <p:spPr>
            <a:xfrm flipH="1">
              <a:off x="4882393" y="2277612"/>
              <a:ext cx="1585519" cy="2302776"/>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296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necteur droit avec flèche 4">
            <a:extLst>
              <a:ext uri="{FF2B5EF4-FFF2-40B4-BE49-F238E27FC236}">
                <a16:creationId xmlns:a16="http://schemas.microsoft.com/office/drawing/2014/main" id="{9A51C657-C609-E32C-C8F0-0576FE21C779}"/>
              </a:ext>
            </a:extLst>
          </p:cNvPr>
          <p:cNvCxnSpPr>
            <a:cxnSpLocks/>
          </p:cNvCxnSpPr>
          <p:nvPr/>
        </p:nvCxnSpPr>
        <p:spPr>
          <a:xfrm>
            <a:off x="5472752" y="382137"/>
            <a:ext cx="0" cy="3821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911E449D-9F23-ABB4-A9C4-7D3062106BC9}"/>
              </a:ext>
            </a:extLst>
          </p:cNvPr>
          <p:cNvSpPr/>
          <p:nvPr/>
        </p:nvSpPr>
        <p:spPr>
          <a:xfrm>
            <a:off x="4722124" y="764274"/>
            <a:ext cx="1746909" cy="3821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MA" sz="1400" dirty="0" err="1"/>
              <a:t>Extract</a:t>
            </a:r>
            <a:r>
              <a:rPr lang="fr-MA" sz="1400" dirty="0"/>
              <a:t> data</a:t>
            </a:r>
            <a:endParaRPr lang="fr-FR" sz="1400" dirty="0"/>
          </a:p>
        </p:txBody>
      </p:sp>
      <p:sp>
        <p:nvSpPr>
          <p:cNvPr id="8" name="Décision 7">
            <a:extLst>
              <a:ext uri="{FF2B5EF4-FFF2-40B4-BE49-F238E27FC236}">
                <a16:creationId xmlns:a16="http://schemas.microsoft.com/office/drawing/2014/main" id="{1E6D1251-060D-32F5-27EF-D87174AF6B1D}"/>
              </a:ext>
            </a:extLst>
          </p:cNvPr>
          <p:cNvSpPr/>
          <p:nvPr/>
        </p:nvSpPr>
        <p:spPr>
          <a:xfrm>
            <a:off x="4630004" y="1490995"/>
            <a:ext cx="1746909" cy="655092"/>
          </a:xfrm>
          <a:prstGeom prst="flowChartDecision">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MA" sz="1400" dirty="0" err="1"/>
              <a:t>Status</a:t>
            </a:r>
            <a:r>
              <a:rPr lang="fr-MA" sz="1400" dirty="0"/>
              <a:t> = ‘</a:t>
            </a:r>
            <a:r>
              <a:rPr lang="fr-MA" sz="1400" dirty="0" err="1"/>
              <a:t>firing</a:t>
            </a:r>
            <a:r>
              <a:rPr lang="fr-MA" sz="1400" dirty="0"/>
              <a:t>’?</a:t>
            </a:r>
            <a:endParaRPr lang="fr-FR" sz="1400" dirty="0"/>
          </a:p>
        </p:txBody>
      </p:sp>
      <p:cxnSp>
        <p:nvCxnSpPr>
          <p:cNvPr id="12" name="Connecteur droit avec flèche 11">
            <a:extLst>
              <a:ext uri="{FF2B5EF4-FFF2-40B4-BE49-F238E27FC236}">
                <a16:creationId xmlns:a16="http://schemas.microsoft.com/office/drawing/2014/main" id="{AFB32FA9-FCEF-2D86-8A6B-B904B9D0E721}"/>
              </a:ext>
            </a:extLst>
          </p:cNvPr>
          <p:cNvCxnSpPr>
            <a:cxnSpLocks/>
          </p:cNvCxnSpPr>
          <p:nvPr/>
        </p:nvCxnSpPr>
        <p:spPr>
          <a:xfrm>
            <a:off x="5503459" y="1186932"/>
            <a:ext cx="0" cy="290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E1284EAE-4CA3-3DB3-1F75-8026056623A8}"/>
              </a:ext>
            </a:extLst>
          </p:cNvPr>
          <p:cNvCxnSpPr>
            <a:stCxn id="8" idx="3"/>
          </p:cNvCxnSpPr>
          <p:nvPr/>
        </p:nvCxnSpPr>
        <p:spPr>
          <a:xfrm>
            <a:off x="6376913" y="1818541"/>
            <a:ext cx="8120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0F0AF41F-EC96-C7D5-01E8-A76E2A33A0B7}"/>
              </a:ext>
            </a:extLst>
          </p:cNvPr>
          <p:cNvCxnSpPr>
            <a:cxnSpLocks/>
            <a:stCxn id="8" idx="2"/>
            <a:endCxn id="20" idx="0"/>
          </p:cNvCxnSpPr>
          <p:nvPr/>
        </p:nvCxnSpPr>
        <p:spPr>
          <a:xfrm>
            <a:off x="5503459" y="2146087"/>
            <a:ext cx="0" cy="3787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ZoneTexte 16">
            <a:extLst>
              <a:ext uri="{FF2B5EF4-FFF2-40B4-BE49-F238E27FC236}">
                <a16:creationId xmlns:a16="http://schemas.microsoft.com/office/drawing/2014/main" id="{2E98F12E-CC7A-0544-7E8B-55EE07AEDC59}"/>
              </a:ext>
            </a:extLst>
          </p:cNvPr>
          <p:cNvSpPr txBox="1"/>
          <p:nvPr/>
        </p:nvSpPr>
        <p:spPr>
          <a:xfrm>
            <a:off x="6564232" y="1490995"/>
            <a:ext cx="426720" cy="338554"/>
          </a:xfrm>
          <a:prstGeom prst="rect">
            <a:avLst/>
          </a:prstGeom>
          <a:noFill/>
        </p:spPr>
        <p:txBody>
          <a:bodyPr wrap="none" rtlCol="0">
            <a:spAutoFit/>
          </a:bodyPr>
          <a:lstStyle/>
          <a:p>
            <a:r>
              <a:rPr lang="fr-FR" sz="1600" dirty="0"/>
              <a:t>No</a:t>
            </a:r>
            <a:endParaRPr lang="fr-FR" dirty="0"/>
          </a:p>
        </p:txBody>
      </p:sp>
      <p:sp>
        <p:nvSpPr>
          <p:cNvPr id="18" name="Rectangle 17">
            <a:extLst>
              <a:ext uri="{FF2B5EF4-FFF2-40B4-BE49-F238E27FC236}">
                <a16:creationId xmlns:a16="http://schemas.microsoft.com/office/drawing/2014/main" id="{509A220E-3970-BB40-487C-0A332C596B2A}"/>
              </a:ext>
            </a:extLst>
          </p:cNvPr>
          <p:cNvSpPr/>
          <p:nvPr/>
        </p:nvSpPr>
        <p:spPr>
          <a:xfrm>
            <a:off x="7219666" y="1576940"/>
            <a:ext cx="1078175" cy="464025"/>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t>End</a:t>
            </a:r>
          </a:p>
        </p:txBody>
      </p:sp>
      <p:sp>
        <p:nvSpPr>
          <p:cNvPr id="19" name="ZoneTexte 18">
            <a:extLst>
              <a:ext uri="{FF2B5EF4-FFF2-40B4-BE49-F238E27FC236}">
                <a16:creationId xmlns:a16="http://schemas.microsoft.com/office/drawing/2014/main" id="{BB642CDC-0B25-E225-7955-075BFD57A9D1}"/>
              </a:ext>
            </a:extLst>
          </p:cNvPr>
          <p:cNvSpPr txBox="1"/>
          <p:nvPr/>
        </p:nvSpPr>
        <p:spPr>
          <a:xfrm>
            <a:off x="5020705" y="2108667"/>
            <a:ext cx="452047" cy="338554"/>
          </a:xfrm>
          <a:prstGeom prst="rect">
            <a:avLst/>
          </a:prstGeom>
          <a:noFill/>
        </p:spPr>
        <p:txBody>
          <a:bodyPr wrap="none" rtlCol="0">
            <a:spAutoFit/>
          </a:bodyPr>
          <a:lstStyle/>
          <a:p>
            <a:r>
              <a:rPr lang="fr-FR" sz="1600" dirty="0"/>
              <a:t>Yes</a:t>
            </a:r>
            <a:endParaRPr lang="fr-FR" dirty="0"/>
          </a:p>
        </p:txBody>
      </p:sp>
      <p:sp>
        <p:nvSpPr>
          <p:cNvPr id="20" name="Rectangle 19">
            <a:extLst>
              <a:ext uri="{FF2B5EF4-FFF2-40B4-BE49-F238E27FC236}">
                <a16:creationId xmlns:a16="http://schemas.microsoft.com/office/drawing/2014/main" id="{97982434-FF8D-4810-7BE0-C1A5010FBB81}"/>
              </a:ext>
            </a:extLst>
          </p:cNvPr>
          <p:cNvSpPr/>
          <p:nvPr/>
        </p:nvSpPr>
        <p:spPr>
          <a:xfrm>
            <a:off x="4630004" y="2524833"/>
            <a:ext cx="1746909" cy="3821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MA" sz="1400" dirty="0" err="1"/>
              <a:t>Create</a:t>
            </a:r>
            <a:r>
              <a:rPr lang="fr-MA" sz="1400" dirty="0"/>
              <a:t> </a:t>
            </a:r>
            <a:r>
              <a:rPr lang="fr-MA" sz="1400" dirty="0" err="1"/>
              <a:t>summary</a:t>
            </a:r>
            <a:endParaRPr lang="fr-FR" sz="1400" dirty="0"/>
          </a:p>
        </p:txBody>
      </p:sp>
      <p:cxnSp>
        <p:nvCxnSpPr>
          <p:cNvPr id="22" name="Connecteur droit avec flèche 21">
            <a:extLst>
              <a:ext uri="{FF2B5EF4-FFF2-40B4-BE49-F238E27FC236}">
                <a16:creationId xmlns:a16="http://schemas.microsoft.com/office/drawing/2014/main" id="{01F7D378-F11E-72DF-3589-B4D65540FCB9}"/>
              </a:ext>
            </a:extLst>
          </p:cNvPr>
          <p:cNvCxnSpPr>
            <a:stCxn id="20" idx="2"/>
          </p:cNvCxnSpPr>
          <p:nvPr/>
        </p:nvCxnSpPr>
        <p:spPr>
          <a:xfrm flipH="1">
            <a:off x="5501180" y="2906970"/>
            <a:ext cx="2279" cy="3957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Décision 23">
            <a:extLst>
              <a:ext uri="{FF2B5EF4-FFF2-40B4-BE49-F238E27FC236}">
                <a16:creationId xmlns:a16="http://schemas.microsoft.com/office/drawing/2014/main" id="{A8098DEA-6508-F7F2-3BC7-BE9C6EB1D398}"/>
              </a:ext>
            </a:extLst>
          </p:cNvPr>
          <p:cNvSpPr/>
          <p:nvPr/>
        </p:nvSpPr>
        <p:spPr>
          <a:xfrm>
            <a:off x="3956540" y="3330034"/>
            <a:ext cx="3089279" cy="788138"/>
          </a:xfrm>
          <a:prstGeom prst="flowChartDecision">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MA" sz="1400" dirty="0" err="1"/>
              <a:t>Already</a:t>
            </a:r>
            <a:r>
              <a:rPr lang="fr-MA" sz="1400" dirty="0"/>
              <a:t> </a:t>
            </a:r>
            <a:r>
              <a:rPr lang="fr-MA" sz="1400" dirty="0" err="1"/>
              <a:t>processing</a:t>
            </a:r>
            <a:r>
              <a:rPr lang="fr-MA" sz="1400" dirty="0"/>
              <a:t> </a:t>
            </a:r>
            <a:r>
              <a:rPr lang="fr-MA" sz="1400" dirty="0" err="1"/>
              <a:t>this</a:t>
            </a:r>
            <a:r>
              <a:rPr lang="fr-MA" sz="1400" dirty="0"/>
              <a:t> </a:t>
            </a:r>
            <a:r>
              <a:rPr lang="fr-MA" sz="1400" dirty="0" err="1"/>
              <a:t>alert</a:t>
            </a:r>
            <a:r>
              <a:rPr lang="fr-MA" sz="1400" dirty="0"/>
              <a:t> (</a:t>
            </a:r>
            <a:r>
              <a:rPr lang="fr-MA" sz="1400" dirty="0" err="1"/>
              <a:t>locked</a:t>
            </a:r>
            <a:r>
              <a:rPr lang="fr-MA" sz="1400" dirty="0"/>
              <a:t>)?</a:t>
            </a:r>
            <a:endParaRPr lang="fr-FR" sz="1400" dirty="0"/>
          </a:p>
        </p:txBody>
      </p:sp>
      <p:cxnSp>
        <p:nvCxnSpPr>
          <p:cNvPr id="25" name="Connecteur droit avec flèche 24">
            <a:extLst>
              <a:ext uri="{FF2B5EF4-FFF2-40B4-BE49-F238E27FC236}">
                <a16:creationId xmlns:a16="http://schemas.microsoft.com/office/drawing/2014/main" id="{294F97D0-D86D-969F-6E7C-5A9E21BAF6E4}"/>
              </a:ext>
            </a:extLst>
          </p:cNvPr>
          <p:cNvCxnSpPr>
            <a:cxnSpLocks/>
          </p:cNvCxnSpPr>
          <p:nvPr/>
        </p:nvCxnSpPr>
        <p:spPr>
          <a:xfrm flipH="1">
            <a:off x="3436506" y="3724103"/>
            <a:ext cx="4960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0F82EF77-589D-D411-215E-E638C9D418AD}"/>
              </a:ext>
            </a:extLst>
          </p:cNvPr>
          <p:cNvSpPr/>
          <p:nvPr/>
        </p:nvSpPr>
        <p:spPr>
          <a:xfrm>
            <a:off x="2341325" y="3473355"/>
            <a:ext cx="1078175" cy="464025"/>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t>End</a:t>
            </a:r>
          </a:p>
        </p:txBody>
      </p:sp>
      <p:sp>
        <p:nvSpPr>
          <p:cNvPr id="27" name="ZoneTexte 26">
            <a:extLst>
              <a:ext uri="{FF2B5EF4-FFF2-40B4-BE49-F238E27FC236}">
                <a16:creationId xmlns:a16="http://schemas.microsoft.com/office/drawing/2014/main" id="{4F04069E-835E-4CDE-376B-57D550DBE848}"/>
              </a:ext>
            </a:extLst>
          </p:cNvPr>
          <p:cNvSpPr txBox="1"/>
          <p:nvPr/>
        </p:nvSpPr>
        <p:spPr>
          <a:xfrm>
            <a:off x="3526863" y="3281444"/>
            <a:ext cx="452047" cy="338554"/>
          </a:xfrm>
          <a:prstGeom prst="rect">
            <a:avLst/>
          </a:prstGeom>
          <a:noFill/>
        </p:spPr>
        <p:txBody>
          <a:bodyPr wrap="none" rtlCol="0">
            <a:spAutoFit/>
          </a:bodyPr>
          <a:lstStyle/>
          <a:p>
            <a:r>
              <a:rPr lang="fr-FR" sz="1600" dirty="0"/>
              <a:t>Yes</a:t>
            </a:r>
            <a:endParaRPr lang="fr-FR" dirty="0"/>
          </a:p>
        </p:txBody>
      </p:sp>
      <p:cxnSp>
        <p:nvCxnSpPr>
          <p:cNvPr id="28" name="Connecteur droit avec flèche 27">
            <a:extLst>
              <a:ext uri="{FF2B5EF4-FFF2-40B4-BE49-F238E27FC236}">
                <a16:creationId xmlns:a16="http://schemas.microsoft.com/office/drawing/2014/main" id="{894E7DE8-BBCB-82F8-E0CE-77721CC8876E}"/>
              </a:ext>
            </a:extLst>
          </p:cNvPr>
          <p:cNvCxnSpPr/>
          <p:nvPr/>
        </p:nvCxnSpPr>
        <p:spPr>
          <a:xfrm flipH="1">
            <a:off x="5537520" y="4107976"/>
            <a:ext cx="1" cy="450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ZoneTexte 28">
            <a:extLst>
              <a:ext uri="{FF2B5EF4-FFF2-40B4-BE49-F238E27FC236}">
                <a16:creationId xmlns:a16="http://schemas.microsoft.com/office/drawing/2014/main" id="{7DF6D63A-A71D-E99C-0502-95CA7D021C9C}"/>
              </a:ext>
            </a:extLst>
          </p:cNvPr>
          <p:cNvSpPr txBox="1"/>
          <p:nvPr/>
        </p:nvSpPr>
        <p:spPr>
          <a:xfrm>
            <a:off x="5069301" y="4128017"/>
            <a:ext cx="426720" cy="338554"/>
          </a:xfrm>
          <a:prstGeom prst="rect">
            <a:avLst/>
          </a:prstGeom>
          <a:noFill/>
        </p:spPr>
        <p:txBody>
          <a:bodyPr wrap="none" rtlCol="0">
            <a:spAutoFit/>
          </a:bodyPr>
          <a:lstStyle/>
          <a:p>
            <a:r>
              <a:rPr lang="fr-FR" sz="1600" dirty="0"/>
              <a:t>No</a:t>
            </a:r>
            <a:endParaRPr lang="fr-FR" dirty="0"/>
          </a:p>
        </p:txBody>
      </p:sp>
      <p:sp>
        <p:nvSpPr>
          <p:cNvPr id="30" name="Rectangle 29">
            <a:extLst>
              <a:ext uri="{FF2B5EF4-FFF2-40B4-BE49-F238E27FC236}">
                <a16:creationId xmlns:a16="http://schemas.microsoft.com/office/drawing/2014/main" id="{50157226-EECB-F4AB-30E6-C0C89C201AC3}"/>
              </a:ext>
            </a:extLst>
          </p:cNvPr>
          <p:cNvSpPr/>
          <p:nvPr/>
        </p:nvSpPr>
        <p:spPr>
          <a:xfrm>
            <a:off x="4599300" y="4571971"/>
            <a:ext cx="1746909" cy="3821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MA" sz="1400" dirty="0" err="1"/>
              <a:t>Sleep</a:t>
            </a:r>
            <a:r>
              <a:rPr lang="fr-MA" sz="1400" dirty="0"/>
              <a:t> for 3 minutes</a:t>
            </a:r>
            <a:endParaRPr lang="fr-FR" sz="1400" dirty="0"/>
          </a:p>
        </p:txBody>
      </p:sp>
      <p:cxnSp>
        <p:nvCxnSpPr>
          <p:cNvPr id="31" name="Connecteur droit avec flèche 30">
            <a:extLst>
              <a:ext uri="{FF2B5EF4-FFF2-40B4-BE49-F238E27FC236}">
                <a16:creationId xmlns:a16="http://schemas.microsoft.com/office/drawing/2014/main" id="{A7E8F0EC-A170-D041-CF25-A70517CADBD4}"/>
              </a:ext>
            </a:extLst>
          </p:cNvPr>
          <p:cNvCxnSpPr/>
          <p:nvPr/>
        </p:nvCxnSpPr>
        <p:spPr>
          <a:xfrm flipH="1">
            <a:off x="5534167" y="4967725"/>
            <a:ext cx="1" cy="450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86ACDEEE-3188-AAAF-B0C8-9F9ED5BBC9DF}"/>
              </a:ext>
            </a:extLst>
          </p:cNvPr>
          <p:cNvSpPr/>
          <p:nvPr/>
        </p:nvSpPr>
        <p:spPr>
          <a:xfrm>
            <a:off x="4290333" y="5376794"/>
            <a:ext cx="2364837" cy="45037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MA" sz="1400" dirty="0" err="1"/>
              <a:t>Find</a:t>
            </a:r>
            <a:r>
              <a:rPr lang="fr-MA" sz="1400" dirty="0"/>
              <a:t> ticket by </a:t>
            </a:r>
            <a:r>
              <a:rPr lang="fr-MA" sz="1400" dirty="0" err="1"/>
              <a:t>summary</a:t>
            </a:r>
            <a:r>
              <a:rPr lang="fr-MA" sz="1400" dirty="0"/>
              <a:t> and not </a:t>
            </a:r>
            <a:r>
              <a:rPr lang="fr-MA" sz="1400" dirty="0" err="1"/>
              <a:t>closed</a:t>
            </a:r>
            <a:endParaRPr lang="fr-FR" sz="1400" dirty="0"/>
          </a:p>
        </p:txBody>
      </p:sp>
      <p:cxnSp>
        <p:nvCxnSpPr>
          <p:cNvPr id="33" name="Connecteur droit avec flèche 32">
            <a:extLst>
              <a:ext uri="{FF2B5EF4-FFF2-40B4-BE49-F238E27FC236}">
                <a16:creationId xmlns:a16="http://schemas.microsoft.com/office/drawing/2014/main" id="{1B72636C-6479-E9FB-9F69-2BDA5857F32F}"/>
              </a:ext>
            </a:extLst>
          </p:cNvPr>
          <p:cNvCxnSpPr/>
          <p:nvPr/>
        </p:nvCxnSpPr>
        <p:spPr>
          <a:xfrm flipH="1">
            <a:off x="5534166" y="5847218"/>
            <a:ext cx="1" cy="450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32C1BBA7-65AA-DCB4-6D3B-D7E36CFF5055}"/>
              </a:ext>
            </a:extLst>
          </p:cNvPr>
          <p:cNvSpPr/>
          <p:nvPr/>
        </p:nvSpPr>
        <p:spPr>
          <a:xfrm>
            <a:off x="4916550" y="6284794"/>
            <a:ext cx="1746909" cy="3821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MA" sz="1400" dirty="0"/>
              <a:t>Ticket </a:t>
            </a:r>
            <a:r>
              <a:rPr lang="fr-MA" sz="1400" dirty="0" err="1"/>
              <a:t>exists</a:t>
            </a:r>
            <a:r>
              <a:rPr lang="fr-MA" sz="1400" dirty="0"/>
              <a:t>?</a:t>
            </a:r>
            <a:endParaRPr lang="fr-FR" sz="1400" dirty="0"/>
          </a:p>
        </p:txBody>
      </p:sp>
      <p:sp>
        <p:nvSpPr>
          <p:cNvPr id="35" name="Rectangle 34">
            <a:extLst>
              <a:ext uri="{FF2B5EF4-FFF2-40B4-BE49-F238E27FC236}">
                <a16:creationId xmlns:a16="http://schemas.microsoft.com/office/drawing/2014/main" id="{44F995F1-298F-176E-897E-9B2023CFBE30}"/>
              </a:ext>
            </a:extLst>
          </p:cNvPr>
          <p:cNvSpPr/>
          <p:nvPr/>
        </p:nvSpPr>
        <p:spPr>
          <a:xfrm>
            <a:off x="3145467" y="6202906"/>
            <a:ext cx="1078175" cy="464025"/>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t>End</a:t>
            </a:r>
          </a:p>
        </p:txBody>
      </p:sp>
      <p:cxnSp>
        <p:nvCxnSpPr>
          <p:cNvPr id="37" name="Connecteur droit avec flèche 36">
            <a:extLst>
              <a:ext uri="{FF2B5EF4-FFF2-40B4-BE49-F238E27FC236}">
                <a16:creationId xmlns:a16="http://schemas.microsoft.com/office/drawing/2014/main" id="{99660BA5-638F-4D52-D7CE-7C3F4E059C7D}"/>
              </a:ext>
            </a:extLst>
          </p:cNvPr>
          <p:cNvCxnSpPr>
            <a:stCxn id="34" idx="1"/>
          </p:cNvCxnSpPr>
          <p:nvPr/>
        </p:nvCxnSpPr>
        <p:spPr>
          <a:xfrm flipH="1" flipV="1">
            <a:off x="4223642" y="6475862"/>
            <a:ext cx="69290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ZoneTexte 37">
            <a:extLst>
              <a:ext uri="{FF2B5EF4-FFF2-40B4-BE49-F238E27FC236}">
                <a16:creationId xmlns:a16="http://schemas.microsoft.com/office/drawing/2014/main" id="{A11B739F-5B45-224C-AD3B-EAFD9B66D713}"/>
              </a:ext>
            </a:extLst>
          </p:cNvPr>
          <p:cNvSpPr txBox="1"/>
          <p:nvPr/>
        </p:nvSpPr>
        <p:spPr>
          <a:xfrm>
            <a:off x="4342727" y="6100128"/>
            <a:ext cx="452047" cy="338554"/>
          </a:xfrm>
          <a:prstGeom prst="rect">
            <a:avLst/>
          </a:prstGeom>
          <a:noFill/>
        </p:spPr>
        <p:txBody>
          <a:bodyPr wrap="none" rtlCol="0">
            <a:spAutoFit/>
          </a:bodyPr>
          <a:lstStyle/>
          <a:p>
            <a:r>
              <a:rPr lang="fr-FR" sz="1600" dirty="0"/>
              <a:t>Yes</a:t>
            </a:r>
            <a:endParaRPr lang="fr-FR" dirty="0"/>
          </a:p>
        </p:txBody>
      </p:sp>
      <p:cxnSp>
        <p:nvCxnSpPr>
          <p:cNvPr id="40" name="Connecteur droit avec flèche 39">
            <a:extLst>
              <a:ext uri="{FF2B5EF4-FFF2-40B4-BE49-F238E27FC236}">
                <a16:creationId xmlns:a16="http://schemas.microsoft.com/office/drawing/2014/main" id="{60ADDDA7-E336-244A-59C4-0BDCC029FEE9}"/>
              </a:ext>
            </a:extLst>
          </p:cNvPr>
          <p:cNvCxnSpPr>
            <a:cxnSpLocks/>
            <a:stCxn id="34" idx="3"/>
            <a:endCxn id="43" idx="1"/>
          </p:cNvCxnSpPr>
          <p:nvPr/>
        </p:nvCxnSpPr>
        <p:spPr>
          <a:xfrm flipV="1">
            <a:off x="6663459" y="6475852"/>
            <a:ext cx="772773" cy="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ZoneTexte 40">
            <a:extLst>
              <a:ext uri="{FF2B5EF4-FFF2-40B4-BE49-F238E27FC236}">
                <a16:creationId xmlns:a16="http://schemas.microsoft.com/office/drawing/2014/main" id="{2206F205-AC8D-C68F-5414-B0337E67FDCA}"/>
              </a:ext>
            </a:extLst>
          </p:cNvPr>
          <p:cNvSpPr txBox="1"/>
          <p:nvPr/>
        </p:nvSpPr>
        <p:spPr>
          <a:xfrm>
            <a:off x="6707339" y="6112930"/>
            <a:ext cx="426720" cy="338554"/>
          </a:xfrm>
          <a:prstGeom prst="rect">
            <a:avLst/>
          </a:prstGeom>
          <a:noFill/>
        </p:spPr>
        <p:txBody>
          <a:bodyPr wrap="none" rtlCol="0">
            <a:spAutoFit/>
          </a:bodyPr>
          <a:lstStyle/>
          <a:p>
            <a:r>
              <a:rPr lang="fr-FR" sz="1600" dirty="0"/>
              <a:t>No</a:t>
            </a:r>
            <a:endParaRPr lang="fr-FR" dirty="0"/>
          </a:p>
        </p:txBody>
      </p:sp>
      <p:sp>
        <p:nvSpPr>
          <p:cNvPr id="43" name="Rectangle 42">
            <a:extLst>
              <a:ext uri="{FF2B5EF4-FFF2-40B4-BE49-F238E27FC236}">
                <a16:creationId xmlns:a16="http://schemas.microsoft.com/office/drawing/2014/main" id="{172C7E04-1EDA-9096-1568-7121797490CA}"/>
              </a:ext>
            </a:extLst>
          </p:cNvPr>
          <p:cNvSpPr/>
          <p:nvPr/>
        </p:nvSpPr>
        <p:spPr>
          <a:xfrm>
            <a:off x="7436232" y="6284783"/>
            <a:ext cx="1746909" cy="38213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dirty="0" err="1"/>
              <a:t>Create</a:t>
            </a:r>
            <a:r>
              <a:rPr lang="fr-FR" sz="1400" dirty="0"/>
              <a:t> ticket</a:t>
            </a:r>
          </a:p>
        </p:txBody>
      </p:sp>
      <p:sp>
        <p:nvSpPr>
          <p:cNvPr id="48" name="Décision 47">
            <a:extLst>
              <a:ext uri="{FF2B5EF4-FFF2-40B4-BE49-F238E27FC236}">
                <a16:creationId xmlns:a16="http://schemas.microsoft.com/office/drawing/2014/main" id="{967D7046-F053-12DC-5479-ED4B60C17BF9}"/>
              </a:ext>
            </a:extLst>
          </p:cNvPr>
          <p:cNvSpPr/>
          <p:nvPr/>
        </p:nvSpPr>
        <p:spPr>
          <a:xfrm>
            <a:off x="9576181" y="6154716"/>
            <a:ext cx="1901586" cy="655092"/>
          </a:xfrm>
          <a:prstGeom prst="flowChartDecisi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r-MA" sz="1400" dirty="0" err="1"/>
              <a:t>Success</a:t>
            </a:r>
            <a:r>
              <a:rPr lang="fr-MA" sz="1400" dirty="0"/>
              <a:t>?</a:t>
            </a:r>
            <a:endParaRPr lang="fr-FR" sz="1400" dirty="0"/>
          </a:p>
        </p:txBody>
      </p:sp>
      <p:cxnSp>
        <p:nvCxnSpPr>
          <p:cNvPr id="52" name="Connecteur en angle 51">
            <a:extLst>
              <a:ext uri="{FF2B5EF4-FFF2-40B4-BE49-F238E27FC236}">
                <a16:creationId xmlns:a16="http://schemas.microsoft.com/office/drawing/2014/main" id="{D0BF5ABB-D5FE-438D-0B61-F654C772CC22}"/>
              </a:ext>
            </a:extLst>
          </p:cNvPr>
          <p:cNvCxnSpPr>
            <a:cxnSpLocks/>
            <a:stCxn id="24" idx="3"/>
            <a:endCxn id="48" idx="0"/>
          </p:cNvCxnSpPr>
          <p:nvPr/>
        </p:nvCxnSpPr>
        <p:spPr>
          <a:xfrm>
            <a:off x="7045819" y="3724103"/>
            <a:ext cx="3481155" cy="2430613"/>
          </a:xfrm>
          <a:prstGeom prst="bentConnector2">
            <a:avLst/>
          </a:prstGeom>
        </p:spPr>
        <p:style>
          <a:lnRef idx="2">
            <a:schemeClr val="accent1"/>
          </a:lnRef>
          <a:fillRef idx="0">
            <a:schemeClr val="accent1"/>
          </a:fillRef>
          <a:effectRef idx="1">
            <a:schemeClr val="accent1"/>
          </a:effectRef>
          <a:fontRef idx="minor">
            <a:schemeClr val="tx1"/>
          </a:fontRef>
        </p:style>
      </p:cxnSp>
      <p:sp>
        <p:nvSpPr>
          <p:cNvPr id="55" name="ZoneTexte 54">
            <a:extLst>
              <a:ext uri="{FF2B5EF4-FFF2-40B4-BE49-F238E27FC236}">
                <a16:creationId xmlns:a16="http://schemas.microsoft.com/office/drawing/2014/main" id="{7F5D3BF6-A8C3-FE98-8B25-918EAC0F9669}"/>
              </a:ext>
            </a:extLst>
          </p:cNvPr>
          <p:cNvSpPr txBox="1"/>
          <p:nvPr/>
        </p:nvSpPr>
        <p:spPr>
          <a:xfrm>
            <a:off x="8732763" y="4809965"/>
            <a:ext cx="1782474" cy="338554"/>
          </a:xfrm>
          <a:prstGeom prst="rect">
            <a:avLst/>
          </a:prstGeom>
          <a:noFill/>
        </p:spPr>
        <p:txBody>
          <a:bodyPr wrap="square" rtlCol="0">
            <a:spAutoFit/>
          </a:bodyPr>
          <a:lstStyle/>
          <a:p>
            <a:r>
              <a:rPr lang="fr-MA" sz="1600" dirty="0"/>
              <a:t>Yes → </a:t>
            </a:r>
            <a:r>
              <a:rPr lang="fr-MA" sz="1600" dirty="0" err="1"/>
              <a:t>unlock</a:t>
            </a:r>
            <a:r>
              <a:rPr lang="fr-MA" sz="1600" dirty="0"/>
              <a:t> </a:t>
            </a:r>
            <a:r>
              <a:rPr lang="fr-MA" sz="1600" dirty="0" err="1"/>
              <a:t>alert</a:t>
            </a:r>
            <a:endParaRPr lang="fr-FR" sz="1600" dirty="0"/>
          </a:p>
        </p:txBody>
      </p:sp>
      <p:sp>
        <p:nvSpPr>
          <p:cNvPr id="58" name="Rectangle 57">
            <a:extLst>
              <a:ext uri="{FF2B5EF4-FFF2-40B4-BE49-F238E27FC236}">
                <a16:creationId xmlns:a16="http://schemas.microsoft.com/office/drawing/2014/main" id="{42DAA62F-833D-2937-CE73-377CEA801E04}"/>
              </a:ext>
            </a:extLst>
          </p:cNvPr>
          <p:cNvSpPr/>
          <p:nvPr/>
        </p:nvSpPr>
        <p:spPr>
          <a:xfrm>
            <a:off x="10965615" y="5349911"/>
            <a:ext cx="1078175" cy="464025"/>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t>End</a:t>
            </a:r>
          </a:p>
        </p:txBody>
      </p:sp>
      <p:cxnSp>
        <p:nvCxnSpPr>
          <p:cNvPr id="60" name="Connecteur droit avec flèche 59">
            <a:extLst>
              <a:ext uri="{FF2B5EF4-FFF2-40B4-BE49-F238E27FC236}">
                <a16:creationId xmlns:a16="http://schemas.microsoft.com/office/drawing/2014/main" id="{6B8B8778-4549-86EB-0EA9-FE35EFA294D6}"/>
              </a:ext>
            </a:extLst>
          </p:cNvPr>
          <p:cNvCxnSpPr>
            <a:cxnSpLocks/>
            <a:endCxn id="58" idx="2"/>
          </p:cNvCxnSpPr>
          <p:nvPr/>
        </p:nvCxnSpPr>
        <p:spPr>
          <a:xfrm flipV="1">
            <a:off x="11504703" y="5813936"/>
            <a:ext cx="0" cy="6683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Connecteur droit avec flèche 72">
            <a:extLst>
              <a:ext uri="{FF2B5EF4-FFF2-40B4-BE49-F238E27FC236}">
                <a16:creationId xmlns:a16="http://schemas.microsoft.com/office/drawing/2014/main" id="{1A629FD3-85BF-7AAC-F261-2DAD5C19A1FE}"/>
              </a:ext>
            </a:extLst>
          </p:cNvPr>
          <p:cNvCxnSpPr>
            <a:cxnSpLocks/>
            <a:endCxn id="48" idx="1"/>
          </p:cNvCxnSpPr>
          <p:nvPr/>
        </p:nvCxnSpPr>
        <p:spPr>
          <a:xfrm>
            <a:off x="9189794" y="6475862"/>
            <a:ext cx="386387" cy="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Ellipse 74">
            <a:extLst>
              <a:ext uri="{FF2B5EF4-FFF2-40B4-BE49-F238E27FC236}">
                <a16:creationId xmlns:a16="http://schemas.microsoft.com/office/drawing/2014/main" id="{D20502FD-7E21-C43E-4BEA-3A0124DA705D}"/>
              </a:ext>
            </a:extLst>
          </p:cNvPr>
          <p:cNvSpPr/>
          <p:nvPr/>
        </p:nvSpPr>
        <p:spPr>
          <a:xfrm>
            <a:off x="4409931" y="26999"/>
            <a:ext cx="2187053" cy="485811"/>
          </a:xfrm>
          <a:prstGeom prst="ellipse">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MA" sz="1400" dirty="0"/>
          </a:p>
          <a:p>
            <a:pPr algn="ctr"/>
            <a:r>
              <a:rPr lang="fr-MA" sz="1400" dirty="0" err="1"/>
              <a:t>Webhook</a:t>
            </a:r>
            <a:r>
              <a:rPr lang="fr-MA" sz="1400" dirty="0"/>
              <a:t> </a:t>
            </a:r>
            <a:r>
              <a:rPr lang="fr-MA" sz="1400" dirty="0" err="1"/>
              <a:t>received</a:t>
            </a:r>
            <a:endParaRPr lang="fr-FR" sz="1400" dirty="0"/>
          </a:p>
          <a:p>
            <a:pPr algn="ctr"/>
            <a:endParaRPr lang="fr-FR" dirty="0"/>
          </a:p>
        </p:txBody>
      </p:sp>
      <p:sp>
        <p:nvSpPr>
          <p:cNvPr id="2" name="TextBox 3">
            <a:extLst>
              <a:ext uri="{FF2B5EF4-FFF2-40B4-BE49-F238E27FC236}">
                <a16:creationId xmlns:a16="http://schemas.microsoft.com/office/drawing/2014/main" id="{5B1BB47F-3D41-C638-6F5E-BBE27DA8B556}"/>
              </a:ext>
            </a:extLst>
          </p:cNvPr>
          <p:cNvSpPr txBox="1"/>
          <p:nvPr/>
        </p:nvSpPr>
        <p:spPr>
          <a:xfrm>
            <a:off x="7471753" y="98273"/>
            <a:ext cx="4498411"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fr-MA" sz="2400" b="1" dirty="0">
                <a:solidFill>
                  <a:srgbClr val="005BAA"/>
                </a:solidFill>
                <a:latin typeface="Arial" panose="020B0604020202020204" pitchFamily="34" charset="0"/>
                <a:ea typeface="+mj-ea"/>
                <a:cs typeface="Arial" panose="020B0604020202020204" pitchFamily="34" charset="0"/>
              </a:rPr>
              <a:t>Jira Ticket </a:t>
            </a:r>
            <a:r>
              <a:rPr lang="fr-MA" sz="2400" b="1" dirty="0" err="1">
                <a:solidFill>
                  <a:srgbClr val="005BAA"/>
                </a:solidFill>
                <a:latin typeface="Arial" panose="020B0604020202020204" pitchFamily="34" charset="0"/>
                <a:ea typeface="+mj-ea"/>
                <a:cs typeface="Arial" panose="020B0604020202020204" pitchFamily="34" charset="0"/>
              </a:rPr>
              <a:t>Creation</a:t>
            </a:r>
            <a:r>
              <a:rPr lang="fr-MA" sz="2400" b="1" dirty="0">
                <a:solidFill>
                  <a:srgbClr val="005BAA"/>
                </a:solidFill>
                <a:latin typeface="Arial" panose="020B0604020202020204" pitchFamily="34" charset="0"/>
                <a:ea typeface="+mj-ea"/>
                <a:cs typeface="Arial" panose="020B0604020202020204" pitchFamily="34" charset="0"/>
              </a:rPr>
              <a:t> Workflow</a:t>
            </a:r>
            <a:endParaRPr lang="x-none" sz="2400" b="1">
              <a:solidFill>
                <a:srgbClr val="005BAA"/>
              </a:solidFill>
              <a:latin typeface="Arial" panose="020B0604020202020204" pitchFamily="34" charset="0"/>
              <a:ea typeface="+mj-ea"/>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BADFB-C94C-290C-91A3-1C3FB3D42FD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5CA7D4-C6D1-6D46-CA43-6013FCE8209B}"/>
              </a:ext>
            </a:extLst>
          </p:cNvPr>
          <p:cNvSpPr txBox="1"/>
          <p:nvPr/>
        </p:nvSpPr>
        <p:spPr>
          <a:xfrm>
            <a:off x="4481638" y="443299"/>
            <a:ext cx="3228769"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The ticketing system</a:t>
            </a:r>
          </a:p>
        </p:txBody>
      </p:sp>
      <p:sp>
        <p:nvSpPr>
          <p:cNvPr id="6" name="Rectangle 2">
            <a:extLst>
              <a:ext uri="{FF2B5EF4-FFF2-40B4-BE49-F238E27FC236}">
                <a16:creationId xmlns:a16="http://schemas.microsoft.com/office/drawing/2014/main" id="{BDEE76FD-6897-70F2-BD76-2CD5F271C554}"/>
              </a:ext>
            </a:extLst>
          </p:cNvPr>
          <p:cNvSpPr txBox="1">
            <a:spLocks noChangeArrowheads="1"/>
          </p:cNvSpPr>
          <p:nvPr/>
        </p:nvSpPr>
        <p:spPr>
          <a:xfrm>
            <a:off x="2212622" y="1220192"/>
            <a:ext cx="7766756" cy="4626935"/>
          </a:xfrm>
          <a:prstGeom prst="rect">
            <a:avLst/>
          </a:prstGeom>
          <a:ln/>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err="1"/>
              <a:t>jira.wmo.int</a:t>
            </a:r>
            <a:endParaRPr lang="en-GB" altLang="en-FR" sz="1652" dirty="0"/>
          </a:p>
          <a:p>
            <a:pPr marL="457200" lvl="1" indent="0">
              <a:buClr>
                <a:schemeClr val="tx1"/>
              </a:buClr>
              <a:buSzPct val="100000"/>
              <a:buNone/>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endParaRPr lang="en-GB" altLang="en-FR" sz="1652" dirty="0"/>
          </a:p>
        </p:txBody>
      </p:sp>
    </p:spTree>
    <p:extLst>
      <p:ext uri="{BB962C8B-B14F-4D97-AF65-F5344CB8AC3E}">
        <p14:creationId xmlns:p14="http://schemas.microsoft.com/office/powerpoint/2010/main" val="3438876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7EA2EF2-EAF5-48FB-A301-1E55CE2F0B46}"/>
              </a:ext>
            </a:extLst>
          </p:cNvPr>
          <p:cNvSpPr>
            <a:spLocks noGrp="1"/>
          </p:cNvSpPr>
          <p:nvPr>
            <p:ph type="title"/>
          </p:nvPr>
        </p:nvSpPr>
        <p:spPr/>
        <p:txBody>
          <a:bodyPr>
            <a:normAutofit/>
          </a:bodyPr>
          <a:lstStyle/>
          <a:p>
            <a:r>
              <a:rPr lang="en-US" altLang="ja-JP" dirty="0"/>
              <a:t>A step beyond</a:t>
            </a:r>
            <a:endParaRPr lang="ja-JP" altLang="en-US" dirty="0"/>
          </a:p>
        </p:txBody>
      </p:sp>
    </p:spTree>
    <p:extLst>
      <p:ext uri="{BB962C8B-B14F-4D97-AF65-F5344CB8AC3E}">
        <p14:creationId xmlns:p14="http://schemas.microsoft.com/office/powerpoint/2010/main" val="3898826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DAA52-7396-7B38-7699-2F27EF0E23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9A143E-B02B-5EE4-BF2D-1E6F4F9BB294}"/>
              </a:ext>
            </a:extLst>
          </p:cNvPr>
          <p:cNvSpPr txBox="1"/>
          <p:nvPr/>
        </p:nvSpPr>
        <p:spPr>
          <a:xfrm>
            <a:off x="4549753" y="443299"/>
            <a:ext cx="3092514"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The Sensor Centres</a:t>
            </a:r>
          </a:p>
        </p:txBody>
      </p:sp>
      <p:sp>
        <p:nvSpPr>
          <p:cNvPr id="6" name="Rectangle 2">
            <a:extLst>
              <a:ext uri="{FF2B5EF4-FFF2-40B4-BE49-F238E27FC236}">
                <a16:creationId xmlns:a16="http://schemas.microsoft.com/office/drawing/2014/main" id="{DA6C0030-8C88-C115-A2C7-B91D7EBDB40C}"/>
              </a:ext>
            </a:extLst>
          </p:cNvPr>
          <p:cNvSpPr txBox="1">
            <a:spLocks noChangeArrowheads="1"/>
          </p:cNvSpPr>
          <p:nvPr/>
        </p:nvSpPr>
        <p:spPr>
          <a:xfrm>
            <a:off x="2212622" y="1220192"/>
            <a:ext cx="7766756" cy="4626935"/>
          </a:xfrm>
          <a:prstGeom prst="rect">
            <a:avLst/>
          </a:prstGeom>
          <a:ln/>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WIS2 architecture has been designed to be extensible. We often talk about the foundations and then, additional floors can be added</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EG., some of the future work will allow using APIs on WIS 2.0</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That extensibility is also true for monitoring</a:t>
            </a:r>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What if, beyond metrics provided by each Global Services, we could have other metrics to measure, for example:</a:t>
            </a:r>
          </a:p>
          <a:p>
            <a:pPr lvl="1">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1652" dirty="0"/>
              <a:t>How Global Brokers are performing ?</a:t>
            </a:r>
          </a:p>
          <a:p>
            <a:pPr lvl="1">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1652" dirty="0"/>
              <a:t>How Global Caches are performing ?</a:t>
            </a:r>
          </a:p>
          <a:p>
            <a:pPr lvl="1">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1652" dirty="0"/>
              <a:t>How Global Discovery Catalogue are performing ?</a:t>
            </a:r>
          </a:p>
          <a:p>
            <a:pPr lvl="1">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1652" dirty="0"/>
              <a:t>What kind of data is available on WIS 2.0</a:t>
            </a:r>
          </a:p>
          <a:p>
            <a:pPr lvl="1">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endParaRPr lang="en-GB" altLang="en-FR" sz="1652" dirty="0"/>
          </a:p>
          <a:p>
            <a:pPr>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r>
              <a:rPr lang="en-GB" altLang="en-FR" sz="2052" dirty="0"/>
              <a:t>Welcome to the Sensor Centres !</a:t>
            </a:r>
          </a:p>
          <a:p>
            <a:pPr lvl="1">
              <a:buClr>
                <a:schemeClr val="tx1"/>
              </a:buClr>
              <a:buSzPct val="100000"/>
              <a:tabLst>
                <a:tab pos="384170" algn="l"/>
                <a:tab pos="768339" algn="l"/>
                <a:tab pos="1152509" algn="l"/>
                <a:tab pos="1536678" algn="l"/>
                <a:tab pos="1920848" algn="l"/>
                <a:tab pos="2305016" algn="l"/>
                <a:tab pos="2689187" algn="l"/>
                <a:tab pos="3073355" algn="l"/>
                <a:tab pos="3457526" algn="l"/>
                <a:tab pos="3841694" algn="l"/>
                <a:tab pos="4225865" algn="l"/>
                <a:tab pos="4610033" algn="l"/>
                <a:tab pos="4994204" algn="l"/>
                <a:tab pos="5378372" algn="l"/>
                <a:tab pos="5762543" algn="l"/>
                <a:tab pos="6146712" algn="l"/>
                <a:tab pos="6530882" algn="l"/>
                <a:tab pos="6915050" algn="l"/>
                <a:tab pos="7299220" algn="l"/>
              </a:tabLst>
            </a:pPr>
            <a:endParaRPr lang="en-GB" altLang="en-FR" sz="1652" dirty="0"/>
          </a:p>
        </p:txBody>
      </p:sp>
    </p:spTree>
    <p:extLst>
      <p:ext uri="{BB962C8B-B14F-4D97-AF65-F5344CB8AC3E}">
        <p14:creationId xmlns:p14="http://schemas.microsoft.com/office/powerpoint/2010/main" val="760453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725C345-E6C8-1173-E7EE-B158245074E7}"/>
              </a:ext>
            </a:extLst>
          </p:cNvPr>
          <p:cNvSpPr txBox="1"/>
          <p:nvPr/>
        </p:nvSpPr>
        <p:spPr>
          <a:xfrm>
            <a:off x="4951325" y="284116"/>
            <a:ext cx="2289409"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Sensor Centre</a:t>
            </a:r>
          </a:p>
        </p:txBody>
      </p:sp>
      <p:pic>
        <p:nvPicPr>
          <p:cNvPr id="1026" name="Picture 2" descr="Prometheus Logo Download Vector">
            <a:extLst>
              <a:ext uri="{FF2B5EF4-FFF2-40B4-BE49-F238E27FC236}">
                <a16:creationId xmlns:a16="http://schemas.microsoft.com/office/drawing/2014/main" id="{5E60E0AD-A16E-19FC-DB76-198CB461E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7138" y="2631249"/>
            <a:ext cx="1016000" cy="8723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rafana, logo Free Icon of Vector Logo">
            <a:extLst>
              <a:ext uri="{FF2B5EF4-FFF2-40B4-BE49-F238E27FC236}">
                <a16:creationId xmlns:a16="http://schemas.microsoft.com/office/drawing/2014/main" id="{40BA06E9-22D5-67AE-5998-A6EBE5DB7B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9365" y="1642610"/>
            <a:ext cx="1406878" cy="70343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QL Server Database Logo - LogoDix">
            <a:extLst>
              <a:ext uri="{FF2B5EF4-FFF2-40B4-BE49-F238E27FC236}">
                <a16:creationId xmlns:a16="http://schemas.microsoft.com/office/drawing/2014/main" id="{6F856EC5-61E0-F81E-E180-6BBBAE847F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974835" y="3706837"/>
            <a:ext cx="780606" cy="96184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7710AE48-EE8C-A852-6ECE-E1E354769B48}"/>
              </a:ext>
            </a:extLst>
          </p:cNvPr>
          <p:cNvPicPr>
            <a:picLocks noChangeAspect="1"/>
          </p:cNvPicPr>
          <p:nvPr/>
        </p:nvPicPr>
        <p:blipFill>
          <a:blip r:embed="rId6"/>
          <a:stretch>
            <a:fillRect/>
          </a:stretch>
        </p:blipFill>
        <p:spPr>
          <a:xfrm>
            <a:off x="7632580" y="3852049"/>
            <a:ext cx="800100" cy="774700"/>
          </a:xfrm>
          <a:prstGeom prst="rect">
            <a:avLst/>
          </a:prstGeom>
        </p:spPr>
      </p:pic>
      <p:sp>
        <p:nvSpPr>
          <p:cNvPr id="3" name="Rounded Rectangle 2">
            <a:extLst>
              <a:ext uri="{FF2B5EF4-FFF2-40B4-BE49-F238E27FC236}">
                <a16:creationId xmlns:a16="http://schemas.microsoft.com/office/drawing/2014/main" id="{F08FD6B1-9D8A-6FA8-AFDD-D8B06C7E241F}"/>
              </a:ext>
            </a:extLst>
          </p:cNvPr>
          <p:cNvSpPr/>
          <p:nvPr/>
        </p:nvSpPr>
        <p:spPr>
          <a:xfrm>
            <a:off x="5563629" y="1642610"/>
            <a:ext cx="3391056" cy="3225955"/>
          </a:xfrm>
          <a:prstGeom prst="roundRect">
            <a:avLst/>
          </a:prstGeom>
          <a:noFill/>
          <a:ln>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400247F4-DF70-9BBA-701A-787285C061F0}"/>
              </a:ext>
            </a:extLst>
          </p:cNvPr>
          <p:cNvPicPr>
            <a:picLocks noChangeAspect="1"/>
          </p:cNvPicPr>
          <p:nvPr/>
        </p:nvPicPr>
        <p:blipFill>
          <a:blip r:embed="rId7">
            <a:alphaModFix/>
            <a:extLst>
              <a:ext uri="{BEBA8EAE-BF5A-486C-A8C5-ECC9F3942E4B}">
                <a14:imgProps xmlns:a14="http://schemas.microsoft.com/office/drawing/2010/main">
                  <a14:imgLayer r:embed="rId8">
                    <a14:imgEffect>
                      <a14:colorTemperature colorTemp="6150"/>
                    </a14:imgEffect>
                    <a14:imgEffect>
                      <a14:saturation sat="400000"/>
                    </a14:imgEffect>
                  </a14:imgLayer>
                </a14:imgProps>
              </a:ext>
            </a:extLst>
          </a:blip>
          <a:stretch>
            <a:fillRect/>
          </a:stretch>
        </p:blipFill>
        <p:spPr>
          <a:xfrm>
            <a:off x="2523834" y="3876115"/>
            <a:ext cx="749597" cy="685801"/>
          </a:xfrm>
          <a:prstGeom prst="rect">
            <a:avLst/>
          </a:prstGeom>
        </p:spPr>
      </p:pic>
      <p:grpSp>
        <p:nvGrpSpPr>
          <p:cNvPr id="8" name="Group 7">
            <a:extLst>
              <a:ext uri="{FF2B5EF4-FFF2-40B4-BE49-F238E27FC236}">
                <a16:creationId xmlns:a16="http://schemas.microsoft.com/office/drawing/2014/main" id="{32F29FDE-44BA-F0F8-47FE-D2C87D3F6385}"/>
              </a:ext>
            </a:extLst>
          </p:cNvPr>
          <p:cNvGrpSpPr/>
          <p:nvPr/>
        </p:nvGrpSpPr>
        <p:grpSpPr>
          <a:xfrm>
            <a:off x="3898960" y="3867191"/>
            <a:ext cx="694640" cy="685800"/>
            <a:chOff x="3107885" y="2667808"/>
            <a:chExt cx="1256145" cy="1200330"/>
          </a:xfrm>
        </p:grpSpPr>
        <p:sp>
          <p:nvSpPr>
            <p:cNvPr id="9" name="Oval 8">
              <a:extLst>
                <a:ext uri="{FF2B5EF4-FFF2-40B4-BE49-F238E27FC236}">
                  <a16:creationId xmlns:a16="http://schemas.microsoft.com/office/drawing/2014/main" id="{CE443642-3F54-58EA-8CA0-61BB823B1669}"/>
                </a:ext>
              </a:extLst>
            </p:cNvPr>
            <p:cNvSpPr/>
            <p:nvPr/>
          </p:nvSpPr>
          <p:spPr>
            <a:xfrm>
              <a:off x="3107885" y="2667808"/>
              <a:ext cx="1256145" cy="1200330"/>
            </a:xfrm>
            <a:prstGeom prst="ellipse">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sz="1350" dirty="0"/>
            </a:p>
          </p:txBody>
        </p:sp>
        <p:pic>
          <p:nvPicPr>
            <p:cNvPr id="10" name="Graphic 9" descr="Database with solid fill">
              <a:extLst>
                <a:ext uri="{FF2B5EF4-FFF2-40B4-BE49-F238E27FC236}">
                  <a16:creationId xmlns:a16="http://schemas.microsoft.com/office/drawing/2014/main" id="{B74C4C85-E8A9-7324-F667-BA689EDB6E6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60369" y="2810772"/>
              <a:ext cx="914400" cy="914399"/>
            </a:xfrm>
            <a:prstGeom prst="rect">
              <a:avLst/>
            </a:prstGeom>
          </p:spPr>
        </p:pic>
      </p:grpSp>
      <p:grpSp>
        <p:nvGrpSpPr>
          <p:cNvPr id="11" name="Group 10">
            <a:extLst>
              <a:ext uri="{FF2B5EF4-FFF2-40B4-BE49-F238E27FC236}">
                <a16:creationId xmlns:a16="http://schemas.microsoft.com/office/drawing/2014/main" id="{E092449B-43F2-44AC-95A9-C9F9B9CC7BD4}"/>
              </a:ext>
            </a:extLst>
          </p:cNvPr>
          <p:cNvGrpSpPr/>
          <p:nvPr/>
        </p:nvGrpSpPr>
        <p:grpSpPr>
          <a:xfrm>
            <a:off x="3409023" y="2696865"/>
            <a:ext cx="694640" cy="685800"/>
            <a:chOff x="3100578" y="2626881"/>
            <a:chExt cx="926187" cy="914400"/>
          </a:xfrm>
        </p:grpSpPr>
        <p:sp>
          <p:nvSpPr>
            <p:cNvPr id="12" name="Oval 11">
              <a:extLst>
                <a:ext uri="{FF2B5EF4-FFF2-40B4-BE49-F238E27FC236}">
                  <a16:creationId xmlns:a16="http://schemas.microsoft.com/office/drawing/2014/main" id="{994891C4-E488-D1A6-7C1A-C9DEB16D6E39}"/>
                </a:ext>
              </a:extLst>
            </p:cNvPr>
            <p:cNvSpPr/>
            <p:nvPr/>
          </p:nvSpPr>
          <p:spPr>
            <a:xfrm>
              <a:off x="3100578" y="2626881"/>
              <a:ext cx="926187" cy="914400"/>
            </a:xfrm>
            <a:prstGeom prst="ellipse">
              <a:avLst/>
            </a:prstGeom>
            <a:solidFill>
              <a:schemeClr val="accent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sz="1350" dirty="0"/>
            </a:p>
          </p:txBody>
        </p:sp>
        <p:pic>
          <p:nvPicPr>
            <p:cNvPr id="13" name="Graphic 12" descr="Network with solid fill">
              <a:extLst>
                <a:ext uri="{FF2B5EF4-FFF2-40B4-BE49-F238E27FC236}">
                  <a16:creationId xmlns:a16="http://schemas.microsoft.com/office/drawing/2014/main" id="{5FA00E50-5020-E006-FA28-95F4624E4B6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67308" y="2639091"/>
              <a:ext cx="789683" cy="789683"/>
            </a:xfrm>
            <a:prstGeom prst="rect">
              <a:avLst/>
            </a:prstGeom>
          </p:spPr>
        </p:pic>
      </p:grpSp>
      <p:cxnSp>
        <p:nvCxnSpPr>
          <p:cNvPr id="15" name="Straight Arrow Connector 14">
            <a:extLst>
              <a:ext uri="{FF2B5EF4-FFF2-40B4-BE49-F238E27FC236}">
                <a16:creationId xmlns:a16="http://schemas.microsoft.com/office/drawing/2014/main" id="{8BC021C8-F805-C689-83E0-B6115AF5CB93}"/>
              </a:ext>
            </a:extLst>
          </p:cNvPr>
          <p:cNvCxnSpPr>
            <a:cxnSpLocks/>
          </p:cNvCxnSpPr>
          <p:nvPr/>
        </p:nvCxnSpPr>
        <p:spPr>
          <a:xfrm flipH="1">
            <a:off x="4264090" y="3063025"/>
            <a:ext cx="118168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2B31801-DFD8-74AC-F6A2-50F1F403BF1A}"/>
              </a:ext>
            </a:extLst>
          </p:cNvPr>
          <p:cNvCxnSpPr>
            <a:cxnSpLocks/>
          </p:cNvCxnSpPr>
          <p:nvPr/>
        </p:nvCxnSpPr>
        <p:spPr>
          <a:xfrm flipH="1">
            <a:off x="4708178" y="4210623"/>
            <a:ext cx="7375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AE91E77-875C-A37C-1AD0-E6DC31F51EE2}"/>
              </a:ext>
            </a:extLst>
          </p:cNvPr>
          <p:cNvCxnSpPr>
            <a:cxnSpLocks/>
            <a:stCxn id="12" idx="3"/>
          </p:cNvCxnSpPr>
          <p:nvPr/>
        </p:nvCxnSpPr>
        <p:spPr>
          <a:xfrm flipH="1">
            <a:off x="3092844" y="3282232"/>
            <a:ext cx="417907" cy="5767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CFABA328-9965-0206-F96A-B7066EA7E01A}"/>
              </a:ext>
            </a:extLst>
          </p:cNvPr>
          <p:cNvCxnSpPr>
            <a:cxnSpLocks/>
          </p:cNvCxnSpPr>
          <p:nvPr/>
        </p:nvCxnSpPr>
        <p:spPr>
          <a:xfrm flipH="1">
            <a:off x="3269603" y="4219014"/>
            <a:ext cx="5279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6" name="Picture 25" descr="Chart, line chart, histogram&#10;&#10;Description automatically generated">
            <a:extLst>
              <a:ext uri="{FF2B5EF4-FFF2-40B4-BE49-F238E27FC236}">
                <a16:creationId xmlns:a16="http://schemas.microsoft.com/office/drawing/2014/main" id="{184B2070-A5EF-E914-E42E-E6F630114DEC}"/>
              </a:ext>
            </a:extLst>
          </p:cNvPr>
          <p:cNvPicPr>
            <a:picLocks noChangeAspect="1"/>
          </p:cNvPicPr>
          <p:nvPr/>
        </p:nvPicPr>
        <p:blipFill>
          <a:blip r:embed="rId13"/>
          <a:stretch>
            <a:fillRect/>
          </a:stretch>
        </p:blipFill>
        <p:spPr>
          <a:xfrm>
            <a:off x="7123986" y="2225141"/>
            <a:ext cx="1406878" cy="1068681"/>
          </a:xfrm>
          <a:prstGeom prst="rect">
            <a:avLst/>
          </a:prstGeom>
        </p:spPr>
      </p:pic>
      <p:cxnSp>
        <p:nvCxnSpPr>
          <p:cNvPr id="28" name="Straight Arrow Connector 27">
            <a:extLst>
              <a:ext uri="{FF2B5EF4-FFF2-40B4-BE49-F238E27FC236}">
                <a16:creationId xmlns:a16="http://schemas.microsoft.com/office/drawing/2014/main" id="{26EFD64B-D7C3-7F23-E266-44B0A88B6C5C}"/>
              </a:ext>
            </a:extLst>
          </p:cNvPr>
          <p:cNvCxnSpPr>
            <a:cxnSpLocks/>
          </p:cNvCxnSpPr>
          <p:nvPr/>
        </p:nvCxnSpPr>
        <p:spPr>
          <a:xfrm flipH="1">
            <a:off x="6521662" y="2204254"/>
            <a:ext cx="271598" cy="366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8E3E32D1-FD6F-3AC6-02A1-206C5CE14271}"/>
              </a:ext>
            </a:extLst>
          </p:cNvPr>
          <p:cNvSpPr txBox="1"/>
          <p:nvPr/>
        </p:nvSpPr>
        <p:spPr>
          <a:xfrm>
            <a:off x="4602436" y="2772741"/>
            <a:ext cx="650691" cy="276999"/>
          </a:xfrm>
          <a:prstGeom prst="rect">
            <a:avLst/>
          </a:prstGeom>
          <a:noFill/>
        </p:spPr>
        <p:txBody>
          <a:bodyPr wrap="none" rtlCol="0">
            <a:spAutoFit/>
          </a:bodyPr>
          <a:lstStyle/>
          <a:p>
            <a:r>
              <a:rPr lang="en-GB" sz="1200" i="1" dirty="0">
                <a:solidFill>
                  <a:schemeClr val="accent1"/>
                </a:solidFill>
              </a:rPr>
              <a:t>Scrape</a:t>
            </a:r>
          </a:p>
        </p:txBody>
      </p:sp>
      <p:sp>
        <p:nvSpPr>
          <p:cNvPr id="30" name="TextBox 29">
            <a:extLst>
              <a:ext uri="{FF2B5EF4-FFF2-40B4-BE49-F238E27FC236}">
                <a16:creationId xmlns:a16="http://schemas.microsoft.com/office/drawing/2014/main" id="{81256850-ED7A-93D1-AC76-D95AF015C77D}"/>
              </a:ext>
            </a:extLst>
          </p:cNvPr>
          <p:cNvSpPr txBox="1"/>
          <p:nvPr/>
        </p:nvSpPr>
        <p:spPr>
          <a:xfrm>
            <a:off x="4777859" y="4219015"/>
            <a:ext cx="650691" cy="276999"/>
          </a:xfrm>
          <a:prstGeom prst="rect">
            <a:avLst/>
          </a:prstGeom>
          <a:noFill/>
        </p:spPr>
        <p:txBody>
          <a:bodyPr wrap="none" rtlCol="0">
            <a:spAutoFit/>
          </a:bodyPr>
          <a:lstStyle/>
          <a:p>
            <a:r>
              <a:rPr lang="en-GB" sz="1200" i="1" dirty="0">
                <a:solidFill>
                  <a:schemeClr val="accent1"/>
                </a:solidFill>
              </a:rPr>
              <a:t>Scrape</a:t>
            </a:r>
          </a:p>
        </p:txBody>
      </p:sp>
      <p:sp>
        <p:nvSpPr>
          <p:cNvPr id="31" name="TextBox 30">
            <a:extLst>
              <a:ext uri="{FF2B5EF4-FFF2-40B4-BE49-F238E27FC236}">
                <a16:creationId xmlns:a16="http://schemas.microsoft.com/office/drawing/2014/main" id="{79D648A7-A5D4-940E-D9E2-A8A5B0C74041}"/>
              </a:ext>
            </a:extLst>
          </p:cNvPr>
          <p:cNvSpPr txBox="1"/>
          <p:nvPr/>
        </p:nvSpPr>
        <p:spPr>
          <a:xfrm>
            <a:off x="2636696" y="3474114"/>
            <a:ext cx="856325" cy="276999"/>
          </a:xfrm>
          <a:prstGeom prst="rect">
            <a:avLst/>
          </a:prstGeom>
          <a:solidFill>
            <a:schemeClr val="bg1"/>
          </a:solidFill>
        </p:spPr>
        <p:txBody>
          <a:bodyPr wrap="none" rtlCol="0">
            <a:spAutoFit/>
          </a:bodyPr>
          <a:lstStyle/>
          <a:p>
            <a:r>
              <a:rPr lang="en-GB" sz="1200" dirty="0"/>
              <a:t>Subscribe</a:t>
            </a:r>
          </a:p>
        </p:txBody>
      </p:sp>
      <p:sp>
        <p:nvSpPr>
          <p:cNvPr id="32" name="TextBox 31">
            <a:extLst>
              <a:ext uri="{FF2B5EF4-FFF2-40B4-BE49-F238E27FC236}">
                <a16:creationId xmlns:a16="http://schemas.microsoft.com/office/drawing/2014/main" id="{880AEAC9-0356-F88A-6189-4315443AC34A}"/>
              </a:ext>
            </a:extLst>
          </p:cNvPr>
          <p:cNvSpPr txBox="1"/>
          <p:nvPr/>
        </p:nvSpPr>
        <p:spPr>
          <a:xfrm>
            <a:off x="3124432" y="4343515"/>
            <a:ext cx="862865" cy="276999"/>
          </a:xfrm>
          <a:prstGeom prst="rect">
            <a:avLst/>
          </a:prstGeom>
          <a:noFill/>
        </p:spPr>
        <p:txBody>
          <a:bodyPr wrap="none" rtlCol="0">
            <a:spAutoFit/>
          </a:bodyPr>
          <a:lstStyle/>
          <a:p>
            <a:r>
              <a:rPr lang="en-GB" sz="1200" dirty="0"/>
              <a:t>Download</a:t>
            </a:r>
          </a:p>
        </p:txBody>
      </p:sp>
      <p:sp>
        <p:nvSpPr>
          <p:cNvPr id="33" name="TextBox 32">
            <a:extLst>
              <a:ext uri="{FF2B5EF4-FFF2-40B4-BE49-F238E27FC236}">
                <a16:creationId xmlns:a16="http://schemas.microsoft.com/office/drawing/2014/main" id="{39CEA165-F176-597E-140E-F0DEB8BB8904}"/>
              </a:ext>
            </a:extLst>
          </p:cNvPr>
          <p:cNvSpPr txBox="1"/>
          <p:nvPr/>
        </p:nvSpPr>
        <p:spPr>
          <a:xfrm>
            <a:off x="6113465" y="2151948"/>
            <a:ext cx="584199" cy="276999"/>
          </a:xfrm>
          <a:prstGeom prst="rect">
            <a:avLst/>
          </a:prstGeom>
          <a:noFill/>
        </p:spPr>
        <p:txBody>
          <a:bodyPr wrap="none" rtlCol="0">
            <a:spAutoFit/>
          </a:bodyPr>
          <a:lstStyle/>
          <a:p>
            <a:r>
              <a:rPr lang="en-GB" sz="1200" i="1" dirty="0">
                <a:solidFill>
                  <a:schemeClr val="accent1"/>
                </a:solidFill>
              </a:rPr>
              <a:t>Query</a:t>
            </a:r>
          </a:p>
        </p:txBody>
      </p:sp>
      <p:cxnSp>
        <p:nvCxnSpPr>
          <p:cNvPr id="34" name="Straight Arrow Connector 33">
            <a:extLst>
              <a:ext uri="{FF2B5EF4-FFF2-40B4-BE49-F238E27FC236}">
                <a16:creationId xmlns:a16="http://schemas.microsoft.com/office/drawing/2014/main" id="{AF939C60-29C1-C65D-C4C3-1EE65B8BCAAD}"/>
              </a:ext>
            </a:extLst>
          </p:cNvPr>
          <p:cNvCxnSpPr>
            <a:cxnSpLocks/>
          </p:cNvCxnSpPr>
          <p:nvPr/>
        </p:nvCxnSpPr>
        <p:spPr>
          <a:xfrm>
            <a:off x="6873138" y="4219014"/>
            <a:ext cx="6345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CF98B2BA-8A98-F7C9-D842-6FCDD3FBE4CC}"/>
              </a:ext>
            </a:extLst>
          </p:cNvPr>
          <p:cNvSpPr txBox="1"/>
          <p:nvPr/>
        </p:nvSpPr>
        <p:spPr>
          <a:xfrm>
            <a:off x="6921228" y="4266791"/>
            <a:ext cx="497252" cy="276999"/>
          </a:xfrm>
          <a:prstGeom prst="rect">
            <a:avLst/>
          </a:prstGeom>
          <a:noFill/>
        </p:spPr>
        <p:txBody>
          <a:bodyPr wrap="none" rtlCol="0">
            <a:spAutoFit/>
          </a:bodyPr>
          <a:lstStyle/>
          <a:p>
            <a:r>
              <a:rPr lang="en-GB" sz="1200" i="1" dirty="0">
                <a:solidFill>
                  <a:schemeClr val="accent1"/>
                </a:solidFill>
              </a:rPr>
              <a:t>Alert</a:t>
            </a:r>
          </a:p>
        </p:txBody>
      </p:sp>
      <p:grpSp>
        <p:nvGrpSpPr>
          <p:cNvPr id="61" name="Group 60">
            <a:extLst>
              <a:ext uri="{FF2B5EF4-FFF2-40B4-BE49-F238E27FC236}">
                <a16:creationId xmlns:a16="http://schemas.microsoft.com/office/drawing/2014/main" id="{312D70A2-2FDF-C7F1-025B-03B890444D04}"/>
              </a:ext>
            </a:extLst>
          </p:cNvPr>
          <p:cNvGrpSpPr/>
          <p:nvPr/>
        </p:nvGrpSpPr>
        <p:grpSpPr>
          <a:xfrm rot="5400000">
            <a:off x="7846956" y="4497642"/>
            <a:ext cx="385005" cy="761987"/>
            <a:chOff x="6504755" y="3924586"/>
            <a:chExt cx="385005" cy="761987"/>
          </a:xfrm>
        </p:grpSpPr>
        <p:cxnSp>
          <p:nvCxnSpPr>
            <p:cNvPr id="38" name="Straight Arrow Connector 37">
              <a:extLst>
                <a:ext uri="{FF2B5EF4-FFF2-40B4-BE49-F238E27FC236}">
                  <a16:creationId xmlns:a16="http://schemas.microsoft.com/office/drawing/2014/main" id="{18D80EA0-A639-A6FD-92BF-DE39A5D84B17}"/>
                </a:ext>
              </a:extLst>
            </p:cNvPr>
            <p:cNvCxnSpPr>
              <a:cxnSpLocks/>
            </p:cNvCxnSpPr>
            <p:nvPr/>
          </p:nvCxnSpPr>
          <p:spPr>
            <a:xfrm flipV="1">
              <a:off x="6504755" y="3924586"/>
              <a:ext cx="317271" cy="232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0CCB4E9E-A992-F651-975D-7EB9E68C11C1}"/>
                </a:ext>
              </a:extLst>
            </p:cNvPr>
            <p:cNvCxnSpPr>
              <a:cxnSpLocks/>
            </p:cNvCxnSpPr>
            <p:nvPr/>
          </p:nvCxnSpPr>
          <p:spPr>
            <a:xfrm>
              <a:off x="6532570" y="4311936"/>
              <a:ext cx="35719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254E4007-CCC7-230E-4F5A-C4C4E851C9F0}"/>
                </a:ext>
              </a:extLst>
            </p:cNvPr>
            <p:cNvCxnSpPr>
              <a:cxnSpLocks/>
            </p:cNvCxnSpPr>
            <p:nvPr/>
          </p:nvCxnSpPr>
          <p:spPr>
            <a:xfrm>
              <a:off x="6504755" y="4454308"/>
              <a:ext cx="317271" cy="232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6" name="TextBox 45">
            <a:extLst>
              <a:ext uri="{FF2B5EF4-FFF2-40B4-BE49-F238E27FC236}">
                <a16:creationId xmlns:a16="http://schemas.microsoft.com/office/drawing/2014/main" id="{39C47DFA-2336-1459-322E-452F9EE04877}"/>
              </a:ext>
            </a:extLst>
          </p:cNvPr>
          <p:cNvSpPr txBox="1"/>
          <p:nvPr/>
        </p:nvSpPr>
        <p:spPr>
          <a:xfrm>
            <a:off x="3246456" y="2483020"/>
            <a:ext cx="1091004" cy="276999"/>
          </a:xfrm>
          <a:prstGeom prst="rect">
            <a:avLst/>
          </a:prstGeom>
          <a:noFill/>
        </p:spPr>
        <p:txBody>
          <a:bodyPr wrap="none" rtlCol="0">
            <a:spAutoFit/>
          </a:bodyPr>
          <a:lstStyle/>
          <a:p>
            <a:r>
              <a:rPr lang="en-GB" sz="1200" dirty="0"/>
              <a:t>Global Broker</a:t>
            </a:r>
          </a:p>
        </p:txBody>
      </p:sp>
      <p:sp>
        <p:nvSpPr>
          <p:cNvPr id="47" name="TextBox 46">
            <a:extLst>
              <a:ext uri="{FF2B5EF4-FFF2-40B4-BE49-F238E27FC236}">
                <a16:creationId xmlns:a16="http://schemas.microsoft.com/office/drawing/2014/main" id="{11258E65-9EA9-65CD-A947-0335EC2529EA}"/>
              </a:ext>
            </a:extLst>
          </p:cNvPr>
          <p:cNvSpPr txBox="1"/>
          <p:nvPr/>
        </p:nvSpPr>
        <p:spPr>
          <a:xfrm>
            <a:off x="3728863" y="3573453"/>
            <a:ext cx="1093569" cy="276999"/>
          </a:xfrm>
          <a:prstGeom prst="rect">
            <a:avLst/>
          </a:prstGeom>
          <a:noFill/>
        </p:spPr>
        <p:txBody>
          <a:bodyPr wrap="none" rtlCol="0">
            <a:spAutoFit/>
          </a:bodyPr>
          <a:lstStyle/>
          <a:p>
            <a:r>
              <a:rPr lang="en-GB" sz="1200" dirty="0"/>
              <a:t>Global Cache</a:t>
            </a:r>
          </a:p>
        </p:txBody>
      </p:sp>
      <p:grpSp>
        <p:nvGrpSpPr>
          <p:cNvPr id="48" name="Group 47">
            <a:extLst>
              <a:ext uri="{FF2B5EF4-FFF2-40B4-BE49-F238E27FC236}">
                <a16:creationId xmlns:a16="http://schemas.microsoft.com/office/drawing/2014/main" id="{61981390-8F22-BFC8-ED1A-EBD754E5A878}"/>
              </a:ext>
            </a:extLst>
          </p:cNvPr>
          <p:cNvGrpSpPr/>
          <p:nvPr/>
        </p:nvGrpSpPr>
        <p:grpSpPr>
          <a:xfrm>
            <a:off x="5216169" y="1308528"/>
            <a:ext cx="694640" cy="685800"/>
            <a:chOff x="4851042" y="4429399"/>
            <a:chExt cx="1256145" cy="1200330"/>
          </a:xfrm>
        </p:grpSpPr>
        <p:sp>
          <p:nvSpPr>
            <p:cNvPr id="49" name="Oval 48">
              <a:extLst>
                <a:ext uri="{FF2B5EF4-FFF2-40B4-BE49-F238E27FC236}">
                  <a16:creationId xmlns:a16="http://schemas.microsoft.com/office/drawing/2014/main" id="{31B2AC62-4F98-26F7-F728-4938B1256E04}"/>
                </a:ext>
              </a:extLst>
            </p:cNvPr>
            <p:cNvSpPr/>
            <p:nvPr/>
          </p:nvSpPr>
          <p:spPr>
            <a:xfrm>
              <a:off x="4851042" y="4429399"/>
              <a:ext cx="1256145" cy="1200330"/>
            </a:xfrm>
            <a:prstGeom prst="ellipse">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sz="1350" dirty="0"/>
            </a:p>
          </p:txBody>
        </p:sp>
        <p:pic>
          <p:nvPicPr>
            <p:cNvPr id="50" name="Graphic 49" descr="Bar chart with solid fill">
              <a:extLst>
                <a:ext uri="{FF2B5EF4-FFF2-40B4-BE49-F238E27FC236}">
                  <a16:creationId xmlns:a16="http://schemas.microsoft.com/office/drawing/2014/main" id="{CE38DF8E-26BE-09E4-BB23-9150BE71FF8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085089" y="4571279"/>
              <a:ext cx="914401" cy="914398"/>
            </a:xfrm>
            <a:prstGeom prst="rect">
              <a:avLst/>
            </a:prstGeom>
          </p:spPr>
        </p:pic>
      </p:grpSp>
      <p:grpSp>
        <p:nvGrpSpPr>
          <p:cNvPr id="51" name="Group 50">
            <a:extLst>
              <a:ext uri="{FF2B5EF4-FFF2-40B4-BE49-F238E27FC236}">
                <a16:creationId xmlns:a16="http://schemas.microsoft.com/office/drawing/2014/main" id="{D9F5DFF6-306F-970B-1EBD-C067634BDDDE}"/>
              </a:ext>
            </a:extLst>
          </p:cNvPr>
          <p:cNvGrpSpPr/>
          <p:nvPr/>
        </p:nvGrpSpPr>
        <p:grpSpPr>
          <a:xfrm>
            <a:off x="3914702" y="4844062"/>
            <a:ext cx="694640" cy="685800"/>
            <a:chOff x="6018575" y="2624111"/>
            <a:chExt cx="926187" cy="914400"/>
          </a:xfrm>
        </p:grpSpPr>
        <p:sp>
          <p:nvSpPr>
            <p:cNvPr id="52" name="Oval 51">
              <a:extLst>
                <a:ext uri="{FF2B5EF4-FFF2-40B4-BE49-F238E27FC236}">
                  <a16:creationId xmlns:a16="http://schemas.microsoft.com/office/drawing/2014/main" id="{7082803A-4373-B25C-3314-8519EC9CE508}"/>
                </a:ext>
              </a:extLst>
            </p:cNvPr>
            <p:cNvSpPr/>
            <p:nvPr/>
          </p:nvSpPr>
          <p:spPr>
            <a:xfrm>
              <a:off x="6018575" y="2624111"/>
              <a:ext cx="926187" cy="914400"/>
            </a:xfrm>
            <a:prstGeom prst="ellipse">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sz="1350" dirty="0"/>
            </a:p>
          </p:txBody>
        </p:sp>
        <p:pic>
          <p:nvPicPr>
            <p:cNvPr id="53" name="Graphic 52" descr="Books outline">
              <a:extLst>
                <a:ext uri="{FF2B5EF4-FFF2-40B4-BE49-F238E27FC236}">
                  <a16:creationId xmlns:a16="http://schemas.microsoft.com/office/drawing/2014/main" id="{5C3F271B-9B16-7E1E-E2F0-A57BE0F767E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105969" y="2732194"/>
              <a:ext cx="751399" cy="751399"/>
            </a:xfrm>
            <a:prstGeom prst="rect">
              <a:avLst/>
            </a:prstGeom>
          </p:spPr>
        </p:pic>
      </p:grpSp>
      <p:cxnSp>
        <p:nvCxnSpPr>
          <p:cNvPr id="54" name="Straight Arrow Connector 53">
            <a:extLst>
              <a:ext uri="{FF2B5EF4-FFF2-40B4-BE49-F238E27FC236}">
                <a16:creationId xmlns:a16="http://schemas.microsoft.com/office/drawing/2014/main" id="{B7178F1E-7E89-6D55-7488-A25186A7838E}"/>
              </a:ext>
            </a:extLst>
          </p:cNvPr>
          <p:cNvCxnSpPr>
            <a:cxnSpLocks/>
          </p:cNvCxnSpPr>
          <p:nvPr/>
        </p:nvCxnSpPr>
        <p:spPr>
          <a:xfrm flipH="1">
            <a:off x="4708223" y="4844063"/>
            <a:ext cx="789858" cy="2399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F440C724-2052-24B7-C440-02800FECB895}"/>
              </a:ext>
            </a:extLst>
          </p:cNvPr>
          <p:cNvSpPr txBox="1"/>
          <p:nvPr/>
        </p:nvSpPr>
        <p:spPr>
          <a:xfrm>
            <a:off x="4903191" y="5024590"/>
            <a:ext cx="737261" cy="276999"/>
          </a:xfrm>
          <a:prstGeom prst="rect">
            <a:avLst/>
          </a:prstGeom>
          <a:noFill/>
        </p:spPr>
        <p:txBody>
          <a:bodyPr wrap="square" rtlCol="0">
            <a:spAutoFit/>
          </a:bodyPr>
          <a:lstStyle/>
          <a:p>
            <a:r>
              <a:rPr lang="en-GB" sz="1200" i="1" dirty="0">
                <a:solidFill>
                  <a:schemeClr val="accent1"/>
                </a:solidFill>
              </a:rPr>
              <a:t>Scrape</a:t>
            </a:r>
          </a:p>
        </p:txBody>
      </p:sp>
      <p:sp>
        <p:nvSpPr>
          <p:cNvPr id="62" name="TextBox 61">
            <a:extLst>
              <a:ext uri="{FF2B5EF4-FFF2-40B4-BE49-F238E27FC236}">
                <a16:creationId xmlns:a16="http://schemas.microsoft.com/office/drawing/2014/main" id="{94876DB0-4399-EE1F-7D62-40CD5F2560C4}"/>
              </a:ext>
            </a:extLst>
          </p:cNvPr>
          <p:cNvSpPr txBox="1"/>
          <p:nvPr/>
        </p:nvSpPr>
        <p:spPr>
          <a:xfrm>
            <a:off x="3287009" y="5542267"/>
            <a:ext cx="2030364" cy="276999"/>
          </a:xfrm>
          <a:prstGeom prst="rect">
            <a:avLst/>
          </a:prstGeom>
          <a:noFill/>
        </p:spPr>
        <p:txBody>
          <a:bodyPr wrap="none" rtlCol="0">
            <a:spAutoFit/>
          </a:bodyPr>
          <a:lstStyle/>
          <a:p>
            <a:r>
              <a:rPr lang="en-GB" sz="1200" dirty="0"/>
              <a:t>Global Discovery Catalogue</a:t>
            </a:r>
          </a:p>
        </p:txBody>
      </p:sp>
      <p:pic>
        <p:nvPicPr>
          <p:cNvPr id="1032" name="Picture 8" descr="Download Mail Svg Icon - Round Gmail Logo Png Clipart (#4477875 ...">
            <a:extLst>
              <a:ext uri="{FF2B5EF4-FFF2-40B4-BE49-F238E27FC236}">
                <a16:creationId xmlns:a16="http://schemas.microsoft.com/office/drawing/2014/main" id="{1CEFBBD7-AF25-BCAE-ADB3-748320D0C3A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flipH="1">
            <a:off x="7321920" y="5024589"/>
            <a:ext cx="310660" cy="25364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Download Transparent Telegram Logo Png - Circle Logo | Pnggrid">
            <a:extLst>
              <a:ext uri="{FF2B5EF4-FFF2-40B4-BE49-F238E27FC236}">
                <a16:creationId xmlns:a16="http://schemas.microsoft.com/office/drawing/2014/main" id="{ED92E4EF-30DC-AD79-8C3F-3FA86587AFD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60161" y="5142973"/>
            <a:ext cx="357190" cy="35719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Slack sparks further outrage with tweak to new logo | Creative Bloq">
            <a:extLst>
              <a:ext uri="{FF2B5EF4-FFF2-40B4-BE49-F238E27FC236}">
                <a16:creationId xmlns:a16="http://schemas.microsoft.com/office/drawing/2014/main" id="{1986B5BA-2932-F5C8-474A-89676347D28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304318" y="5106821"/>
            <a:ext cx="538162" cy="302126"/>
          </a:xfrm>
          <a:prstGeom prst="rect">
            <a:avLst/>
          </a:prstGeom>
          <a:noFill/>
          <a:extLst>
            <a:ext uri="{909E8E84-426E-40DD-AFC4-6F175D3DCCD1}">
              <a14:hiddenFill xmlns:a14="http://schemas.microsoft.com/office/drawing/2010/main">
                <a:solidFill>
                  <a:srgbClr val="FFFFFF"/>
                </a:solidFill>
              </a14:hiddenFill>
            </a:ext>
          </a:extLst>
        </p:spPr>
      </p:pic>
      <p:sp>
        <p:nvSpPr>
          <p:cNvPr id="1024" name="TextBox 1023">
            <a:extLst>
              <a:ext uri="{FF2B5EF4-FFF2-40B4-BE49-F238E27FC236}">
                <a16:creationId xmlns:a16="http://schemas.microsoft.com/office/drawing/2014/main" id="{1C7C0A4C-2022-A911-E5FC-116811264C6C}"/>
              </a:ext>
            </a:extLst>
          </p:cNvPr>
          <p:cNvSpPr txBox="1"/>
          <p:nvPr/>
        </p:nvSpPr>
        <p:spPr>
          <a:xfrm>
            <a:off x="8188609" y="4489321"/>
            <a:ext cx="620363" cy="276999"/>
          </a:xfrm>
          <a:prstGeom prst="rect">
            <a:avLst/>
          </a:prstGeom>
          <a:noFill/>
        </p:spPr>
        <p:txBody>
          <a:bodyPr wrap="none" rtlCol="0">
            <a:spAutoFit/>
          </a:bodyPr>
          <a:lstStyle/>
          <a:p>
            <a:r>
              <a:rPr lang="en-GB" sz="1200" i="1" dirty="0">
                <a:solidFill>
                  <a:schemeClr val="accent1"/>
                </a:solidFill>
              </a:rPr>
              <a:t>Inform</a:t>
            </a:r>
          </a:p>
        </p:txBody>
      </p:sp>
      <p:sp>
        <p:nvSpPr>
          <p:cNvPr id="1025" name="TextBox 1024">
            <a:extLst>
              <a:ext uri="{FF2B5EF4-FFF2-40B4-BE49-F238E27FC236}">
                <a16:creationId xmlns:a16="http://schemas.microsoft.com/office/drawing/2014/main" id="{7BE4ED10-6FCF-527A-4A88-C2FB5D42FFCD}"/>
              </a:ext>
            </a:extLst>
          </p:cNvPr>
          <p:cNvSpPr txBox="1"/>
          <p:nvPr/>
        </p:nvSpPr>
        <p:spPr>
          <a:xfrm>
            <a:off x="5868718" y="1337070"/>
            <a:ext cx="1209818" cy="276999"/>
          </a:xfrm>
          <a:prstGeom prst="rect">
            <a:avLst/>
          </a:prstGeom>
          <a:noFill/>
        </p:spPr>
        <p:txBody>
          <a:bodyPr wrap="none" rtlCol="0">
            <a:spAutoFit/>
          </a:bodyPr>
          <a:lstStyle/>
          <a:p>
            <a:r>
              <a:rPr lang="en-GB" sz="1200" dirty="0"/>
              <a:t>Global Monitor</a:t>
            </a:r>
          </a:p>
        </p:txBody>
      </p:sp>
      <p:cxnSp>
        <p:nvCxnSpPr>
          <p:cNvPr id="1027" name="Straight Arrow Connector 1026">
            <a:extLst>
              <a:ext uri="{FF2B5EF4-FFF2-40B4-BE49-F238E27FC236}">
                <a16:creationId xmlns:a16="http://schemas.microsoft.com/office/drawing/2014/main" id="{FD824884-2F3A-59D6-10CE-3153035588E3}"/>
              </a:ext>
            </a:extLst>
          </p:cNvPr>
          <p:cNvCxnSpPr>
            <a:cxnSpLocks/>
          </p:cNvCxnSpPr>
          <p:nvPr/>
        </p:nvCxnSpPr>
        <p:spPr>
          <a:xfrm flipH="1">
            <a:off x="8681918" y="2767354"/>
            <a:ext cx="914054" cy="10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31" name="TextBox 1030">
            <a:extLst>
              <a:ext uri="{FF2B5EF4-FFF2-40B4-BE49-F238E27FC236}">
                <a16:creationId xmlns:a16="http://schemas.microsoft.com/office/drawing/2014/main" id="{F5223CB6-A8E1-FA93-72BE-1F6547F887A3}"/>
              </a:ext>
            </a:extLst>
          </p:cNvPr>
          <p:cNvSpPr txBox="1"/>
          <p:nvPr/>
        </p:nvSpPr>
        <p:spPr>
          <a:xfrm>
            <a:off x="8954686" y="2441911"/>
            <a:ext cx="668773" cy="276999"/>
          </a:xfrm>
          <a:prstGeom prst="rect">
            <a:avLst/>
          </a:prstGeom>
          <a:solidFill>
            <a:schemeClr val="bg1"/>
          </a:solidFill>
        </p:spPr>
        <p:txBody>
          <a:bodyPr wrap="none" rtlCol="0">
            <a:spAutoFit/>
          </a:bodyPr>
          <a:lstStyle/>
          <a:p>
            <a:r>
              <a:rPr lang="en-GB" sz="1200" dirty="0"/>
              <a:t>Access</a:t>
            </a:r>
          </a:p>
        </p:txBody>
      </p:sp>
      <p:pic>
        <p:nvPicPr>
          <p:cNvPr id="1040" name="Picture 16" descr="User Login Man Human Body Mobile Person Svg Png Icon Free Download ...">
            <a:extLst>
              <a:ext uri="{FF2B5EF4-FFF2-40B4-BE49-F238E27FC236}">
                <a16:creationId xmlns:a16="http://schemas.microsoft.com/office/drawing/2014/main" id="{CD8851BD-BB64-9F77-F7BA-32E8C337B7A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766459" y="2529368"/>
            <a:ext cx="456737" cy="456737"/>
          </a:xfrm>
          <a:prstGeom prst="rect">
            <a:avLst/>
          </a:prstGeom>
          <a:noFill/>
          <a:extLst>
            <a:ext uri="{909E8E84-426E-40DD-AFC4-6F175D3DCCD1}">
              <a14:hiddenFill xmlns:a14="http://schemas.microsoft.com/office/drawing/2010/main">
                <a:solidFill>
                  <a:srgbClr val="FFFFFF"/>
                </a:solidFill>
              </a14:hiddenFill>
            </a:ext>
          </a:extLst>
        </p:spPr>
      </p:pic>
      <p:grpSp>
        <p:nvGrpSpPr>
          <p:cNvPr id="1044" name="Group 1043">
            <a:extLst>
              <a:ext uri="{FF2B5EF4-FFF2-40B4-BE49-F238E27FC236}">
                <a16:creationId xmlns:a16="http://schemas.microsoft.com/office/drawing/2014/main" id="{BF9BA35B-A479-E258-820C-AD0653F3AAD1}"/>
              </a:ext>
            </a:extLst>
          </p:cNvPr>
          <p:cNvGrpSpPr/>
          <p:nvPr/>
        </p:nvGrpSpPr>
        <p:grpSpPr>
          <a:xfrm>
            <a:off x="5778795" y="3306814"/>
            <a:ext cx="1105282" cy="337126"/>
            <a:chOff x="4254795" y="3306814"/>
            <a:chExt cx="1105282" cy="337126"/>
          </a:xfrm>
        </p:grpSpPr>
        <p:sp>
          <p:nvSpPr>
            <p:cNvPr id="1043" name="Rectangle 1042">
              <a:extLst>
                <a:ext uri="{FF2B5EF4-FFF2-40B4-BE49-F238E27FC236}">
                  <a16:creationId xmlns:a16="http://schemas.microsoft.com/office/drawing/2014/main" id="{975BA9D7-7A1E-1EA9-41F2-6CE63D4B4923}"/>
                </a:ext>
              </a:extLst>
            </p:cNvPr>
            <p:cNvSpPr/>
            <p:nvPr/>
          </p:nvSpPr>
          <p:spPr>
            <a:xfrm>
              <a:off x="4254795" y="3306814"/>
              <a:ext cx="1105282" cy="3247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037" name="Straight Arrow Connector 1036">
              <a:extLst>
                <a:ext uri="{FF2B5EF4-FFF2-40B4-BE49-F238E27FC236}">
                  <a16:creationId xmlns:a16="http://schemas.microsoft.com/office/drawing/2014/main" id="{896EC661-E18E-BA8A-10DC-5635F91D820D}"/>
                </a:ext>
              </a:extLst>
            </p:cNvPr>
            <p:cNvCxnSpPr>
              <a:cxnSpLocks/>
            </p:cNvCxnSpPr>
            <p:nvPr/>
          </p:nvCxnSpPr>
          <p:spPr>
            <a:xfrm>
              <a:off x="4832901" y="3319165"/>
              <a:ext cx="0" cy="3247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39" name="TextBox 1038">
              <a:extLst>
                <a:ext uri="{FF2B5EF4-FFF2-40B4-BE49-F238E27FC236}">
                  <a16:creationId xmlns:a16="http://schemas.microsoft.com/office/drawing/2014/main" id="{FDCE7565-5982-D528-52C4-F6C5EB2D40E8}"/>
                </a:ext>
              </a:extLst>
            </p:cNvPr>
            <p:cNvSpPr txBox="1"/>
            <p:nvPr/>
          </p:nvSpPr>
          <p:spPr>
            <a:xfrm>
              <a:off x="4339084" y="3328547"/>
              <a:ext cx="534634" cy="276999"/>
            </a:xfrm>
            <a:prstGeom prst="rect">
              <a:avLst/>
            </a:prstGeom>
            <a:noFill/>
          </p:spPr>
          <p:txBody>
            <a:bodyPr wrap="none" rtlCol="0">
              <a:spAutoFit/>
            </a:bodyPr>
            <a:lstStyle/>
            <a:p>
              <a:r>
                <a:rPr lang="en-GB" sz="1200" i="1" dirty="0">
                  <a:solidFill>
                    <a:schemeClr val="accent1"/>
                  </a:solidFill>
                </a:rPr>
                <a:t>Store</a:t>
              </a:r>
            </a:p>
          </p:txBody>
        </p:sp>
      </p:grpSp>
      <p:sp>
        <p:nvSpPr>
          <p:cNvPr id="5" name="TextBox 4">
            <a:extLst>
              <a:ext uri="{FF2B5EF4-FFF2-40B4-BE49-F238E27FC236}">
                <a16:creationId xmlns:a16="http://schemas.microsoft.com/office/drawing/2014/main" id="{160101CC-4741-3F76-F44C-0C4B64CF0539}"/>
              </a:ext>
            </a:extLst>
          </p:cNvPr>
          <p:cNvSpPr txBox="1"/>
          <p:nvPr/>
        </p:nvSpPr>
        <p:spPr>
          <a:xfrm>
            <a:off x="6541765" y="3317710"/>
            <a:ext cx="997004" cy="276999"/>
          </a:xfrm>
          <a:prstGeom prst="rect">
            <a:avLst/>
          </a:prstGeom>
          <a:solidFill>
            <a:schemeClr val="bg1"/>
          </a:solidFill>
        </p:spPr>
        <p:txBody>
          <a:bodyPr wrap="none" rtlCol="0">
            <a:spAutoFit/>
          </a:bodyPr>
          <a:lstStyle/>
          <a:p>
            <a:r>
              <a:rPr lang="en-GB" sz="1200" dirty="0"/>
              <a:t>Prometheus</a:t>
            </a:r>
          </a:p>
        </p:txBody>
      </p:sp>
      <p:sp>
        <p:nvSpPr>
          <p:cNvPr id="6" name="TextBox 5">
            <a:extLst>
              <a:ext uri="{FF2B5EF4-FFF2-40B4-BE49-F238E27FC236}">
                <a16:creationId xmlns:a16="http://schemas.microsoft.com/office/drawing/2014/main" id="{D4FAB5AB-CF4C-0EF2-5CA0-78A3E5FFFE04}"/>
              </a:ext>
            </a:extLst>
          </p:cNvPr>
          <p:cNvSpPr txBox="1"/>
          <p:nvPr/>
        </p:nvSpPr>
        <p:spPr>
          <a:xfrm>
            <a:off x="7774597" y="3523342"/>
            <a:ext cx="1108445" cy="276999"/>
          </a:xfrm>
          <a:prstGeom prst="rect">
            <a:avLst/>
          </a:prstGeom>
          <a:solidFill>
            <a:schemeClr val="bg1"/>
          </a:solidFill>
        </p:spPr>
        <p:txBody>
          <a:bodyPr wrap="none" rtlCol="0">
            <a:spAutoFit/>
          </a:bodyPr>
          <a:lstStyle/>
          <a:p>
            <a:r>
              <a:rPr lang="en-GB" sz="1200" dirty="0"/>
              <a:t>Alert Manager</a:t>
            </a:r>
          </a:p>
        </p:txBody>
      </p:sp>
      <p:grpSp>
        <p:nvGrpSpPr>
          <p:cNvPr id="1035" name="Group 1034">
            <a:extLst>
              <a:ext uri="{FF2B5EF4-FFF2-40B4-BE49-F238E27FC236}">
                <a16:creationId xmlns:a16="http://schemas.microsoft.com/office/drawing/2014/main" id="{BCE3E279-79B1-387A-E341-CB9967138F8F}"/>
              </a:ext>
            </a:extLst>
          </p:cNvPr>
          <p:cNvGrpSpPr/>
          <p:nvPr/>
        </p:nvGrpSpPr>
        <p:grpSpPr>
          <a:xfrm>
            <a:off x="820086" y="1264625"/>
            <a:ext cx="4958709" cy="2535716"/>
            <a:chOff x="820086" y="1264625"/>
            <a:chExt cx="4958709" cy="2535716"/>
          </a:xfrm>
        </p:grpSpPr>
        <p:sp>
          <p:nvSpPr>
            <p:cNvPr id="17" name="Oval 16">
              <a:extLst>
                <a:ext uri="{FF2B5EF4-FFF2-40B4-BE49-F238E27FC236}">
                  <a16:creationId xmlns:a16="http://schemas.microsoft.com/office/drawing/2014/main" id="{58348D86-79FD-F55A-9807-70BE2C0C6D1E}"/>
                </a:ext>
              </a:extLst>
            </p:cNvPr>
            <p:cNvSpPr/>
            <p:nvPr/>
          </p:nvSpPr>
          <p:spPr>
            <a:xfrm>
              <a:off x="1870826" y="1548581"/>
              <a:ext cx="694640" cy="685800"/>
            </a:xfrm>
            <a:prstGeom prst="ellipse">
              <a:avLst/>
            </a:prstGeom>
            <a:solidFill>
              <a:schemeClr val="accent5">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sz="1350" dirty="0"/>
            </a:p>
          </p:txBody>
        </p:sp>
        <p:sp>
          <p:nvSpPr>
            <p:cNvPr id="20" name="TextBox 19">
              <a:extLst>
                <a:ext uri="{FF2B5EF4-FFF2-40B4-BE49-F238E27FC236}">
                  <a16:creationId xmlns:a16="http://schemas.microsoft.com/office/drawing/2014/main" id="{259267D5-0C2B-361D-5E96-3781F9594451}"/>
                </a:ext>
              </a:extLst>
            </p:cNvPr>
            <p:cNvSpPr txBox="1"/>
            <p:nvPr/>
          </p:nvSpPr>
          <p:spPr>
            <a:xfrm>
              <a:off x="1650106" y="1264625"/>
              <a:ext cx="1136080" cy="276999"/>
            </a:xfrm>
            <a:prstGeom prst="rect">
              <a:avLst/>
            </a:prstGeom>
            <a:noFill/>
          </p:spPr>
          <p:txBody>
            <a:bodyPr wrap="none" rtlCol="0">
              <a:spAutoFit/>
            </a:bodyPr>
            <a:lstStyle/>
            <a:p>
              <a:r>
                <a:rPr lang="en-GB" sz="1200" dirty="0"/>
                <a:t>Sensor Centre</a:t>
              </a:r>
            </a:p>
          </p:txBody>
        </p:sp>
        <p:pic>
          <p:nvPicPr>
            <p:cNvPr id="27" name="Graphic 26">
              <a:extLst>
                <a:ext uri="{FF2B5EF4-FFF2-40B4-BE49-F238E27FC236}">
                  <a16:creationId xmlns:a16="http://schemas.microsoft.com/office/drawing/2014/main" id="{FBAC0D58-D115-7204-4A46-FBF4AF16C2D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011007" y="1684342"/>
              <a:ext cx="414277" cy="414277"/>
            </a:xfrm>
            <a:prstGeom prst="rect">
              <a:avLst/>
            </a:prstGeom>
          </p:spPr>
        </p:pic>
        <p:cxnSp>
          <p:nvCxnSpPr>
            <p:cNvPr id="35" name="Straight Arrow Connector 34">
              <a:extLst>
                <a:ext uri="{FF2B5EF4-FFF2-40B4-BE49-F238E27FC236}">
                  <a16:creationId xmlns:a16="http://schemas.microsoft.com/office/drawing/2014/main" id="{DC0D504A-2778-1077-F3DC-6AE62FAC20D1}"/>
                </a:ext>
              </a:extLst>
            </p:cNvPr>
            <p:cNvCxnSpPr>
              <a:cxnSpLocks/>
            </p:cNvCxnSpPr>
            <p:nvPr/>
          </p:nvCxnSpPr>
          <p:spPr>
            <a:xfrm>
              <a:off x="2405280" y="2195731"/>
              <a:ext cx="923090" cy="6413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4EBFCC10-5A18-EB92-EE37-8CBC2524613B}"/>
                </a:ext>
              </a:extLst>
            </p:cNvPr>
            <p:cNvSpPr txBox="1"/>
            <p:nvPr/>
          </p:nvSpPr>
          <p:spPr>
            <a:xfrm>
              <a:off x="2680836" y="2201690"/>
              <a:ext cx="856325" cy="276999"/>
            </a:xfrm>
            <a:prstGeom prst="rect">
              <a:avLst/>
            </a:prstGeom>
            <a:noFill/>
          </p:spPr>
          <p:txBody>
            <a:bodyPr wrap="none" rtlCol="0">
              <a:spAutoFit/>
            </a:bodyPr>
            <a:lstStyle/>
            <a:p>
              <a:r>
                <a:rPr lang="en-GB" sz="1200" dirty="0"/>
                <a:t>Subscribe</a:t>
              </a:r>
            </a:p>
          </p:txBody>
        </p:sp>
        <p:cxnSp>
          <p:nvCxnSpPr>
            <p:cNvPr id="42" name="Straight Arrow Connector 41">
              <a:extLst>
                <a:ext uri="{FF2B5EF4-FFF2-40B4-BE49-F238E27FC236}">
                  <a16:creationId xmlns:a16="http://schemas.microsoft.com/office/drawing/2014/main" id="{234A0DD6-5A42-6FAA-E032-71BA77825C89}"/>
                </a:ext>
              </a:extLst>
            </p:cNvPr>
            <p:cNvCxnSpPr>
              <a:cxnSpLocks/>
            </p:cNvCxnSpPr>
            <p:nvPr/>
          </p:nvCxnSpPr>
          <p:spPr>
            <a:xfrm>
              <a:off x="2262884" y="2279189"/>
              <a:ext cx="375830" cy="15211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6D756AAA-7ACC-7890-9E32-7A2C71A0C484}"/>
                </a:ext>
              </a:extLst>
            </p:cNvPr>
            <p:cNvCxnSpPr>
              <a:cxnSpLocks/>
            </p:cNvCxnSpPr>
            <p:nvPr/>
          </p:nvCxnSpPr>
          <p:spPr>
            <a:xfrm flipH="1" flipV="1">
              <a:off x="2638714" y="1964392"/>
              <a:ext cx="3140081" cy="8137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FF273DC1-0E18-8160-E47C-B97ED70C956B}"/>
                </a:ext>
              </a:extLst>
            </p:cNvPr>
            <p:cNvSpPr txBox="1"/>
            <p:nvPr/>
          </p:nvSpPr>
          <p:spPr>
            <a:xfrm>
              <a:off x="3388819" y="1919018"/>
              <a:ext cx="650691" cy="276999"/>
            </a:xfrm>
            <a:prstGeom prst="rect">
              <a:avLst/>
            </a:prstGeom>
            <a:noFill/>
          </p:spPr>
          <p:txBody>
            <a:bodyPr wrap="none" rtlCol="0">
              <a:spAutoFit/>
            </a:bodyPr>
            <a:lstStyle/>
            <a:p>
              <a:r>
                <a:rPr lang="en-GB" sz="1200" i="1" dirty="0">
                  <a:solidFill>
                    <a:schemeClr val="accent1"/>
                  </a:solidFill>
                </a:rPr>
                <a:t>Scrape</a:t>
              </a:r>
            </a:p>
          </p:txBody>
        </p:sp>
        <p:sp>
          <p:nvSpPr>
            <p:cNvPr id="60" name="Arc 59">
              <a:extLst>
                <a:ext uri="{FF2B5EF4-FFF2-40B4-BE49-F238E27FC236}">
                  <a16:creationId xmlns:a16="http://schemas.microsoft.com/office/drawing/2014/main" id="{97AFE4A7-23AC-E932-B6E8-566FB53EBEB7}"/>
                </a:ext>
              </a:extLst>
            </p:cNvPr>
            <p:cNvSpPr/>
            <p:nvPr/>
          </p:nvSpPr>
          <p:spPr>
            <a:xfrm rot="8100127">
              <a:off x="1539507" y="1671084"/>
              <a:ext cx="276999" cy="276999"/>
            </a:xfrm>
            <a:prstGeom prst="arc">
              <a:avLst>
                <a:gd name="adj1" fmla="val 16200000"/>
                <a:gd name="adj2" fmla="val 10595008"/>
              </a:avLst>
            </a:prstGeom>
            <a:ln>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63" name="TextBox 62">
              <a:extLst>
                <a:ext uri="{FF2B5EF4-FFF2-40B4-BE49-F238E27FC236}">
                  <a16:creationId xmlns:a16="http://schemas.microsoft.com/office/drawing/2014/main" id="{6BB12CA1-C87B-D26F-B57A-100A22D89814}"/>
                </a:ext>
              </a:extLst>
            </p:cNvPr>
            <p:cNvSpPr txBox="1"/>
            <p:nvPr/>
          </p:nvSpPr>
          <p:spPr>
            <a:xfrm>
              <a:off x="820086" y="1704418"/>
              <a:ext cx="718082" cy="276999"/>
            </a:xfrm>
            <a:prstGeom prst="rect">
              <a:avLst/>
            </a:prstGeom>
            <a:noFill/>
          </p:spPr>
          <p:txBody>
            <a:bodyPr wrap="none" rtlCol="0">
              <a:spAutoFit/>
            </a:bodyPr>
            <a:lstStyle/>
            <a:p>
              <a:r>
                <a:rPr lang="en-GB" sz="1200" dirty="0"/>
                <a:t>Process</a:t>
              </a:r>
            </a:p>
          </p:txBody>
        </p:sp>
        <p:sp>
          <p:nvSpPr>
            <p:cNvPr id="43" name="TextBox 42">
              <a:extLst>
                <a:ext uri="{FF2B5EF4-FFF2-40B4-BE49-F238E27FC236}">
                  <a16:creationId xmlns:a16="http://schemas.microsoft.com/office/drawing/2014/main" id="{1A3CC7E4-A8DF-5416-33BC-8CA848D744AD}"/>
                </a:ext>
              </a:extLst>
            </p:cNvPr>
            <p:cNvSpPr txBox="1"/>
            <p:nvPr/>
          </p:nvSpPr>
          <p:spPr>
            <a:xfrm>
              <a:off x="2132075" y="2657149"/>
              <a:ext cx="892884" cy="276999"/>
            </a:xfrm>
            <a:prstGeom prst="rect">
              <a:avLst/>
            </a:prstGeom>
            <a:solidFill>
              <a:schemeClr val="bg1"/>
            </a:solidFill>
          </p:spPr>
          <p:txBody>
            <a:bodyPr wrap="square" rtlCol="0">
              <a:spAutoFit/>
            </a:bodyPr>
            <a:lstStyle/>
            <a:p>
              <a:r>
                <a:rPr lang="en-GB" sz="1200" dirty="0"/>
                <a:t>Download</a:t>
              </a:r>
            </a:p>
          </p:txBody>
        </p:sp>
      </p:grpSp>
    </p:spTree>
    <p:extLst>
      <p:ext uri="{BB962C8B-B14F-4D97-AF65-F5344CB8AC3E}">
        <p14:creationId xmlns:p14="http://schemas.microsoft.com/office/powerpoint/2010/main" val="1346968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2CDAE-D82C-6516-6A64-9440EC839AC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2C2969-55EE-86C7-1321-92697E275FD0}"/>
              </a:ext>
            </a:extLst>
          </p:cNvPr>
          <p:cNvSpPr txBox="1"/>
          <p:nvPr/>
        </p:nvSpPr>
        <p:spPr>
          <a:xfrm>
            <a:off x="3644085" y="284116"/>
            <a:ext cx="4903907"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Sensor Centre for Global Broker</a:t>
            </a:r>
          </a:p>
        </p:txBody>
      </p:sp>
      <p:pic>
        <p:nvPicPr>
          <p:cNvPr id="19" name="Picture 18" descr="A graph showing a line&#10;&#10;AI-generated content may be incorrect.">
            <a:extLst>
              <a:ext uri="{FF2B5EF4-FFF2-40B4-BE49-F238E27FC236}">
                <a16:creationId xmlns:a16="http://schemas.microsoft.com/office/drawing/2014/main" id="{BFB32C1F-13C5-86E7-EC64-34130800CEE5}"/>
              </a:ext>
            </a:extLst>
          </p:cNvPr>
          <p:cNvPicPr>
            <a:picLocks noChangeAspect="1"/>
          </p:cNvPicPr>
          <p:nvPr/>
        </p:nvPicPr>
        <p:blipFill>
          <a:blip r:embed="rId3"/>
          <a:stretch>
            <a:fillRect/>
          </a:stretch>
        </p:blipFill>
        <p:spPr>
          <a:xfrm>
            <a:off x="482666" y="826294"/>
            <a:ext cx="7772400" cy="4134255"/>
          </a:xfrm>
          <a:prstGeom prst="rect">
            <a:avLst/>
          </a:prstGeom>
        </p:spPr>
      </p:pic>
      <p:pic>
        <p:nvPicPr>
          <p:cNvPr id="23" name="Picture 22">
            <a:extLst>
              <a:ext uri="{FF2B5EF4-FFF2-40B4-BE49-F238E27FC236}">
                <a16:creationId xmlns:a16="http://schemas.microsoft.com/office/drawing/2014/main" id="{5C6A4DE4-F036-DAD0-86BD-FC32BB36AE35}"/>
              </a:ext>
            </a:extLst>
          </p:cNvPr>
          <p:cNvPicPr>
            <a:picLocks noChangeAspect="1"/>
          </p:cNvPicPr>
          <p:nvPr/>
        </p:nvPicPr>
        <p:blipFill>
          <a:blip r:embed="rId4"/>
          <a:stretch>
            <a:fillRect/>
          </a:stretch>
        </p:blipFill>
        <p:spPr>
          <a:xfrm>
            <a:off x="2667699" y="2439629"/>
            <a:ext cx="7772400" cy="4134255"/>
          </a:xfrm>
          <a:prstGeom prst="rect">
            <a:avLst/>
          </a:prstGeom>
        </p:spPr>
      </p:pic>
    </p:spTree>
    <p:extLst>
      <p:ext uri="{BB962C8B-B14F-4D97-AF65-F5344CB8AC3E}">
        <p14:creationId xmlns:p14="http://schemas.microsoft.com/office/powerpoint/2010/main" val="369203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par>
                                <p:cTn id="8" presetID="5" presetClass="entr" presetSubtype="1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checkerboard(across)">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EE0E-AF91-5726-55F0-BD3BFD26FC6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0F3D7E-19BA-EC82-B94B-2450BAB0486C}"/>
              </a:ext>
            </a:extLst>
          </p:cNvPr>
          <p:cNvSpPr txBox="1"/>
          <p:nvPr/>
        </p:nvSpPr>
        <p:spPr>
          <a:xfrm>
            <a:off x="3678546" y="284116"/>
            <a:ext cx="4834978"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Sensor Centre for Global Cache</a:t>
            </a:r>
          </a:p>
        </p:txBody>
      </p:sp>
      <p:pic>
        <p:nvPicPr>
          <p:cNvPr id="19" name="Picture 18" descr="A graph with a line and a line&#10;&#10;AI-generated content may be incorrect.">
            <a:extLst>
              <a:ext uri="{FF2B5EF4-FFF2-40B4-BE49-F238E27FC236}">
                <a16:creationId xmlns:a16="http://schemas.microsoft.com/office/drawing/2014/main" id="{3E0DA778-C246-6C47-60D1-A669DD2AD15A}"/>
              </a:ext>
            </a:extLst>
          </p:cNvPr>
          <p:cNvPicPr>
            <a:picLocks noChangeAspect="1"/>
          </p:cNvPicPr>
          <p:nvPr/>
        </p:nvPicPr>
        <p:blipFill>
          <a:blip r:embed="rId3"/>
          <a:stretch>
            <a:fillRect/>
          </a:stretch>
        </p:blipFill>
        <p:spPr>
          <a:xfrm>
            <a:off x="620786" y="1149515"/>
            <a:ext cx="10601046" cy="4043270"/>
          </a:xfrm>
          <a:prstGeom prst="rect">
            <a:avLst/>
          </a:prstGeom>
        </p:spPr>
      </p:pic>
    </p:spTree>
    <p:extLst>
      <p:ext uri="{BB962C8B-B14F-4D97-AF65-F5344CB8AC3E}">
        <p14:creationId xmlns:p14="http://schemas.microsoft.com/office/powerpoint/2010/main" val="1345511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BBA9-393C-2FCC-B54A-0FA588FC3D6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221369-97F9-9FAE-4F8D-F667C99C7780}"/>
              </a:ext>
            </a:extLst>
          </p:cNvPr>
          <p:cNvSpPr txBox="1"/>
          <p:nvPr/>
        </p:nvSpPr>
        <p:spPr>
          <a:xfrm>
            <a:off x="3483975" y="284116"/>
            <a:ext cx="5224122"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Sensor Centre for Data Type: NWP</a:t>
            </a:r>
          </a:p>
        </p:txBody>
      </p:sp>
      <p:pic>
        <p:nvPicPr>
          <p:cNvPr id="6" name="Picture 5" descr="A screenshot of a computer&#10;&#10;AI-generated content may be incorrect.">
            <a:extLst>
              <a:ext uri="{FF2B5EF4-FFF2-40B4-BE49-F238E27FC236}">
                <a16:creationId xmlns:a16="http://schemas.microsoft.com/office/drawing/2014/main" id="{EBF459FC-1CDE-D0DC-E2F6-BC3ADB73E2FB}"/>
              </a:ext>
            </a:extLst>
          </p:cNvPr>
          <p:cNvPicPr>
            <a:picLocks noChangeAspect="1"/>
          </p:cNvPicPr>
          <p:nvPr/>
        </p:nvPicPr>
        <p:blipFill>
          <a:blip r:embed="rId3"/>
          <a:stretch>
            <a:fillRect/>
          </a:stretch>
        </p:blipFill>
        <p:spPr>
          <a:xfrm>
            <a:off x="2030136" y="1353178"/>
            <a:ext cx="7772400" cy="3684181"/>
          </a:xfrm>
          <a:prstGeom prst="rect">
            <a:avLst/>
          </a:prstGeom>
        </p:spPr>
      </p:pic>
    </p:spTree>
    <p:extLst>
      <p:ext uri="{BB962C8B-B14F-4D97-AF65-F5344CB8AC3E}">
        <p14:creationId xmlns:p14="http://schemas.microsoft.com/office/powerpoint/2010/main" val="2810146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AA057-1326-250C-99E6-B277394EE2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035CAA9-FC82-E911-BF5D-E7EDC6AE113A}"/>
              </a:ext>
            </a:extLst>
          </p:cNvPr>
          <p:cNvSpPr txBox="1"/>
          <p:nvPr/>
        </p:nvSpPr>
        <p:spPr>
          <a:xfrm>
            <a:off x="3253144" y="284116"/>
            <a:ext cx="5685787" cy="424732"/>
          </a:xfrm>
          <a:prstGeom prst="rect">
            <a:avLst/>
          </a:prstGeom>
          <a:noFill/>
        </p:spPr>
        <p:txBody>
          <a:bodyPr wrap="none" rtlCol="0">
            <a:spAutoFit/>
          </a:bodyPr>
          <a:lstStyle/>
          <a:p>
            <a:pPr algn="ctr">
              <a:lnSpc>
                <a:spcPct val="90000"/>
              </a:lnSpc>
              <a:spcBef>
                <a:spcPct val="0"/>
              </a:spcBef>
              <a:tabLst>
                <a:tab pos="407526" algn="l"/>
                <a:tab pos="815052" algn="l"/>
                <a:tab pos="1222578" algn="l"/>
                <a:tab pos="1630104" algn="l"/>
                <a:tab pos="2037631" algn="l"/>
                <a:tab pos="2445156" algn="l"/>
                <a:tab pos="2852683" algn="l"/>
                <a:tab pos="3260208" algn="l"/>
                <a:tab pos="3667735" algn="l"/>
                <a:tab pos="4075260" algn="l"/>
                <a:tab pos="4482787" algn="l"/>
                <a:tab pos="4890312" algn="l"/>
                <a:tab pos="5297839" algn="l"/>
                <a:tab pos="5705364" algn="l"/>
                <a:tab pos="6112891" algn="l"/>
                <a:tab pos="6520416" algn="l"/>
                <a:tab pos="6927943" algn="l"/>
                <a:tab pos="7335468" algn="l"/>
                <a:tab pos="7742995" algn="l"/>
              </a:tabLst>
            </a:pPr>
            <a:r>
              <a:rPr lang="en-GB" sz="2400" b="1" dirty="0">
                <a:solidFill>
                  <a:srgbClr val="005BAA"/>
                </a:solidFill>
                <a:latin typeface="Arial" panose="020B0604020202020204" pitchFamily="34" charset="0"/>
                <a:ea typeface="+mj-ea"/>
                <a:cs typeface="Arial" panose="020B0604020202020204" pitchFamily="34" charset="0"/>
              </a:rPr>
              <a:t>Sensor Centre for Data Type: Satellite</a:t>
            </a:r>
          </a:p>
        </p:txBody>
      </p:sp>
      <p:pic>
        <p:nvPicPr>
          <p:cNvPr id="3" name="Picture 2" descr="A graph of a graph&#10;&#10;AI-generated content may be incorrect.">
            <a:extLst>
              <a:ext uri="{FF2B5EF4-FFF2-40B4-BE49-F238E27FC236}">
                <a16:creationId xmlns:a16="http://schemas.microsoft.com/office/drawing/2014/main" id="{0D0AC7B0-9929-37D2-6BAE-40BFE4AA020B}"/>
              </a:ext>
            </a:extLst>
          </p:cNvPr>
          <p:cNvPicPr>
            <a:picLocks noChangeAspect="1"/>
          </p:cNvPicPr>
          <p:nvPr/>
        </p:nvPicPr>
        <p:blipFill>
          <a:blip r:embed="rId3"/>
          <a:stretch>
            <a:fillRect/>
          </a:stretch>
        </p:blipFill>
        <p:spPr>
          <a:xfrm>
            <a:off x="2583809" y="1059564"/>
            <a:ext cx="7772400" cy="3684181"/>
          </a:xfrm>
          <a:prstGeom prst="rect">
            <a:avLst/>
          </a:prstGeom>
        </p:spPr>
      </p:pic>
    </p:spTree>
    <p:extLst>
      <p:ext uri="{BB962C8B-B14F-4D97-AF65-F5344CB8AC3E}">
        <p14:creationId xmlns:p14="http://schemas.microsoft.com/office/powerpoint/2010/main" val="3834576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706F2-F0FA-4352-EC1E-BB6F27814DF7}"/>
            </a:ext>
          </a:extLst>
        </p:cNvPr>
        <p:cNvGrpSpPr/>
        <p:nvPr/>
      </p:nvGrpSpPr>
      <p:grpSpPr>
        <a:xfrm>
          <a:off x="0" y="0"/>
          <a:ext cx="0" cy="0"/>
          <a:chOff x="0" y="0"/>
          <a:chExt cx="0" cy="0"/>
        </a:xfrm>
      </p:grpSpPr>
      <p:sp>
        <p:nvSpPr>
          <p:cNvPr id="96" name="TextBox 95">
            <a:extLst>
              <a:ext uri="{FF2B5EF4-FFF2-40B4-BE49-F238E27FC236}">
                <a16:creationId xmlns:a16="http://schemas.microsoft.com/office/drawing/2014/main" id="{64CC08EA-8EEB-3D66-E660-71EE755E909F}"/>
              </a:ext>
            </a:extLst>
          </p:cNvPr>
          <p:cNvSpPr txBox="1"/>
          <p:nvPr/>
        </p:nvSpPr>
        <p:spPr>
          <a:xfrm>
            <a:off x="3036048" y="673129"/>
            <a:ext cx="6633162" cy="276999"/>
          </a:xfrm>
          <a:prstGeom prst="rect">
            <a:avLst/>
          </a:prstGeom>
          <a:noFill/>
        </p:spPr>
        <p:txBody>
          <a:bodyPr wrap="square" rtlCol="0">
            <a:spAutoFit/>
          </a:bodyPr>
          <a:lstStyle/>
          <a:p>
            <a:pPr algn="ctr" defTabSz="685800">
              <a:defRPr/>
            </a:pPr>
            <a:endParaRPr lang="en-GB" sz="1200" dirty="0"/>
          </a:p>
        </p:txBody>
      </p:sp>
      <p:sp>
        <p:nvSpPr>
          <p:cNvPr id="2" name="TextBox 1">
            <a:extLst>
              <a:ext uri="{FF2B5EF4-FFF2-40B4-BE49-F238E27FC236}">
                <a16:creationId xmlns:a16="http://schemas.microsoft.com/office/drawing/2014/main" id="{8BFC4AE2-CD02-DC28-D095-88ABFE766EAE}"/>
              </a:ext>
            </a:extLst>
          </p:cNvPr>
          <p:cNvSpPr txBox="1"/>
          <p:nvPr/>
        </p:nvSpPr>
        <p:spPr>
          <a:xfrm>
            <a:off x="2000900" y="138837"/>
            <a:ext cx="7780169" cy="424732"/>
          </a:xfrm>
          <a:prstGeom prst="rect">
            <a:avLst/>
          </a:prstGeom>
          <a:noFill/>
        </p:spPr>
        <p:txBody>
          <a:bodyPr wrap="square" rtlCol="0">
            <a:spAutoFit/>
          </a:bodyPr>
          <a:lstStyle/>
          <a:p>
            <a:pPr algn="ctr">
              <a:lnSpc>
                <a:spcPct val="90000"/>
              </a:lnSpc>
              <a:spcBef>
                <a:spcPct val="0"/>
              </a:spcBef>
              <a:defRPr/>
            </a:pPr>
            <a:r>
              <a:rPr lang="en-GB" sz="2400" b="1" dirty="0">
                <a:solidFill>
                  <a:srgbClr val="005BAA"/>
                </a:solidFill>
                <a:latin typeface="Arial" panose="020B0604020202020204" pitchFamily="34" charset="0"/>
                <a:ea typeface="+mj-ea"/>
                <a:cs typeface="Arial" panose="020B0604020202020204" pitchFamily="34" charset="0"/>
              </a:rPr>
              <a:t>Hands-on 2 : SC GB, </a:t>
            </a:r>
            <a:r>
              <a:rPr lang="en-GB" sz="2400" b="1" dirty="0" err="1">
                <a:solidFill>
                  <a:srgbClr val="005BAA"/>
                </a:solidFill>
                <a:latin typeface="Arial" panose="020B0604020202020204" pitchFamily="34" charset="0"/>
                <a:ea typeface="+mj-ea"/>
                <a:cs typeface="Arial" panose="020B0604020202020204" pitchFamily="34" charset="0"/>
              </a:rPr>
              <a:t>prometheus</a:t>
            </a:r>
            <a:r>
              <a:rPr lang="en-GB" sz="2400" b="1" dirty="0">
                <a:solidFill>
                  <a:srgbClr val="005BAA"/>
                </a:solidFill>
                <a:latin typeface="Arial" panose="020B0604020202020204" pitchFamily="34" charset="0"/>
                <a:ea typeface="+mj-ea"/>
                <a:cs typeface="Arial" panose="020B0604020202020204" pitchFamily="34" charset="0"/>
              </a:rPr>
              <a:t> and </a:t>
            </a:r>
            <a:r>
              <a:rPr lang="en-GB" sz="2400" b="1" dirty="0" err="1">
                <a:solidFill>
                  <a:srgbClr val="005BAA"/>
                </a:solidFill>
                <a:latin typeface="Arial" panose="020B0604020202020204" pitchFamily="34" charset="0"/>
                <a:ea typeface="+mj-ea"/>
                <a:cs typeface="Arial" panose="020B0604020202020204" pitchFamily="34" charset="0"/>
              </a:rPr>
              <a:t>grafana</a:t>
            </a:r>
            <a:endParaRPr lang="en-GB" sz="2400" b="1" dirty="0">
              <a:solidFill>
                <a:srgbClr val="005BAA"/>
              </a:solidFill>
              <a:latin typeface="Arial" panose="020B0604020202020204" pitchFamily="34" charset="0"/>
              <a:ea typeface="+mj-ea"/>
              <a:cs typeface="Arial" panose="020B0604020202020204" pitchFamily="34" charset="0"/>
            </a:endParaRPr>
          </a:p>
        </p:txBody>
      </p:sp>
      <p:sp>
        <p:nvSpPr>
          <p:cNvPr id="7" name="TextBox 6">
            <a:extLst>
              <a:ext uri="{FF2B5EF4-FFF2-40B4-BE49-F238E27FC236}">
                <a16:creationId xmlns:a16="http://schemas.microsoft.com/office/drawing/2014/main" id="{AB268DA8-BFA5-C627-7463-432345FD6EAC}"/>
              </a:ext>
            </a:extLst>
          </p:cNvPr>
          <p:cNvSpPr txBox="1"/>
          <p:nvPr/>
        </p:nvSpPr>
        <p:spPr>
          <a:xfrm>
            <a:off x="221942" y="659134"/>
            <a:ext cx="11338087" cy="4124206"/>
          </a:xfrm>
          <a:prstGeom prst="rect">
            <a:avLst/>
          </a:prstGeom>
          <a:noFill/>
        </p:spPr>
        <p:txBody>
          <a:bodyPr wrap="square">
            <a:spAutoFit/>
          </a:bodyPr>
          <a:lstStyle/>
          <a:p>
            <a:pPr marL="285750" indent="-285750">
              <a:buFontTx/>
              <a:buChar char="-"/>
            </a:pPr>
            <a:r>
              <a:rPr lang="en-GB" dirty="0"/>
              <a:t>Install the SCGB on the EWC VM in the same docker network</a:t>
            </a:r>
          </a:p>
          <a:p>
            <a:pPr marL="285750" indent="-285750">
              <a:buFontTx/>
              <a:buChar char="-"/>
            </a:pPr>
            <a:r>
              <a:rPr lang="en-GB" dirty="0"/>
              <a:t>Add to </a:t>
            </a:r>
            <a:r>
              <a:rPr lang="en-GB" dirty="0" err="1"/>
              <a:t>prometheus</a:t>
            </a:r>
            <a:r>
              <a:rPr lang="en-GB" dirty="0"/>
              <a:t> (in </a:t>
            </a:r>
            <a:r>
              <a:rPr lang="en-GB" dirty="0" err="1"/>
              <a:t>prometheus.yml</a:t>
            </a:r>
            <a:r>
              <a:rPr lang="en-GB" dirty="0"/>
              <a:t>) the information to connect to the SCBG</a:t>
            </a:r>
          </a:p>
          <a:p>
            <a:pPr marL="285750" indent="-285750">
              <a:buFontTx/>
              <a:buChar char="-"/>
            </a:pPr>
            <a:r>
              <a:rPr lang="en-GB" dirty="0"/>
              <a:t>Restart </a:t>
            </a:r>
            <a:r>
              <a:rPr lang="en-GB" dirty="0" err="1"/>
              <a:t>prometheus</a:t>
            </a:r>
            <a:endParaRPr lang="en-GB" dirty="0"/>
          </a:p>
          <a:p>
            <a:pPr marL="285750" indent="-285750">
              <a:buFontTx/>
              <a:buChar char="-"/>
            </a:pPr>
            <a:r>
              <a:rPr lang="en-GB" dirty="0"/>
              <a:t>Go to </a:t>
            </a:r>
            <a:r>
              <a:rPr lang="en-GB" dirty="0" err="1"/>
              <a:t>prometheus</a:t>
            </a:r>
            <a:r>
              <a:rPr lang="en-GB" dirty="0"/>
              <a:t> interface: </a:t>
            </a:r>
            <a:r>
              <a:rPr lang="en-GB" dirty="0">
                <a:hlinkClick r:id="rId3"/>
              </a:rPr>
              <a:t>https://XXX.champion.wis2dev.io/prometheus</a:t>
            </a:r>
            <a:r>
              <a:rPr lang="en-GB" dirty="0"/>
              <a:t>/</a:t>
            </a:r>
          </a:p>
          <a:p>
            <a:pPr marL="285750" indent="-285750">
              <a:buFontTx/>
              <a:buChar char="-"/>
            </a:pPr>
            <a:r>
              <a:rPr lang="en-GB" dirty="0"/>
              <a:t>Then go to "Query..." and start typing "</a:t>
            </a:r>
            <a:r>
              <a:rPr lang="en-GB" dirty="0" err="1"/>
              <a:t>wmo</a:t>
            </a:r>
            <a:r>
              <a:rPr lang="en-GB" dirty="0"/>
              <a:t>_" </a:t>
            </a:r>
            <a:r>
              <a:rPr lang="en-GB" dirty="0" err="1"/>
              <a:t>prometheus</a:t>
            </a:r>
            <a:r>
              <a:rPr lang="en-GB" dirty="0"/>
              <a:t> will prompt you with the list of known metrics.</a:t>
            </a:r>
          </a:p>
          <a:p>
            <a:pPr marL="285750" indent="-285750">
              <a:buFontTx/>
              <a:buChar char="-"/>
            </a:pPr>
            <a:endParaRPr lang="en-GB" dirty="0"/>
          </a:p>
          <a:p>
            <a:pPr marL="285750" indent="-285750">
              <a:buFontTx/>
              <a:buChar char="-"/>
            </a:pPr>
            <a:endParaRPr lang="en-GB" dirty="0"/>
          </a:p>
          <a:p>
            <a:pPr marL="285750" indent="-285750">
              <a:buFontTx/>
              <a:buChar char="-"/>
            </a:pPr>
            <a:r>
              <a:rPr lang="en-GB" dirty="0"/>
              <a:t>Then, go to </a:t>
            </a:r>
            <a:r>
              <a:rPr lang="en-GB" dirty="0" err="1"/>
              <a:t>grafana</a:t>
            </a:r>
            <a:r>
              <a:rPr lang="en-GB" dirty="0"/>
              <a:t> </a:t>
            </a:r>
            <a:r>
              <a:rPr lang="en-GB" dirty="0">
                <a:hlinkClick r:id="rId4"/>
              </a:rPr>
              <a:t>https://XXX.champion.wis2dev.io/</a:t>
            </a:r>
            <a:r>
              <a:rPr lang="en-GB" dirty="0" err="1">
                <a:hlinkClick r:id="rId4"/>
              </a:rPr>
              <a:t>grafana</a:t>
            </a:r>
            <a:r>
              <a:rPr lang="en-GB" dirty="0">
                <a:hlinkClick r:id="rId4"/>
              </a:rPr>
              <a:t>/</a:t>
            </a:r>
            <a:endParaRPr lang="en-GB" dirty="0"/>
          </a:p>
          <a:p>
            <a:pPr marL="285750" indent="-285750">
              <a:buFontTx/>
              <a:buChar char="-"/>
            </a:pPr>
            <a:r>
              <a:rPr lang="en-GB" dirty="0"/>
              <a:t>Add </a:t>
            </a:r>
            <a:r>
              <a:rPr lang="en-GB" dirty="0" err="1"/>
              <a:t>prometheus</a:t>
            </a:r>
            <a:r>
              <a:rPr lang="en-GB" dirty="0"/>
              <a:t> as a source of data</a:t>
            </a:r>
          </a:p>
          <a:p>
            <a:pPr marL="285750" indent="-285750">
              <a:buFontTx/>
              <a:buChar char="-"/>
            </a:pPr>
            <a:r>
              <a:rPr lang="en-GB" dirty="0"/>
              <a:t>Create a new dashboard, add a panel using one of the existing metric</a:t>
            </a:r>
          </a:p>
          <a:p>
            <a:pPr marL="285750" indent="-285750">
              <a:buFontTx/>
              <a:buChar char="-"/>
            </a:pPr>
            <a:endParaRPr lang="en-GB" dirty="0"/>
          </a:p>
          <a:p>
            <a:pPr marL="285750" indent="-285750">
              <a:buFontTx/>
              <a:buChar char="-"/>
            </a:pPr>
            <a:endParaRPr lang="en-GB" dirty="0"/>
          </a:p>
          <a:p>
            <a:pPr marL="285750" indent="-285750">
              <a:buFontTx/>
              <a:buChar char="-"/>
            </a:pPr>
            <a:r>
              <a:rPr lang="en-GB" dirty="0"/>
              <a:t>Import the panel (get the </a:t>
            </a:r>
            <a:r>
              <a:rPr lang="en-GB" dirty="0" err="1"/>
              <a:t>json</a:t>
            </a:r>
            <a:r>
              <a:rPr lang="en-GB" dirty="0"/>
              <a:t> in slack)</a:t>
            </a:r>
          </a:p>
          <a:p>
            <a:endParaRPr lang="en-GB" sz="1400" dirty="0"/>
          </a:p>
          <a:p>
            <a:pPr lvl="1"/>
            <a:endParaRPr lang="en-GB"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30271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C6CDB1-FA64-CCE4-EAEB-28E215F41EDE}"/>
              </a:ext>
            </a:extLst>
          </p:cNvPr>
          <p:cNvSpPr>
            <a:spLocks noGrp="1"/>
          </p:cNvSpPr>
          <p:nvPr>
            <p:ph type="title"/>
          </p:nvPr>
        </p:nvSpPr>
        <p:spPr>
          <a:xfrm>
            <a:off x="3805449" y="1898811"/>
            <a:ext cx="4274474" cy="1600200"/>
          </a:xfrm>
        </p:spPr>
        <p:txBody>
          <a:bodyPr>
            <a:normAutofit/>
          </a:bodyPr>
          <a:lstStyle/>
          <a:p>
            <a:pPr algn="ctr"/>
            <a:r>
              <a:rPr lang="fr-FR" sz="4800" dirty="0" err="1"/>
              <a:t>Thank</a:t>
            </a:r>
            <a:r>
              <a:rPr lang="fr-FR" sz="4800" dirty="0"/>
              <a:t> </a:t>
            </a:r>
            <a:r>
              <a:rPr lang="fr-FR" sz="4800" dirty="0" err="1"/>
              <a:t>you</a:t>
            </a:r>
            <a:r>
              <a:rPr lang="fr-FR" sz="4800" dirty="0"/>
              <a:t>!</a:t>
            </a:r>
          </a:p>
        </p:txBody>
      </p:sp>
    </p:spTree>
    <p:extLst>
      <p:ext uri="{BB962C8B-B14F-4D97-AF65-F5344CB8AC3E}">
        <p14:creationId xmlns:p14="http://schemas.microsoft.com/office/powerpoint/2010/main" val="1264998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37E1DFA11F9A49A85050D7E1585839" ma:contentTypeVersion="22" ma:contentTypeDescription="Create a new document." ma:contentTypeScope="" ma:versionID="84a09469d0e73e1df1cd93c3fe863ce1">
  <xsd:schema xmlns:xsd="http://www.w3.org/2001/XMLSchema" xmlns:xs="http://www.w3.org/2001/XMLSchema" xmlns:p="http://schemas.microsoft.com/office/2006/metadata/properties" xmlns:ns1="http://schemas.microsoft.com/sharepoint/v3" xmlns:ns2="3c76eea2-c21a-46e1-8f98-cfc2ba460d51" xmlns:ns3="96d886eb-95f6-47f3-bdfb-70dab5061c60" targetNamespace="http://schemas.microsoft.com/office/2006/metadata/properties" ma:root="true" ma:fieldsID="cb366f29a62391819915fcf53e5b496c" ns1:_="" ns2:_="" ns3:_="">
    <xsd:import namespace="http://schemas.microsoft.com/sharepoint/v3"/>
    <xsd:import namespace="3c76eea2-c21a-46e1-8f98-cfc2ba460d51"/>
    <xsd:import namespace="96d886eb-95f6-47f3-bdfb-70dab5061c6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1:_ip_UnifiedCompliancePolicyProperties" minOccurs="0"/>
                <xsd:element ref="ns1:_ip_UnifiedCompliancePolicyUIAction" minOccurs="0"/>
                <xsd:element ref="ns2:MediaServiceAutoKeyPoints" minOccurs="0"/>
                <xsd:element ref="ns2:MediaServiceKeyPoints" minOccurs="0"/>
                <xsd:element ref="ns2:MediaServiceGenerationTime" minOccurs="0"/>
                <xsd:element ref="ns2:MediaServiceEventHashCode" minOccurs="0"/>
                <xsd:element ref="ns2:MediaLengthInSeconds" minOccurs="0"/>
                <xsd:element ref="ns2:Link" minOccurs="0"/>
                <xsd:element ref="ns2:MediaServiceLocation" minOccurs="0"/>
                <xsd:element ref="ns2:lcf76f155ced4ddcb4097134ff3c332f" minOccurs="0"/>
                <xsd:element ref="ns3:TaxCatchAll" minOccurs="0"/>
                <xsd:element ref="ns2:link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76eea2-c21a-46e1-8f98-cfc2ba460d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Link" ma:index="22" nillable="true" ma:displayName="Link" ma:format="Hyperlink" ma:internalName="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Location" ma:index="23" nillable="true" ma:displayName="Location" ma:internalName="MediaServiceLocation"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92a3b380-abf6-46f2-87bb-c2c114de1c9e" ma:termSetId="09814cd3-568e-fe90-9814-8d621ff8fb84" ma:anchorId="fba54fb3-c3e1-fe81-a776-ca4b69148c4d" ma:open="true" ma:isKeyword="false">
      <xsd:complexType>
        <xsd:sequence>
          <xsd:element ref="pc:Terms" minOccurs="0" maxOccurs="1"/>
        </xsd:sequence>
      </xsd:complexType>
    </xsd:element>
    <xsd:element name="links" ma:index="27" nillable="true" ma:displayName="links" ma:format="Hyperlink" ma:internalName="links">
      <xsd:complexType>
        <xsd:complexContent>
          <xsd:extension base="dms:URL">
            <xsd:sequence>
              <xsd:element name="Url" type="dms:ValidUrl" minOccurs="0" nillable="true"/>
              <xsd:element name="Description" type="xsd:string" nillable="true"/>
            </xsd:sequence>
          </xsd:extension>
        </xsd:complexContent>
      </xsd:complex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d886eb-95f6-47f3-bdfb-70dab5061c6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c75f39b5-acb7-46a4-91b0-268d5cabe986}" ma:internalName="TaxCatchAll" ma:showField="CatchAllData" ma:web="96d886eb-95f6-47f3-bdfb-70dab5061c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c76eea2-c21a-46e1-8f98-cfc2ba460d51">
      <Terms xmlns="http://schemas.microsoft.com/office/infopath/2007/PartnerControls"/>
    </lcf76f155ced4ddcb4097134ff3c332f>
    <TaxCatchAll xmlns="96d886eb-95f6-47f3-bdfb-70dab5061c60" xsi:nil="true"/>
    <_ip_UnifiedCompliancePolicyUIAction xmlns="http://schemas.microsoft.com/sharepoint/v3" xsi:nil="true"/>
    <_ip_UnifiedCompliancePolicyProperties xmlns="http://schemas.microsoft.com/sharepoint/v3" xsi:nil="true"/>
    <links xmlns="3c76eea2-c21a-46e1-8f98-cfc2ba460d51">
      <Url xsi:nil="true"/>
      <Description xsi:nil="true"/>
    </links>
    <Link xmlns="3c76eea2-c21a-46e1-8f98-cfc2ba460d51">
      <Url xsi:nil="true"/>
      <Description xsi:nil="true"/>
    </Link>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E2A8AC-C2AB-466F-81D6-01D9685890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c76eea2-c21a-46e1-8f98-cfc2ba460d51"/>
    <ds:schemaRef ds:uri="96d886eb-95f6-47f3-bdfb-70dab5061c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995722-7EE4-43F0-BFD1-A4A9177742E2}">
  <ds:schemaRefs>
    <ds:schemaRef ds:uri="http://schemas.microsoft.com/office/2006/metadata/properties"/>
    <ds:schemaRef ds:uri="http://schemas.microsoft.com/office/infopath/2007/PartnerControls"/>
    <ds:schemaRef ds:uri="0238f0ac-9b23-40a1-9bea-3608b3f97744"/>
    <ds:schemaRef ds:uri="9dd362d0-63f2-4e3c-ac06-664d054c738d"/>
    <ds:schemaRef ds:uri="3c76eea2-c21a-46e1-8f98-cfc2ba460d51"/>
    <ds:schemaRef ds:uri="96d886eb-95f6-47f3-bdfb-70dab5061c60"/>
    <ds:schemaRef ds:uri="http://schemas.microsoft.com/sharepoint/v3"/>
  </ds:schemaRefs>
</ds:datastoreItem>
</file>

<file path=customXml/itemProps3.xml><?xml version="1.0" encoding="utf-8"?>
<ds:datastoreItem xmlns:ds="http://schemas.openxmlformats.org/officeDocument/2006/customXml" ds:itemID="{BFEAFFEE-5F5C-4084-82CF-BA64B4593A7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36510</TotalTime>
  <Words>1433</Words>
  <Application>Microsoft Macintosh PowerPoint</Application>
  <PresentationFormat>Grand écran</PresentationFormat>
  <Paragraphs>224</Paragraphs>
  <Slides>27</Slides>
  <Notes>12</Notes>
  <HiddenSlides>0</HiddenSlides>
  <MMClips>0</MMClips>
  <ScaleCrop>false</ScaleCrop>
  <HeadingPairs>
    <vt:vector size="6" baseType="variant">
      <vt:variant>
        <vt:lpstr>Polices utilisées</vt:lpstr>
      </vt:variant>
      <vt:variant>
        <vt:i4>9</vt:i4>
      </vt:variant>
      <vt:variant>
        <vt:lpstr>Thème</vt:lpstr>
      </vt:variant>
      <vt:variant>
        <vt:i4>4</vt:i4>
      </vt:variant>
      <vt:variant>
        <vt:lpstr>Titres des diapositives</vt:lpstr>
      </vt:variant>
      <vt:variant>
        <vt:i4>27</vt:i4>
      </vt:variant>
    </vt:vector>
  </HeadingPairs>
  <TitlesOfParts>
    <vt:vector size="40" baseType="lpstr">
      <vt:lpstr>微软雅黑</vt:lpstr>
      <vt:lpstr>-apple-system</vt:lpstr>
      <vt:lpstr>Aptos</vt:lpstr>
      <vt:lpstr>Aptos Display</vt:lpstr>
      <vt:lpstr>Arial</vt:lpstr>
      <vt:lpstr>Calibri</vt:lpstr>
      <vt:lpstr>Cambria</vt:lpstr>
      <vt:lpstr>Courier New</vt:lpstr>
      <vt:lpstr>Wingdings</vt:lpstr>
      <vt:lpstr>Office Theme</vt:lpstr>
      <vt:lpstr>Custom Design</vt:lpstr>
      <vt:lpstr>1_Custom Design</vt:lpstr>
      <vt:lpstr>2_Custom Design</vt:lpstr>
      <vt:lpstr>Présentation PowerPoint</vt:lpstr>
      <vt:lpstr>Introduction</vt:lpstr>
      <vt:lpstr>Why do we need monitoring ?</vt:lpstr>
      <vt:lpstr>What for do we need monitoring ?</vt:lpstr>
      <vt:lpstr>Présentation PowerPoint</vt:lpstr>
      <vt:lpstr>Présentation PowerPoint</vt:lpstr>
      <vt:lpstr>The “Prometheus” logic</vt:lpstr>
      <vt:lpstr>Présentation PowerPoint</vt:lpstr>
      <vt:lpstr>Présentation PowerPoint</vt:lpstr>
      <vt:lpstr>Présentation PowerPoint</vt:lpstr>
      <vt:lpstr>Présentation PowerPoint</vt:lpstr>
      <vt:lpstr>Présentation PowerPoint</vt:lpstr>
      <vt:lpstr>ALERTING and JIRa</vt:lpstr>
      <vt:lpstr>Présentation PowerPoint</vt:lpstr>
      <vt:lpstr>Présentation PowerPoint</vt:lpstr>
      <vt:lpstr>Présentation PowerPoint</vt:lpstr>
      <vt:lpstr>Présentation PowerPoint</vt:lpstr>
      <vt:lpstr>Présentation PowerPoint</vt:lpstr>
      <vt:lpstr>A step beyond</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Klara Josipovic</dc:creator>
  <cp:lastModifiedBy>Chems eddine ELGARRAI</cp:lastModifiedBy>
  <cp:revision>42</cp:revision>
  <dcterms:created xsi:type="dcterms:W3CDTF">2024-04-23T12:25:23Z</dcterms:created>
  <dcterms:modified xsi:type="dcterms:W3CDTF">2026-03-30T09:30:54Z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0x0101004237E1DFA11F9A49A85050D7E1585839</vt:lpwstr>
  </property>
  <property fmtid="{D5CDD505-2E9C-101B-9397-08002B2CF9AE}" pid="3" name="_dlc_DocIdItemGuid">
    <vt:lpwstr>770e6ac8-842c-40d0-bc92-2c589e2b3feb</vt:lpwstr>
  </property>
  <property fmtid="{D5CDD505-2E9C-101B-9397-08002B2CF9AE}" pid="4" name="MediaServiceImageTags">
    <vt:lpwstr/>
  </property>
</Properties>
</file>