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  <p:sldMasterId id="2147483699" r:id="rId5"/>
  </p:sldMasterIdLst>
  <p:notesMasterIdLst>
    <p:notesMasterId r:id="rId34"/>
  </p:notesMasterIdLst>
  <p:sldIdLst>
    <p:sldId id="4211" r:id="rId6"/>
    <p:sldId id="4220" r:id="rId7"/>
    <p:sldId id="4212" r:id="rId8"/>
    <p:sldId id="661" r:id="rId9"/>
    <p:sldId id="4217" r:id="rId10"/>
    <p:sldId id="473" r:id="rId11"/>
    <p:sldId id="664" r:id="rId12"/>
    <p:sldId id="663" r:id="rId13"/>
    <p:sldId id="665" r:id="rId14"/>
    <p:sldId id="689" r:id="rId15"/>
    <p:sldId id="690" r:id="rId16"/>
    <p:sldId id="691" r:id="rId17"/>
    <p:sldId id="692" r:id="rId18"/>
    <p:sldId id="697" r:id="rId19"/>
    <p:sldId id="673" r:id="rId20"/>
    <p:sldId id="4221" r:id="rId21"/>
    <p:sldId id="674" r:id="rId22"/>
    <p:sldId id="666" r:id="rId23"/>
    <p:sldId id="667" r:id="rId24"/>
    <p:sldId id="668" r:id="rId25"/>
    <p:sldId id="669" r:id="rId26"/>
    <p:sldId id="4213" r:id="rId27"/>
    <p:sldId id="670" r:id="rId28"/>
    <p:sldId id="671" r:id="rId29"/>
    <p:sldId id="698" r:id="rId30"/>
    <p:sldId id="623" r:id="rId31"/>
    <p:sldId id="679" r:id="rId32"/>
    <p:sldId id="258" r:id="rId3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ssan Haddouch" initials="HH" lastIdx="1" clrIdx="0">
    <p:extLst>
      <p:ext uri="{19B8F6BF-5375-455C-9EA6-DF929625EA0E}">
        <p15:presenceInfo xmlns:p15="http://schemas.microsoft.com/office/powerpoint/2012/main" userId="S::hhaddouch@wmo.int::38bca422-f6bf-43f4-8b2e-93319d8cf316" providerId="AD"/>
      </p:ext>
    </p:extLst>
  </p:cmAuthor>
  <p:cmAuthor id="2" name="David Inglis Berry" initials="DB" lastIdx="2" clrIdx="1">
    <p:extLst>
      <p:ext uri="{19B8F6BF-5375-455C-9EA6-DF929625EA0E}">
        <p15:presenceInfo xmlns:p15="http://schemas.microsoft.com/office/powerpoint/2012/main" userId="S::dberry@wmo.int::a01c5bf7-82dd-4db0-bb8e-9577d07715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ABF"/>
    <a:srgbClr val="1849D4"/>
    <a:srgbClr val="003777"/>
    <a:srgbClr val="3731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5574"/>
    <p:restoredTop sz="82000"/>
  </p:normalViewPr>
  <p:slideViewPr>
    <p:cSldViewPr snapToGrid="0">
      <p:cViewPr varScale="1">
        <p:scale>
          <a:sx n="88" d="100"/>
          <a:sy n="88" d="100"/>
        </p:scale>
        <p:origin x="2328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0998F-8728-1549-83BA-986C6A26FE54}" type="datetimeFigureOut">
              <a:rPr lang="en-GB" smtClean="0"/>
              <a:pPr/>
              <a:t>30/03/2026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D7448-BA1D-3742-9819-D3EC6E0D6AB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42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BD07EC-6360-493B-A5C5-7E3237A65453}" type="slidenum">
              <a:rPr kumimoji="0" lang="en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50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BD07EC-6360-493B-A5C5-7E3237A65453}" type="slidenum">
              <a:rPr lang="en-CH" smtClean="0"/>
              <a:t>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6807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  <a:p>
            <a:pPr lvl="0"/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/>
              <a:t> </a:t>
            </a:r>
          </a:p>
          <a:p>
            <a:endParaRPr lang="en-GB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BFD32-2F24-4FA9-B7DE-53D903241E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17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D7448-BA1D-3742-9819-D3EC6E0D6AB2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698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https://</a:t>
            </a:r>
            <a:r>
              <a:rPr lang="en-US" dirty="0" err="1"/>
              <a:t>ithemes.com</a:t>
            </a:r>
            <a:r>
              <a:rPr lang="en-US" dirty="0"/>
              <a:t>/blog/what-is-a-plugin/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D7448-BA1D-3742-9819-D3EC6E0D6AB2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2558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D7448-BA1D-3742-9819-D3EC6E0D6AB2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6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265176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3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0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54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27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2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0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4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52092-82D1-461F-807E-84F5B15DC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6E5D17-F33D-4327-A7B8-A6331A0F7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5489" y="6545722"/>
            <a:ext cx="1141291" cy="283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0F9F7EA0-3F56-4C7E-9B2D-3423B3AF02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DA4D5ED7-4916-4EF5-9B14-DD6D0EE6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09" y="55285"/>
            <a:ext cx="10515600" cy="765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516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/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796776-E13E-EE70-1024-61D0E5489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Cover – Insert title</a:t>
            </a:r>
            <a:endParaRPr lang="en-FR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A33BDE-5827-B978-8782-68D8565EB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604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  <a:lvl2pPr algn="ctr">
              <a:defRPr sz="280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7564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9AF2F-52C6-9B46-B8B2-0579234AE62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wmo2016_powerpoint_standard_v2-2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51694"/>
            <a:ext cx="265176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6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95" r:id="rId7"/>
    <p:sldLayoutId id="2147483656" r:id="rId8"/>
    <p:sldLayoutId id="2147483657" r:id="rId9"/>
    <p:sldLayoutId id="214748369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E43E974-FF92-2065-59B5-7198AC9AFE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37" y="0"/>
            <a:ext cx="12474857" cy="7017488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AAFC96D-DE28-DCBB-6A7D-6E7FC08F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90" y="220419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WMO PPT Style #1</a:t>
            </a:r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165383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ctr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sv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5.jpeg"/><Relationship Id="rId18" Type="http://schemas.openxmlformats.org/officeDocument/2006/relationships/image" Target="../media/image40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8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5" Type="http://schemas.openxmlformats.org/officeDocument/2006/relationships/image" Target="../media/image37.png"/><Relationship Id="rId10" Type="http://schemas.openxmlformats.org/officeDocument/2006/relationships/image" Target="../media/image16.png"/><Relationship Id="rId19" Type="http://schemas.openxmlformats.org/officeDocument/2006/relationships/image" Target="../media/image41.png"/><Relationship Id="rId4" Type="http://schemas.openxmlformats.org/officeDocument/2006/relationships/image" Target="../media/image27.jpeg"/><Relationship Id="rId9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github.com/wmo-im/wis2box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5558-gears-picture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41481-C6BF-C213-3477-846899AA2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217" y="2960762"/>
            <a:ext cx="10515600" cy="132344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wis2box development and architecture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2026-03-30</a:t>
            </a:r>
            <a:endParaRPr lang="fr-FR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B0E0F-8211-0250-7AA3-68D9023CFF33}"/>
              </a:ext>
            </a:extLst>
          </p:cNvPr>
          <p:cNvSpPr txBox="1"/>
          <p:nvPr/>
        </p:nvSpPr>
        <p:spPr>
          <a:xfrm>
            <a:off x="4328465" y="3315710"/>
            <a:ext cx="35350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Tom Kralidis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Senior Geospatial Architect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WIS 2.0, WIS 2.0 in a box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59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F8E0-C3C0-08D3-9DE3-59B7CBBB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05E39-8953-7060-110D-743F4A67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wis2box development</a:t>
            </a:r>
          </a:p>
          <a:p>
            <a:r>
              <a:rPr lang="en-US" dirty="0"/>
              <a:t>Architecture and design</a:t>
            </a:r>
          </a:p>
          <a:p>
            <a:r>
              <a:rPr lang="en-US" dirty="0"/>
              <a:t>Components and code deep dive</a:t>
            </a:r>
          </a:p>
          <a:p>
            <a:r>
              <a:rPr lang="en-US" dirty="0"/>
              <a:t>Demos of core/recommended data, data formats</a:t>
            </a:r>
          </a:p>
          <a:p>
            <a:r>
              <a:rPr lang="en-CA" dirty="0"/>
              <a:t>public services</a:t>
            </a:r>
          </a:p>
          <a:p>
            <a:r>
              <a:rPr lang="en-CA" dirty="0"/>
              <a:t>wis2box-api</a:t>
            </a:r>
          </a:p>
          <a:p>
            <a:r>
              <a:rPr lang="en-CA" dirty="0"/>
              <a:t>Security</a:t>
            </a:r>
          </a:p>
          <a:p>
            <a:r>
              <a:rPr lang="en-CA" dirty="0"/>
              <a:t>Entry point integration (Dwayne)</a:t>
            </a:r>
          </a:p>
          <a:p>
            <a:r>
              <a:rPr lang="en-CA" dirty="0"/>
              <a:t>multi-tenancy (Dwayne)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15613D-349C-91DB-3D3B-E6B6AF828043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Table of Contents</a:t>
            </a:r>
            <a:endParaRPr lang="en-CH" sz="3200" b="1" dirty="0"/>
          </a:p>
        </p:txBody>
      </p:sp>
    </p:spTree>
    <p:extLst>
      <p:ext uri="{BB962C8B-B14F-4D97-AF65-F5344CB8AC3E}">
        <p14:creationId xmlns:p14="http://schemas.microsoft.com/office/powerpoint/2010/main" val="878506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7B1538-CA7C-EC61-6F3A-EBEBD3328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0"/>
            <a:ext cx="9731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38B59A-F26B-4380-C436-72D2712971B4}"/>
              </a:ext>
            </a:extLst>
          </p:cNvPr>
          <p:cNvSpPr txBox="1"/>
          <p:nvPr/>
        </p:nvSpPr>
        <p:spPr>
          <a:xfrm>
            <a:off x="2510971" y="3904343"/>
            <a:ext cx="2627086" cy="1785257"/>
          </a:xfrm>
          <a:prstGeom prst="rect">
            <a:avLst/>
          </a:prstGeom>
          <a:solidFill>
            <a:srgbClr val="00B050">
              <a:alpha val="30000"/>
            </a:srgb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66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9B7162-03D7-2F47-1A29-3972025F3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529" y="1056190"/>
            <a:ext cx="5316638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WIS2 in a box is a reference implementation of a WIS2 Node</a:t>
            </a:r>
          </a:p>
          <a:p>
            <a:pPr lvl="1"/>
            <a:r>
              <a:rPr lang="en-US" b="1" dirty="0"/>
              <a:t>MQTT</a:t>
            </a:r>
          </a:p>
          <a:p>
            <a:pPr lvl="1"/>
            <a:r>
              <a:rPr lang="en-US" b="1" dirty="0"/>
              <a:t>HTTP</a:t>
            </a:r>
          </a:p>
          <a:p>
            <a:r>
              <a:rPr lang="en-US" b="1" dirty="0"/>
              <a:t>Software</a:t>
            </a:r>
            <a:r>
              <a:rPr lang="en-US" dirty="0"/>
              <a:t> (not hardware)</a:t>
            </a:r>
          </a:p>
          <a:p>
            <a:r>
              <a:rPr lang="en-US" b="1" dirty="0"/>
              <a:t>Publishing facility/capability</a:t>
            </a:r>
            <a:r>
              <a:rPr lang="en-US" dirty="0"/>
              <a:t> compliant to WIS 2.0 Architecture</a:t>
            </a:r>
          </a:p>
          <a:p>
            <a:pPr lvl="1"/>
            <a:r>
              <a:rPr lang="en-US" dirty="0"/>
              <a:t>Provides basic data transformation</a:t>
            </a:r>
          </a:p>
          <a:p>
            <a:pPr lvl="1"/>
            <a:r>
              <a:rPr lang="en-US" dirty="0"/>
              <a:t>Can </a:t>
            </a:r>
            <a:r>
              <a:rPr lang="en-US" b="1" dirty="0"/>
              <a:t>integrate</a:t>
            </a:r>
            <a:r>
              <a:rPr lang="en-US" dirty="0"/>
              <a:t> with existing data management systems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47A57-1C26-09B4-D9A5-AB8C40AB1D85}"/>
              </a:ext>
            </a:extLst>
          </p:cNvPr>
          <p:cNvSpPr/>
          <p:nvPr/>
        </p:nvSpPr>
        <p:spPr>
          <a:xfrm>
            <a:off x="-53788" y="1298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sz="3200" b="1" dirty="0"/>
              <a:t>WIS2 in </a:t>
            </a:r>
            <a:r>
              <a:rPr lang="en-CH" sz="3200" b="1"/>
              <a:t>a box</a:t>
            </a:r>
            <a:r>
              <a:rPr lang="en-US" sz="3200" b="1" dirty="0"/>
              <a:t>: What is it?</a:t>
            </a:r>
            <a:endParaRPr lang="en-CH" sz="3200" b="1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F2B4DC9F-E76F-415E-37C3-7A813A12C14C}"/>
              </a:ext>
            </a:extLst>
          </p:cNvPr>
          <p:cNvSpPr txBox="1">
            <a:spLocks/>
          </p:cNvSpPr>
          <p:nvPr/>
        </p:nvSpPr>
        <p:spPr>
          <a:xfrm>
            <a:off x="8800886" y="604734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914400">
              <a:defRPr/>
            </a:pPr>
            <a:fld id="{02FCD5AC-5239-4317-A018-1F813C8A6B43}" type="slidenum">
              <a:rPr lang="en-GB" sz="120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r" defTabSz="914400">
                <a:defRPr/>
              </a:pPr>
              <a:t>4</a:t>
            </a:fld>
            <a:endParaRPr lang="en-GB" sz="120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CC41E171-FEA0-2266-D652-672CF0560E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21" t="12980" r="10246" b="15237"/>
          <a:stretch/>
        </p:blipFill>
        <p:spPr>
          <a:xfrm>
            <a:off x="6826749" y="3983481"/>
            <a:ext cx="380755" cy="308679"/>
          </a:xfrm>
          <a:prstGeom prst="rect">
            <a:avLst/>
          </a:prstGeom>
        </p:spPr>
      </p:pic>
      <p:sp>
        <p:nvSpPr>
          <p:cNvPr id="57" name="Rectangle: Rounded Corners 23">
            <a:extLst>
              <a:ext uri="{FF2B5EF4-FFF2-40B4-BE49-F238E27FC236}">
                <a16:creationId xmlns:a16="http://schemas.microsoft.com/office/drawing/2014/main" id="{DD299922-C3D4-CF35-FF39-7BCF666655F4}"/>
              </a:ext>
            </a:extLst>
          </p:cNvPr>
          <p:cNvSpPr/>
          <p:nvPr/>
        </p:nvSpPr>
        <p:spPr>
          <a:xfrm>
            <a:off x="6194167" y="4365982"/>
            <a:ext cx="2600325" cy="1628775"/>
          </a:xfrm>
          <a:prstGeom prst="roundRect">
            <a:avLst/>
          </a:prstGeom>
          <a:solidFill>
            <a:srgbClr val="DBEEF4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431DFE-6A0C-3BB0-4995-C7F880135C2F}"/>
              </a:ext>
            </a:extLst>
          </p:cNvPr>
          <p:cNvSpPr txBox="1"/>
          <p:nvPr/>
        </p:nvSpPr>
        <p:spPr>
          <a:xfrm>
            <a:off x="4690492" y="4998363"/>
            <a:ext cx="1249060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GB" b="1" dirty="0"/>
              <a:t>WIS2 Node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077748F-E98C-AF91-95E5-3CD0F4080A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39" t="1394" r="6132" b="689"/>
          <a:stretch/>
        </p:blipFill>
        <p:spPr>
          <a:xfrm>
            <a:off x="5861981" y="4844612"/>
            <a:ext cx="664369" cy="671513"/>
          </a:xfrm>
          <a:prstGeom prst="ellipse">
            <a:avLst/>
          </a:prstGeom>
        </p:spPr>
      </p:pic>
      <p:sp>
        <p:nvSpPr>
          <p:cNvPr id="60" name="Rectangle: Rounded Corners 32">
            <a:extLst>
              <a:ext uri="{FF2B5EF4-FFF2-40B4-BE49-F238E27FC236}">
                <a16:creationId xmlns:a16="http://schemas.microsoft.com/office/drawing/2014/main" id="{369189E3-4A17-CE7E-E264-96D65B020BB2}"/>
              </a:ext>
            </a:extLst>
          </p:cNvPr>
          <p:cNvSpPr/>
          <p:nvPr/>
        </p:nvSpPr>
        <p:spPr>
          <a:xfrm>
            <a:off x="6571009" y="4585970"/>
            <a:ext cx="836443" cy="460133"/>
          </a:xfrm>
          <a:prstGeom prst="roundRect">
            <a:avLst/>
          </a:prstGeom>
          <a:solidFill>
            <a:srgbClr val="95B3D7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Message Broker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A50CE76-E8D7-2D60-20AE-72FFD5D062F8}"/>
              </a:ext>
            </a:extLst>
          </p:cNvPr>
          <p:cNvGrpSpPr/>
          <p:nvPr/>
        </p:nvGrpSpPr>
        <p:grpSpPr>
          <a:xfrm>
            <a:off x="7660683" y="4462750"/>
            <a:ext cx="1129668" cy="1071226"/>
            <a:chOff x="4524942" y="1975187"/>
            <a:chExt cx="1129668" cy="1071226"/>
          </a:xfrm>
        </p:grpSpPr>
        <p:sp>
          <p:nvSpPr>
            <p:cNvPr id="62" name="Flowchart: Magnetic Disk 34">
              <a:extLst>
                <a:ext uri="{FF2B5EF4-FFF2-40B4-BE49-F238E27FC236}">
                  <a16:creationId xmlns:a16="http://schemas.microsoft.com/office/drawing/2014/main" id="{9E9F16DA-8CE1-C3F7-94F9-BA8DF6858AD7}"/>
                </a:ext>
              </a:extLst>
            </p:cNvPr>
            <p:cNvSpPr/>
            <p:nvPr/>
          </p:nvSpPr>
          <p:spPr>
            <a:xfrm>
              <a:off x="4616955" y="2420820"/>
              <a:ext cx="945645" cy="625593"/>
            </a:xfrm>
            <a:prstGeom prst="flowChartMagneticDisk">
              <a:avLst/>
            </a:prstGeom>
            <a:solidFill>
              <a:srgbClr val="00B0F0"/>
            </a:solidFill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endParaRPr lang="en-GB" sz="900" dirty="0">
                <a:solidFill>
                  <a:schemeClr val="tx1"/>
                </a:solidFill>
              </a:endParaRPr>
            </a:p>
          </p:txBody>
        </p:sp>
        <p:sp>
          <p:nvSpPr>
            <p:cNvPr id="63" name="Flowchart: Magnetic Disk 35">
              <a:extLst>
                <a:ext uri="{FF2B5EF4-FFF2-40B4-BE49-F238E27FC236}">
                  <a16:creationId xmlns:a16="http://schemas.microsoft.com/office/drawing/2014/main" id="{5B5912B1-8097-56D2-46A3-8BA606E28D48}"/>
                </a:ext>
              </a:extLst>
            </p:cNvPr>
            <p:cNvSpPr/>
            <p:nvPr/>
          </p:nvSpPr>
          <p:spPr>
            <a:xfrm>
              <a:off x="4616954" y="1975187"/>
              <a:ext cx="945645" cy="625593"/>
            </a:xfrm>
            <a:prstGeom prst="flowChartMagneticDisk">
              <a:avLst/>
            </a:prstGeom>
            <a:solidFill>
              <a:srgbClr val="558ED5"/>
            </a:solidFill>
            <a:ln w="127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</a:rPr>
                <a:t>Core Data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F368B51-B69C-83BF-5250-7BBB1C1F2BD0}"/>
                </a:ext>
              </a:extLst>
            </p:cNvPr>
            <p:cNvSpPr txBox="1"/>
            <p:nvPr/>
          </p:nvSpPr>
          <p:spPr>
            <a:xfrm>
              <a:off x="4524942" y="2682845"/>
              <a:ext cx="1129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Recommended</a:t>
              </a:r>
            </a:p>
          </p:txBody>
        </p:sp>
      </p:grpSp>
      <p:sp>
        <p:nvSpPr>
          <p:cNvPr id="65" name="Rectangle: Rounded Corners 37">
            <a:extLst>
              <a:ext uri="{FF2B5EF4-FFF2-40B4-BE49-F238E27FC236}">
                <a16:creationId xmlns:a16="http://schemas.microsoft.com/office/drawing/2014/main" id="{C6AE18A7-1B7C-13F3-F140-AE607A9A7FD4}"/>
              </a:ext>
            </a:extLst>
          </p:cNvPr>
          <p:cNvSpPr/>
          <p:nvPr/>
        </p:nvSpPr>
        <p:spPr>
          <a:xfrm>
            <a:off x="5822066" y="1078987"/>
            <a:ext cx="3429233" cy="2651540"/>
          </a:xfrm>
          <a:prstGeom prst="roundRect">
            <a:avLst>
              <a:gd name="adj" fmla="val 9697"/>
            </a:avLst>
          </a:prstGeom>
          <a:solidFill>
            <a:srgbClr val="DBEEF4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6" name="Picture 65" descr="A picture containing text, balloon, transport, aircraft&#10;&#10;Description automatically generated">
            <a:extLst>
              <a:ext uri="{FF2B5EF4-FFF2-40B4-BE49-F238E27FC236}">
                <a16:creationId xmlns:a16="http://schemas.microsoft.com/office/drawing/2014/main" id="{874D4020-C6BC-C254-71AF-758F937DB8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10721" y="1837156"/>
            <a:ext cx="1222689" cy="1135201"/>
          </a:xfrm>
          <a:prstGeom prst="rect">
            <a:avLst/>
          </a:prstGeom>
          <a:effectLst/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DE8F6FC5-97A5-ED9F-478B-308553E07F8D}"/>
              </a:ext>
            </a:extLst>
          </p:cNvPr>
          <p:cNvGrpSpPr/>
          <p:nvPr/>
        </p:nvGrpSpPr>
        <p:grpSpPr>
          <a:xfrm>
            <a:off x="6457212" y="1682827"/>
            <a:ext cx="1203471" cy="1201087"/>
            <a:chOff x="6266926" y="1991835"/>
            <a:chExt cx="1203471" cy="1201087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07511113-2417-3184-672B-8548801C54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327" t="2429" r="3850" b="3820"/>
            <a:stretch/>
          </p:blipFill>
          <p:spPr>
            <a:xfrm>
              <a:off x="6382771" y="2264234"/>
              <a:ext cx="935832" cy="928688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87412EB-42D2-3703-D6FF-06064A1404F7}"/>
                </a:ext>
              </a:extLst>
            </p:cNvPr>
            <p:cNvSpPr txBox="1"/>
            <p:nvPr/>
          </p:nvSpPr>
          <p:spPr>
            <a:xfrm>
              <a:off x="6266926" y="1991835"/>
              <a:ext cx="1203471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400" b="1" dirty="0"/>
                <a:t>Global Broker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5B8846C9-24F5-FA83-9D57-0DFC5BA9EE33}"/>
              </a:ext>
            </a:extLst>
          </p:cNvPr>
          <p:cNvGrpSpPr/>
          <p:nvPr/>
        </p:nvGrpSpPr>
        <p:grpSpPr>
          <a:xfrm>
            <a:off x="10749897" y="2581640"/>
            <a:ext cx="1152880" cy="1472091"/>
            <a:chOff x="10559611" y="2648050"/>
            <a:chExt cx="1152880" cy="1472091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15F4EE9-F496-A312-BCFC-0B09111F0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0782472" y="2648050"/>
              <a:ext cx="697860" cy="898090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9D5AB99-FE0A-EF34-CCF7-C027F6229F15}"/>
                </a:ext>
              </a:extLst>
            </p:cNvPr>
            <p:cNvSpPr txBox="1"/>
            <p:nvPr/>
          </p:nvSpPr>
          <p:spPr>
            <a:xfrm>
              <a:off x="10559611" y="3473810"/>
              <a:ext cx="1152880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b="1" dirty="0"/>
                <a:t>Data </a:t>
              </a:r>
            </a:p>
            <a:p>
              <a:pPr algn="ctr"/>
              <a:r>
                <a:rPr lang="en-GB" b="1" dirty="0"/>
                <a:t>Consumer</a:t>
              </a:r>
            </a:p>
          </p:txBody>
        </p:sp>
      </p:grpSp>
      <p:sp>
        <p:nvSpPr>
          <p:cNvPr id="73" name="Isosceles Triangle 52">
            <a:extLst>
              <a:ext uri="{FF2B5EF4-FFF2-40B4-BE49-F238E27FC236}">
                <a16:creationId xmlns:a16="http://schemas.microsoft.com/office/drawing/2014/main" id="{4FF3E279-0448-C723-E8B6-1CCF55EC935E}"/>
              </a:ext>
            </a:extLst>
          </p:cNvPr>
          <p:cNvSpPr/>
          <p:nvPr/>
        </p:nvSpPr>
        <p:spPr>
          <a:xfrm rot="21104695">
            <a:off x="10294881" y="1832188"/>
            <a:ext cx="658121" cy="108092"/>
          </a:xfrm>
          <a:prstGeom prst="triangle">
            <a:avLst>
              <a:gd name="adj" fmla="val 1938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Isosceles Triangle 53">
            <a:extLst>
              <a:ext uri="{FF2B5EF4-FFF2-40B4-BE49-F238E27FC236}">
                <a16:creationId xmlns:a16="http://schemas.microsoft.com/office/drawing/2014/main" id="{4656EBD9-AF1D-305F-81EF-60D900CA6D71}"/>
              </a:ext>
            </a:extLst>
          </p:cNvPr>
          <p:cNvSpPr/>
          <p:nvPr/>
        </p:nvSpPr>
        <p:spPr>
          <a:xfrm rot="21104695" flipH="1" flipV="1">
            <a:off x="10352194" y="1115260"/>
            <a:ext cx="830605" cy="108092"/>
          </a:xfrm>
          <a:prstGeom prst="triangle">
            <a:avLst>
              <a:gd name="adj" fmla="val 1938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10CDB6F-9A9F-B439-10BF-9B9DEBFF58EF}"/>
              </a:ext>
            </a:extLst>
          </p:cNvPr>
          <p:cNvGrpSpPr/>
          <p:nvPr/>
        </p:nvGrpSpPr>
        <p:grpSpPr>
          <a:xfrm>
            <a:off x="7649829" y="2442746"/>
            <a:ext cx="3337943" cy="878449"/>
            <a:chOff x="7396043" y="2751754"/>
            <a:chExt cx="3337943" cy="878449"/>
          </a:xfrm>
        </p:grpSpPr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2FCFCA53-07F7-A39F-3E1A-6A36DE7CB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96043" y="2751754"/>
              <a:ext cx="3337943" cy="443139"/>
            </a:xfrm>
            <a:prstGeom prst="straightConnector1">
              <a:avLst/>
            </a:prstGeom>
            <a:ln>
              <a:solidFill>
                <a:srgbClr val="0070C0"/>
              </a:solidFill>
              <a:headEnd type="triangl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CB713CE-3C8F-B020-AF07-0642CD2872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021" t="12980" r="10246" b="15237"/>
            <a:stretch/>
          </p:blipFill>
          <p:spPr>
            <a:xfrm rot="396140">
              <a:off x="9037542" y="3049596"/>
              <a:ext cx="601900" cy="487961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A1594B9-D205-7572-16BD-FEB4C55A8035}"/>
                </a:ext>
              </a:extLst>
            </p:cNvPr>
            <p:cNvSpPr txBox="1"/>
            <p:nvPr/>
          </p:nvSpPr>
          <p:spPr>
            <a:xfrm rot="474273">
              <a:off x="9595297" y="3168538"/>
              <a:ext cx="935384" cy="46166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200" dirty="0">
                  <a:solidFill>
                    <a:srgbClr val="0070C0"/>
                  </a:solidFill>
                </a:rPr>
                <a:t>notification </a:t>
              </a:r>
            </a:p>
            <a:p>
              <a:pPr algn="ctr"/>
              <a:r>
                <a:rPr lang="en-GB" sz="1200" dirty="0">
                  <a:solidFill>
                    <a:srgbClr val="0070C0"/>
                  </a:solidFill>
                </a:rPr>
                <a:t>of new data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A55DC2A-1832-78F9-91CA-7A1BD236E345}"/>
              </a:ext>
            </a:extLst>
          </p:cNvPr>
          <p:cNvGrpSpPr/>
          <p:nvPr/>
        </p:nvGrpSpPr>
        <p:grpSpPr>
          <a:xfrm>
            <a:off x="6765195" y="2983344"/>
            <a:ext cx="461665" cy="1511158"/>
            <a:chOff x="6574909" y="3292352"/>
            <a:chExt cx="461665" cy="1511158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BF0C4F2-7824-9689-2A2B-8C1F867A612B}"/>
                </a:ext>
              </a:extLst>
            </p:cNvPr>
            <p:cNvGrpSpPr/>
            <p:nvPr/>
          </p:nvGrpSpPr>
          <p:grpSpPr>
            <a:xfrm>
              <a:off x="6625850" y="4214259"/>
              <a:ext cx="380754" cy="420324"/>
              <a:chOff x="6625850" y="4214259"/>
              <a:chExt cx="380754" cy="420324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39BA6A3B-D488-BFAC-A948-8CD6E3307371}"/>
                  </a:ext>
                </a:extLst>
              </p:cNvPr>
              <p:cNvSpPr/>
              <p:nvPr/>
            </p:nvSpPr>
            <p:spPr>
              <a:xfrm>
                <a:off x="6625850" y="4214259"/>
                <a:ext cx="380754" cy="4203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3A942BA2-03CE-5944-7FDC-C3DA70FF68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9021" t="12980" r="10246" b="15237"/>
              <a:stretch/>
            </p:blipFill>
            <p:spPr>
              <a:xfrm rot="16200000">
                <a:off x="6636463" y="4277127"/>
                <a:ext cx="380755" cy="308679"/>
              </a:xfrm>
              <a:prstGeom prst="rect">
                <a:avLst/>
              </a:prstGeom>
            </p:spPr>
          </p:pic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BB6260B3-D433-4E13-EC07-0F6D670E0762}"/>
                </a:ext>
              </a:extLst>
            </p:cNvPr>
            <p:cNvGrpSpPr/>
            <p:nvPr/>
          </p:nvGrpSpPr>
          <p:grpSpPr>
            <a:xfrm>
              <a:off x="6574909" y="3292352"/>
              <a:ext cx="461665" cy="1511158"/>
              <a:chOff x="6574909" y="3292352"/>
              <a:chExt cx="461665" cy="1511158"/>
            </a:xfrm>
          </p:grpSpPr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A9A0A876-2AEE-529F-15B9-C545E4F8F2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5961" y="3292352"/>
                <a:ext cx="0" cy="1511158"/>
              </a:xfrm>
              <a:prstGeom prst="straightConnector1">
                <a:avLst/>
              </a:prstGeom>
              <a:ln>
                <a:solidFill>
                  <a:srgbClr val="0070C0"/>
                </a:solidFill>
                <a:headEnd type="triangl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B60D4DB-53AF-52CB-9839-1113A6179BE5}"/>
                  </a:ext>
                </a:extLst>
              </p:cNvPr>
              <p:cNvSpPr txBox="1"/>
              <p:nvPr/>
            </p:nvSpPr>
            <p:spPr>
              <a:xfrm rot="16200000">
                <a:off x="6338050" y="3593258"/>
                <a:ext cx="935384" cy="461665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rgbClr val="0070C0"/>
                    </a:solidFill>
                  </a:rPr>
                  <a:t>notification </a:t>
                </a:r>
              </a:p>
              <a:p>
                <a:pPr algn="ctr"/>
                <a:r>
                  <a:rPr lang="en-GB" sz="1200" dirty="0">
                    <a:solidFill>
                      <a:srgbClr val="0070C0"/>
                    </a:solidFill>
                  </a:rPr>
                  <a:t>of new data</a:t>
                </a:r>
              </a:p>
            </p:txBody>
          </p:sp>
        </p:grp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4191BF29-9571-6415-1098-5FAA15097766}"/>
              </a:ext>
            </a:extLst>
          </p:cNvPr>
          <p:cNvGrpSpPr/>
          <p:nvPr/>
        </p:nvGrpSpPr>
        <p:grpSpPr>
          <a:xfrm>
            <a:off x="8859318" y="3591690"/>
            <a:ext cx="1908178" cy="1020178"/>
            <a:chOff x="8669032" y="3900698"/>
            <a:chExt cx="1908178" cy="1020178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7A4BADFA-2F12-FB8E-0EE3-5262687EE2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69032" y="3900698"/>
              <a:ext cx="1908178" cy="902812"/>
            </a:xfrm>
            <a:prstGeom prst="straightConnector1">
              <a:avLst/>
            </a:prstGeom>
            <a:ln>
              <a:solidFill>
                <a:srgbClr val="0070C0"/>
              </a:solidFill>
              <a:prstDash val="sysDash"/>
              <a:headEnd type="non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8" name="Picture 87" descr="Shape&#10;&#10;Description automatically generated">
              <a:extLst>
                <a:ext uri="{FF2B5EF4-FFF2-40B4-BE49-F238E27FC236}">
                  <a16:creationId xmlns:a16="http://schemas.microsoft.com/office/drawing/2014/main" id="{F480F3F8-DB7B-CE99-80ED-0373D2C1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723029">
              <a:off x="8714823" y="4381387"/>
              <a:ext cx="539489" cy="539489"/>
            </a:xfrm>
            <a:prstGeom prst="rect">
              <a:avLst/>
            </a:prstGeom>
          </p:spPr>
        </p:pic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AA343F9-950B-3A53-5821-D94B9C2533A7}"/>
                </a:ext>
              </a:extLst>
            </p:cNvPr>
            <p:cNvGrpSpPr/>
            <p:nvPr/>
          </p:nvGrpSpPr>
          <p:grpSpPr>
            <a:xfrm rot="19579463">
              <a:off x="9339790" y="4251177"/>
              <a:ext cx="1126540" cy="380843"/>
              <a:chOff x="9069807" y="3631576"/>
              <a:chExt cx="1126540" cy="380843"/>
            </a:xfrm>
          </p:grpSpPr>
          <p:pic>
            <p:nvPicPr>
              <p:cNvPr id="90" name="Picture 89">
                <a:extLst>
                  <a:ext uri="{FF2B5EF4-FFF2-40B4-BE49-F238E27FC236}">
                    <a16:creationId xmlns:a16="http://schemas.microsoft.com/office/drawing/2014/main" id="{644A876B-4AAF-CD00-161B-A833A1C3CD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690815">
                <a:off x="9069807" y="3631576"/>
                <a:ext cx="448412" cy="380843"/>
              </a:xfrm>
              <a:prstGeom prst="rect">
                <a:avLst/>
              </a:prstGeom>
            </p:spPr>
          </p:pic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54FD37B-A28D-3458-AA58-82C2EDB69D14}"/>
                  </a:ext>
                </a:extLst>
              </p:cNvPr>
              <p:cNvSpPr txBox="1"/>
              <p:nvPr/>
            </p:nvSpPr>
            <p:spPr>
              <a:xfrm rot="407274">
                <a:off x="9388690" y="3703773"/>
                <a:ext cx="807657" cy="276999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rgbClr val="0070C0"/>
                    </a:solidFill>
                  </a:rPr>
                  <a:t>download</a:t>
                </a: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44DDAA3-A0AB-1C32-983F-93812FF31C0B}"/>
              </a:ext>
            </a:extLst>
          </p:cNvPr>
          <p:cNvGrpSpPr/>
          <p:nvPr/>
        </p:nvGrpSpPr>
        <p:grpSpPr>
          <a:xfrm>
            <a:off x="6275372" y="2976066"/>
            <a:ext cx="502716" cy="1511158"/>
            <a:chOff x="6296228" y="3313651"/>
            <a:chExt cx="502716" cy="1511158"/>
          </a:xfrm>
        </p:grpSpPr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67E40CD-FE80-729D-EE51-AD4B86558FC9}"/>
                </a:ext>
              </a:extLst>
            </p:cNvPr>
            <p:cNvCxnSpPr>
              <a:cxnSpLocks/>
            </p:cNvCxnSpPr>
            <p:nvPr/>
          </p:nvCxnSpPr>
          <p:spPr>
            <a:xfrm>
              <a:off x="6798944" y="3313651"/>
              <a:ext cx="0" cy="1511158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B010750-642E-9C3D-70A0-9FDEE4215577}"/>
                </a:ext>
              </a:extLst>
            </p:cNvPr>
            <p:cNvSpPr txBox="1"/>
            <p:nvPr/>
          </p:nvSpPr>
          <p:spPr>
            <a:xfrm rot="16200000">
              <a:off x="6189148" y="3780148"/>
              <a:ext cx="7770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200" dirty="0">
                  <a:solidFill>
                    <a:srgbClr val="0070C0"/>
                  </a:solidFill>
                </a:rPr>
                <a:t>subscribe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1D043C0B-78B5-42E4-78A9-62C79A9AA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5964882">
              <a:off x="6299660" y="4223195"/>
              <a:ext cx="432452" cy="439316"/>
            </a:xfrm>
            <a:prstGeom prst="rect">
              <a:avLst/>
            </a:prstGeom>
          </p:spPr>
        </p:pic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45FEF1F-EFF7-4D3D-186B-CAF3E38E0C3F}"/>
              </a:ext>
            </a:extLst>
          </p:cNvPr>
          <p:cNvGrpSpPr/>
          <p:nvPr/>
        </p:nvGrpSpPr>
        <p:grpSpPr>
          <a:xfrm>
            <a:off x="7623196" y="2059738"/>
            <a:ext cx="3337943" cy="675319"/>
            <a:chOff x="7367468" y="2271924"/>
            <a:chExt cx="3337943" cy="675319"/>
          </a:xfrm>
        </p:grpSpPr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A0B2B6B6-DB88-0C21-96B1-2657661514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7468" y="2504104"/>
              <a:ext cx="3337943" cy="443139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38BEE94-F0D9-5D68-87CC-260494C723F1}"/>
                </a:ext>
              </a:extLst>
            </p:cNvPr>
            <p:cNvSpPr txBox="1"/>
            <p:nvPr/>
          </p:nvSpPr>
          <p:spPr>
            <a:xfrm rot="474273">
              <a:off x="9566384" y="2554316"/>
              <a:ext cx="777008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1200" dirty="0">
                  <a:solidFill>
                    <a:srgbClr val="0070C0"/>
                  </a:solidFill>
                </a:rPr>
                <a:t>subscribe</a:t>
              </a:r>
            </a:p>
          </p:txBody>
        </p:sp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A85C22CC-C644-915B-0514-8DDEAE7B3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327124">
              <a:off x="9073487" y="2271924"/>
              <a:ext cx="442176" cy="449195"/>
            </a:xfrm>
            <a:prstGeom prst="rect">
              <a:avLst/>
            </a:prstGeom>
          </p:spPr>
        </p:pic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AEAD8C0-4DF3-39B2-DB06-81A6724A819B}"/>
              </a:ext>
            </a:extLst>
          </p:cNvPr>
          <p:cNvGrpSpPr/>
          <p:nvPr/>
        </p:nvGrpSpPr>
        <p:grpSpPr>
          <a:xfrm>
            <a:off x="7099819" y="5180369"/>
            <a:ext cx="541370" cy="788973"/>
            <a:chOff x="6909533" y="5489377"/>
            <a:chExt cx="541370" cy="788973"/>
          </a:xfrm>
        </p:grpSpPr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6983ABB3-C964-C129-CF80-7E5D4E205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909533" y="5489377"/>
              <a:ext cx="541370" cy="788973"/>
            </a:xfrm>
            <a:prstGeom prst="rect">
              <a:avLst/>
            </a:prstGeom>
          </p:spPr>
        </p:pic>
        <p:sp>
          <p:nvSpPr>
            <p:cNvPr id="102" name="Isosceles Triangle 20">
              <a:extLst>
                <a:ext uri="{FF2B5EF4-FFF2-40B4-BE49-F238E27FC236}">
                  <a16:creationId xmlns:a16="http://schemas.microsoft.com/office/drawing/2014/main" id="{D49E4837-3C42-74BC-E8AF-59C6F3EFB83A}"/>
                </a:ext>
              </a:extLst>
            </p:cNvPr>
            <p:cNvSpPr/>
            <p:nvPr/>
          </p:nvSpPr>
          <p:spPr>
            <a:xfrm rot="16200000">
              <a:off x="7247130" y="5491380"/>
              <a:ext cx="199219" cy="201769"/>
            </a:xfrm>
            <a:prstGeom prst="triangle">
              <a:avLst>
                <a:gd name="adj" fmla="val 100000"/>
              </a:avLst>
            </a:prstGeom>
            <a:solidFill>
              <a:srgbClr val="DBEEF4"/>
            </a:solidFill>
            <a:ln w="12700" cap="rnd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1F3BBF75-ECC0-77B9-50EE-323E676B4A70}"/>
              </a:ext>
            </a:extLst>
          </p:cNvPr>
          <p:cNvSpPr/>
          <p:nvPr/>
        </p:nvSpPr>
        <p:spPr>
          <a:xfrm>
            <a:off x="5739175" y="4170988"/>
            <a:ext cx="3569700" cy="2077260"/>
          </a:xfrm>
          <a:prstGeom prst="roundRect">
            <a:avLst/>
          </a:prstGeom>
          <a:solidFill>
            <a:srgbClr val="FF0000">
              <a:alpha val="13103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4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Rectangle 1040">
            <a:extLst>
              <a:ext uri="{FF2B5EF4-FFF2-40B4-BE49-F238E27FC236}">
                <a16:creationId xmlns:a16="http://schemas.microsoft.com/office/drawing/2014/main" id="{BB340618-EF27-6CCB-FBCA-06E3875F2504}"/>
              </a:ext>
            </a:extLst>
          </p:cNvPr>
          <p:cNvSpPr/>
          <p:nvPr/>
        </p:nvSpPr>
        <p:spPr>
          <a:xfrm>
            <a:off x="8242700" y="2772728"/>
            <a:ext cx="2122797" cy="45260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>
                <a:solidFill>
                  <a:schemeClr val="tx1"/>
                </a:solidFill>
              </a:rPr>
              <a:t>Global Cache</a:t>
            </a:r>
            <a:endParaRPr lang="en-CH" sz="1600" b="1">
              <a:solidFill>
                <a:schemeClr val="tx1"/>
              </a:solidFill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766FCB33-CD05-968B-BC22-306A0F7FEBE4}"/>
              </a:ext>
            </a:extLst>
          </p:cNvPr>
          <p:cNvSpPr/>
          <p:nvPr/>
        </p:nvSpPr>
        <p:spPr>
          <a:xfrm>
            <a:off x="8238478" y="1905783"/>
            <a:ext cx="2127020" cy="45317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>
                <a:solidFill>
                  <a:schemeClr val="tx1"/>
                </a:solidFill>
              </a:rPr>
              <a:t>Global Broker</a:t>
            </a:r>
            <a:endParaRPr lang="en-CH" sz="1600" b="1">
              <a:solidFill>
                <a:schemeClr val="tx1"/>
              </a:solidFill>
            </a:endParaRPr>
          </a:p>
        </p:txBody>
      </p:sp>
      <p:pic>
        <p:nvPicPr>
          <p:cNvPr id="1045" name="Graphic 1044" descr="Network with solid fill">
            <a:extLst>
              <a:ext uri="{FF2B5EF4-FFF2-40B4-BE49-F238E27FC236}">
                <a16:creationId xmlns:a16="http://schemas.microsoft.com/office/drawing/2014/main" id="{484F1569-7D46-02F0-8D19-34999ADC9F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09660" y="1959067"/>
            <a:ext cx="357638" cy="357638"/>
          </a:xfrm>
          <a:prstGeom prst="rect">
            <a:avLst/>
          </a:prstGeom>
        </p:spPr>
      </p:pic>
      <p:pic>
        <p:nvPicPr>
          <p:cNvPr id="1049" name="Graphic 1048" descr="Database with solid fill">
            <a:extLst>
              <a:ext uri="{FF2B5EF4-FFF2-40B4-BE49-F238E27FC236}">
                <a16:creationId xmlns:a16="http://schemas.microsoft.com/office/drawing/2014/main" id="{A667A684-ABF4-392C-B1CB-D422FE384B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3087" y="2797152"/>
            <a:ext cx="390784" cy="403751"/>
          </a:xfrm>
          <a:prstGeom prst="rect">
            <a:avLst/>
          </a:prstGeom>
        </p:spPr>
      </p:pic>
      <p:sp>
        <p:nvSpPr>
          <p:cNvPr id="1050" name="Rectangle 1049">
            <a:extLst>
              <a:ext uri="{FF2B5EF4-FFF2-40B4-BE49-F238E27FC236}">
                <a16:creationId xmlns:a16="http://schemas.microsoft.com/office/drawing/2014/main" id="{9CCAB3A4-E677-039E-CAAF-2420D4C90727}"/>
              </a:ext>
            </a:extLst>
          </p:cNvPr>
          <p:cNvSpPr/>
          <p:nvPr/>
        </p:nvSpPr>
        <p:spPr>
          <a:xfrm>
            <a:off x="8242702" y="1050317"/>
            <a:ext cx="2122796" cy="45317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b="1">
                <a:solidFill>
                  <a:schemeClr val="tx1"/>
                </a:solidFill>
              </a:rPr>
              <a:t>Global Discovery Catalogue</a:t>
            </a:r>
            <a:endParaRPr lang="en-CH" sz="1600" b="1">
              <a:solidFill>
                <a:schemeClr val="tx1"/>
              </a:solidFill>
            </a:endParaRPr>
          </a:p>
        </p:txBody>
      </p:sp>
      <p:pic>
        <p:nvPicPr>
          <p:cNvPr id="1051" name="Graphic 1050" descr="Books outline">
            <a:extLst>
              <a:ext uri="{FF2B5EF4-FFF2-40B4-BE49-F238E27FC236}">
                <a16:creationId xmlns:a16="http://schemas.microsoft.com/office/drawing/2014/main" id="{9F5B5AED-BD9C-A3CE-0F71-064C55EAE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3633" y="1099219"/>
            <a:ext cx="385091" cy="385091"/>
          </a:xfrm>
          <a:prstGeom prst="rect">
            <a:avLst/>
          </a:prstGeom>
        </p:spPr>
      </p:pic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9BC896BE-74B9-84D8-5D16-1536073A28A4}"/>
              </a:ext>
            </a:extLst>
          </p:cNvPr>
          <p:cNvCxnSpPr>
            <a:cxnSpLocks/>
            <a:stCxn id="1050" idx="1"/>
          </p:cNvCxnSpPr>
          <p:nvPr/>
        </p:nvCxnSpPr>
        <p:spPr>
          <a:xfrm flipH="1">
            <a:off x="7286754" y="1276906"/>
            <a:ext cx="955948" cy="85461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32A4A5DE-DED8-7D95-D261-07A510B59403}"/>
              </a:ext>
            </a:extLst>
          </p:cNvPr>
          <p:cNvCxnSpPr>
            <a:cxnSpLocks/>
            <a:stCxn id="1041" idx="1"/>
          </p:cNvCxnSpPr>
          <p:nvPr/>
        </p:nvCxnSpPr>
        <p:spPr>
          <a:xfrm flipH="1" flipV="1">
            <a:off x="7286754" y="2131516"/>
            <a:ext cx="955946" cy="8675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TextBox 1055">
            <a:extLst>
              <a:ext uri="{FF2B5EF4-FFF2-40B4-BE49-F238E27FC236}">
                <a16:creationId xmlns:a16="http://schemas.microsoft.com/office/drawing/2014/main" id="{780FB7C3-FD0D-D34E-AB11-1F30FAAE6747}"/>
              </a:ext>
            </a:extLst>
          </p:cNvPr>
          <p:cNvSpPr txBox="1"/>
          <p:nvPr/>
        </p:nvSpPr>
        <p:spPr>
          <a:xfrm>
            <a:off x="7642751" y="1926638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2">
                    <a:lumMod val="75000"/>
                  </a:schemeClr>
                </a:solidFill>
              </a:rPr>
              <a:t>MQTT</a:t>
            </a:r>
            <a:endParaRPr lang="en-CH" sz="11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075416F3-C150-FBA3-2BA6-6AA38A94E67C}"/>
              </a:ext>
            </a:extLst>
          </p:cNvPr>
          <p:cNvSpPr txBox="1"/>
          <p:nvPr/>
        </p:nvSpPr>
        <p:spPr>
          <a:xfrm rot="18900058">
            <a:off x="7438335" y="1515772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3">
                    <a:lumMod val="50000"/>
                  </a:schemeClr>
                </a:solidFill>
              </a:rPr>
              <a:t>HTTP</a:t>
            </a:r>
            <a:endParaRPr lang="en-CH" sz="1100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4F67BA6E-06A6-52AE-5D3D-0C098439C585}"/>
              </a:ext>
            </a:extLst>
          </p:cNvPr>
          <p:cNvSpPr txBox="1"/>
          <p:nvPr/>
        </p:nvSpPr>
        <p:spPr>
          <a:xfrm rot="2590689">
            <a:off x="7631977" y="2422143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>
                <a:solidFill>
                  <a:schemeClr val="accent1">
                    <a:lumMod val="50000"/>
                  </a:schemeClr>
                </a:solidFill>
              </a:rPr>
              <a:t>HTTP</a:t>
            </a:r>
            <a:endParaRPr lang="en-CH" sz="1100" b="1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BA091C73-4505-B6DF-3509-FB77CE8FD94C}"/>
              </a:ext>
            </a:extLst>
          </p:cNvPr>
          <p:cNvCxnSpPr>
            <a:cxnSpLocks/>
            <a:stCxn id="1043" idx="1"/>
          </p:cNvCxnSpPr>
          <p:nvPr/>
        </p:nvCxnSpPr>
        <p:spPr>
          <a:xfrm flipH="1" flipV="1">
            <a:off x="7286754" y="2131516"/>
            <a:ext cx="951724" cy="856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FC77010-064C-C9B0-34FA-0DC2AA3C5F5F}"/>
              </a:ext>
            </a:extLst>
          </p:cNvPr>
          <p:cNvSpPr/>
          <p:nvPr/>
        </p:nvSpPr>
        <p:spPr>
          <a:xfrm>
            <a:off x="553909" y="894147"/>
            <a:ext cx="6796318" cy="4420122"/>
          </a:xfrm>
          <a:prstGeom prst="rect">
            <a:avLst/>
          </a:prstGeom>
          <a:noFill/>
          <a:ln cap="flat">
            <a:solidFill>
              <a:srgbClr val="1042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r"/>
            <a:r>
              <a:rPr lang="en-US" b="1">
                <a:solidFill>
                  <a:srgbClr val="1042D3"/>
                </a:solidFill>
              </a:rPr>
              <a:t>WIS2 in a box</a:t>
            </a: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US" b="1">
              <a:solidFill>
                <a:srgbClr val="1042D3"/>
              </a:solidFill>
            </a:endParaRPr>
          </a:p>
          <a:p>
            <a:pPr algn="r"/>
            <a:endParaRPr lang="en-CH" b="1">
              <a:solidFill>
                <a:srgbClr val="1042D3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421B8FB-94A6-DAC5-7B7E-5472C873FB87}"/>
              </a:ext>
            </a:extLst>
          </p:cNvPr>
          <p:cNvSpPr/>
          <p:nvPr/>
        </p:nvSpPr>
        <p:spPr>
          <a:xfrm>
            <a:off x="2611984" y="4091888"/>
            <a:ext cx="1835632" cy="651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H" sz="13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8B0577-9AD9-CC04-182C-8501E7B9D382}"/>
              </a:ext>
            </a:extLst>
          </p:cNvPr>
          <p:cNvSpPr/>
          <p:nvPr/>
        </p:nvSpPr>
        <p:spPr>
          <a:xfrm>
            <a:off x="5064852" y="3880080"/>
            <a:ext cx="2277563" cy="14341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H" sz="13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BB6BE-E1ED-1F3D-E47A-F0150B023804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 b="1"/>
              <a:t>WIS2 in a box services</a:t>
            </a:r>
            <a:endParaRPr lang="en-CH" sz="3200" b="1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BBB8B52-9C6E-A734-9A05-0831BE3AF6F4}"/>
              </a:ext>
            </a:extLst>
          </p:cNvPr>
          <p:cNvGrpSpPr/>
          <p:nvPr/>
        </p:nvGrpSpPr>
        <p:grpSpPr>
          <a:xfrm>
            <a:off x="1497476" y="1056149"/>
            <a:ext cx="3014034" cy="905466"/>
            <a:chOff x="6398334" y="2370221"/>
            <a:chExt cx="2829888" cy="79567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3731DB3-FA46-6F88-C932-F423582D49A5}"/>
                </a:ext>
              </a:extLst>
            </p:cNvPr>
            <p:cNvSpPr/>
            <p:nvPr/>
          </p:nvSpPr>
          <p:spPr>
            <a:xfrm>
              <a:off x="6398334" y="2370221"/>
              <a:ext cx="2829888" cy="795673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marR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3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28" name="Picture 4" descr="MinIO | Understand the guidelines for using MinIO's marks">
              <a:extLst>
                <a:ext uri="{FF2B5EF4-FFF2-40B4-BE49-F238E27FC236}">
                  <a16:creationId xmlns:a16="http://schemas.microsoft.com/office/drawing/2014/main" id="{EBD81F4D-C79F-7C39-9E0D-4BE4555D76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4436" y="2469320"/>
              <a:ext cx="882163" cy="117063"/>
            </a:xfrm>
            <a:prstGeom prst="rect">
              <a:avLst/>
            </a:prstGeom>
            <a:grpFill/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33D3C3-7A01-41A8-B68B-1C47BBCF460E}"/>
              </a:ext>
            </a:extLst>
          </p:cNvPr>
          <p:cNvGrpSpPr/>
          <p:nvPr/>
        </p:nvGrpSpPr>
        <p:grpSpPr>
          <a:xfrm>
            <a:off x="1651465" y="1563181"/>
            <a:ext cx="1233306" cy="331213"/>
            <a:chOff x="6815139" y="3051601"/>
            <a:chExt cx="1233306" cy="33121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AC1BB8-4E50-7898-0750-8DF20BAC813B}"/>
                </a:ext>
              </a:extLst>
            </p:cNvPr>
            <p:cNvSpPr/>
            <p:nvPr/>
          </p:nvSpPr>
          <p:spPr>
            <a:xfrm>
              <a:off x="6815139" y="3051601"/>
              <a:ext cx="1233306" cy="331213"/>
            </a:xfrm>
            <a:prstGeom prst="rect">
              <a:avLst/>
            </a:prstGeom>
            <a:solidFill>
              <a:srgbClr val="004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marR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incoming</a:t>
              </a:r>
              <a:endParaRPr kumimoji="0" lang="en-CH" sz="1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CB4434F-E5D5-DD67-9369-F304E411D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03389" y="3064365"/>
              <a:ext cx="296816" cy="309823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C2C3C3-7275-4B56-571C-8913A8EA4F93}"/>
              </a:ext>
            </a:extLst>
          </p:cNvPr>
          <p:cNvGrpSpPr/>
          <p:nvPr/>
        </p:nvGrpSpPr>
        <p:grpSpPr>
          <a:xfrm>
            <a:off x="3199117" y="1550417"/>
            <a:ext cx="1233306" cy="331213"/>
            <a:chOff x="6815139" y="3051601"/>
            <a:chExt cx="1233306" cy="33121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26714A-CBF6-C6DA-41BE-E67E54E5AF41}"/>
                </a:ext>
              </a:extLst>
            </p:cNvPr>
            <p:cNvSpPr/>
            <p:nvPr/>
          </p:nvSpPr>
          <p:spPr>
            <a:xfrm>
              <a:off x="6815139" y="3051601"/>
              <a:ext cx="1233306" cy="331213"/>
            </a:xfrm>
            <a:prstGeom prst="rect">
              <a:avLst/>
            </a:prstGeom>
            <a:solidFill>
              <a:srgbClr val="004F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marR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1300" b="1">
                  <a:solidFill>
                    <a:schemeClr val="bg1"/>
                  </a:solidFill>
                  <a:latin typeface="Calibri"/>
                </a:rPr>
                <a:t>public</a:t>
              </a:r>
              <a:endParaRPr kumimoji="0" lang="en-CH" sz="13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4E68A2E3-3670-C070-A643-A6E039A26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03389" y="3064365"/>
              <a:ext cx="296816" cy="309823"/>
            </a:xfrm>
            <a:prstGeom prst="rect">
              <a:avLst/>
            </a:prstGeom>
          </p:spPr>
        </p:pic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BD50D99B-AA56-755E-4228-5A6340DE32BF}"/>
              </a:ext>
            </a:extLst>
          </p:cNvPr>
          <p:cNvSpPr/>
          <p:nvPr/>
        </p:nvSpPr>
        <p:spPr>
          <a:xfrm>
            <a:off x="6158543" y="2084767"/>
            <a:ext cx="1181198" cy="8422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H" sz="13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34" name="Picture 10" descr="Eclipse Mosquitto by CEDALO GmbH - ctrlX AUTOMATION">
            <a:extLst>
              <a:ext uri="{FF2B5EF4-FFF2-40B4-BE49-F238E27FC236}">
                <a16:creationId xmlns:a16="http://schemas.microsoft.com/office/drawing/2014/main" id="{C3F8C516-9EEA-CFAA-5470-143614993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488" y="2373564"/>
            <a:ext cx="959531" cy="541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Monitoring Ultimatearm Outline icon">
            <a:extLst>
              <a:ext uri="{FF2B5EF4-FFF2-40B4-BE49-F238E27FC236}">
                <a16:creationId xmlns:a16="http://schemas.microsoft.com/office/drawing/2014/main" id="{C1E9A188-FE48-7227-4B44-CCF648184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578" y="4507481"/>
            <a:ext cx="699924" cy="699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770D144-B8FC-6E4E-CE3B-9F5081794E16}"/>
              </a:ext>
            </a:extLst>
          </p:cNvPr>
          <p:cNvSpPr/>
          <p:nvPr/>
        </p:nvSpPr>
        <p:spPr>
          <a:xfrm>
            <a:off x="1812676" y="2462170"/>
            <a:ext cx="2634165" cy="10385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H" sz="13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BDAABF-60E7-C74C-BCAF-8CF9BF49B8B7}"/>
              </a:ext>
            </a:extLst>
          </p:cNvPr>
          <p:cNvSpPr txBox="1"/>
          <p:nvPr/>
        </p:nvSpPr>
        <p:spPr>
          <a:xfrm>
            <a:off x="2254277" y="2437789"/>
            <a:ext cx="2229403" cy="103105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wis2box-management</a:t>
            </a:r>
          </a:p>
          <a:p>
            <a:pPr algn="r"/>
            <a:endParaRPr lang="en-US" sz="900" b="1"/>
          </a:p>
          <a:p>
            <a:pPr algn="r"/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apply data mappings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  <a:p>
            <a:pPr algn="r"/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create WIS2 notifications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  <a:p>
            <a:pPr algn="r"/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create WCMP2 records</a:t>
            </a:r>
            <a:endParaRPr lang="en-US" sz="120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1042" name="Picture 18" descr="Input, system, operation, process, insert icon - Download on Iconfinder">
            <a:extLst>
              <a:ext uri="{FF2B5EF4-FFF2-40B4-BE49-F238E27FC236}">
                <a16:creationId xmlns:a16="http://schemas.microsoft.com/office/drawing/2014/main" id="{4D5A838A-9A29-F874-2100-1123299B5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919380" y="2478437"/>
            <a:ext cx="692604" cy="69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9AF376D-C081-3D30-4813-7B94AC5603CC}"/>
              </a:ext>
            </a:extLst>
          </p:cNvPr>
          <p:cNvSpPr txBox="1"/>
          <p:nvPr/>
        </p:nvSpPr>
        <p:spPr>
          <a:xfrm>
            <a:off x="5126639" y="3883161"/>
            <a:ext cx="1938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3">
                    <a:lumMod val="50000"/>
                  </a:schemeClr>
                </a:solidFill>
              </a:rPr>
              <a:t>web-interfaces</a:t>
            </a:r>
            <a:endParaRPr lang="en-CH" sz="1600" b="1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5D6115-3FD1-6868-8208-BEE5A79B69BD}"/>
              </a:ext>
            </a:extLst>
          </p:cNvPr>
          <p:cNvSpPr txBox="1"/>
          <p:nvPr/>
        </p:nvSpPr>
        <p:spPr>
          <a:xfrm>
            <a:off x="5951561" y="4163923"/>
            <a:ext cx="119936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100"/>
              <a:t>monitoring</a:t>
            </a:r>
          </a:p>
          <a:p>
            <a:pPr algn="r"/>
            <a:r>
              <a:rPr lang="en-US" sz="1100"/>
              <a:t>map-display</a:t>
            </a:r>
          </a:p>
          <a:p>
            <a:pPr algn="r"/>
            <a:r>
              <a:rPr lang="en-US" sz="1100"/>
              <a:t>timeseries</a:t>
            </a:r>
          </a:p>
          <a:p>
            <a:pPr algn="r"/>
            <a:r>
              <a:rPr lang="en-US" sz="1100"/>
              <a:t>dataset-editor</a:t>
            </a:r>
          </a:p>
          <a:p>
            <a:pPr algn="r"/>
            <a:r>
              <a:rPr lang="en-US" sz="1100"/>
              <a:t>FM-12 input form</a:t>
            </a:r>
          </a:p>
          <a:p>
            <a:pPr algn="r"/>
            <a:r>
              <a:rPr lang="en-US" sz="1100"/>
              <a:t>station-editor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3736DA-59AE-11F0-BFE7-E771973A0A66}"/>
              </a:ext>
            </a:extLst>
          </p:cNvPr>
          <p:cNvSpPr txBox="1"/>
          <p:nvPr/>
        </p:nvSpPr>
        <p:spPr>
          <a:xfrm>
            <a:off x="2611983" y="4063533"/>
            <a:ext cx="1416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4F9F"/>
                </a:solidFill>
              </a:rPr>
              <a:t>wis2box-api</a:t>
            </a:r>
            <a:endParaRPr lang="en-CH" b="1">
              <a:solidFill>
                <a:srgbClr val="004F9F"/>
              </a:solidFill>
            </a:endParaRPr>
          </a:p>
        </p:txBody>
      </p:sp>
      <p:pic>
        <p:nvPicPr>
          <p:cNvPr id="1044" name="Picture 20" descr="opengeospatial - YouTube">
            <a:extLst>
              <a:ext uri="{FF2B5EF4-FFF2-40B4-BE49-F238E27FC236}">
                <a16:creationId xmlns:a16="http://schemas.microsoft.com/office/drawing/2014/main" id="{7DC32843-6167-BF5D-D3C8-768AFFAF7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560" y="4091753"/>
            <a:ext cx="307055" cy="307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ome - pygeoapi">
            <a:extLst>
              <a:ext uri="{FF2B5EF4-FFF2-40B4-BE49-F238E27FC236}">
                <a16:creationId xmlns:a16="http://schemas.microsoft.com/office/drawing/2014/main" id="{4BB8FE9D-04ED-0DD8-ACFC-00BD8BC599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423" y="4448509"/>
            <a:ext cx="853002" cy="23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B2DDDE4-72E3-46FE-1E2D-CB8FE9F435B0}"/>
              </a:ext>
            </a:extLst>
          </p:cNvPr>
          <p:cNvSpPr txBox="1"/>
          <p:nvPr/>
        </p:nvSpPr>
        <p:spPr>
          <a:xfrm>
            <a:off x="1520328" y="1024898"/>
            <a:ext cx="16185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chemeClr val="accent1">
                    <a:lumMod val="75000"/>
                  </a:schemeClr>
                </a:solidFill>
              </a:rPr>
              <a:t>storage</a:t>
            </a:r>
            <a:endParaRPr lang="en-CH" sz="1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7FB2B22-70B7-D690-2291-0332E24E1EF7}"/>
              </a:ext>
            </a:extLst>
          </p:cNvPr>
          <p:cNvSpPr txBox="1"/>
          <p:nvPr/>
        </p:nvSpPr>
        <p:spPr>
          <a:xfrm>
            <a:off x="6193681" y="2102491"/>
            <a:ext cx="12871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MQTT broker</a:t>
            </a:r>
            <a:endParaRPr lang="en-CH" sz="14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B80F3EB8-675D-C97F-A33E-F7AACE8DBD81}"/>
              </a:ext>
            </a:extLst>
          </p:cNvPr>
          <p:cNvGrpSpPr/>
          <p:nvPr/>
        </p:nvGrpSpPr>
        <p:grpSpPr>
          <a:xfrm>
            <a:off x="6158543" y="1391288"/>
            <a:ext cx="1375858" cy="729933"/>
            <a:chOff x="5092525" y="1509911"/>
            <a:chExt cx="1479031" cy="729933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9FB3FCD-6F26-2061-C667-52F603C5251A}"/>
                </a:ext>
              </a:extLst>
            </p:cNvPr>
            <p:cNvSpPr/>
            <p:nvPr/>
          </p:nvSpPr>
          <p:spPr>
            <a:xfrm>
              <a:off x="5092525" y="1524893"/>
              <a:ext cx="1269774" cy="7149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marR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CH" sz="13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048" name="Picture 24">
              <a:extLst>
                <a:ext uri="{FF2B5EF4-FFF2-40B4-BE49-F238E27FC236}">
                  <a16:creationId xmlns:a16="http://schemas.microsoft.com/office/drawing/2014/main" id="{FFD6607D-E50E-B788-2F63-3DBC08B67F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3388" y="1967896"/>
              <a:ext cx="749260" cy="156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9D070B5-F9FB-4427-08D1-AA5C174A9AA6}"/>
                </a:ext>
              </a:extLst>
            </p:cNvPr>
            <p:cNvSpPr txBox="1"/>
            <p:nvPr/>
          </p:nvSpPr>
          <p:spPr>
            <a:xfrm>
              <a:off x="5130298" y="1509911"/>
              <a:ext cx="14412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75000"/>
                    </a:schemeClr>
                  </a:solidFill>
                </a:rPr>
                <a:t>HTTP proxy</a:t>
              </a:r>
              <a:endParaRPr lang="en-CH" sz="1600" b="1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cxnSp>
        <p:nvCxnSpPr>
          <p:cNvPr id="1104" name="Straight Arrow Connector 1103">
            <a:extLst>
              <a:ext uri="{FF2B5EF4-FFF2-40B4-BE49-F238E27FC236}">
                <a16:creationId xmlns:a16="http://schemas.microsoft.com/office/drawing/2014/main" id="{DBED8880-8504-4C83-C416-2202C4AC6786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2268118" y="1894394"/>
            <a:ext cx="0" cy="6926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6" name="Straight Arrow Connector 1105">
            <a:extLst>
              <a:ext uri="{FF2B5EF4-FFF2-40B4-BE49-F238E27FC236}">
                <a16:creationId xmlns:a16="http://schemas.microsoft.com/office/drawing/2014/main" id="{916CD2A5-D0D3-AC2D-1273-404BA902E975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815770" y="1881630"/>
            <a:ext cx="0" cy="5561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5" name="Straight Arrow Connector 1114">
            <a:extLst>
              <a:ext uri="{FF2B5EF4-FFF2-40B4-BE49-F238E27FC236}">
                <a16:creationId xmlns:a16="http://schemas.microsoft.com/office/drawing/2014/main" id="{0308849B-00F9-6850-F106-75CDD6FF1D3A}"/>
              </a:ext>
            </a:extLst>
          </p:cNvPr>
          <p:cNvCxnSpPr>
            <a:cxnSpLocks/>
          </p:cNvCxnSpPr>
          <p:nvPr/>
        </p:nvCxnSpPr>
        <p:spPr>
          <a:xfrm flipV="1">
            <a:off x="-56615" y="1716023"/>
            <a:ext cx="1708080" cy="148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4" name="Straight Arrow Connector 1123">
            <a:extLst>
              <a:ext uri="{FF2B5EF4-FFF2-40B4-BE49-F238E27FC236}">
                <a16:creationId xmlns:a16="http://schemas.microsoft.com/office/drawing/2014/main" id="{FE164A18-CE66-8B84-A0C0-D5833DBE89BF}"/>
              </a:ext>
            </a:extLst>
          </p:cNvPr>
          <p:cNvCxnSpPr>
            <a:cxnSpLocks/>
            <a:stCxn id="35" idx="3"/>
            <a:endCxn id="1134" idx="1"/>
          </p:cNvCxnSpPr>
          <p:nvPr/>
        </p:nvCxnSpPr>
        <p:spPr>
          <a:xfrm flipV="1">
            <a:off x="4432423" y="1706516"/>
            <a:ext cx="1794742" cy="950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1" name="TextBox 1130">
            <a:extLst>
              <a:ext uri="{FF2B5EF4-FFF2-40B4-BE49-F238E27FC236}">
                <a16:creationId xmlns:a16="http://schemas.microsoft.com/office/drawing/2014/main" id="{503AA8AB-1A12-D650-859B-7A447B462D0D}"/>
              </a:ext>
            </a:extLst>
          </p:cNvPr>
          <p:cNvSpPr txBox="1"/>
          <p:nvPr/>
        </p:nvSpPr>
        <p:spPr>
          <a:xfrm>
            <a:off x="2254278" y="1878206"/>
            <a:ext cx="79052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tx1">
                    <a:lumMod val="95000"/>
                    <a:lumOff val="5000"/>
                  </a:schemeClr>
                </a:solidFill>
              </a:rPr>
              <a:t>listen to incoming- bucket</a:t>
            </a:r>
            <a:endParaRPr lang="en-CH" sz="11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CCCEBE57-5DD4-F16B-67F0-789D1D47FB0A}"/>
              </a:ext>
            </a:extLst>
          </p:cNvPr>
          <p:cNvSpPr txBox="1"/>
          <p:nvPr/>
        </p:nvSpPr>
        <p:spPr>
          <a:xfrm>
            <a:off x="3829183" y="1896726"/>
            <a:ext cx="84704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>
                <a:solidFill>
                  <a:schemeClr val="tx1">
                    <a:lumMod val="95000"/>
                    <a:lumOff val="5000"/>
                  </a:schemeClr>
                </a:solidFill>
              </a:rPr>
              <a:t>publish to public- bucket</a:t>
            </a:r>
            <a:endParaRPr lang="en-CH" sz="11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91BE50BA-80DD-4044-D000-DD7F3F0A5EBA}"/>
              </a:ext>
            </a:extLst>
          </p:cNvPr>
          <p:cNvSpPr txBox="1"/>
          <p:nvPr/>
        </p:nvSpPr>
        <p:spPr>
          <a:xfrm flipH="1">
            <a:off x="4964913" y="1483378"/>
            <a:ext cx="126225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proxy</a:t>
            </a:r>
          </a:p>
          <a:p>
            <a:endParaRPr lang="en-CH" sz="1200" b="1"/>
          </a:p>
        </p:txBody>
      </p:sp>
      <p:cxnSp>
        <p:nvCxnSpPr>
          <p:cNvPr id="1136" name="Straight Arrow Connector 1135">
            <a:extLst>
              <a:ext uri="{FF2B5EF4-FFF2-40B4-BE49-F238E27FC236}">
                <a16:creationId xmlns:a16="http://schemas.microsoft.com/office/drawing/2014/main" id="{AC7FDC9D-9873-F52B-AB33-0A505541CD37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3129759" y="3500719"/>
            <a:ext cx="0" cy="591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7" name="Straight Arrow Connector 1146">
            <a:extLst>
              <a:ext uri="{FF2B5EF4-FFF2-40B4-BE49-F238E27FC236}">
                <a16:creationId xmlns:a16="http://schemas.microsoft.com/office/drawing/2014/main" id="{ACF5ABB9-988A-9E23-4744-E1C26B171C31}"/>
              </a:ext>
            </a:extLst>
          </p:cNvPr>
          <p:cNvCxnSpPr/>
          <p:nvPr/>
        </p:nvCxnSpPr>
        <p:spPr>
          <a:xfrm>
            <a:off x="3725773" y="3515037"/>
            <a:ext cx="0" cy="5945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9" name="Straight Arrow Connector 1148">
            <a:extLst>
              <a:ext uri="{FF2B5EF4-FFF2-40B4-BE49-F238E27FC236}">
                <a16:creationId xmlns:a16="http://schemas.microsoft.com/office/drawing/2014/main" id="{53B6715B-EB9F-62EE-847D-F1DB80154C9E}"/>
              </a:ext>
            </a:extLst>
          </p:cNvPr>
          <p:cNvCxnSpPr>
            <a:cxnSpLocks/>
            <a:stCxn id="45" idx="3"/>
            <a:endCxn id="38" idx="1"/>
          </p:cNvCxnSpPr>
          <p:nvPr/>
        </p:nvCxnSpPr>
        <p:spPr>
          <a:xfrm flipV="1">
            <a:off x="4483680" y="2505914"/>
            <a:ext cx="1674863" cy="4474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3" name="TextBox 1152">
            <a:extLst>
              <a:ext uri="{FF2B5EF4-FFF2-40B4-BE49-F238E27FC236}">
                <a16:creationId xmlns:a16="http://schemas.microsoft.com/office/drawing/2014/main" id="{3C4D9810-5FC2-7097-1657-6B9513C79BE3}"/>
              </a:ext>
            </a:extLst>
          </p:cNvPr>
          <p:cNvSpPr txBox="1"/>
          <p:nvPr/>
        </p:nvSpPr>
        <p:spPr>
          <a:xfrm rot="20733408">
            <a:off x="4388306" y="2509361"/>
            <a:ext cx="1797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publish WIS2-notifications</a:t>
            </a:r>
            <a:endParaRPr lang="en-CH" sz="1100" b="1"/>
          </a:p>
        </p:txBody>
      </p:sp>
      <p:cxnSp>
        <p:nvCxnSpPr>
          <p:cNvPr id="1155" name="Straight Arrow Connector 1154">
            <a:extLst>
              <a:ext uri="{FF2B5EF4-FFF2-40B4-BE49-F238E27FC236}">
                <a16:creationId xmlns:a16="http://schemas.microsoft.com/office/drawing/2014/main" id="{A60F94FD-DC62-36E0-7F68-E72951CD4F45}"/>
              </a:ext>
            </a:extLst>
          </p:cNvPr>
          <p:cNvCxnSpPr>
            <a:cxnSpLocks/>
            <a:stCxn id="48" idx="1"/>
            <a:endCxn id="53" idx="3"/>
          </p:cNvCxnSpPr>
          <p:nvPr/>
        </p:nvCxnSpPr>
        <p:spPr>
          <a:xfrm flipH="1" flipV="1">
            <a:off x="4447616" y="4417788"/>
            <a:ext cx="617236" cy="1793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8" name="Straight Arrow Connector 1157">
            <a:extLst>
              <a:ext uri="{FF2B5EF4-FFF2-40B4-BE49-F238E27FC236}">
                <a16:creationId xmlns:a16="http://schemas.microsoft.com/office/drawing/2014/main" id="{38591161-D717-F7A1-F141-411223CE0FDB}"/>
              </a:ext>
            </a:extLst>
          </p:cNvPr>
          <p:cNvCxnSpPr>
            <a:cxnSpLocks/>
          </p:cNvCxnSpPr>
          <p:nvPr/>
        </p:nvCxnSpPr>
        <p:spPr>
          <a:xfrm>
            <a:off x="4432423" y="4517512"/>
            <a:ext cx="675985" cy="21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9" name="Rectangle 1158">
            <a:extLst>
              <a:ext uri="{FF2B5EF4-FFF2-40B4-BE49-F238E27FC236}">
                <a16:creationId xmlns:a16="http://schemas.microsoft.com/office/drawing/2014/main" id="{02DBBBF9-0C4E-EC86-F57F-75B3038ECAC9}"/>
              </a:ext>
            </a:extLst>
          </p:cNvPr>
          <p:cNvSpPr/>
          <p:nvPr/>
        </p:nvSpPr>
        <p:spPr>
          <a:xfrm>
            <a:off x="655803" y="4081595"/>
            <a:ext cx="1189622" cy="4992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4F9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API-backend</a:t>
            </a:r>
            <a:endParaRPr lang="en-US" sz="1300" b="1">
              <a:solidFill>
                <a:srgbClr val="004F9F"/>
              </a:solidFill>
              <a:latin typeface="Calibri"/>
            </a:endParaRPr>
          </a:p>
          <a:p>
            <a:pPr marL="8890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CH" sz="13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162" name="Straight Arrow Connector 1161">
            <a:extLst>
              <a:ext uri="{FF2B5EF4-FFF2-40B4-BE49-F238E27FC236}">
                <a16:creationId xmlns:a16="http://schemas.microsoft.com/office/drawing/2014/main" id="{3C55FE24-70CB-BCAF-68EF-3F82559F472E}"/>
              </a:ext>
            </a:extLst>
          </p:cNvPr>
          <p:cNvCxnSpPr>
            <a:stCxn id="52" idx="1"/>
          </p:cNvCxnSpPr>
          <p:nvPr/>
        </p:nvCxnSpPr>
        <p:spPr>
          <a:xfrm flipH="1" flipV="1">
            <a:off x="1845425" y="4245024"/>
            <a:ext cx="766558" cy="3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3" name="Straight Arrow Connector 1162">
            <a:extLst>
              <a:ext uri="{FF2B5EF4-FFF2-40B4-BE49-F238E27FC236}">
                <a16:creationId xmlns:a16="http://schemas.microsoft.com/office/drawing/2014/main" id="{DCB3E46D-E2B5-70C9-4597-FA3364556B62}"/>
              </a:ext>
            </a:extLst>
          </p:cNvPr>
          <p:cNvCxnSpPr>
            <a:cxnSpLocks/>
            <a:stCxn id="1159" idx="3"/>
          </p:cNvCxnSpPr>
          <p:nvPr/>
        </p:nvCxnSpPr>
        <p:spPr>
          <a:xfrm>
            <a:off x="1845425" y="4331218"/>
            <a:ext cx="766559" cy="31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69" name="Picture 1168">
            <a:extLst>
              <a:ext uri="{FF2B5EF4-FFF2-40B4-BE49-F238E27FC236}">
                <a16:creationId xmlns:a16="http://schemas.microsoft.com/office/drawing/2014/main" id="{65D7EF10-C9A8-4E50-B2A6-28EE798ED05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09878" y="6384210"/>
            <a:ext cx="1968520" cy="380053"/>
          </a:xfrm>
          <a:prstGeom prst="rect">
            <a:avLst/>
          </a:prstGeom>
        </p:spPr>
      </p:pic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7EC93418-C441-4CCC-97BE-94FD77E5822E}"/>
              </a:ext>
            </a:extLst>
          </p:cNvPr>
          <p:cNvGrpSpPr/>
          <p:nvPr/>
        </p:nvGrpSpPr>
        <p:grpSpPr>
          <a:xfrm>
            <a:off x="4794848" y="6206611"/>
            <a:ext cx="1501140" cy="167335"/>
            <a:chOff x="1291420" y="4618649"/>
            <a:chExt cx="3861918" cy="266059"/>
          </a:xfrm>
        </p:grpSpPr>
        <p:cxnSp>
          <p:nvCxnSpPr>
            <p:cNvPr id="1173" name="Straight Connector 1172">
              <a:extLst>
                <a:ext uri="{FF2B5EF4-FFF2-40B4-BE49-F238E27FC236}">
                  <a16:creationId xmlns:a16="http://schemas.microsoft.com/office/drawing/2014/main" id="{3BEC3C75-8F3C-46DD-98FD-695BBECC7C4C}"/>
                </a:ext>
              </a:extLst>
            </p:cNvPr>
            <p:cNvCxnSpPr/>
            <p:nvPr/>
          </p:nvCxnSpPr>
          <p:spPr>
            <a:xfrm>
              <a:off x="1291420" y="4622457"/>
              <a:ext cx="386191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4" name="Straight Connector 1173">
              <a:extLst>
                <a:ext uri="{FF2B5EF4-FFF2-40B4-BE49-F238E27FC236}">
                  <a16:creationId xmlns:a16="http://schemas.microsoft.com/office/drawing/2014/main" id="{6F908FD8-F231-4602-AB36-15D74745BB8A}"/>
                </a:ext>
              </a:extLst>
            </p:cNvPr>
            <p:cNvCxnSpPr/>
            <p:nvPr/>
          </p:nvCxnSpPr>
          <p:spPr>
            <a:xfrm>
              <a:off x="1315930" y="4626551"/>
              <a:ext cx="0" cy="2350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5" name="Straight Connector 1174">
              <a:extLst>
                <a:ext uri="{FF2B5EF4-FFF2-40B4-BE49-F238E27FC236}">
                  <a16:creationId xmlns:a16="http://schemas.microsoft.com/office/drawing/2014/main" id="{2CF24264-7F0D-46C4-BC82-E4114AF0354A}"/>
                </a:ext>
              </a:extLst>
            </p:cNvPr>
            <p:cNvCxnSpPr/>
            <p:nvPr/>
          </p:nvCxnSpPr>
          <p:spPr>
            <a:xfrm>
              <a:off x="2198200" y="4626264"/>
              <a:ext cx="0" cy="23500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6" name="Straight Connector 1175">
              <a:extLst>
                <a:ext uri="{FF2B5EF4-FFF2-40B4-BE49-F238E27FC236}">
                  <a16:creationId xmlns:a16="http://schemas.microsoft.com/office/drawing/2014/main" id="{A3B2BFB7-B166-462E-8906-61E246D15FB2}"/>
                </a:ext>
              </a:extLst>
            </p:cNvPr>
            <p:cNvCxnSpPr/>
            <p:nvPr/>
          </p:nvCxnSpPr>
          <p:spPr>
            <a:xfrm>
              <a:off x="3699343" y="4618649"/>
              <a:ext cx="0" cy="23501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7" name="Straight Connector 1176">
              <a:extLst>
                <a:ext uri="{FF2B5EF4-FFF2-40B4-BE49-F238E27FC236}">
                  <a16:creationId xmlns:a16="http://schemas.microsoft.com/office/drawing/2014/main" id="{DB3F67DF-457B-4419-8B14-9E72E96006AC}"/>
                </a:ext>
              </a:extLst>
            </p:cNvPr>
            <p:cNvCxnSpPr/>
            <p:nvPr/>
          </p:nvCxnSpPr>
          <p:spPr>
            <a:xfrm>
              <a:off x="5115016" y="4649700"/>
              <a:ext cx="0" cy="2350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381D5203-914B-40A7-AF11-0949CB7C63B6}"/>
              </a:ext>
            </a:extLst>
          </p:cNvPr>
          <p:cNvCxnSpPr>
            <a:cxnSpLocks/>
          </p:cNvCxnSpPr>
          <p:nvPr/>
        </p:nvCxnSpPr>
        <p:spPr>
          <a:xfrm flipH="1" flipV="1">
            <a:off x="3686344" y="4743687"/>
            <a:ext cx="1384545" cy="1462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5B5CA6D-B8A9-7162-97F2-D490F86AF871}"/>
              </a:ext>
            </a:extLst>
          </p:cNvPr>
          <p:cNvSpPr txBox="1"/>
          <p:nvPr/>
        </p:nvSpPr>
        <p:spPr>
          <a:xfrm rot="2795203">
            <a:off x="4138811" y="5823297"/>
            <a:ext cx="1780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rgbClr val="004F9F"/>
                </a:solidFill>
              </a:rPr>
              <a:t>query data-items</a:t>
            </a:r>
            <a:endParaRPr lang="en-CH" sz="1100">
              <a:solidFill>
                <a:srgbClr val="004F9F"/>
              </a:solidFill>
            </a:endParaRPr>
          </a:p>
        </p:txBody>
      </p:sp>
      <p:pic>
        <p:nvPicPr>
          <p:cNvPr id="1189" name="Picture 26">
            <a:extLst>
              <a:ext uri="{FF2B5EF4-FFF2-40B4-BE49-F238E27FC236}">
                <a16:creationId xmlns:a16="http://schemas.microsoft.com/office/drawing/2014/main" id="{D63D20DA-5272-E928-0D82-62D400308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29" y="4348563"/>
            <a:ext cx="910536" cy="199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1" name="TextBox 1200">
            <a:extLst>
              <a:ext uri="{FF2B5EF4-FFF2-40B4-BE49-F238E27FC236}">
                <a16:creationId xmlns:a16="http://schemas.microsoft.com/office/drawing/2014/main" id="{DAA026DC-6885-83F5-C537-9E665B1B915C}"/>
              </a:ext>
            </a:extLst>
          </p:cNvPr>
          <p:cNvSpPr txBox="1"/>
          <p:nvPr/>
        </p:nvSpPr>
        <p:spPr>
          <a:xfrm>
            <a:off x="5437121" y="5600035"/>
            <a:ext cx="1533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solidFill>
                  <a:srgbClr val="004F9F"/>
                </a:solidFill>
              </a:rPr>
              <a:t>OSCAR/Surface</a:t>
            </a:r>
            <a:endParaRPr lang="en-CH" sz="1200" b="1">
              <a:solidFill>
                <a:srgbClr val="004F9F"/>
              </a:solidFill>
            </a:endParaRPr>
          </a:p>
        </p:txBody>
      </p:sp>
      <p:cxnSp>
        <p:nvCxnSpPr>
          <p:cNvPr id="1203" name="Straight Arrow Connector 1202">
            <a:extLst>
              <a:ext uri="{FF2B5EF4-FFF2-40B4-BE49-F238E27FC236}">
                <a16:creationId xmlns:a16="http://schemas.microsoft.com/office/drawing/2014/main" id="{EEAA7137-F411-72A5-A80D-7D82DEFBCE31}"/>
              </a:ext>
            </a:extLst>
          </p:cNvPr>
          <p:cNvCxnSpPr>
            <a:cxnSpLocks/>
            <a:stCxn id="1201" idx="0"/>
            <a:endCxn id="48" idx="2"/>
          </p:cNvCxnSpPr>
          <p:nvPr/>
        </p:nvCxnSpPr>
        <p:spPr>
          <a:xfrm flipV="1">
            <a:off x="6203634" y="5314270"/>
            <a:ext cx="0" cy="285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F94DDF0-FC2B-DB75-854E-E3CAAFA1747E}"/>
              </a:ext>
            </a:extLst>
          </p:cNvPr>
          <p:cNvSpPr txBox="1"/>
          <p:nvPr/>
        </p:nvSpPr>
        <p:spPr>
          <a:xfrm>
            <a:off x="6132563" y="5311605"/>
            <a:ext cx="1007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rgbClr val="004F9F"/>
                </a:solidFill>
              </a:rPr>
              <a:t>Import station metadata</a:t>
            </a:r>
            <a:endParaRPr lang="en-CH" sz="900">
              <a:solidFill>
                <a:srgbClr val="004F9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F31A9-37AC-FC22-F5EC-56C573EC64B7}"/>
              </a:ext>
            </a:extLst>
          </p:cNvPr>
          <p:cNvSpPr txBox="1"/>
          <p:nvPr/>
        </p:nvSpPr>
        <p:spPr>
          <a:xfrm>
            <a:off x="7404837" y="4907538"/>
            <a:ext cx="4708226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/>
              <a:t>+ </a:t>
            </a:r>
            <a:r>
              <a:rPr lang="en-US" sz="1600" u="sng" dirty="0"/>
              <a:t>tools to facilitate international data sharing</a:t>
            </a:r>
            <a:r>
              <a:rPr lang="en-US" sz="16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conversion</a:t>
            </a:r>
            <a:r>
              <a:rPr lang="en-US" sz="1600" dirty="0"/>
              <a:t>: csv2bufr, synop2bufr, bufr2bufr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OGC API</a:t>
            </a:r>
            <a:r>
              <a:rPr lang="en-US" sz="1600" dirty="0"/>
              <a:t> to share data via an API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data visualization and monitoring </a:t>
            </a:r>
            <a:r>
              <a:rPr lang="en-US" sz="1600" dirty="0"/>
              <a:t>to detect issues and trigger corrective action</a:t>
            </a:r>
            <a:endParaRPr lang="en-US" sz="1600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Web interfaces </a:t>
            </a:r>
            <a:r>
              <a:rPr lang="en-US" sz="1600" dirty="0"/>
              <a:t>for manual data input (FM-12/CSV), configure datasets and station metadata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F23C08C-5A48-C636-61B0-F5A740AEF72D}"/>
              </a:ext>
            </a:extLst>
          </p:cNvPr>
          <p:cNvCxnSpPr>
            <a:cxnSpLocks/>
            <a:stCxn id="1044" idx="0"/>
            <a:endCxn id="1134" idx="1"/>
          </p:cNvCxnSpPr>
          <p:nvPr/>
        </p:nvCxnSpPr>
        <p:spPr>
          <a:xfrm rot="5400000" flipH="1" flipV="1">
            <a:off x="4068008" y="1932597"/>
            <a:ext cx="2385237" cy="1933077"/>
          </a:xfrm>
          <a:prstGeom prst="bentConnector4">
            <a:avLst>
              <a:gd name="adj1" fmla="val 18990"/>
              <a:gd name="adj2" fmla="val 85165"/>
            </a:avLst>
          </a:prstGeom>
          <a:ln w="12700">
            <a:prstDash val="sysDot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52D39E8B-DD80-BEDF-D611-F176A886A77E}"/>
              </a:ext>
            </a:extLst>
          </p:cNvPr>
          <p:cNvCxnSpPr>
            <a:cxnSpLocks/>
            <a:endCxn id="1134" idx="1"/>
          </p:cNvCxnSpPr>
          <p:nvPr/>
        </p:nvCxnSpPr>
        <p:spPr>
          <a:xfrm rot="5400000" flipH="1" flipV="1">
            <a:off x="5114884" y="2734927"/>
            <a:ext cx="2140692" cy="83870"/>
          </a:xfrm>
          <a:prstGeom prst="bentConnector4">
            <a:avLst>
              <a:gd name="adj1" fmla="val 9839"/>
              <a:gd name="adj2" fmla="val -157698"/>
            </a:avLst>
          </a:prstGeom>
          <a:ln w="12700">
            <a:prstDash val="sysDot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2845A9-538A-88FC-A98B-D5C30A7A80F6}"/>
              </a:ext>
            </a:extLst>
          </p:cNvPr>
          <p:cNvSpPr txBox="1"/>
          <p:nvPr/>
        </p:nvSpPr>
        <p:spPr>
          <a:xfrm>
            <a:off x="7428141" y="3468480"/>
            <a:ext cx="4684925" cy="1600438"/>
          </a:xfrm>
          <a:prstGeom prst="rect">
            <a:avLst/>
          </a:prstGeom>
          <a:solidFill>
            <a:schemeClr val="bg2"/>
          </a:solidFill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ptos" panose="020B0004020202020204" pitchFamily="34" charset="0"/>
              </a:rPr>
              <a:t>WIS2 Node core services: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Aptos" panose="020B0004020202020204" pitchFamily="34" charset="0"/>
              </a:rPr>
              <a:t>HTTP storage endpoint </a:t>
            </a:r>
            <a:r>
              <a:rPr lang="en-US" sz="2000" dirty="0">
                <a:solidFill>
                  <a:schemeClr val="tx2"/>
                </a:solidFill>
                <a:latin typeface="Aptos" panose="020B0004020202020204" pitchFamily="34" charset="0"/>
              </a:rPr>
              <a:t>(</a:t>
            </a:r>
            <a:r>
              <a:rPr lang="en-US" sz="2000" dirty="0" err="1">
                <a:solidFill>
                  <a:schemeClr val="tx2"/>
                </a:solidFill>
                <a:latin typeface="Aptos" panose="020B0004020202020204" pitchFamily="34" charset="0"/>
              </a:rPr>
              <a:t>MinIO</a:t>
            </a:r>
            <a:r>
              <a:rPr lang="en-US" sz="2000" dirty="0">
                <a:solidFill>
                  <a:schemeClr val="tx2"/>
                </a:solidFill>
                <a:latin typeface="Aptos" panose="020B0004020202020204" pitchFamily="34" charset="0"/>
              </a:rPr>
              <a:t>)</a:t>
            </a:r>
            <a:endParaRPr lang="en-US" sz="2000" dirty="0">
              <a:solidFill>
                <a:schemeClr val="tx2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Aptos" panose="020B0004020202020204" pitchFamily="34" charset="0"/>
              </a:rPr>
              <a:t>MQTT broker </a:t>
            </a:r>
            <a:r>
              <a:rPr lang="en-US" sz="2000" dirty="0">
                <a:solidFill>
                  <a:schemeClr val="tx2"/>
                </a:solidFill>
                <a:latin typeface="Aptos" panose="020B0004020202020204" pitchFamily="34" charset="0"/>
              </a:rPr>
              <a:t>(</a:t>
            </a:r>
            <a:r>
              <a:rPr lang="en-US" sz="2000" dirty="0" err="1">
                <a:solidFill>
                  <a:schemeClr val="tx2"/>
                </a:solidFill>
                <a:latin typeface="Aptos" panose="020B0004020202020204" pitchFamily="34" charset="0"/>
              </a:rPr>
              <a:t>mosquitto</a:t>
            </a:r>
            <a:r>
              <a:rPr lang="en-US" sz="2000" dirty="0">
                <a:solidFill>
                  <a:schemeClr val="tx2"/>
                </a:solidFill>
                <a:latin typeface="Aptos" panose="020B0004020202020204" pitchFamily="34" charset="0"/>
              </a:rPr>
              <a:t>)</a:t>
            </a:r>
            <a:endParaRPr lang="en-US" sz="2000" dirty="0">
              <a:solidFill>
                <a:schemeClr val="tx2"/>
              </a:solidFill>
              <a:latin typeface="Aptos" panose="020B0004020202020204" pitchFamily="34" charset="0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Aptos" panose="020B0004020202020204" pitchFamily="34" charset="0"/>
              </a:rPr>
              <a:t>'wis2box-management': </a:t>
            </a:r>
            <a:r>
              <a:rPr lang="en-US" dirty="0">
                <a:solidFill>
                  <a:schemeClr val="tx2"/>
                </a:solidFill>
                <a:latin typeface="Aptos" panose="020B0004020202020204" pitchFamily="34" charset="0"/>
              </a:rPr>
              <a:t>create WCMP2 records and WIS2 notifications</a:t>
            </a:r>
            <a:endParaRPr lang="en-US" dirty="0">
              <a:solidFill>
                <a:schemeClr val="tx2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495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6" descr="Open Standards Framework: Principles, Declaration and Collaboration For  Building Digital Connectivity Between Startup Ecosystems - Startup Commons">
            <a:extLst>
              <a:ext uri="{FF2B5EF4-FFF2-40B4-BE49-F238E27FC236}">
                <a16:creationId xmlns:a16="http://schemas.microsoft.com/office/drawing/2014/main" id="{BB2F7AFE-D92E-0E72-1A9C-E1C1E502B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1969" y="5337223"/>
            <a:ext cx="2158427" cy="146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0D748A9-0D5A-8FB8-26A2-34CC1CB8C22C}"/>
              </a:ext>
            </a:extLst>
          </p:cNvPr>
          <p:cNvSpPr/>
          <p:nvPr/>
        </p:nvSpPr>
        <p:spPr>
          <a:xfrm>
            <a:off x="-53788" y="-13415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/>
              <a:t>WIS2 in a box is Free and Open</a:t>
            </a:r>
            <a:endParaRPr lang="en-CH" sz="3200" b="1"/>
          </a:p>
        </p:txBody>
      </p:sp>
      <p:pic>
        <p:nvPicPr>
          <p:cNvPr id="23" name="Picture 2" descr="Open Geospatial Consortium · GitHub">
            <a:extLst>
              <a:ext uri="{FF2B5EF4-FFF2-40B4-BE49-F238E27FC236}">
                <a16:creationId xmlns:a16="http://schemas.microsoft.com/office/drawing/2014/main" id="{F9ACBA07-411A-5CE3-DC5C-B69EE9211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80" t="10576" r="10458" b="9754"/>
          <a:stretch/>
        </p:blipFill>
        <p:spPr bwMode="auto">
          <a:xfrm>
            <a:off x="6690192" y="1854827"/>
            <a:ext cx="1153391" cy="1174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>
            <a:extLst>
              <a:ext uri="{FF2B5EF4-FFF2-40B4-BE49-F238E27FC236}">
                <a16:creationId xmlns:a16="http://schemas.microsoft.com/office/drawing/2014/main" id="{4F1F2DFE-ADD0-346D-51B6-174C52D5A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687" y="2548579"/>
            <a:ext cx="11334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62343A5C-8721-513C-24D4-9474AD15F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561" y="2007251"/>
            <a:ext cx="878737" cy="81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8">
            <a:extLst>
              <a:ext uri="{FF2B5EF4-FFF2-40B4-BE49-F238E27FC236}">
                <a16:creationId xmlns:a16="http://schemas.microsoft.com/office/drawing/2014/main" id="{725BE81A-B5C1-1962-BB11-DF540C037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9609" y="2679996"/>
            <a:ext cx="1133475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2973076-B252-4ADF-85F3-D70ECD3E123B}"/>
              </a:ext>
            </a:extLst>
          </p:cNvPr>
          <p:cNvSpPr/>
          <p:nvPr/>
        </p:nvSpPr>
        <p:spPr>
          <a:xfrm>
            <a:off x="6431661" y="927994"/>
            <a:ext cx="5428735" cy="4409229"/>
          </a:xfrm>
          <a:prstGeom prst="rect">
            <a:avLst/>
          </a:prstGeom>
          <a:noFill/>
          <a:ln w="158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0E4BF3-4D23-7066-EAB7-182A4C947658}"/>
              </a:ext>
            </a:extLst>
          </p:cNvPr>
          <p:cNvSpPr txBox="1"/>
          <p:nvPr/>
        </p:nvSpPr>
        <p:spPr>
          <a:xfrm>
            <a:off x="8234348" y="3643907"/>
            <a:ext cx="2158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2400"/>
              <a:t>MQTT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2400"/>
              <a:t>GeoJSON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2400"/>
              <a:t>OGC APIs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5D3611-FE96-8271-E309-DB6FBCF8E256}"/>
              </a:ext>
            </a:extLst>
          </p:cNvPr>
          <p:cNvSpPr txBox="1"/>
          <p:nvPr/>
        </p:nvSpPr>
        <p:spPr>
          <a:xfrm>
            <a:off x="8063039" y="1093973"/>
            <a:ext cx="216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2000" b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 Standards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0BFA0A-E88E-D046-D815-CBB89CED9F86}"/>
              </a:ext>
            </a:extLst>
          </p:cNvPr>
          <p:cNvGrpSpPr/>
          <p:nvPr/>
        </p:nvGrpSpPr>
        <p:grpSpPr>
          <a:xfrm>
            <a:off x="595216" y="927994"/>
            <a:ext cx="5428735" cy="4409229"/>
            <a:chOff x="595216" y="927994"/>
            <a:chExt cx="5428735" cy="4409229"/>
          </a:xfrm>
        </p:grpSpPr>
        <p:pic>
          <p:nvPicPr>
            <p:cNvPr id="16" name="Picture 10" descr="Python (programming language) - Wikipedia">
              <a:extLst>
                <a:ext uri="{FF2B5EF4-FFF2-40B4-BE49-F238E27FC236}">
                  <a16:creationId xmlns:a16="http://schemas.microsoft.com/office/drawing/2014/main" id="{D910CF48-BC4C-DF8D-F3D1-CE12A9C59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10027" y="3107318"/>
              <a:ext cx="654967" cy="654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BEF450-3E9C-95C1-CF3D-B0DF8382C0A3}"/>
                </a:ext>
              </a:extLst>
            </p:cNvPr>
            <p:cNvSpPr txBox="1"/>
            <p:nvPr/>
          </p:nvSpPr>
          <p:spPr>
            <a:xfrm>
              <a:off x="1272807" y="1093973"/>
              <a:ext cx="40735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H" sz="2000" b="1">
                  <a:solidFill>
                    <a:schemeClr val="tx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Free and Open Source Software</a:t>
              </a:r>
            </a:p>
          </p:txBody>
        </p:sp>
        <p:pic>
          <p:nvPicPr>
            <p:cNvPr id="1026" name="Picture 2" descr="ecCodes">
              <a:extLst>
                <a:ext uri="{FF2B5EF4-FFF2-40B4-BE49-F238E27FC236}">
                  <a16:creationId xmlns:a16="http://schemas.microsoft.com/office/drawing/2014/main" id="{B973E086-8041-9609-668F-E6B3ED1E0B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2094" y="2719059"/>
              <a:ext cx="666132" cy="599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inIO | The MinIO Quickstart Guide">
              <a:extLst>
                <a:ext uri="{FF2B5EF4-FFF2-40B4-BE49-F238E27FC236}">
                  <a16:creationId xmlns:a16="http://schemas.microsoft.com/office/drawing/2014/main" id="{65FF2691-3DD2-AB58-D7CB-9A7761367C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8313" y="3922901"/>
              <a:ext cx="1392820" cy="2100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48C7CCC-7125-07E0-1F73-CF02EFF250C9}"/>
                </a:ext>
              </a:extLst>
            </p:cNvPr>
            <p:cNvGrpSpPr/>
            <p:nvPr/>
          </p:nvGrpSpPr>
          <p:grpSpPr>
            <a:xfrm>
              <a:off x="595216" y="927994"/>
              <a:ext cx="5428735" cy="4409229"/>
              <a:chOff x="595216" y="927994"/>
              <a:chExt cx="5428735" cy="4409229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582B66E8-4F47-16C7-8114-F59AC0A529B1}"/>
                  </a:ext>
                </a:extLst>
              </p:cNvPr>
              <p:cNvGrpSpPr/>
              <p:nvPr/>
            </p:nvGrpSpPr>
            <p:grpSpPr>
              <a:xfrm>
                <a:off x="595216" y="927994"/>
                <a:ext cx="5428735" cy="4409229"/>
                <a:chOff x="608290" y="1112989"/>
                <a:chExt cx="5428735" cy="4409229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480CEBA-C8A0-B6BD-FE23-D87056BF5CB9}"/>
                    </a:ext>
                  </a:extLst>
                </p:cNvPr>
                <p:cNvSpPr/>
                <p:nvPr/>
              </p:nvSpPr>
              <p:spPr>
                <a:xfrm>
                  <a:off x="608290" y="1112989"/>
                  <a:ext cx="5428735" cy="4409229"/>
                </a:xfrm>
                <a:prstGeom prst="rect">
                  <a:avLst/>
                </a:prstGeom>
                <a:noFill/>
                <a:ln w="15875"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CH"/>
                </a:p>
              </p:txBody>
            </p:sp>
            <p:pic>
              <p:nvPicPr>
                <p:cNvPr id="10" name="Picture 2" descr="What is Nginx and How It Works? - Matob R">
                  <a:extLst>
                    <a:ext uri="{FF2B5EF4-FFF2-40B4-BE49-F238E27FC236}">
                      <a16:creationId xmlns:a16="http://schemas.microsoft.com/office/drawing/2014/main" id="{0410B870-9DFC-64C5-DC38-EC198E39903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613284" y="1729214"/>
                  <a:ext cx="2156114" cy="104478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1" name="Picture 4" descr="GitHub - eclipse/mosquitto: Eclipse Mosquitto - An open source MQTT broker">
                  <a:extLst>
                    <a:ext uri="{FF2B5EF4-FFF2-40B4-BE49-F238E27FC236}">
                      <a16:creationId xmlns:a16="http://schemas.microsoft.com/office/drawing/2014/main" id="{694D97C8-67CA-67BC-B931-8814EC39E4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4689" r="22739"/>
                <a:stretch/>
              </p:blipFill>
              <p:spPr bwMode="auto">
                <a:xfrm>
                  <a:off x="1573519" y="4390492"/>
                  <a:ext cx="1117822" cy="10631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" name="Picture 6" descr="GitHub - geopython/pygeoapi: pygeoapi is a Python server implementation of  the OGC API suite of standards. The project emerged as part of the next  generation OGC API efforts in 2018 and provides">
                  <a:extLst>
                    <a:ext uri="{FF2B5EF4-FFF2-40B4-BE49-F238E27FC236}">
                      <a16:creationId xmlns:a16="http://schemas.microsoft.com/office/drawing/2014/main" id="{F345D0F3-0EBD-9373-1FA5-DF43CA34C3D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370322" y="2822670"/>
                  <a:ext cx="1726559" cy="4748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8" descr="Vue.js: Good, Bad, and Choice. Is Vue.js the right framework for you? | by  Tim Han | HackerNoon.com | Medium">
                  <a:extLst>
                    <a:ext uri="{FF2B5EF4-FFF2-40B4-BE49-F238E27FC236}">
                      <a16:creationId xmlns:a16="http://schemas.microsoft.com/office/drawing/2014/main" id="{D04DD63F-F237-6329-457D-6CA124EB1D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296" t="6552" r="19601" b="12117"/>
                <a:stretch/>
              </p:blipFill>
              <p:spPr bwMode="auto">
                <a:xfrm>
                  <a:off x="3946654" y="2181949"/>
                  <a:ext cx="1454727" cy="76463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7" name="Picture 14" descr="Image result for prometheus monitoring">
                  <a:extLst>
                    <a:ext uri="{FF2B5EF4-FFF2-40B4-BE49-F238E27FC236}">
                      <a16:creationId xmlns:a16="http://schemas.microsoft.com/office/drawing/2014/main" id="{44942174-65D2-A6EF-86BB-2AF31358FF9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90765" y="4441066"/>
                  <a:ext cx="738165" cy="73421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8" name="Picture 16" descr="Image result for grafana monitoring">
                  <a:extLst>
                    <a:ext uri="{FF2B5EF4-FFF2-40B4-BE49-F238E27FC236}">
                      <a16:creationId xmlns:a16="http://schemas.microsoft.com/office/drawing/2014/main" id="{9C096AF7-31BE-3130-F7FF-943AE1EE712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3354" y="2598386"/>
                  <a:ext cx="917737" cy="9379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9" name="Picture 18" descr="What is Docker? | AWS">
                  <a:extLst>
                    <a:ext uri="{FF2B5EF4-FFF2-40B4-BE49-F238E27FC236}">
                      <a16:creationId xmlns:a16="http://schemas.microsoft.com/office/drawing/2014/main" id="{BB6FB466-4514-9946-6EA7-BF065E1D2E7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02" r="22256"/>
                <a:stretch/>
              </p:blipFill>
              <p:spPr bwMode="auto">
                <a:xfrm>
                  <a:off x="4605339" y="4432722"/>
                  <a:ext cx="917737" cy="78717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" name="Picture 22">
                  <a:extLst>
                    <a:ext uri="{FF2B5EF4-FFF2-40B4-BE49-F238E27FC236}">
                      <a16:creationId xmlns:a16="http://schemas.microsoft.com/office/drawing/2014/main" id="{2201CFD1-F345-D357-28AF-59829A50EEC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016000" y="3825297"/>
                  <a:ext cx="2286000" cy="5048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27" name="Picture 12" descr="Add Interactive Maps to Websites using Leaflet.Js | by Anjula Shanaka |  JavaScript in Plain English">
                <a:extLst>
                  <a:ext uri="{FF2B5EF4-FFF2-40B4-BE49-F238E27FC236}">
                    <a16:creationId xmlns:a16="http://schemas.microsoft.com/office/drawing/2014/main" id="{5AC06E81-BF4C-907F-D3B1-C2D8F34340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7610" b="22779"/>
              <a:stretch/>
            </p:blipFill>
            <p:spPr bwMode="auto">
              <a:xfrm>
                <a:off x="4195563" y="1511460"/>
                <a:ext cx="1667018" cy="49686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11271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4182" y="919490"/>
            <a:ext cx="5384800" cy="45259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GitHub is a hosting service for software development using Git</a:t>
            </a:r>
          </a:p>
          <a:p>
            <a:r>
              <a:rPr lang="en-US" dirty="0"/>
              <a:t>Software / source code</a:t>
            </a:r>
          </a:p>
          <a:p>
            <a:r>
              <a:rPr lang="en-US" dirty="0"/>
              <a:t>Issues/bugs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Automated testing</a:t>
            </a:r>
          </a:p>
          <a:p>
            <a:r>
              <a:rPr lang="en-US" dirty="0"/>
              <a:t>Used by numerous</a:t>
            </a:r>
            <a:br>
              <a:rPr lang="en-US" dirty="0"/>
            </a:br>
            <a:r>
              <a:rPr lang="en-US" dirty="0"/>
              <a:t>organizations</a:t>
            </a:r>
            <a:br>
              <a:rPr lang="en-US" dirty="0"/>
            </a:br>
            <a:r>
              <a:rPr lang="en-US" dirty="0"/>
              <a:t>(including WMO)</a:t>
            </a:r>
          </a:p>
        </p:txBody>
      </p:sp>
      <p:pic>
        <p:nvPicPr>
          <p:cNvPr id="2050" name="Picture 2" descr="GitHub is Now Being Used by Over 100 Million Developers - Thurrott.com">
            <a:extLst>
              <a:ext uri="{FF2B5EF4-FFF2-40B4-BE49-F238E27FC236}">
                <a16:creationId xmlns:a16="http://schemas.microsoft.com/office/drawing/2014/main" id="{1EFAEADC-E804-1C5D-DC64-6660F80F64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09" t="24888" r="7875" b="27192"/>
          <a:stretch/>
        </p:blipFill>
        <p:spPr bwMode="auto">
          <a:xfrm>
            <a:off x="4310742" y="4684976"/>
            <a:ext cx="6115792" cy="196451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GitHub Overview</a:t>
            </a:r>
            <a:endParaRPr lang="en-CH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309D0-4428-E317-2F71-03902F187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615" y="3429000"/>
            <a:ext cx="3058886" cy="17172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452E92-4589-47C3-1D2B-27A16B34D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0719" y="797915"/>
            <a:ext cx="4697782" cy="238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| Jenkins plugin">
            <a:extLst>
              <a:ext uri="{FF2B5EF4-FFF2-40B4-BE49-F238E27FC236}">
                <a16:creationId xmlns:a16="http://schemas.microsoft.com/office/drawing/2014/main" id="{97803D33-54BE-73FA-7594-95892E4A0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3100" y="946415"/>
            <a:ext cx="5384800" cy="224366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300" y="1166018"/>
            <a:ext cx="5384800" cy="45259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Git is a version control system originally developed for software / code management</a:t>
            </a:r>
          </a:p>
        </p:txBody>
      </p:sp>
      <p:pic>
        <p:nvPicPr>
          <p:cNvPr id="1028" name="Picture 4" descr="🌳🚀 CS Visualized: Useful Git Commands - DEV Community">
            <a:extLst>
              <a:ext uri="{FF2B5EF4-FFF2-40B4-BE49-F238E27FC236}">
                <a16:creationId xmlns:a16="http://schemas.microsoft.com/office/drawing/2014/main" id="{D2E1BC00-244E-A857-514D-1DC604ABF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583" y="3805856"/>
            <a:ext cx="4579917" cy="257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543A63-554B-669F-8253-0F8763FB130D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Git Overview</a:t>
            </a:r>
            <a:endParaRPr lang="en-CH" sz="3200" b="1" dirty="0"/>
          </a:p>
        </p:txBody>
      </p:sp>
    </p:spTree>
    <p:extLst>
      <p:ext uri="{BB962C8B-B14F-4D97-AF65-F5344CB8AC3E}">
        <p14:creationId xmlns:p14="http://schemas.microsoft.com/office/powerpoint/2010/main" val="16225818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sz="3200" dirty="0"/>
              <a:t>Software</a:t>
            </a:r>
          </a:p>
          <a:p>
            <a:r>
              <a:rPr lang="en-US" sz="3200" dirty="0"/>
              <a:t>Issue tracker</a:t>
            </a:r>
          </a:p>
          <a:p>
            <a:r>
              <a:rPr lang="en-US" sz="3200" dirty="0"/>
              <a:t>Releases</a:t>
            </a:r>
          </a:p>
          <a:p>
            <a:r>
              <a:rPr lang="en-US" sz="3200" dirty="0"/>
              <a:t>Automated testing</a:t>
            </a:r>
          </a:p>
          <a:p>
            <a:r>
              <a:rPr lang="en-US" sz="3200" dirty="0"/>
              <a:t>Discussions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>
                <a:hlinkClick r:id="rId2"/>
              </a:rPr>
              <a:t>github.com/wmo-im/wis2box</a:t>
            </a:r>
            <a:endParaRPr lang="en-US" sz="3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WIS2 in a box on GitHub</a:t>
            </a:r>
            <a:endParaRPr lang="en-CH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DF5085-7DB6-4809-CB95-BC0EBD0FF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683" y="904350"/>
            <a:ext cx="6587239" cy="33143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F50167-343E-62DD-A196-87D775C4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979" y="3009444"/>
            <a:ext cx="6123633" cy="31167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4482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Documentation</a:t>
            </a:r>
            <a:endParaRPr lang="en-CH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B1C49C-17A6-7BA5-C399-F55904DC7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9" y="561276"/>
            <a:ext cx="11651342" cy="607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298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Releases</a:t>
            </a:r>
            <a:endParaRPr lang="en-CH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267760-2154-393C-EDA0-575C3ABFE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43" y="734218"/>
            <a:ext cx="10996914" cy="564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59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Code</a:t>
            </a:r>
            <a:endParaRPr lang="en-CH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27CE2-2681-2683-2F7E-85AD2E696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85" y="734218"/>
            <a:ext cx="11309430" cy="57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398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Issue tracker</a:t>
            </a:r>
            <a:endParaRPr lang="en-CH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560AD6-B458-27D6-76B9-A452ED566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55" y="580157"/>
            <a:ext cx="11691396" cy="588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07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Open Discussion Forum</a:t>
            </a:r>
            <a:endParaRPr lang="en-CH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B29F1D-BB04-3C41-F94B-02935328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3" y="734218"/>
            <a:ext cx="11818716" cy="600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881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wis2box uses Docker for application management</a:t>
            </a:r>
          </a:p>
          <a:p>
            <a:r>
              <a:rPr lang="en-US" dirty="0"/>
              <a:t>Containerization</a:t>
            </a:r>
          </a:p>
          <a:p>
            <a:r>
              <a:rPr lang="en-US" dirty="0"/>
              <a:t>Microservices</a:t>
            </a:r>
          </a:p>
          <a:p>
            <a:r>
              <a:rPr lang="en-US" dirty="0"/>
              <a:t>Building blocks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Docker</a:t>
            </a:r>
            <a:endParaRPr lang="en-CH" sz="3200" b="1" dirty="0"/>
          </a:p>
        </p:txBody>
      </p:sp>
      <p:pic>
        <p:nvPicPr>
          <p:cNvPr id="12290" name="Picture 2" descr="Press and Media Resources - Docker">
            <a:extLst>
              <a:ext uri="{FF2B5EF4-FFF2-40B4-BE49-F238E27FC236}">
                <a16:creationId xmlns:a16="http://schemas.microsoft.com/office/drawing/2014/main" id="{1571865D-3501-71CD-FE22-AEF62E3DE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931" y="3689068"/>
            <a:ext cx="8403771" cy="2160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ervices Architecture for Solving Business Needs | Krasamo">
            <a:extLst>
              <a:ext uri="{FF2B5EF4-FFF2-40B4-BE49-F238E27FC236}">
                <a16:creationId xmlns:a16="http://schemas.microsoft.com/office/drawing/2014/main" id="{F6A3452C-5996-89FE-CC9C-A06EF7A00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237" y="1714759"/>
            <a:ext cx="3750974" cy="235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816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424C-1E73-1A6C-615F-AE90A045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A217F-07D1-EFB9-885D-30A4E3039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CA" dirty="0"/>
              <a:t>Docker</a:t>
            </a:r>
          </a:p>
          <a:p>
            <a:r>
              <a:rPr lang="en-CA" dirty="0"/>
              <a:t>Components providing services (management, </a:t>
            </a:r>
            <a:r>
              <a:rPr lang="en-CA" dirty="0" err="1"/>
              <a:t>api</a:t>
            </a:r>
            <a:r>
              <a:rPr lang="en-CA" dirty="0"/>
              <a:t>, broker, storage, auth, metrics, etc.)</a:t>
            </a:r>
          </a:p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8298E4-F05D-2DF9-3F48-58ECD5D833E9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Technical </a:t>
            </a:r>
            <a:r>
              <a:rPr lang="en-US" sz="3200" b="1" dirty="0" err="1"/>
              <a:t>Architecutre</a:t>
            </a:r>
            <a:r>
              <a:rPr lang="en-US" sz="3200" b="1" dirty="0"/>
              <a:t> of wis2box</a:t>
            </a:r>
            <a:endParaRPr lang="en-CH" sz="3200" b="1" dirty="0"/>
          </a:p>
        </p:txBody>
      </p:sp>
    </p:spTree>
    <p:extLst>
      <p:ext uri="{BB962C8B-B14F-4D97-AF65-F5344CB8AC3E}">
        <p14:creationId xmlns:p14="http://schemas.microsoft.com/office/powerpoint/2010/main" val="2676015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loud 16">
            <a:extLst>
              <a:ext uri="{FF2B5EF4-FFF2-40B4-BE49-F238E27FC236}">
                <a16:creationId xmlns:a16="http://schemas.microsoft.com/office/drawing/2014/main" id="{05AE10B9-8254-9150-CCAB-21DE42407EF0}"/>
              </a:ext>
            </a:extLst>
          </p:cNvPr>
          <p:cNvSpPr/>
          <p:nvPr/>
        </p:nvSpPr>
        <p:spPr>
          <a:xfrm>
            <a:off x="1761566" y="1059776"/>
            <a:ext cx="8444752" cy="5384156"/>
          </a:xfrm>
          <a:prstGeom prst="cloud">
            <a:avLst/>
          </a:prstGeom>
          <a:solidFill>
            <a:schemeClr val="accent1">
              <a:alpha val="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2A3646-55FE-DD63-4C3A-D4DB8221B759}"/>
              </a:ext>
            </a:extLst>
          </p:cNvPr>
          <p:cNvSpPr/>
          <p:nvPr/>
        </p:nvSpPr>
        <p:spPr>
          <a:xfrm>
            <a:off x="4323742" y="3068514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2191A3-8A5E-41C0-4EDB-5C3180B59D7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3200" dirty="0"/>
              <a:t>Containers</a:t>
            </a:r>
            <a:endParaRPr lang="en-CH" sz="3200" b="1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02177F-6DE9-53D3-CB46-E00151CE51D4}"/>
              </a:ext>
            </a:extLst>
          </p:cNvPr>
          <p:cNvSpPr/>
          <p:nvPr/>
        </p:nvSpPr>
        <p:spPr>
          <a:xfrm>
            <a:off x="3757380" y="1059776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Broker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4360D36-8BBB-3F67-C9F9-9440A58F0458}"/>
              </a:ext>
            </a:extLst>
          </p:cNvPr>
          <p:cNvSpPr/>
          <p:nvPr/>
        </p:nvSpPr>
        <p:spPr>
          <a:xfrm>
            <a:off x="1108129" y="3664105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0E279B-F9A4-45A2-704C-054A3B4B36A3}"/>
              </a:ext>
            </a:extLst>
          </p:cNvPr>
          <p:cNvSpPr/>
          <p:nvPr/>
        </p:nvSpPr>
        <p:spPr>
          <a:xfrm>
            <a:off x="7257982" y="3151803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API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E0220E-951E-47A9-FED1-8B4067D467DC}"/>
              </a:ext>
            </a:extLst>
          </p:cNvPr>
          <p:cNvSpPr/>
          <p:nvPr/>
        </p:nvSpPr>
        <p:spPr>
          <a:xfrm>
            <a:off x="7512378" y="1427428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Applications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C6339B3-E623-5A65-94CF-31D8E7D68D37}"/>
              </a:ext>
            </a:extLst>
          </p:cNvPr>
          <p:cNvSpPr/>
          <p:nvPr/>
        </p:nvSpPr>
        <p:spPr>
          <a:xfrm>
            <a:off x="4926690" y="5304547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Metrics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10820D-75DA-2342-19F9-416006A16501}"/>
              </a:ext>
            </a:extLst>
          </p:cNvPr>
          <p:cNvSpPr/>
          <p:nvPr/>
        </p:nvSpPr>
        <p:spPr>
          <a:xfrm>
            <a:off x="7777076" y="4876178"/>
            <a:ext cx="2338620" cy="1139385"/>
          </a:xfrm>
          <a:prstGeom prst="roundRect">
            <a:avLst/>
          </a:prstGeom>
          <a:solidFill>
            <a:srgbClr val="00B050">
              <a:alpha val="73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</a:t>
            </a:r>
          </a:p>
        </p:txBody>
      </p:sp>
    </p:spTree>
    <p:extLst>
      <p:ext uri="{BB962C8B-B14F-4D97-AF65-F5344CB8AC3E}">
        <p14:creationId xmlns:p14="http://schemas.microsoft.com/office/powerpoint/2010/main" val="411282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" grpId="0" animBg="1"/>
      <p:bldP spid="3" grpId="0" animBg="1"/>
      <p:bldP spid="4" grpId="0" animBg="1"/>
      <p:bldP spid="5" grpId="0" animBg="1"/>
      <p:bldP spid="1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A972B-FEE1-3259-22E6-FBD075AED760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WIS2 Components</a:t>
            </a:r>
            <a:endParaRPr lang="en-CH" sz="3200" b="1" dirty="0"/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2F398686-19CE-F374-2E8B-9E1249326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060115"/>
              </p:ext>
            </p:extLst>
          </p:nvPr>
        </p:nvGraphicFramePr>
        <p:xfrm>
          <a:off x="110015" y="182880"/>
          <a:ext cx="11918182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1362">
                  <a:extLst>
                    <a:ext uri="{9D8B030D-6E8A-4147-A177-3AD203B41FA5}">
                      <a16:colId xmlns:a16="http://schemas.microsoft.com/office/drawing/2014/main" val="3156213688"/>
                    </a:ext>
                  </a:extLst>
                </a:gridCol>
                <a:gridCol w="4703820">
                  <a:extLst>
                    <a:ext uri="{9D8B030D-6E8A-4147-A177-3AD203B41FA5}">
                      <a16:colId xmlns:a16="http://schemas.microsoft.com/office/drawing/2014/main" val="3684426858"/>
                    </a:ext>
                  </a:extLst>
                </a:gridCol>
                <a:gridCol w="3853000">
                  <a:extLst>
                    <a:ext uri="{9D8B030D-6E8A-4147-A177-3AD203B41FA5}">
                      <a16:colId xmlns:a16="http://schemas.microsoft.com/office/drawing/2014/main" val="3128787064"/>
                    </a:ext>
                  </a:extLst>
                </a:gridCol>
              </a:tblGrid>
              <a:tr h="587212">
                <a:tc>
                  <a:txBody>
                    <a:bodyPr/>
                    <a:lstStyle/>
                    <a:p>
                      <a:r>
                        <a:rPr lang="en-US" sz="36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Docker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574798"/>
                  </a:ext>
                </a:extLst>
              </a:tr>
              <a:tr h="587212">
                <a:tc>
                  <a:txBody>
                    <a:bodyPr/>
                    <a:lstStyle/>
                    <a:p>
                      <a:r>
                        <a:rPr lang="en-US" sz="3600" dirty="0"/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MinIO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wis2box-minio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5497635"/>
                  </a:ext>
                </a:extLst>
              </a:tr>
              <a:tr h="587212">
                <a:tc>
                  <a:txBody>
                    <a:bodyPr/>
                    <a:lstStyle/>
                    <a:p>
                      <a:r>
                        <a:rPr lang="en-US" sz="3600" dirty="0"/>
                        <a:t>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mosquitto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wis2box-broker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904159"/>
                  </a:ext>
                </a:extLst>
              </a:tr>
              <a:tr h="1593861">
                <a:tc>
                  <a:txBody>
                    <a:bodyPr/>
                    <a:lstStyle/>
                    <a:p>
                      <a:r>
                        <a:rPr lang="en-US" sz="3600" dirty="0"/>
                        <a:t>Management, 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wis2box-management</a:t>
                      </a:r>
                      <a:br>
                        <a:rPr lang="en-US" sz="3600" dirty="0"/>
                      </a:br>
                      <a:r>
                        <a:rPr lang="en-US" sz="3600" dirty="0"/>
                        <a:t>wis2box-auth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380199"/>
                  </a:ext>
                </a:extLst>
              </a:tr>
              <a:tr h="587212">
                <a:tc>
                  <a:txBody>
                    <a:bodyPr/>
                    <a:lstStyle/>
                    <a:p>
                      <a:r>
                        <a:rPr lang="en-US" sz="360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pygeoapi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wis2box-api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652300"/>
                  </a:ext>
                </a:extLst>
              </a:tr>
              <a:tr h="1090537">
                <a:tc>
                  <a:txBody>
                    <a:bodyPr/>
                    <a:lstStyle/>
                    <a:p>
                      <a:r>
                        <a:rPr lang="en-US" sz="3600" dirty="0"/>
                        <a:t>Web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Vue.js</a:t>
                      </a:r>
                      <a:r>
                        <a:rPr lang="en-US" sz="3600" dirty="0"/>
                        <a:t>/</a:t>
                      </a:r>
                      <a:r>
                        <a:rPr lang="en-US" sz="3600" dirty="0" err="1"/>
                        <a:t>LeafletJS</a:t>
                      </a:r>
                      <a:endParaRPr lang="en-US" sz="3600" dirty="0"/>
                    </a:p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wis2box-ui</a:t>
                      </a:r>
                    </a:p>
                    <a:p>
                      <a:r>
                        <a:rPr lang="en-US" sz="3600" dirty="0"/>
                        <a:t>wis2box-webapp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1311536"/>
                  </a:ext>
                </a:extLst>
              </a:tr>
              <a:tr h="1090537">
                <a:tc>
                  <a:txBody>
                    <a:bodyPr/>
                    <a:lstStyle/>
                    <a:p>
                      <a:r>
                        <a:rPr lang="en-US" sz="3600" dirty="0"/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Grafrana</a:t>
                      </a:r>
                      <a:r>
                        <a:rPr lang="en-US" sz="3600" dirty="0"/>
                        <a:t>/</a:t>
                      </a:r>
                    </a:p>
                    <a:p>
                      <a:r>
                        <a:rPr lang="en-US" sz="3600" dirty="0"/>
                        <a:t>Prometheus/Loki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err="1"/>
                        <a:t>grafana</a:t>
                      </a:r>
                      <a:endParaRPr lang="en-US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62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898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</a:t>
            </a:r>
            <a:r>
              <a:rPr lang="en-US" dirty="0" err="1"/>
              <a:t>MinIO</a:t>
            </a:r>
            <a:endParaRPr lang="en-US" dirty="0"/>
          </a:p>
          <a:p>
            <a:pPr lvl="1"/>
            <a:r>
              <a:rPr lang="en-US" dirty="0"/>
              <a:t>Object storage (S3)</a:t>
            </a:r>
          </a:p>
          <a:p>
            <a:r>
              <a:rPr lang="en-US" dirty="0"/>
              <a:t>Container: </a:t>
            </a:r>
            <a:r>
              <a:rPr lang="en-US" b="1" dirty="0"/>
              <a:t>wis2box-minio</a:t>
            </a:r>
          </a:p>
          <a:p>
            <a:r>
              <a:rPr lang="en-US" dirty="0"/>
              <a:t>Management of:</a:t>
            </a:r>
          </a:p>
          <a:p>
            <a:pPr lvl="1"/>
            <a:r>
              <a:rPr lang="en-US" dirty="0"/>
              <a:t>Data (observations, etc.)</a:t>
            </a:r>
          </a:p>
          <a:p>
            <a:pPr lvl="1"/>
            <a:r>
              <a:rPr lang="en-US" dirty="0"/>
              <a:t>Metadata (discovery, station)</a:t>
            </a:r>
          </a:p>
          <a:p>
            <a:pPr lvl="1"/>
            <a:r>
              <a:rPr lang="en-US" dirty="0"/>
              <a:t>Configuration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Storage</a:t>
            </a:r>
            <a:endParaRPr lang="en-CH" sz="3200" b="1" dirty="0"/>
          </a:p>
        </p:txBody>
      </p:sp>
      <p:pic>
        <p:nvPicPr>
          <p:cNvPr id="6146" name="Picture 2" descr="GitHub - minio/minio: Multi-Cloud Object Storage">
            <a:extLst>
              <a:ext uri="{FF2B5EF4-FFF2-40B4-BE49-F238E27FC236}">
                <a16:creationId xmlns:a16="http://schemas.microsoft.com/office/drawing/2014/main" id="{7A6A19A7-5AF8-811E-65E9-99D0AF5D8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194" y="4438567"/>
            <a:ext cx="7404100" cy="109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784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</a:t>
            </a:r>
            <a:r>
              <a:rPr lang="en-US" dirty="0" err="1"/>
              <a:t>mosquitto</a:t>
            </a:r>
            <a:endParaRPr lang="en-US" dirty="0"/>
          </a:p>
          <a:p>
            <a:r>
              <a:rPr lang="en-US" dirty="0"/>
              <a:t>Container: </a:t>
            </a:r>
            <a:r>
              <a:rPr lang="en-US" b="1" dirty="0"/>
              <a:t>wis2box-broker</a:t>
            </a:r>
          </a:p>
          <a:p>
            <a:r>
              <a:rPr lang="en-US" dirty="0"/>
              <a:t>Subscription and notifications</a:t>
            </a:r>
          </a:p>
          <a:p>
            <a:pPr lvl="1"/>
            <a:r>
              <a:rPr lang="en-US" dirty="0"/>
              <a:t>Data ingest</a:t>
            </a:r>
          </a:p>
          <a:p>
            <a:pPr lvl="1"/>
            <a:r>
              <a:rPr lang="en-US" dirty="0"/>
              <a:t>Data publication to WIS2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Broker</a:t>
            </a:r>
            <a:endParaRPr lang="en-CH" sz="3200" b="1" dirty="0"/>
          </a:p>
        </p:txBody>
      </p:sp>
      <p:pic>
        <p:nvPicPr>
          <p:cNvPr id="7170" name="Picture 2" descr="GitHub - eclipse/mosquitto: Eclipse Mosquitto - An open source MQTT broker">
            <a:extLst>
              <a:ext uri="{FF2B5EF4-FFF2-40B4-BE49-F238E27FC236}">
                <a16:creationId xmlns:a16="http://schemas.microsoft.com/office/drawing/2014/main" id="{A3A251A1-BB17-AA66-D0C8-73830BC3E5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25" r="23989"/>
          <a:stretch/>
        </p:blipFill>
        <p:spPr bwMode="auto">
          <a:xfrm>
            <a:off x="6669741" y="2571604"/>
            <a:ext cx="4034119" cy="3940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81181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Python</a:t>
            </a:r>
          </a:p>
          <a:p>
            <a:r>
              <a:rPr lang="en-US" dirty="0"/>
              <a:t>Container: </a:t>
            </a:r>
            <a:r>
              <a:rPr lang="en-US" b="1" dirty="0"/>
              <a:t>wis2box-management</a:t>
            </a:r>
          </a:p>
          <a:p>
            <a:r>
              <a:rPr lang="en-US" dirty="0"/>
              <a:t>Metadata management</a:t>
            </a:r>
          </a:p>
          <a:p>
            <a:pPr lvl="1"/>
            <a:r>
              <a:rPr lang="en-US" dirty="0"/>
              <a:t>Discovery</a:t>
            </a:r>
          </a:p>
          <a:p>
            <a:pPr lvl="1"/>
            <a:r>
              <a:rPr lang="en-US" dirty="0"/>
              <a:t>Station</a:t>
            </a:r>
          </a:p>
          <a:p>
            <a:r>
              <a:rPr lang="en-US" dirty="0"/>
              <a:t>Configuration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Management</a:t>
            </a:r>
            <a:endParaRPr lang="en-CH" sz="3200" b="1" dirty="0"/>
          </a:p>
        </p:txBody>
      </p:sp>
      <p:pic>
        <p:nvPicPr>
          <p:cNvPr id="8194" name="Picture 2" descr="Python (programming language) - Wikipedia">
            <a:extLst>
              <a:ext uri="{FF2B5EF4-FFF2-40B4-BE49-F238E27FC236}">
                <a16:creationId xmlns:a16="http://schemas.microsoft.com/office/drawing/2014/main" id="{82BE35FB-9E4C-2B30-4603-BD8E7D0CE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34" y="1846135"/>
            <a:ext cx="3358553" cy="368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294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D8970-6FEE-EE1A-46BE-61743F395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D2336-640E-BD3E-F95F-6D83BF2FB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Python</a:t>
            </a:r>
          </a:p>
          <a:p>
            <a:r>
              <a:rPr lang="en-US" dirty="0"/>
              <a:t>Container: </a:t>
            </a:r>
            <a:r>
              <a:rPr lang="en-US" b="1" dirty="0"/>
              <a:t>wis2box-auth</a:t>
            </a:r>
          </a:p>
          <a:p>
            <a:r>
              <a:rPr lang="en-US" dirty="0"/>
              <a:t>Access control (tokens)</a:t>
            </a:r>
          </a:p>
          <a:p>
            <a:r>
              <a:rPr lang="en-US" dirty="0"/>
              <a:t>Protect resources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D9231-7B5C-202F-98C5-C23E6B9622DA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Auth</a:t>
            </a:r>
            <a:endParaRPr lang="en-CH" sz="3200" b="1" dirty="0"/>
          </a:p>
        </p:txBody>
      </p:sp>
      <p:pic>
        <p:nvPicPr>
          <p:cNvPr id="8194" name="Picture 2" descr="Python (programming language) - Wikipedia">
            <a:extLst>
              <a:ext uri="{FF2B5EF4-FFF2-40B4-BE49-F238E27FC236}">
                <a16:creationId xmlns:a16="http://schemas.microsoft.com/office/drawing/2014/main" id="{8E7D0B46-A906-7208-2679-AF4B024A1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34" y="1846135"/>
            <a:ext cx="3358553" cy="368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181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Technology: </a:t>
            </a:r>
            <a:r>
              <a:rPr lang="en-US" dirty="0" err="1"/>
              <a:t>pygeoapi</a:t>
            </a:r>
            <a:endParaRPr lang="en-US" dirty="0"/>
          </a:p>
          <a:p>
            <a:r>
              <a:rPr lang="en-US" dirty="0"/>
              <a:t>Container: </a:t>
            </a:r>
            <a:r>
              <a:rPr lang="en-US" b="1" dirty="0"/>
              <a:t>wis2box-api</a:t>
            </a:r>
          </a:p>
          <a:p>
            <a:r>
              <a:rPr lang="en-US" dirty="0"/>
              <a:t>Geospatial web API</a:t>
            </a:r>
          </a:p>
          <a:p>
            <a:r>
              <a:rPr lang="en-US" dirty="0"/>
              <a:t>OGC standards</a:t>
            </a:r>
          </a:p>
          <a:p>
            <a:r>
              <a:rPr lang="en-US" dirty="0"/>
              <a:t>Discovery</a:t>
            </a:r>
          </a:p>
          <a:p>
            <a:r>
              <a:rPr lang="en-US" dirty="0"/>
              <a:t>Access</a:t>
            </a:r>
          </a:p>
          <a:p>
            <a:r>
              <a:rPr lang="en-US" dirty="0"/>
              <a:t>Visualization</a:t>
            </a:r>
          </a:p>
          <a:p>
            <a:r>
              <a:rPr lang="en-US" dirty="0"/>
              <a:t>Processing</a:t>
            </a:r>
          </a:p>
          <a:p>
            <a:r>
              <a:rPr lang="en-US" dirty="0"/>
              <a:t>API Backend: Elasticsearch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API</a:t>
            </a:r>
            <a:endParaRPr lang="en-CH" sz="3200" b="1" dirty="0"/>
          </a:p>
        </p:txBody>
      </p:sp>
      <p:pic>
        <p:nvPicPr>
          <p:cNvPr id="9218" name="Picture 2" descr="Home - pygeoapi">
            <a:extLst>
              <a:ext uri="{FF2B5EF4-FFF2-40B4-BE49-F238E27FC236}">
                <a16:creationId xmlns:a16="http://schemas.microsoft.com/office/drawing/2014/main" id="{6C8C0361-0E1E-D1E7-7828-AD0B523A7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985" y="2513975"/>
            <a:ext cx="7712205" cy="2112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144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</a:t>
            </a:r>
            <a:r>
              <a:rPr lang="en-US" dirty="0" err="1"/>
              <a:t>Vue.js</a:t>
            </a:r>
            <a:r>
              <a:rPr lang="en-US" dirty="0"/>
              <a:t>/Leaflet</a:t>
            </a:r>
          </a:p>
          <a:p>
            <a:r>
              <a:rPr lang="en-US" dirty="0"/>
              <a:t>Container: </a:t>
            </a:r>
            <a:r>
              <a:rPr lang="en-US" b="1" dirty="0"/>
              <a:t>wis2box-ui</a:t>
            </a:r>
          </a:p>
          <a:p>
            <a:r>
              <a:rPr lang="en-US" dirty="0"/>
              <a:t>Visualization (stations, observations)</a:t>
            </a:r>
          </a:p>
          <a:p>
            <a:r>
              <a:rPr lang="en-US" dirty="0"/>
              <a:t>Maps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Graphs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Web Applications</a:t>
            </a:r>
            <a:endParaRPr lang="en-CH" sz="3200" b="1" dirty="0"/>
          </a:p>
        </p:txBody>
      </p:sp>
      <p:pic>
        <p:nvPicPr>
          <p:cNvPr id="10242" name="Picture 2" descr="Vue.js - Wikipedia">
            <a:extLst>
              <a:ext uri="{FF2B5EF4-FFF2-40B4-BE49-F238E27FC236}">
                <a16:creationId xmlns:a16="http://schemas.microsoft.com/office/drawing/2014/main" id="{4C9BF91A-285E-823E-C8B2-D05DDE803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373" y="1280490"/>
            <a:ext cx="3099921" cy="268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Leaflet - a JavaScript library for interactive maps">
            <a:extLst>
              <a:ext uri="{FF2B5EF4-FFF2-40B4-BE49-F238E27FC236}">
                <a16:creationId xmlns:a16="http://schemas.microsoft.com/office/drawing/2014/main" id="{D76D6874-B0C1-8A4D-2152-71F8AE598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06" y="4081353"/>
            <a:ext cx="76200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44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Technology: </a:t>
            </a:r>
            <a:r>
              <a:rPr lang="en-US" dirty="0" err="1"/>
              <a:t>Vue.js</a:t>
            </a:r>
            <a:r>
              <a:rPr lang="en-US" dirty="0"/>
              <a:t>/Leaflet</a:t>
            </a:r>
          </a:p>
          <a:p>
            <a:r>
              <a:rPr lang="en-US" dirty="0"/>
              <a:t>Container: </a:t>
            </a:r>
            <a:r>
              <a:rPr lang="en-US" b="1" dirty="0"/>
              <a:t>wis2box-webapp</a:t>
            </a:r>
          </a:p>
          <a:p>
            <a:r>
              <a:rPr lang="en-US" dirty="0"/>
              <a:t>Data entry</a:t>
            </a:r>
          </a:p>
          <a:p>
            <a:r>
              <a:rPr lang="en-US" dirty="0"/>
              <a:t>Station metadata management</a:t>
            </a:r>
          </a:p>
          <a:p>
            <a:r>
              <a:rPr lang="en-US" dirty="0"/>
              <a:t>Notifications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Web Applications</a:t>
            </a:r>
            <a:endParaRPr lang="en-CH" sz="3200" b="1" dirty="0"/>
          </a:p>
        </p:txBody>
      </p:sp>
      <p:pic>
        <p:nvPicPr>
          <p:cNvPr id="10242" name="Picture 2" descr="Vue.js - Wikipedia">
            <a:extLst>
              <a:ext uri="{FF2B5EF4-FFF2-40B4-BE49-F238E27FC236}">
                <a16:creationId xmlns:a16="http://schemas.microsoft.com/office/drawing/2014/main" id="{4C9BF91A-285E-823E-C8B2-D05DDE803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373" y="1280490"/>
            <a:ext cx="3099921" cy="268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Leaflet - a JavaScript library for interactive maps">
            <a:extLst>
              <a:ext uri="{FF2B5EF4-FFF2-40B4-BE49-F238E27FC236}">
                <a16:creationId xmlns:a16="http://schemas.microsoft.com/office/drawing/2014/main" id="{D76D6874-B0C1-8A4D-2152-71F8AE598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06" y="4081353"/>
            <a:ext cx="76200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727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70" y="1166018"/>
            <a:ext cx="4659823" cy="4525963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en-CA" sz="2800" dirty="0"/>
              <a:t>Publish</a:t>
            </a:r>
          </a:p>
          <a:p>
            <a:pPr lvl="1"/>
            <a:r>
              <a:rPr lang="en-CA" sz="2400" dirty="0"/>
              <a:t>Discovery metadata</a:t>
            </a:r>
          </a:p>
          <a:p>
            <a:pPr lvl="1"/>
            <a:r>
              <a:rPr lang="en-CA" sz="2400" dirty="0"/>
              <a:t>Data</a:t>
            </a:r>
          </a:p>
          <a:p>
            <a:pPr lvl="1"/>
            <a:r>
              <a:rPr lang="en-CA" sz="2400" dirty="0"/>
              <a:t>Notifications</a:t>
            </a:r>
          </a:p>
          <a:p>
            <a:r>
              <a:rPr lang="en-CA" sz="2800" dirty="0"/>
              <a:t>Subscribe</a:t>
            </a:r>
          </a:p>
          <a:p>
            <a:pPr lvl="1"/>
            <a:r>
              <a:rPr lang="en-CA" sz="2400" dirty="0"/>
              <a:t>WIS 2.0 Global Services subscription</a:t>
            </a:r>
          </a:p>
          <a:p>
            <a:pPr lvl="1"/>
            <a:r>
              <a:rPr lang="en-CA" sz="2400" dirty="0"/>
              <a:t>Notifications</a:t>
            </a:r>
          </a:p>
          <a:p>
            <a:r>
              <a:rPr lang="en-CA" sz="2800" dirty="0"/>
              <a:t>Download</a:t>
            </a:r>
          </a:p>
          <a:p>
            <a:pPr lvl="1"/>
            <a:r>
              <a:rPr lang="en-CA" sz="2400" dirty="0"/>
              <a:t>Notifications</a:t>
            </a:r>
          </a:p>
          <a:p>
            <a:pPr lvl="1"/>
            <a:r>
              <a:rPr lang="en-CA" sz="2400" dirty="0"/>
              <a:t>Core data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056A782-F468-C440-D1F6-8E50BE62D359}"/>
              </a:ext>
            </a:extLst>
          </p:cNvPr>
          <p:cNvGrpSpPr/>
          <p:nvPr/>
        </p:nvGrpSpPr>
        <p:grpSpPr>
          <a:xfrm>
            <a:off x="1209437" y="1232774"/>
            <a:ext cx="7618611" cy="2540573"/>
            <a:chOff x="1209437" y="1232774"/>
            <a:chExt cx="7618611" cy="254057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D9B334D-BF6E-6183-BEB7-410503D577CD}"/>
                </a:ext>
              </a:extLst>
            </p:cNvPr>
            <p:cNvSpPr/>
            <p:nvPr/>
          </p:nvSpPr>
          <p:spPr>
            <a:xfrm>
              <a:off x="1209437" y="1547017"/>
              <a:ext cx="2482887" cy="396139"/>
            </a:xfrm>
            <a:prstGeom prst="roundRect">
              <a:avLst/>
            </a:prstGeom>
            <a:solidFill>
              <a:schemeClr val="accent1">
                <a:alpha val="18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3A2A2AAB-BF44-7C39-B6D8-3EDEB882095F}"/>
                </a:ext>
              </a:extLst>
            </p:cNvPr>
            <p:cNvSpPr/>
            <p:nvPr/>
          </p:nvSpPr>
          <p:spPr>
            <a:xfrm>
              <a:off x="1209437" y="3154837"/>
              <a:ext cx="2749105" cy="618510"/>
            </a:xfrm>
            <a:prstGeom prst="roundRect">
              <a:avLst/>
            </a:prstGeom>
            <a:solidFill>
              <a:schemeClr val="accent1">
                <a:alpha val="18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713AE176-A3E0-142C-CA41-7D1956ABFBFE}"/>
                </a:ext>
              </a:extLst>
            </p:cNvPr>
            <p:cNvSpPr/>
            <p:nvPr/>
          </p:nvSpPr>
          <p:spPr>
            <a:xfrm>
              <a:off x="5694557" y="1232774"/>
              <a:ext cx="3133491" cy="1024624"/>
            </a:xfrm>
            <a:prstGeom prst="roundRect">
              <a:avLst/>
            </a:prstGeom>
            <a:solidFill>
              <a:schemeClr val="accent1">
                <a:alpha val="18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Design Time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A3F477-91BF-ABCC-7A11-39EB5F51853C}"/>
              </a:ext>
            </a:extLst>
          </p:cNvPr>
          <p:cNvGrpSpPr/>
          <p:nvPr/>
        </p:nvGrpSpPr>
        <p:grpSpPr>
          <a:xfrm>
            <a:off x="1209437" y="1992082"/>
            <a:ext cx="9773126" cy="3331360"/>
            <a:chOff x="1209437" y="1992082"/>
            <a:chExt cx="9773126" cy="3331360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A3EF5D7-4BDB-FD0F-0D4D-50694DCD36A0}"/>
                </a:ext>
              </a:extLst>
            </p:cNvPr>
            <p:cNvSpPr/>
            <p:nvPr/>
          </p:nvSpPr>
          <p:spPr>
            <a:xfrm>
              <a:off x="7849072" y="2590518"/>
              <a:ext cx="3133491" cy="1024624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Run Time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CD31F77-1927-E6C3-729C-4E83F5A72A23}"/>
                </a:ext>
              </a:extLst>
            </p:cNvPr>
            <p:cNvSpPr/>
            <p:nvPr/>
          </p:nvSpPr>
          <p:spPr>
            <a:xfrm>
              <a:off x="1209437" y="1992082"/>
              <a:ext cx="771763" cy="326136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FC3975A-0074-9415-00A5-A0AD2B485266}"/>
                </a:ext>
              </a:extLst>
            </p:cNvPr>
            <p:cNvSpPr/>
            <p:nvPr/>
          </p:nvSpPr>
          <p:spPr>
            <a:xfrm>
              <a:off x="1209437" y="2367144"/>
              <a:ext cx="1637935" cy="326136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8FD58D63-58A2-F68E-59CC-F0D500953A61}"/>
                </a:ext>
              </a:extLst>
            </p:cNvPr>
            <p:cNvSpPr/>
            <p:nvPr/>
          </p:nvSpPr>
          <p:spPr>
            <a:xfrm>
              <a:off x="1209437" y="3853325"/>
              <a:ext cx="1637935" cy="326136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ounded Rectangle 16">
              <a:extLst>
                <a:ext uri="{FF2B5EF4-FFF2-40B4-BE49-F238E27FC236}">
                  <a16:creationId xmlns:a16="http://schemas.microsoft.com/office/drawing/2014/main" id="{1C5E8D45-5DD0-5A80-21E1-A6959568C1DE}"/>
                </a:ext>
              </a:extLst>
            </p:cNvPr>
            <p:cNvSpPr/>
            <p:nvPr/>
          </p:nvSpPr>
          <p:spPr>
            <a:xfrm>
              <a:off x="1209438" y="4609585"/>
              <a:ext cx="1556912" cy="326136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3FF687D-145C-26B7-F7BE-226775FEB03B}"/>
                </a:ext>
              </a:extLst>
            </p:cNvPr>
            <p:cNvSpPr/>
            <p:nvPr/>
          </p:nvSpPr>
          <p:spPr>
            <a:xfrm>
              <a:off x="1209437" y="4997306"/>
              <a:ext cx="1556914" cy="326136"/>
            </a:xfrm>
            <a:prstGeom prst="roundRect">
              <a:avLst/>
            </a:prstGeom>
            <a:solidFill>
              <a:srgbClr val="00B050">
                <a:alpha val="18000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85E0B5A6-A3C2-1780-8263-97FCB8333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15358" y="2987568"/>
            <a:ext cx="3349140" cy="30491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592248E-FBEB-AECE-25A0-D71D6DBFC5E2}"/>
              </a:ext>
            </a:extLst>
          </p:cNvPr>
          <p:cNvSpPr txBox="1"/>
          <p:nvPr/>
        </p:nvSpPr>
        <p:spPr>
          <a:xfrm>
            <a:off x="6010508" y="6307962"/>
            <a:ext cx="31334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freepngimg.com/png/35558-gears-picture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/3.0/"/>
              </a:rPr>
              <a:t>CC BY-NC</a:t>
            </a:r>
            <a:endParaRPr lang="en-US" sz="9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5BF579-CC3F-D43E-B059-35E32421E2F8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Core Workflows</a:t>
            </a:r>
            <a:endParaRPr lang="en-CH" sz="3200" b="1" dirty="0"/>
          </a:p>
        </p:txBody>
      </p:sp>
    </p:spTree>
    <p:extLst>
      <p:ext uri="{BB962C8B-B14F-4D97-AF65-F5344CB8AC3E}">
        <p14:creationId xmlns:p14="http://schemas.microsoft.com/office/powerpoint/2010/main" val="107470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3CCE-1609-0D1B-B2AE-63980F0CF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166018"/>
            <a:ext cx="10972800" cy="4525963"/>
          </a:xfrm>
        </p:spPr>
        <p:txBody>
          <a:bodyPr>
            <a:normAutofit/>
          </a:bodyPr>
          <a:lstStyle/>
          <a:p>
            <a:r>
              <a:rPr lang="en-US" dirty="0"/>
              <a:t>Plugins enable custom data integration</a:t>
            </a:r>
            <a:br>
              <a:rPr lang="en-US" dirty="0"/>
            </a:br>
            <a:r>
              <a:rPr lang="en-US" dirty="0"/>
              <a:t>into wis2box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Abstract model/approach</a:t>
            </a:r>
          </a:p>
          <a:p>
            <a:r>
              <a:rPr lang="en-US" dirty="0"/>
              <a:t>Extensibility</a:t>
            </a:r>
          </a:p>
          <a:p>
            <a:r>
              <a:rPr lang="en-US" dirty="0"/>
              <a:t>Reuse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05CD13-5EAC-5596-D3CD-33577480DE9C}"/>
              </a:ext>
            </a:extLst>
          </p:cNvPr>
          <p:cNvSpPr/>
          <p:nvPr/>
        </p:nvSpPr>
        <p:spPr>
          <a:xfrm>
            <a:off x="-53788" y="0"/>
            <a:ext cx="12245788" cy="734218"/>
          </a:xfrm>
          <a:prstGeom prst="rect">
            <a:avLst/>
          </a:prstGeom>
          <a:solidFill>
            <a:srgbClr val="034D9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wis2box plugins</a:t>
            </a:r>
            <a:endParaRPr lang="en-CH" sz="3200" b="1" dirty="0"/>
          </a:p>
        </p:txBody>
      </p:sp>
      <p:pic>
        <p:nvPicPr>
          <p:cNvPr id="1028" name="Picture 4" descr="what is a plugin">
            <a:extLst>
              <a:ext uri="{FF2B5EF4-FFF2-40B4-BE49-F238E27FC236}">
                <a16:creationId xmlns:a16="http://schemas.microsoft.com/office/drawing/2014/main" id="{39327619-4781-B029-1DEF-E0A4EBF11F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61" r="25656"/>
          <a:stretch/>
        </p:blipFill>
        <p:spPr bwMode="auto">
          <a:xfrm>
            <a:off x="8478981" y="928182"/>
            <a:ext cx="3311237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41961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mo2016_powerpoint_standard_v2_dark-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851891" y="1535545"/>
            <a:ext cx="8229600" cy="378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>
                <a:solidFill>
                  <a:schemeClr val="bg1"/>
                </a:solidFill>
              </a:rPr>
              <a:t>Thank you</a:t>
            </a:r>
          </a:p>
          <a:p>
            <a:r>
              <a:rPr lang="en-US" sz="4800">
                <a:solidFill>
                  <a:schemeClr val="bg1"/>
                </a:solidFill>
              </a:rPr>
              <a:t>Merci</a:t>
            </a:r>
          </a:p>
          <a:p>
            <a:r>
              <a:rPr lang="en-US" sz="4800">
                <a:solidFill>
                  <a:schemeClr val="bg1"/>
                </a:solidFill>
              </a:rPr>
              <a:t>Gracias</a:t>
            </a:r>
          </a:p>
          <a:p>
            <a:r>
              <a:rPr lang="ar-MA" sz="4800">
                <a:solidFill>
                  <a:schemeClr val="bg1"/>
                </a:solidFill>
              </a:rPr>
              <a:t>شكرا</a:t>
            </a:r>
            <a:endParaRPr lang="en-US" sz="4800">
              <a:solidFill>
                <a:schemeClr val="bg1"/>
              </a:solidFill>
            </a:endParaRPr>
          </a:p>
          <a:p>
            <a:r>
              <a:rPr lang="ja-JP" altLang="en-US" sz="4800">
                <a:solidFill>
                  <a:schemeClr val="bg1"/>
                </a:solidFill>
              </a:rPr>
              <a:t>谢谢</a:t>
            </a:r>
            <a:endParaRPr lang="en-US" altLang="ja-JP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228457"/>
      </p:ext>
    </p:extLst>
  </p:cSld>
  <p:clrMapOvr>
    <a:masterClrMapping/>
  </p:clrMapOvr>
</p:sld>
</file>

<file path=ppt/theme/theme1.xml><?xml version="1.0" encoding="utf-8"?>
<a:theme xmlns:a="http://schemas.openxmlformats.org/drawingml/2006/main" name="WMO_BLUE_Powerpoint_en_f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16211c-4a92-46f9-9375-802e528178b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4DA2BE25AB9B4F845A1DC341712088" ma:contentTypeVersion="15" ma:contentTypeDescription="Create a new document." ma:contentTypeScope="" ma:versionID="94df9b8fbfafc860e52db64f7e9d7881">
  <xsd:schema xmlns:xsd="http://www.w3.org/2001/XMLSchema" xmlns:xs="http://www.w3.org/2001/XMLSchema" xmlns:p="http://schemas.microsoft.com/office/2006/metadata/properties" xmlns:ns3="c316211c-4a92-46f9-9375-802e528178bc" xmlns:ns4="a3e00b57-4a46-463c-8c2b-662f7bee4c43" targetNamespace="http://schemas.microsoft.com/office/2006/metadata/properties" ma:root="true" ma:fieldsID="7398c2d499562a16f71db52255598aad" ns3:_="" ns4:_="">
    <xsd:import namespace="c316211c-4a92-46f9-9375-802e528178bc"/>
    <xsd:import namespace="a3e00b57-4a46-463c-8c2b-662f7bee4c4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16211c-4a92-46f9-9375-802e52817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e00b57-4a46-463c-8c2b-662f7bee4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B6DC80-67D9-4E9C-B0CC-148EF0497A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258279-C602-426F-885A-3D23AED4E291}">
  <ds:schemaRefs>
    <ds:schemaRef ds:uri="a3e00b57-4a46-463c-8c2b-662f7bee4c43"/>
    <ds:schemaRef ds:uri="c316211c-4a92-46f9-9375-802e528178b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4839A87-91B8-4AA6-AEFB-05B6EBE296D8}">
  <ds:schemaRefs>
    <ds:schemaRef ds:uri="a3e00b57-4a46-463c-8c2b-662f7bee4c43"/>
    <ds:schemaRef ds:uri="c316211c-4a92-46f9-9375-802e528178b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WMO_BLUE_Powerpoint_en_fr</Template>
  <TotalTime>20360</TotalTime>
  <Words>653</Words>
  <Application>Microsoft Macintosh PowerPoint</Application>
  <PresentationFormat>Widescreen</PresentationFormat>
  <Paragraphs>245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Lato</vt:lpstr>
      <vt:lpstr>WMO_BLUE_Powerpoint_en_fr</vt:lpstr>
      <vt:lpstr>Office Theme</vt:lpstr>
      <vt:lpstr>wis2box development and architecture     2026-03-30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World Meteorological Organization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WIS2 in a box</dc:title>
  <dc:subject/>
  <dc:creator>Hassan Haddouch</dc:creator>
  <cp:keywords/>
  <dc:description/>
  <cp:lastModifiedBy>Tom Kralidis</cp:lastModifiedBy>
  <cp:revision>185</cp:revision>
  <cp:lastPrinted>2022-09-30T15:58:20Z</cp:lastPrinted>
  <dcterms:created xsi:type="dcterms:W3CDTF">2018-03-12T08:33:49Z</dcterms:created>
  <dcterms:modified xsi:type="dcterms:W3CDTF">2026-03-31T01:31:26Z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fb733f-faef-464c-9b6d-731b56f94973_Enabled">
    <vt:lpwstr>true</vt:lpwstr>
  </property>
  <property fmtid="{D5CDD505-2E9C-101B-9397-08002B2CF9AE}" pid="3" name="MSIP_Label_1bfb733f-faef-464c-9b6d-731b56f94973_SetDate">
    <vt:lpwstr>2021-09-10T14:28:53Z</vt:lpwstr>
  </property>
  <property fmtid="{D5CDD505-2E9C-101B-9397-08002B2CF9AE}" pid="4" name="MSIP_Label_1bfb733f-faef-464c-9b6d-731b56f94973_Method">
    <vt:lpwstr>Standard</vt:lpwstr>
  </property>
  <property fmtid="{D5CDD505-2E9C-101B-9397-08002B2CF9AE}" pid="5" name="MSIP_Label_1bfb733f-faef-464c-9b6d-731b56f94973_Name">
    <vt:lpwstr>Unclass - Non-Classifié</vt:lpwstr>
  </property>
  <property fmtid="{D5CDD505-2E9C-101B-9397-08002B2CF9AE}" pid="6" name="MSIP_Label_1bfb733f-faef-464c-9b6d-731b56f94973_SiteId">
    <vt:lpwstr>1594fdae-a1d9-4405-915d-011467234338</vt:lpwstr>
  </property>
  <property fmtid="{D5CDD505-2E9C-101B-9397-08002B2CF9AE}" pid="7" name="MSIP_Label_1bfb733f-faef-464c-9b6d-731b56f94973_ActionId">
    <vt:lpwstr>217555dd-f7ca-4312-9068-000074783adc</vt:lpwstr>
  </property>
  <property fmtid="{D5CDD505-2E9C-101B-9397-08002B2CF9AE}" pid="8" name="ContentTypeId">
    <vt:lpwstr>0x010100904DA2BE25AB9B4F845A1DC341712088</vt:lpwstr>
  </property>
</Properties>
</file>